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39599870" cy="3959987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12472"/>
        <p:guide pos="1247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2175814" y="14945505"/>
            <a:ext cx="35248667" cy="5192058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2339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2175814" y="20592069"/>
            <a:ext cx="35248667" cy="5491265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0395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1980565" indent="0" algn="ctr">
              <a:buNone/>
              <a:defRPr sz="8665"/>
            </a:lvl2pPr>
            <a:lvl3pPr marL="3959860" indent="0" algn="ctr">
              <a:buNone/>
              <a:defRPr sz="7795"/>
            </a:lvl3pPr>
            <a:lvl4pPr marL="5939790" indent="0" algn="ctr">
              <a:buNone/>
              <a:defRPr sz="6930"/>
            </a:lvl4pPr>
            <a:lvl5pPr marL="7920355" indent="0" algn="ctr">
              <a:buNone/>
              <a:defRPr sz="6930"/>
            </a:lvl5pPr>
            <a:lvl6pPr marL="9900285" indent="0" algn="ctr">
              <a:buNone/>
              <a:defRPr sz="6930"/>
            </a:lvl6pPr>
            <a:lvl7pPr marL="11879580" indent="0" algn="ctr">
              <a:buNone/>
              <a:defRPr sz="6930"/>
            </a:lvl7pPr>
            <a:lvl8pPr marL="13860145" indent="0" algn="ctr">
              <a:buNone/>
              <a:defRPr sz="6930"/>
            </a:lvl8pPr>
            <a:lvl9pPr marL="15840075" indent="0" algn="ctr">
              <a:buNone/>
              <a:defRPr sz="693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175814" y="2494497"/>
            <a:ext cx="35248667" cy="3741745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213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2175814" y="7483490"/>
            <a:ext cx="35248667" cy="29110284"/>
          </a:xfrm>
        </p:spPr>
        <p:txBody>
          <a:bodyPr vert="horz" lIns="101600" tIns="0" rIns="82550" bIns="0" rtlCol="0">
            <a:noAutofit/>
          </a:bodyPr>
          <a:lstStyle>
            <a:lvl1pPr marL="989965" marR="0" lvl="0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2970530" marR="0" lvl="1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4949825" marR="0" lvl="2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6929755" marR="0" lvl="3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8910320" marR="0" lvl="4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175970" y="21992740"/>
            <a:ext cx="35248667" cy="3608041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15595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2175954" y="26051754"/>
            <a:ext cx="35248667" cy="6224606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693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1980565" indent="0">
              <a:buNone/>
              <a:defRPr sz="8665">
                <a:solidFill>
                  <a:schemeClr val="tx1">
                    <a:tint val="75000"/>
                  </a:schemeClr>
                </a:solidFill>
              </a:defRPr>
            </a:lvl2pPr>
            <a:lvl3pPr marL="3959860" indent="0">
              <a:buNone/>
              <a:defRPr sz="7795">
                <a:solidFill>
                  <a:schemeClr val="tx1">
                    <a:tint val="75000"/>
                  </a:schemeClr>
                </a:solidFill>
              </a:defRPr>
            </a:lvl3pPr>
            <a:lvl4pPr marL="5939790" indent="0">
              <a:buNone/>
              <a:defRPr sz="6930">
                <a:solidFill>
                  <a:schemeClr val="tx1">
                    <a:tint val="75000"/>
                  </a:schemeClr>
                </a:solidFill>
              </a:defRPr>
            </a:lvl4pPr>
            <a:lvl5pPr marL="7920355" indent="0">
              <a:buNone/>
              <a:defRPr sz="6930">
                <a:solidFill>
                  <a:schemeClr val="tx1">
                    <a:tint val="75000"/>
                  </a:schemeClr>
                </a:solidFill>
              </a:defRPr>
            </a:lvl5pPr>
            <a:lvl6pPr marL="9900285" indent="0">
              <a:buNone/>
              <a:defRPr sz="6930">
                <a:solidFill>
                  <a:schemeClr val="tx1">
                    <a:tint val="75000"/>
                  </a:schemeClr>
                </a:solidFill>
              </a:defRPr>
            </a:lvl6pPr>
            <a:lvl7pPr marL="11879580" indent="0">
              <a:buNone/>
              <a:defRPr sz="6930">
                <a:solidFill>
                  <a:schemeClr val="tx1">
                    <a:tint val="75000"/>
                  </a:schemeClr>
                </a:solidFill>
              </a:defRPr>
            </a:lvl7pPr>
            <a:lvl8pPr marL="13860145" indent="0">
              <a:buNone/>
              <a:defRPr sz="6930">
                <a:solidFill>
                  <a:schemeClr val="tx1">
                    <a:tint val="75000"/>
                  </a:schemeClr>
                </a:solidFill>
              </a:defRPr>
            </a:lvl8pPr>
            <a:lvl9pPr marL="15840075" indent="0">
              <a:buNone/>
              <a:defRPr sz="69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175814" y="2494497"/>
            <a:ext cx="35248667" cy="3741745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213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2175970" y="7483490"/>
            <a:ext cx="17160263" cy="29102460"/>
          </a:xfrm>
        </p:spPr>
        <p:txBody>
          <a:bodyPr vert="horz" lIns="101600" tIns="0" rIns="82550" bIns="0" rtlCol="0">
            <a:noAutofit/>
          </a:bodyPr>
          <a:lstStyle>
            <a:lvl1pPr marL="989965" marR="0" lvl="0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2970530" marR="0" lvl="1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4949825" marR="0" lvl="2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6929755" marR="0" lvl="3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8910320" marR="0" lvl="4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20264218" y="7483490"/>
            <a:ext cx="17160263" cy="29102460"/>
          </a:xfrm>
        </p:spPr>
        <p:txBody>
          <a:bodyPr>
            <a:noAutofit/>
          </a:bodyPr>
          <a:lstStyle>
            <a:lvl1pPr>
              <a:defRPr sz="69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693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693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693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693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175814" y="2494497"/>
            <a:ext cx="35248667" cy="3741745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213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175970" y="7483490"/>
            <a:ext cx="17160263" cy="2200025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8665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1980565" indent="0">
              <a:buNone/>
              <a:defRPr sz="8665" b="1"/>
            </a:lvl2pPr>
            <a:lvl3pPr marL="3959860" indent="0">
              <a:buNone/>
              <a:defRPr sz="7795" b="1"/>
            </a:lvl3pPr>
            <a:lvl4pPr marL="5939790" indent="0">
              <a:buNone/>
              <a:defRPr sz="6930" b="1"/>
            </a:lvl4pPr>
            <a:lvl5pPr marL="7920355" indent="0">
              <a:buNone/>
              <a:defRPr sz="6930" b="1"/>
            </a:lvl5pPr>
            <a:lvl6pPr marL="9900285" indent="0">
              <a:buNone/>
              <a:defRPr sz="6930" b="1"/>
            </a:lvl6pPr>
            <a:lvl7pPr marL="11879580" indent="0">
              <a:buNone/>
              <a:defRPr sz="6930" b="1"/>
            </a:lvl7pPr>
            <a:lvl8pPr marL="13860145" indent="0">
              <a:buNone/>
              <a:defRPr sz="6930" b="1"/>
            </a:lvl8pPr>
            <a:lvl9pPr marL="15840075" indent="0">
              <a:buNone/>
              <a:defRPr sz="693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2175954" y="10330467"/>
            <a:ext cx="17160126" cy="26285954"/>
          </a:xfrm>
        </p:spPr>
        <p:txBody>
          <a:bodyPr vert="horz" lIns="101600" tIns="0" rIns="82550" bIns="0" rtlCol="0">
            <a:noAutofit/>
          </a:bodyPr>
          <a:lstStyle>
            <a:lvl1pPr marL="989965" marR="0" lvl="0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2970530" marR="0" lvl="1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4949825" marR="0" lvl="2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6929755" marR="0" lvl="3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8910320" marR="0" lvl="4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20254061" y="7483490"/>
            <a:ext cx="17160263" cy="2200025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866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1980565" indent="0">
              <a:buNone/>
              <a:defRPr sz="8665" b="1"/>
            </a:lvl2pPr>
            <a:lvl3pPr marL="3959860" indent="0">
              <a:buNone/>
              <a:defRPr sz="7795" b="1"/>
            </a:lvl3pPr>
            <a:lvl4pPr marL="5939790" indent="0">
              <a:buNone/>
              <a:defRPr sz="6930" b="1"/>
            </a:lvl4pPr>
            <a:lvl5pPr marL="7920355" indent="0">
              <a:buNone/>
              <a:defRPr sz="6930" b="1"/>
            </a:lvl5pPr>
            <a:lvl6pPr marL="9900285" indent="0">
              <a:buNone/>
              <a:defRPr sz="6930" b="1"/>
            </a:lvl6pPr>
            <a:lvl7pPr marL="11879580" indent="0">
              <a:buNone/>
              <a:defRPr sz="6930" b="1"/>
            </a:lvl7pPr>
            <a:lvl8pPr marL="13860145" indent="0">
              <a:buNone/>
              <a:defRPr sz="6930" b="1"/>
            </a:lvl8pPr>
            <a:lvl9pPr marL="15840075" indent="0">
              <a:buNone/>
              <a:defRPr sz="693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20254061" y="10330467"/>
            <a:ext cx="17160263" cy="26285954"/>
          </a:xfrm>
        </p:spPr>
        <p:txBody>
          <a:bodyPr vert="horz" lIns="101600" tIns="0" rIns="82550" bIns="0" rtlCol="0">
            <a:noAutofit/>
          </a:bodyPr>
          <a:lstStyle>
            <a:lvl1pPr marL="989965" marR="0" lvl="0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2970530" marR="0" lvl="1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4949825" marR="0" lvl="2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6929755" marR="0" lvl="3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8910320" marR="0" lvl="4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213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2175970" y="7483490"/>
            <a:ext cx="17160263" cy="2910246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2970530" marR="0" lvl="1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693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4949825" marR="0" lvl="2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6929755" marR="0" lvl="3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8910320" marR="0" lvl="4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20264374" y="7483490"/>
            <a:ext cx="17160263" cy="29102460"/>
          </a:xfrm>
        </p:spPr>
        <p:txBody>
          <a:bodyPr vert="horz" lIns="101600" tIns="0" rIns="82550" bIns="0" rtlCol="0">
            <a:normAutofit/>
          </a:bodyPr>
          <a:lstStyle>
            <a:lvl1pPr marL="989965" marR="0" lvl="0" indent="-989965" algn="l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693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34335632" y="5500065"/>
            <a:ext cx="3088849" cy="31117153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039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175954" y="5500018"/>
            <a:ext cx="31922216" cy="31117153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2175970" y="5500065"/>
            <a:ext cx="35248667" cy="2910246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175814" y="14945505"/>
            <a:ext cx="35248667" cy="5192058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339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2175814" y="2494497"/>
            <a:ext cx="35248667" cy="3741745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2175814" y="7483490"/>
            <a:ext cx="35248667" cy="2910246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2857451" y="36665825"/>
            <a:ext cx="8769750" cy="1829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5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13368996" y="36665825"/>
            <a:ext cx="12862299" cy="1829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5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27967706" y="36665825"/>
            <a:ext cx="8769750" cy="1829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5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959860" rtl="0" eaLnBrk="1" fontAlgn="auto" latinLnBrk="0" hangingPunct="1">
        <a:lnSpc>
          <a:spcPct val="100000"/>
        </a:lnSpc>
        <a:spcBef>
          <a:spcPct val="0"/>
        </a:spcBef>
        <a:buNone/>
        <a:defRPr sz="1213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989965" indent="-989965" algn="l" defTabSz="3959860" rtl="0" eaLnBrk="1" fontAlgn="auto" latinLnBrk="0" hangingPunct="1">
        <a:lnSpc>
          <a:spcPct val="130000"/>
        </a:lnSpc>
        <a:spcBef>
          <a:spcPct val="2000"/>
        </a:spcBef>
        <a:spcAft>
          <a:spcPts val="1000"/>
        </a:spcAft>
        <a:buFont typeface="Arial" panose="020B0604020202020204" pitchFamily="34" charset="0"/>
        <a:buChar char="•"/>
        <a:defRPr sz="693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2970530" indent="-989965" algn="l" defTabSz="3959860" rtl="0" eaLnBrk="1" fontAlgn="auto" latinLnBrk="0" hangingPunct="1">
        <a:lnSpc>
          <a:spcPct val="130000"/>
        </a:lnSpc>
        <a:spcBef>
          <a:spcPct val="2000"/>
        </a:spcBef>
        <a:spcAft>
          <a:spcPts val="1000"/>
        </a:spcAft>
        <a:buFont typeface="Arial" panose="020B0604020202020204" pitchFamily="34" charset="0"/>
        <a:buChar char="•"/>
        <a:tabLst>
          <a:tab pos="6971030" algn="l"/>
        </a:tabLst>
        <a:defRPr sz="693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4949825" indent="-989965" algn="l" defTabSz="3959860" rtl="0" eaLnBrk="1" fontAlgn="auto" latinLnBrk="0" hangingPunct="1">
        <a:lnSpc>
          <a:spcPct val="130000"/>
        </a:lnSpc>
        <a:spcBef>
          <a:spcPct val="2000"/>
        </a:spcBef>
        <a:spcAft>
          <a:spcPts val="1000"/>
        </a:spcAft>
        <a:buFont typeface="Arial" panose="020B0604020202020204" pitchFamily="34" charset="0"/>
        <a:buChar char="•"/>
        <a:defRPr sz="693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6929755" indent="-989965" algn="l" defTabSz="3959860" rtl="0" eaLnBrk="1" fontAlgn="auto" latinLnBrk="0" hangingPunct="1">
        <a:lnSpc>
          <a:spcPct val="130000"/>
        </a:lnSpc>
        <a:spcBef>
          <a:spcPct val="2000"/>
        </a:spcBef>
        <a:spcAft>
          <a:spcPts val="1000"/>
        </a:spcAft>
        <a:buFont typeface="Arial" panose="020B0604020202020204" pitchFamily="34" charset="0"/>
        <a:buChar char="•"/>
        <a:defRPr sz="693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8910320" indent="-989965" algn="l" defTabSz="3959860" rtl="0" eaLnBrk="1" fontAlgn="auto" latinLnBrk="0" hangingPunct="1">
        <a:lnSpc>
          <a:spcPct val="130000"/>
        </a:lnSpc>
        <a:spcBef>
          <a:spcPct val="2000"/>
        </a:spcBef>
        <a:spcAft>
          <a:spcPts val="1000"/>
        </a:spcAft>
        <a:buFont typeface="Arial" panose="020B0604020202020204" pitchFamily="34" charset="0"/>
        <a:buChar char="•"/>
        <a:defRPr sz="693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10889615" indent="-989965" algn="l" defTabSz="3959860" rtl="0" eaLnBrk="1" latinLnBrk="0" hangingPunct="1">
        <a:lnSpc>
          <a:spcPct val="90000"/>
        </a:lnSpc>
        <a:spcBef>
          <a:spcPct val="435000"/>
        </a:spcBef>
        <a:buFont typeface="Arial" panose="020B0604020202020204" pitchFamily="34" charset="0"/>
        <a:buChar char="•"/>
        <a:defRPr sz="7795" kern="1200">
          <a:solidFill>
            <a:schemeClr val="tx1"/>
          </a:solidFill>
          <a:latin typeface="+mn-lt"/>
          <a:ea typeface="+mn-ea"/>
          <a:cs typeface="+mn-cs"/>
        </a:defRPr>
      </a:lvl6pPr>
      <a:lvl7pPr marL="12870180" indent="-989965" algn="l" defTabSz="3959860" rtl="0" eaLnBrk="1" latinLnBrk="0" hangingPunct="1">
        <a:lnSpc>
          <a:spcPct val="90000"/>
        </a:lnSpc>
        <a:spcBef>
          <a:spcPct val="435000"/>
        </a:spcBef>
        <a:buFont typeface="Arial" panose="020B0604020202020204" pitchFamily="34" charset="0"/>
        <a:buChar char="•"/>
        <a:defRPr sz="7795" kern="1200">
          <a:solidFill>
            <a:schemeClr val="tx1"/>
          </a:solidFill>
          <a:latin typeface="+mn-lt"/>
          <a:ea typeface="+mn-ea"/>
          <a:cs typeface="+mn-cs"/>
        </a:defRPr>
      </a:lvl7pPr>
      <a:lvl8pPr marL="14850110" indent="-989965" algn="l" defTabSz="3959860" rtl="0" eaLnBrk="1" latinLnBrk="0" hangingPunct="1">
        <a:lnSpc>
          <a:spcPct val="90000"/>
        </a:lnSpc>
        <a:spcBef>
          <a:spcPct val="435000"/>
        </a:spcBef>
        <a:buFont typeface="Arial" panose="020B0604020202020204" pitchFamily="34" charset="0"/>
        <a:buChar char="•"/>
        <a:defRPr sz="7795" kern="1200">
          <a:solidFill>
            <a:schemeClr val="tx1"/>
          </a:solidFill>
          <a:latin typeface="+mn-lt"/>
          <a:ea typeface="+mn-ea"/>
          <a:cs typeface="+mn-cs"/>
        </a:defRPr>
      </a:lvl8pPr>
      <a:lvl9pPr marL="16830675" indent="-989965" algn="l" defTabSz="3959860" rtl="0" eaLnBrk="1" latinLnBrk="0" hangingPunct="1">
        <a:lnSpc>
          <a:spcPct val="90000"/>
        </a:lnSpc>
        <a:spcBef>
          <a:spcPct val="435000"/>
        </a:spcBef>
        <a:buFont typeface="Arial" panose="020B0604020202020204" pitchFamily="34" charset="0"/>
        <a:buChar char="•"/>
        <a:defRPr sz="7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959860" rtl="0" eaLnBrk="1" latinLnBrk="0" hangingPunct="1">
        <a:defRPr sz="7795" kern="1200">
          <a:solidFill>
            <a:schemeClr val="tx1"/>
          </a:solidFill>
          <a:latin typeface="+mn-lt"/>
          <a:ea typeface="+mn-ea"/>
          <a:cs typeface="+mn-cs"/>
        </a:defRPr>
      </a:lvl1pPr>
      <a:lvl2pPr marL="1980565" algn="l" defTabSz="3959860" rtl="0" eaLnBrk="1" latinLnBrk="0" hangingPunct="1">
        <a:defRPr sz="7795" kern="1200">
          <a:solidFill>
            <a:schemeClr val="tx1"/>
          </a:solidFill>
          <a:latin typeface="+mn-lt"/>
          <a:ea typeface="+mn-ea"/>
          <a:cs typeface="+mn-cs"/>
        </a:defRPr>
      </a:lvl2pPr>
      <a:lvl3pPr marL="3959860" algn="l" defTabSz="3959860" rtl="0" eaLnBrk="1" latinLnBrk="0" hangingPunct="1">
        <a:defRPr sz="7795" kern="1200">
          <a:solidFill>
            <a:schemeClr val="tx1"/>
          </a:solidFill>
          <a:latin typeface="+mn-lt"/>
          <a:ea typeface="+mn-ea"/>
          <a:cs typeface="+mn-cs"/>
        </a:defRPr>
      </a:lvl3pPr>
      <a:lvl4pPr marL="5939790" algn="l" defTabSz="3959860" rtl="0" eaLnBrk="1" latinLnBrk="0" hangingPunct="1">
        <a:defRPr sz="7795" kern="1200">
          <a:solidFill>
            <a:schemeClr val="tx1"/>
          </a:solidFill>
          <a:latin typeface="+mn-lt"/>
          <a:ea typeface="+mn-ea"/>
          <a:cs typeface="+mn-cs"/>
        </a:defRPr>
      </a:lvl4pPr>
      <a:lvl5pPr marL="7920355" algn="l" defTabSz="3959860" rtl="0" eaLnBrk="1" latinLnBrk="0" hangingPunct="1">
        <a:defRPr sz="7795" kern="1200">
          <a:solidFill>
            <a:schemeClr val="tx1"/>
          </a:solidFill>
          <a:latin typeface="+mn-lt"/>
          <a:ea typeface="+mn-ea"/>
          <a:cs typeface="+mn-cs"/>
        </a:defRPr>
      </a:lvl5pPr>
      <a:lvl6pPr marL="9900285" algn="l" defTabSz="3959860" rtl="0" eaLnBrk="1" latinLnBrk="0" hangingPunct="1">
        <a:defRPr sz="7795" kern="1200">
          <a:solidFill>
            <a:schemeClr val="tx1"/>
          </a:solidFill>
          <a:latin typeface="+mn-lt"/>
          <a:ea typeface="+mn-ea"/>
          <a:cs typeface="+mn-cs"/>
        </a:defRPr>
      </a:lvl6pPr>
      <a:lvl7pPr marL="11879580" algn="l" defTabSz="3959860" rtl="0" eaLnBrk="1" latinLnBrk="0" hangingPunct="1">
        <a:defRPr sz="7795" kern="1200">
          <a:solidFill>
            <a:schemeClr val="tx1"/>
          </a:solidFill>
          <a:latin typeface="+mn-lt"/>
          <a:ea typeface="+mn-ea"/>
          <a:cs typeface="+mn-cs"/>
        </a:defRPr>
      </a:lvl7pPr>
      <a:lvl8pPr marL="13860145" algn="l" defTabSz="3959860" rtl="0" eaLnBrk="1" latinLnBrk="0" hangingPunct="1">
        <a:defRPr sz="7795" kern="1200">
          <a:solidFill>
            <a:schemeClr val="tx1"/>
          </a:solidFill>
          <a:latin typeface="+mn-lt"/>
          <a:ea typeface="+mn-ea"/>
          <a:cs typeface="+mn-cs"/>
        </a:defRPr>
      </a:lvl8pPr>
      <a:lvl9pPr marL="15840075" algn="l" defTabSz="3959860" rtl="0" eaLnBrk="1" latinLnBrk="0" hangingPunct="1">
        <a:defRPr sz="7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8130540" y="1317625"/>
            <a:ext cx="8535670" cy="142938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4000"/>
              <a:t>基因芯片筛选出</a:t>
            </a:r>
            <a:r>
              <a:rPr lang="en-US" altLang="zh-CN" sz="4000"/>
              <a:t>XX</a:t>
            </a:r>
            <a:r>
              <a:rPr lang="zh-CN" altLang="en-US" sz="4000"/>
              <a:t>癌变差异显著的</a:t>
            </a:r>
            <a:r>
              <a:rPr lang="en-US" altLang="zh-CN" sz="4000"/>
              <a:t>LncRNA</a:t>
            </a:r>
            <a:endParaRPr lang="en-US" altLang="zh-CN" sz="4000"/>
          </a:p>
        </p:txBody>
      </p:sp>
      <p:sp>
        <p:nvSpPr>
          <p:cNvPr id="7" name="圆角矩形 6"/>
          <p:cNvSpPr/>
          <p:nvPr/>
        </p:nvSpPr>
        <p:spPr>
          <a:xfrm>
            <a:off x="7544435" y="3459480"/>
            <a:ext cx="9707880" cy="183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/>
              <a:t>结合</a:t>
            </a:r>
            <a:r>
              <a:rPr lang="en-US" altLang="zh-CN" sz="3600"/>
              <a:t>TCGA</a:t>
            </a:r>
            <a:r>
              <a:rPr lang="zh-CN" altLang="en-US" sz="3600"/>
              <a:t>数据库选择</a:t>
            </a:r>
            <a:r>
              <a:rPr lang="en-US" altLang="zh-CN" sz="3600"/>
              <a:t>XX</a:t>
            </a:r>
            <a:r>
              <a:rPr lang="zh-CN" altLang="en-US" sz="3600"/>
              <a:t>癌显著上调的</a:t>
            </a:r>
            <a:r>
              <a:rPr lang="en-US" altLang="zh-CN" sz="3600">
                <a:sym typeface="+mn-ea"/>
              </a:rPr>
              <a:t>LncRNAXX</a:t>
            </a:r>
            <a:endParaRPr lang="zh-CN" altLang="en-US" sz="3600"/>
          </a:p>
        </p:txBody>
      </p:sp>
      <p:sp>
        <p:nvSpPr>
          <p:cNvPr id="8" name="圆角矩形 7"/>
          <p:cNvSpPr/>
          <p:nvPr/>
        </p:nvSpPr>
        <p:spPr>
          <a:xfrm>
            <a:off x="7544435" y="6003925"/>
            <a:ext cx="9707880" cy="183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/>
              <a:t>M6A</a:t>
            </a:r>
            <a:r>
              <a:rPr lang="zh-CN" altLang="en-US" sz="3600"/>
              <a:t>数据库预测</a:t>
            </a:r>
            <a:r>
              <a:rPr lang="en-US" altLang="zh-CN" sz="3600">
                <a:sym typeface="+mn-ea"/>
              </a:rPr>
              <a:t>LncRNAXX</a:t>
            </a:r>
            <a:r>
              <a:rPr lang="zh-CN" altLang="en-US" sz="3600">
                <a:sym typeface="+mn-ea"/>
              </a:rPr>
              <a:t>存在</a:t>
            </a:r>
            <a:r>
              <a:rPr lang="en-US" altLang="zh-CN" sz="3600">
                <a:sym typeface="+mn-ea"/>
              </a:rPr>
              <a:t>m6A</a:t>
            </a:r>
            <a:r>
              <a:rPr lang="zh-CN" altLang="en-US" sz="3600">
                <a:sym typeface="+mn-ea"/>
              </a:rPr>
              <a:t>位点</a:t>
            </a:r>
            <a:endParaRPr lang="zh-CN" altLang="en-US" sz="3600"/>
          </a:p>
          <a:p>
            <a:pPr algn="ctr"/>
            <a:endParaRPr lang="zh-CN" altLang="en-US" sz="3600"/>
          </a:p>
        </p:txBody>
      </p:sp>
      <p:sp>
        <p:nvSpPr>
          <p:cNvPr id="9" name="圆角矩形 8"/>
          <p:cNvSpPr/>
          <p:nvPr/>
        </p:nvSpPr>
        <p:spPr>
          <a:xfrm>
            <a:off x="7544435" y="8768715"/>
            <a:ext cx="9707880" cy="183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/>
              <a:t>TCGA</a:t>
            </a:r>
            <a:r>
              <a:rPr lang="zh-CN" altLang="en-US" sz="3600"/>
              <a:t>数据库显示</a:t>
            </a:r>
            <a:r>
              <a:rPr lang="en-US" altLang="zh-CN" sz="3600"/>
              <a:t>XX</a:t>
            </a:r>
            <a:r>
              <a:rPr lang="zh-CN" altLang="en-US" sz="3600"/>
              <a:t>癌中</a:t>
            </a:r>
            <a:r>
              <a:rPr lang="en-US" altLang="zh-CN" sz="3600"/>
              <a:t>METTLXX</a:t>
            </a:r>
            <a:r>
              <a:rPr lang="zh-CN" altLang="en-US" sz="3600"/>
              <a:t>显著下调</a:t>
            </a:r>
            <a:endParaRPr lang="zh-CN" altLang="en-US" sz="3600"/>
          </a:p>
        </p:txBody>
      </p:sp>
      <p:sp>
        <p:nvSpPr>
          <p:cNvPr id="10" name="圆角矩形 9"/>
          <p:cNvSpPr/>
          <p:nvPr/>
        </p:nvSpPr>
        <p:spPr>
          <a:xfrm>
            <a:off x="22473285" y="1024890"/>
            <a:ext cx="6484620" cy="10826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/>
              <a:t>收集</a:t>
            </a:r>
            <a:r>
              <a:rPr lang="en-US" altLang="zh-CN" sz="3600"/>
              <a:t>XX</a:t>
            </a:r>
            <a:r>
              <a:rPr lang="zh-CN" altLang="en-US" sz="3600"/>
              <a:t>癌临床样本</a:t>
            </a:r>
            <a:endParaRPr lang="zh-CN" altLang="en-US" sz="3600"/>
          </a:p>
        </p:txBody>
      </p:sp>
      <p:sp>
        <p:nvSpPr>
          <p:cNvPr id="11" name="圆角矩形 10"/>
          <p:cNvSpPr/>
          <p:nvPr/>
        </p:nvSpPr>
        <p:spPr>
          <a:xfrm>
            <a:off x="18698845" y="3459480"/>
            <a:ext cx="3183255" cy="21609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>
                <a:sym typeface="+mn-ea"/>
              </a:rPr>
              <a:t>Qrt-PCR</a:t>
            </a:r>
            <a:r>
              <a:rPr lang="zh-CN" altLang="en-US" sz="3600">
                <a:sym typeface="+mn-ea"/>
              </a:rPr>
              <a:t>检测</a:t>
            </a:r>
            <a:r>
              <a:rPr lang="en-US" altLang="zh-CN" sz="3600">
                <a:latin typeface="+mn-ea"/>
                <a:cs typeface="+mn-ea"/>
                <a:sym typeface="+mn-ea"/>
              </a:rPr>
              <a:t>LncRNAXX</a:t>
            </a:r>
            <a:endParaRPr lang="en-US" altLang="zh-CN" sz="3600">
              <a:latin typeface="+mn-ea"/>
              <a:cs typeface="+mn-ea"/>
              <a:sym typeface="+mn-ea"/>
            </a:endParaRPr>
          </a:p>
          <a:p>
            <a:pPr algn="ctr"/>
            <a:r>
              <a:rPr lang="en-US" altLang="zh-CN" sz="3600">
                <a:sym typeface="+mn-ea"/>
              </a:rPr>
              <a:t>METTLXX</a:t>
            </a:r>
            <a:r>
              <a:rPr lang="zh-CN" altLang="en-US" sz="3600">
                <a:sym typeface="+mn-ea"/>
              </a:rPr>
              <a:t>的表达</a:t>
            </a:r>
            <a:endParaRPr lang="zh-CN" altLang="en-US" sz="3600">
              <a:sym typeface="+mn-ea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2473285" y="3459480"/>
            <a:ext cx="2931795" cy="21609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/>
              <a:t>MErip-qPCRJ</a:t>
            </a:r>
            <a:r>
              <a:rPr lang="zh-CN" altLang="en-US" sz="3600"/>
              <a:t>检测</a:t>
            </a:r>
            <a:r>
              <a:rPr lang="en-US" altLang="zh-CN" sz="3600">
                <a:latin typeface="+mn-ea"/>
                <a:cs typeface="+mn-ea"/>
                <a:sym typeface="+mn-ea"/>
              </a:rPr>
              <a:t>LncRNAXX</a:t>
            </a:r>
            <a:r>
              <a:rPr lang="zh-CN" altLang="en-US" sz="3600">
                <a:latin typeface="+mn-ea"/>
                <a:cs typeface="+mn-ea"/>
                <a:sym typeface="+mn-ea"/>
              </a:rPr>
              <a:t>的</a:t>
            </a:r>
            <a:r>
              <a:rPr lang="en-US" altLang="zh-CN" sz="3600">
                <a:latin typeface="+mn-ea"/>
                <a:cs typeface="+mn-ea"/>
                <a:sym typeface="+mn-ea"/>
              </a:rPr>
              <a:t>m6A</a:t>
            </a:r>
            <a:r>
              <a:rPr lang="zh-CN" altLang="en-US" sz="3600">
                <a:latin typeface="+mn-ea"/>
                <a:cs typeface="+mn-ea"/>
                <a:sym typeface="+mn-ea"/>
              </a:rPr>
              <a:t>水平</a:t>
            </a:r>
            <a:endParaRPr lang="zh-CN" altLang="en-US" sz="3600">
              <a:latin typeface="+mn-ea"/>
              <a:cs typeface="+mn-ea"/>
              <a:sym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6300430" y="3531870"/>
            <a:ext cx="3353435" cy="208851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/>
              <a:t>免疫组化检测</a:t>
            </a:r>
            <a:r>
              <a:rPr lang="en-US" altLang="zh-CN" sz="3600">
                <a:sym typeface="+mn-ea"/>
              </a:rPr>
              <a:t>METTLXX</a:t>
            </a:r>
            <a:r>
              <a:rPr lang="zh-CN" altLang="en-US" sz="3600">
                <a:sym typeface="+mn-ea"/>
              </a:rPr>
              <a:t>的表达</a:t>
            </a:r>
            <a:endParaRPr lang="zh-CN" altLang="en-US" sz="3600">
              <a:sym typeface="+mn-ea"/>
            </a:endParaRPr>
          </a:p>
          <a:p>
            <a:pPr algn="ctr"/>
            <a:endParaRPr lang="zh-CN" altLang="en-US" sz="3600"/>
          </a:p>
        </p:txBody>
      </p:sp>
      <p:sp>
        <p:nvSpPr>
          <p:cNvPr id="14" name="圆角矩形 13"/>
          <p:cNvSpPr/>
          <p:nvPr/>
        </p:nvSpPr>
        <p:spPr>
          <a:xfrm>
            <a:off x="30384115" y="3459480"/>
            <a:ext cx="2987040" cy="21609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/>
              <a:t>HE</a:t>
            </a:r>
            <a:r>
              <a:rPr lang="zh-CN" altLang="en-US" sz="3600"/>
              <a:t>染色检测组织形态学变化</a:t>
            </a:r>
            <a:endParaRPr lang="zh-CN" altLang="en-US" sz="3600"/>
          </a:p>
        </p:txBody>
      </p:sp>
      <p:sp>
        <p:nvSpPr>
          <p:cNvPr id="15" name="圆角矩形 14"/>
          <p:cNvSpPr/>
          <p:nvPr/>
        </p:nvSpPr>
        <p:spPr>
          <a:xfrm>
            <a:off x="19157950" y="6644005"/>
            <a:ext cx="14213205" cy="14516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4000"/>
              <a:t>统计学分析</a:t>
            </a:r>
            <a:r>
              <a:rPr lang="en-US" altLang="zh-CN" sz="4000">
                <a:sym typeface="+mn-ea"/>
              </a:rPr>
              <a:t>LncRNAXX</a:t>
            </a:r>
            <a:r>
              <a:rPr lang="zh-CN" altLang="en-US" sz="4000">
                <a:sym typeface="+mn-ea"/>
              </a:rPr>
              <a:t>及其</a:t>
            </a:r>
            <a:r>
              <a:rPr lang="en-US" altLang="zh-CN" sz="4000">
                <a:sym typeface="+mn-ea"/>
              </a:rPr>
              <a:t>M6A</a:t>
            </a:r>
            <a:r>
              <a:rPr lang="zh-CN" altLang="en-US" sz="4000">
                <a:sym typeface="+mn-ea"/>
              </a:rPr>
              <a:t>修饰，</a:t>
            </a:r>
            <a:r>
              <a:rPr lang="en-US" altLang="zh-CN" sz="4000">
                <a:sym typeface="+mn-ea"/>
              </a:rPr>
              <a:t>METTLXX</a:t>
            </a:r>
            <a:r>
              <a:rPr lang="zh-CN" altLang="en-US" sz="4000">
                <a:sym typeface="+mn-ea"/>
              </a:rPr>
              <a:t>的表达</a:t>
            </a:r>
            <a:endParaRPr lang="zh-CN" altLang="en-US" sz="4000">
              <a:sym typeface="+mn-ea"/>
            </a:endParaRPr>
          </a:p>
          <a:p>
            <a:pPr algn="ctr"/>
            <a:r>
              <a:rPr lang="zh-CN" altLang="en-US" sz="4000">
                <a:sym typeface="+mn-ea"/>
              </a:rPr>
              <a:t>与</a:t>
            </a:r>
            <a:r>
              <a:rPr lang="en-US" altLang="zh-CN" sz="4000">
                <a:sym typeface="+mn-ea"/>
              </a:rPr>
              <a:t>XX</a:t>
            </a:r>
            <a:r>
              <a:rPr lang="zh-CN" altLang="en-US" sz="4000">
                <a:sym typeface="+mn-ea"/>
              </a:rPr>
              <a:t>癌的相关性</a:t>
            </a:r>
            <a:endParaRPr lang="zh-CN" altLang="en-US" sz="4000"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0784205" y="11717020"/>
            <a:ext cx="18503265" cy="139255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>
                <a:sym typeface="+mn-ea"/>
              </a:rPr>
              <a:t>METTLXX</a:t>
            </a:r>
            <a:r>
              <a:rPr lang="zh-CN" altLang="en-US" sz="3600">
                <a:sym typeface="+mn-ea"/>
              </a:rPr>
              <a:t>可能介入</a:t>
            </a:r>
            <a:r>
              <a:rPr lang="en-US" altLang="zh-CN" sz="3600">
                <a:sym typeface="+mn-ea"/>
              </a:rPr>
              <a:t>LncRNAXX </a:t>
            </a:r>
            <a:r>
              <a:rPr lang="zh-CN" altLang="en-US" sz="3600">
                <a:sym typeface="+mn-ea"/>
              </a:rPr>
              <a:t>的</a:t>
            </a:r>
            <a:r>
              <a:rPr lang="en-US" altLang="zh-CN" sz="3600">
                <a:sym typeface="+mn-ea"/>
              </a:rPr>
              <a:t>M6A</a:t>
            </a:r>
            <a:r>
              <a:rPr lang="zh-CN" altLang="en-US" sz="3600">
                <a:sym typeface="+mn-ea"/>
              </a:rPr>
              <a:t>修饰在</a:t>
            </a:r>
            <a:r>
              <a:rPr lang="en-US" altLang="zh-CN" sz="3600">
                <a:sym typeface="+mn-ea"/>
              </a:rPr>
              <a:t>XX</a:t>
            </a:r>
            <a:r>
              <a:rPr lang="zh-CN" altLang="en-US" sz="3600">
                <a:sym typeface="+mn-ea"/>
              </a:rPr>
              <a:t>癌中的作用研究</a:t>
            </a:r>
            <a:endParaRPr lang="zh-CN" altLang="en-US" sz="3600"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13957300" y="13822680"/>
            <a:ext cx="12044045" cy="14649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4000"/>
              <a:t>人</a:t>
            </a:r>
            <a:r>
              <a:rPr lang="en-US" altLang="zh-CN" sz="4000"/>
              <a:t>XX</a:t>
            </a:r>
            <a:r>
              <a:rPr lang="zh-CN" altLang="en-US" sz="4000"/>
              <a:t>癌细胞系筛选与培养</a:t>
            </a:r>
            <a:endParaRPr lang="zh-CN" altLang="en-US" sz="4000"/>
          </a:p>
        </p:txBody>
      </p:sp>
      <p:sp>
        <p:nvSpPr>
          <p:cNvPr id="18" name="圆角矩形 17"/>
          <p:cNvSpPr/>
          <p:nvPr/>
        </p:nvSpPr>
        <p:spPr>
          <a:xfrm>
            <a:off x="7651115" y="16367125"/>
            <a:ext cx="11929110" cy="14655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>
                <a:sym typeface="+mn-ea"/>
              </a:rPr>
              <a:t>LncRNAXX</a:t>
            </a:r>
            <a:r>
              <a:rPr lang="zh-CN" altLang="en-US" sz="3600">
                <a:sym typeface="+mn-ea"/>
              </a:rPr>
              <a:t>的</a:t>
            </a:r>
            <a:r>
              <a:rPr lang="en-US" altLang="zh-CN" sz="3600">
                <a:sym typeface="+mn-ea"/>
              </a:rPr>
              <a:t>M6A</a:t>
            </a:r>
            <a:r>
              <a:rPr lang="zh-CN" altLang="en-US" sz="3600">
                <a:sym typeface="+mn-ea"/>
              </a:rPr>
              <a:t>修饰对</a:t>
            </a:r>
            <a:r>
              <a:rPr lang="en-US" altLang="zh-CN" sz="3600">
                <a:sym typeface="+mn-ea"/>
              </a:rPr>
              <a:t>XX</a:t>
            </a:r>
            <a:r>
              <a:rPr lang="zh-CN" altLang="en-US" sz="3600">
                <a:sym typeface="+mn-ea"/>
              </a:rPr>
              <a:t>癌的影响</a:t>
            </a:r>
            <a:endParaRPr lang="zh-CN" altLang="en-US" sz="3600">
              <a:sym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21881465" y="16367125"/>
            <a:ext cx="12736195" cy="14655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>
                <a:latin typeface="+mn-ea"/>
                <a:sym typeface="+mn-ea"/>
              </a:rPr>
              <a:t>METTLXX</a:t>
            </a:r>
            <a:r>
              <a:rPr lang="zh-CN" altLang="en-US" sz="3600">
                <a:latin typeface="+mn-ea"/>
                <a:sym typeface="+mn-ea"/>
              </a:rPr>
              <a:t>是否介入</a:t>
            </a:r>
            <a:r>
              <a:rPr lang="en-US" altLang="zh-CN" sz="3600">
                <a:latin typeface="+mn-ea"/>
                <a:sym typeface="+mn-ea"/>
              </a:rPr>
              <a:t>LncRNA XX</a:t>
            </a:r>
            <a:r>
              <a:rPr lang="zh-CN" altLang="en-US" sz="3600">
                <a:latin typeface="+mn-ea"/>
                <a:sym typeface="+mn-ea"/>
              </a:rPr>
              <a:t>的</a:t>
            </a:r>
            <a:r>
              <a:rPr lang="en-US" altLang="zh-CN" sz="3600">
                <a:latin typeface="+mn-ea"/>
                <a:sym typeface="+mn-ea"/>
              </a:rPr>
              <a:t>m6A</a:t>
            </a:r>
            <a:r>
              <a:rPr lang="zh-CN" altLang="en-US" sz="3600">
                <a:latin typeface="+mn-ea"/>
                <a:sym typeface="+mn-ea"/>
              </a:rPr>
              <a:t>修饰发挥作用？</a:t>
            </a:r>
            <a:endParaRPr lang="zh-CN" altLang="en-US" sz="3600">
              <a:latin typeface="+mn-ea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6809740" y="18884265"/>
            <a:ext cx="2858770" cy="183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>
                <a:latin typeface="+mn-ea"/>
                <a:cs typeface="+mn-ea"/>
              </a:rPr>
              <a:t>敲减</a:t>
            </a:r>
            <a:r>
              <a:rPr lang="en-US" altLang="zh-CN" sz="3600">
                <a:latin typeface="+mn-ea"/>
                <a:cs typeface="+mn-ea"/>
              </a:rPr>
              <a:t>/</a:t>
            </a:r>
            <a:r>
              <a:rPr lang="zh-CN" altLang="en-US" sz="3600">
                <a:latin typeface="+mn-ea"/>
                <a:cs typeface="+mn-ea"/>
              </a:rPr>
              <a:t>过表达</a:t>
            </a:r>
            <a:r>
              <a:rPr lang="en-US" altLang="zh-CN" sz="3600">
                <a:latin typeface="+mn-ea"/>
                <a:cs typeface="+mn-ea"/>
                <a:sym typeface="+mn-ea"/>
              </a:rPr>
              <a:t>LncRNAXX</a:t>
            </a:r>
            <a:endParaRPr lang="en-US" altLang="zh-CN" sz="3600">
              <a:latin typeface="+mn-ea"/>
              <a:cs typeface="+mn-ea"/>
              <a:sym typeface="+mn-ea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11213465" y="18884265"/>
            <a:ext cx="2858770" cy="183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>
                <a:latin typeface="+mn-ea"/>
                <a:cs typeface="+mn-ea"/>
              </a:rPr>
              <a:t>缺失</a:t>
            </a:r>
            <a:r>
              <a:rPr lang="en-US" altLang="zh-CN" sz="3600">
                <a:latin typeface="+mn-ea"/>
                <a:cs typeface="+mn-ea"/>
              </a:rPr>
              <a:t>/</a:t>
            </a:r>
            <a:r>
              <a:rPr lang="zh-CN" altLang="en-US" sz="3600">
                <a:latin typeface="+mn-ea"/>
                <a:cs typeface="+mn-ea"/>
              </a:rPr>
              <a:t>存在</a:t>
            </a:r>
            <a:r>
              <a:rPr lang="en-US" altLang="zh-CN" sz="3600">
                <a:latin typeface="+mn-ea"/>
                <a:cs typeface="+mn-ea"/>
              </a:rPr>
              <a:t>M6A</a:t>
            </a:r>
            <a:r>
              <a:rPr lang="zh-CN" altLang="en-US" sz="3600">
                <a:latin typeface="+mn-ea"/>
                <a:cs typeface="+mn-ea"/>
              </a:rPr>
              <a:t>位点</a:t>
            </a:r>
            <a:endParaRPr lang="zh-CN" altLang="en-US" sz="3600">
              <a:latin typeface="+mn-ea"/>
              <a:cs typeface="+mn-ea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15362555" y="18884265"/>
            <a:ext cx="4342765" cy="183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/>
              <a:t>分别抑制</a:t>
            </a:r>
            <a:r>
              <a:rPr lang="en-US" altLang="zh-CN" sz="3600"/>
              <a:t>A</a:t>
            </a:r>
            <a:r>
              <a:rPr lang="zh-CN" altLang="en-US" sz="3600"/>
              <a:t>通路、</a:t>
            </a:r>
            <a:r>
              <a:rPr lang="en-US" altLang="zh-CN" sz="3600"/>
              <a:t>B</a:t>
            </a:r>
            <a:r>
              <a:rPr lang="zh-CN" altLang="en-US" sz="3600"/>
              <a:t>通路</a:t>
            </a:r>
            <a:endParaRPr lang="zh-CN" altLang="en-US" sz="3600"/>
          </a:p>
        </p:txBody>
      </p:sp>
      <p:sp>
        <p:nvSpPr>
          <p:cNvPr id="23" name="圆角矩形 22"/>
          <p:cNvSpPr/>
          <p:nvPr/>
        </p:nvSpPr>
        <p:spPr>
          <a:xfrm>
            <a:off x="6809740" y="22381845"/>
            <a:ext cx="4799965" cy="183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/>
              <a:t>Qrt-PCR</a:t>
            </a:r>
            <a:r>
              <a:rPr lang="zh-CN" altLang="en-US" sz="3600"/>
              <a:t>检测</a:t>
            </a:r>
            <a:r>
              <a:rPr lang="en-US" altLang="zh-CN" sz="3600">
                <a:latin typeface="+mn-ea"/>
                <a:cs typeface="+mn-ea"/>
                <a:sym typeface="+mn-ea"/>
              </a:rPr>
              <a:t>LncRNAXX</a:t>
            </a:r>
            <a:endParaRPr lang="en-US" altLang="zh-CN" sz="3600">
              <a:latin typeface="+mn-ea"/>
              <a:cs typeface="+mn-ea"/>
              <a:sym typeface="+mn-ea"/>
            </a:endParaRPr>
          </a:p>
          <a:p>
            <a:pPr algn="ctr"/>
            <a:r>
              <a:rPr lang="zh-CN" altLang="en-US" sz="3600"/>
              <a:t>的表达 </a:t>
            </a:r>
            <a:endParaRPr lang="zh-CN" altLang="en-US" sz="3600"/>
          </a:p>
        </p:txBody>
      </p:sp>
      <p:sp>
        <p:nvSpPr>
          <p:cNvPr id="24" name="圆角矩形 23"/>
          <p:cNvSpPr/>
          <p:nvPr/>
        </p:nvSpPr>
        <p:spPr>
          <a:xfrm>
            <a:off x="6809740" y="25182830"/>
            <a:ext cx="4799965" cy="183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/>
              <a:t>WB</a:t>
            </a:r>
            <a:r>
              <a:rPr lang="zh-CN" altLang="en-US" sz="3600"/>
              <a:t>检测通路相关因子表达</a:t>
            </a:r>
            <a:endParaRPr lang="zh-CN" altLang="en-US" sz="3600"/>
          </a:p>
        </p:txBody>
      </p:sp>
      <p:sp>
        <p:nvSpPr>
          <p:cNvPr id="25" name="圆角矩形 24"/>
          <p:cNvSpPr/>
          <p:nvPr/>
        </p:nvSpPr>
        <p:spPr>
          <a:xfrm>
            <a:off x="12102465" y="22381845"/>
            <a:ext cx="7676515" cy="183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/>
              <a:t>EDU</a:t>
            </a:r>
            <a:r>
              <a:rPr lang="zh-CN" altLang="en-US" sz="3600"/>
              <a:t>，</a:t>
            </a:r>
            <a:r>
              <a:rPr lang="en-US" altLang="zh-CN" sz="3600"/>
              <a:t>HoEChst33342</a:t>
            </a:r>
            <a:r>
              <a:rPr lang="zh-CN" altLang="en-US" sz="3600"/>
              <a:t>、</a:t>
            </a:r>
            <a:r>
              <a:rPr lang="en-US" altLang="zh-CN" sz="3600"/>
              <a:t>PI</a:t>
            </a:r>
            <a:r>
              <a:rPr lang="zh-CN" altLang="en-US" sz="3600"/>
              <a:t>双染、划痕实验、</a:t>
            </a:r>
            <a:r>
              <a:rPr lang="en-US" altLang="zh-CN" sz="3600"/>
              <a:t>Transwell</a:t>
            </a:r>
            <a:r>
              <a:rPr lang="zh-CN" altLang="en-US" sz="3600"/>
              <a:t>实验分别检测细胞增殖、凋亡、转移、侵袭能力</a:t>
            </a:r>
            <a:endParaRPr lang="zh-CN" altLang="en-US" sz="3600"/>
          </a:p>
        </p:txBody>
      </p:sp>
      <p:sp>
        <p:nvSpPr>
          <p:cNvPr id="26" name="圆角矩形 25"/>
          <p:cNvSpPr/>
          <p:nvPr/>
        </p:nvSpPr>
        <p:spPr>
          <a:xfrm>
            <a:off x="12103100" y="25182830"/>
            <a:ext cx="5789295" cy="183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/>
              <a:t>裸鼠皮下移植检测肿瘤大小</a:t>
            </a:r>
            <a:endParaRPr lang="zh-CN" altLang="en-US" sz="3600"/>
          </a:p>
        </p:txBody>
      </p:sp>
      <p:sp>
        <p:nvSpPr>
          <p:cNvPr id="27" name="圆角矩形 26"/>
          <p:cNvSpPr/>
          <p:nvPr/>
        </p:nvSpPr>
        <p:spPr>
          <a:xfrm>
            <a:off x="20752435" y="22381845"/>
            <a:ext cx="4929505" cy="183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/>
              <a:t>MErip-qPCRj</a:t>
            </a:r>
            <a:r>
              <a:rPr lang="zh-CN" altLang="en-US" sz="3600"/>
              <a:t>检测</a:t>
            </a:r>
            <a:r>
              <a:rPr lang="en-US" altLang="zh-CN" sz="3600">
                <a:latin typeface="+mn-ea"/>
                <a:cs typeface="+mn-ea"/>
                <a:sym typeface="+mn-ea"/>
              </a:rPr>
              <a:t>LncRNAXX</a:t>
            </a:r>
            <a:r>
              <a:rPr lang="zh-CN" altLang="en-US" sz="3600">
                <a:latin typeface="+mn-ea"/>
                <a:cs typeface="+mn-ea"/>
                <a:sym typeface="+mn-ea"/>
              </a:rPr>
              <a:t>的</a:t>
            </a:r>
            <a:r>
              <a:rPr lang="en-US" altLang="zh-CN" sz="3600">
                <a:latin typeface="+mn-ea"/>
                <a:cs typeface="+mn-ea"/>
                <a:sym typeface="+mn-ea"/>
              </a:rPr>
              <a:t>m6A</a:t>
            </a:r>
            <a:r>
              <a:rPr lang="zh-CN" altLang="en-US" sz="3600">
                <a:latin typeface="+mn-ea"/>
                <a:cs typeface="+mn-ea"/>
                <a:sym typeface="+mn-ea"/>
              </a:rPr>
              <a:t>水平</a:t>
            </a:r>
            <a:endParaRPr lang="zh-CN" altLang="en-US" sz="3600">
              <a:latin typeface="+mn-ea"/>
              <a:cs typeface="+mn-ea"/>
              <a:sym typeface="+mn-e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18698845" y="25182830"/>
            <a:ext cx="6983095" cy="183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/>
              <a:t>活体荧光成像检测肿瘤转移能力</a:t>
            </a:r>
            <a:endParaRPr lang="zh-CN" altLang="en-US" sz="3600"/>
          </a:p>
        </p:txBody>
      </p:sp>
      <p:sp>
        <p:nvSpPr>
          <p:cNvPr id="29" name="圆角矩形 28"/>
          <p:cNvSpPr/>
          <p:nvPr/>
        </p:nvSpPr>
        <p:spPr>
          <a:xfrm>
            <a:off x="21045805" y="18735675"/>
            <a:ext cx="4342765" cy="10642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/>
              <a:t>过表达</a:t>
            </a:r>
            <a:endParaRPr lang="zh-CN" altLang="en-US" sz="3600"/>
          </a:p>
        </p:txBody>
      </p:sp>
      <p:sp>
        <p:nvSpPr>
          <p:cNvPr id="30" name="圆角矩形 29"/>
          <p:cNvSpPr/>
          <p:nvPr/>
        </p:nvSpPr>
        <p:spPr>
          <a:xfrm>
            <a:off x="26301065" y="18735675"/>
            <a:ext cx="4342765" cy="10642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/>
              <a:t>敲减</a:t>
            </a:r>
            <a:r>
              <a:rPr lang="en-US" altLang="zh-CN" sz="3600">
                <a:latin typeface="+mn-ea"/>
                <a:sym typeface="+mn-ea"/>
              </a:rPr>
              <a:t>METTLXX</a:t>
            </a:r>
            <a:endParaRPr lang="zh-CN" altLang="en-US" sz="3600"/>
          </a:p>
        </p:txBody>
      </p:sp>
      <p:sp>
        <p:nvSpPr>
          <p:cNvPr id="31" name="圆角矩形 30"/>
          <p:cNvSpPr/>
          <p:nvPr/>
        </p:nvSpPr>
        <p:spPr>
          <a:xfrm>
            <a:off x="23966170" y="20423505"/>
            <a:ext cx="4342765" cy="10642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/>
              <a:t>qrt-PCR</a:t>
            </a:r>
            <a:r>
              <a:rPr lang="zh-CN" altLang="en-US" sz="3600"/>
              <a:t>、</a:t>
            </a:r>
            <a:r>
              <a:rPr lang="en-US" altLang="zh-CN" sz="3600"/>
              <a:t>WB</a:t>
            </a:r>
            <a:r>
              <a:rPr lang="zh-CN" altLang="en-US" sz="3600"/>
              <a:t>检测，</a:t>
            </a:r>
            <a:r>
              <a:rPr lang="en-US" altLang="zh-CN" sz="3600">
                <a:latin typeface="+mn-ea"/>
                <a:sym typeface="+mn-ea"/>
              </a:rPr>
              <a:t>METTLXX</a:t>
            </a:r>
            <a:r>
              <a:rPr lang="zh-CN" altLang="en-US" sz="3600">
                <a:latin typeface="+mn-ea"/>
                <a:sym typeface="+mn-ea"/>
              </a:rPr>
              <a:t>的表达</a:t>
            </a:r>
            <a:endParaRPr lang="zh-CN" altLang="en-US" sz="3600">
              <a:latin typeface="+mn-ea"/>
              <a:sym typeface="+mn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31889065" y="18735675"/>
            <a:ext cx="4672330" cy="10642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>
                <a:sym typeface="+mn-ea"/>
              </a:rPr>
              <a:t>敲减</a:t>
            </a:r>
            <a:r>
              <a:rPr lang="en-US" altLang="zh-CN" sz="3600">
                <a:latin typeface="+mn-ea"/>
                <a:sym typeface="+mn-ea"/>
              </a:rPr>
              <a:t>METTLXX</a:t>
            </a:r>
            <a:endParaRPr lang="zh-CN" altLang="en-US" sz="3600">
              <a:sym typeface="+mn-ea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30988635" y="21045170"/>
            <a:ext cx="3610610" cy="358838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/>
              <a:t>WB</a:t>
            </a:r>
            <a:r>
              <a:rPr lang="zh-CN" altLang="en-US" sz="3600"/>
              <a:t>检测</a:t>
            </a:r>
            <a:endParaRPr lang="zh-CN" altLang="en-US" sz="3600"/>
          </a:p>
          <a:p>
            <a:pPr algn="ctr"/>
            <a:r>
              <a:rPr lang="en-US" altLang="zh-CN" sz="3600">
                <a:latin typeface="+mn-ea"/>
                <a:sym typeface="+mn-ea"/>
              </a:rPr>
              <a:t>METTLXX</a:t>
            </a:r>
            <a:r>
              <a:rPr lang="zh-CN" altLang="en-US" sz="3600"/>
              <a:t>蛋白表达</a:t>
            </a:r>
            <a:endParaRPr lang="zh-CN" altLang="en-US" sz="3600"/>
          </a:p>
          <a:p>
            <a:pPr algn="ctr"/>
            <a:endParaRPr lang="zh-CN" altLang="en-US" sz="3600"/>
          </a:p>
        </p:txBody>
      </p:sp>
      <p:sp>
        <p:nvSpPr>
          <p:cNvPr id="34" name="圆角矩形 33"/>
          <p:cNvSpPr/>
          <p:nvPr/>
        </p:nvSpPr>
        <p:spPr>
          <a:xfrm>
            <a:off x="35309810" y="21045170"/>
            <a:ext cx="3171825" cy="35877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600"/>
              <a:t>活体原位移植检测肿瘤大小</a:t>
            </a:r>
            <a:endParaRPr lang="zh-CN" altLang="en-US" sz="3600"/>
          </a:p>
        </p:txBody>
      </p:sp>
      <p:cxnSp>
        <p:nvCxnSpPr>
          <p:cNvPr id="35" name="直接箭头连接符 34"/>
          <p:cNvCxnSpPr>
            <a:stCxn id="6" idx="2"/>
            <a:endCxn id="7" idx="0"/>
          </p:cNvCxnSpPr>
          <p:nvPr/>
        </p:nvCxnSpPr>
        <p:spPr>
          <a:xfrm>
            <a:off x="12398375" y="2747010"/>
            <a:ext cx="0" cy="7124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12398375" y="5291455"/>
            <a:ext cx="0" cy="7124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12398375" y="8056245"/>
            <a:ext cx="0" cy="7124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19799935" y="13109575"/>
            <a:ext cx="0" cy="7124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圆角矩形 40"/>
          <p:cNvSpPr/>
          <p:nvPr/>
        </p:nvSpPr>
        <p:spPr>
          <a:xfrm>
            <a:off x="12398375" y="28583255"/>
            <a:ext cx="18244820" cy="14655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3600">
                <a:latin typeface="+mn-ea"/>
                <a:sym typeface="+mn-ea"/>
              </a:rPr>
              <a:t>METTLXX</a:t>
            </a:r>
            <a:r>
              <a:rPr lang="zh-CN" altLang="en-US" sz="3600">
                <a:latin typeface="+mn-ea"/>
                <a:sym typeface="+mn-ea"/>
              </a:rPr>
              <a:t>可能介入</a:t>
            </a:r>
            <a:r>
              <a:rPr lang="en-US" altLang="zh-CN" sz="3600">
                <a:latin typeface="+mn-ea"/>
                <a:sym typeface="+mn-ea"/>
              </a:rPr>
              <a:t>LNCRNA XX</a:t>
            </a:r>
            <a:r>
              <a:rPr lang="zh-CN" altLang="en-US" sz="3600">
                <a:latin typeface="+mn-ea"/>
                <a:sym typeface="+mn-ea"/>
              </a:rPr>
              <a:t>的</a:t>
            </a:r>
            <a:r>
              <a:rPr lang="en-US" altLang="zh-CN" sz="3600">
                <a:latin typeface="+mn-ea"/>
                <a:sym typeface="+mn-ea"/>
              </a:rPr>
              <a:t>m6A</a:t>
            </a:r>
            <a:r>
              <a:rPr lang="zh-CN" altLang="en-US" sz="3600">
                <a:latin typeface="+mn-ea"/>
                <a:sym typeface="+mn-ea"/>
              </a:rPr>
              <a:t>修饰影响</a:t>
            </a:r>
            <a:r>
              <a:rPr lang="en-US" altLang="zh-CN" sz="3600">
                <a:latin typeface="+mn-ea"/>
                <a:sym typeface="+mn-ea"/>
              </a:rPr>
              <a:t>XX</a:t>
            </a:r>
            <a:r>
              <a:rPr lang="zh-CN" altLang="en-US" sz="3600">
                <a:latin typeface="+mn-ea"/>
                <a:sym typeface="+mn-ea"/>
              </a:rPr>
              <a:t>的进程</a:t>
            </a:r>
            <a:endParaRPr lang="zh-CN" altLang="en-US" sz="3600">
              <a:latin typeface="+mn-ea"/>
              <a:sym typeface="+mn-ea"/>
            </a:endParaRPr>
          </a:p>
        </p:txBody>
      </p:sp>
      <p:cxnSp>
        <p:nvCxnSpPr>
          <p:cNvPr id="42" name="直接连接符 41"/>
          <p:cNvCxnSpPr>
            <a:stCxn id="9" idx="2"/>
          </p:cNvCxnSpPr>
          <p:nvPr/>
        </p:nvCxnSpPr>
        <p:spPr>
          <a:xfrm>
            <a:off x="12398375" y="10600690"/>
            <a:ext cx="1270" cy="3524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12326620" y="10916285"/>
            <a:ext cx="13609320" cy="73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H="1">
            <a:off x="25899745" y="8095615"/>
            <a:ext cx="54610" cy="27838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19634835" y="10806430"/>
            <a:ext cx="36830" cy="9156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19158585" y="2747010"/>
            <a:ext cx="13774420" cy="73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V="1">
            <a:off x="19159220" y="5930900"/>
            <a:ext cx="13774420" cy="73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19213830" y="2820035"/>
            <a:ext cx="0" cy="7124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24213185" y="2820035"/>
            <a:ext cx="0" cy="7124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27793950" y="2820035"/>
            <a:ext cx="0" cy="7124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32812355" y="2820035"/>
            <a:ext cx="0" cy="7124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26101040" y="5930900"/>
            <a:ext cx="0" cy="7124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25405080" y="2107565"/>
            <a:ext cx="0" cy="7124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>
            <a:off x="19284950" y="5311140"/>
            <a:ext cx="36830" cy="842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>
            <a:off x="32775525" y="5291455"/>
            <a:ext cx="36830" cy="842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肘形连接符 56"/>
          <p:cNvCxnSpPr>
            <a:endCxn id="18" idx="0"/>
          </p:cNvCxnSpPr>
          <p:nvPr/>
        </p:nvCxnSpPr>
        <p:spPr>
          <a:xfrm rot="5400000">
            <a:off x="12910185" y="15320645"/>
            <a:ext cx="1751330" cy="340995"/>
          </a:xfrm>
          <a:prstGeom prst="bentConnector3">
            <a:avLst>
              <a:gd name="adj1" fmla="val 50018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连接符 57"/>
          <p:cNvCxnSpPr/>
          <p:nvPr/>
        </p:nvCxnSpPr>
        <p:spPr>
          <a:xfrm rot="5400000" flipV="1">
            <a:off x="25114885" y="15180945"/>
            <a:ext cx="2044065" cy="327660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058785" y="18242915"/>
            <a:ext cx="36195" cy="769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12624435" y="18242915"/>
            <a:ext cx="36195" cy="769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18173700" y="18242915"/>
            <a:ext cx="36195" cy="769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7948295" y="18315940"/>
            <a:ext cx="10257790" cy="368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stCxn id="22" idx="2"/>
          </p:cNvCxnSpPr>
          <p:nvPr/>
        </p:nvCxnSpPr>
        <p:spPr>
          <a:xfrm flipH="1">
            <a:off x="17510125" y="20716240"/>
            <a:ext cx="24130" cy="155702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5152390" y="21776055"/>
            <a:ext cx="20894040" cy="203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8094980" y="20660995"/>
            <a:ext cx="71755" cy="11353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25972770" y="21466810"/>
            <a:ext cx="28575" cy="51244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5628640" y="27820620"/>
            <a:ext cx="20511135" cy="908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 flipH="1">
            <a:off x="18698845" y="27612340"/>
            <a:ext cx="3810" cy="97091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33" idx="2"/>
          </p:cNvCxnSpPr>
          <p:nvPr/>
        </p:nvCxnSpPr>
        <p:spPr>
          <a:xfrm flipH="1">
            <a:off x="32748220" y="24633555"/>
            <a:ext cx="45720" cy="1172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34" idx="2"/>
          </p:cNvCxnSpPr>
          <p:nvPr/>
        </p:nvCxnSpPr>
        <p:spPr>
          <a:xfrm>
            <a:off x="36896040" y="24632920"/>
            <a:ext cx="28575" cy="1209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32785050" y="25732740"/>
            <a:ext cx="4176395" cy="73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>
            <a:off x="32472630" y="20294600"/>
            <a:ext cx="45720" cy="1172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36924615" y="20294600"/>
            <a:ext cx="28575" cy="1209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32472630" y="20347305"/>
            <a:ext cx="4598670" cy="3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 flipH="1">
            <a:off x="34580195" y="19488785"/>
            <a:ext cx="19050" cy="10052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22473285" y="18242915"/>
            <a:ext cx="36830" cy="9156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>
            <a:off x="28453715" y="18315940"/>
            <a:ext cx="36830" cy="9156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>
            <a:off x="34206815" y="18169890"/>
            <a:ext cx="36830" cy="9156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V="1">
            <a:off x="22510115" y="18295620"/>
            <a:ext cx="11776710" cy="203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28976955" y="17730470"/>
            <a:ext cx="71120" cy="638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22360890" y="20001865"/>
            <a:ext cx="6210935" cy="158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/>
        </p:nvCxnSpPr>
        <p:spPr>
          <a:xfrm flipH="1">
            <a:off x="25421590" y="19890740"/>
            <a:ext cx="26035" cy="56642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22555835" y="19488785"/>
            <a:ext cx="8255" cy="528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28543250" y="19386550"/>
            <a:ext cx="28575" cy="594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5401310" y="21612225"/>
            <a:ext cx="43815" cy="63182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>
            <a:off x="25935940" y="21612225"/>
            <a:ext cx="43815" cy="63182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34851340" y="25732740"/>
            <a:ext cx="6985" cy="34975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 flipH="1" flipV="1">
            <a:off x="30755590" y="29120465"/>
            <a:ext cx="4176395" cy="10985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</Words>
  <Application>WPS 演示</Application>
  <PresentationFormat>宽屏</PresentationFormat>
  <Paragraphs>67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宋体</vt:lpstr>
      <vt:lpstr>Wingdings</vt:lpstr>
      <vt:lpstr>微软雅黑</vt:lpstr>
      <vt:lpstr>Arial Unicode MS</vt:lpstr>
      <vt:lpstr>Office 主题​​</vt:lpstr>
      <vt:lpstr>空白演示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Summer</cp:lastModifiedBy>
  <cp:revision>25</cp:revision>
  <dcterms:created xsi:type="dcterms:W3CDTF">2019-06-19T02:08:00Z</dcterms:created>
  <dcterms:modified xsi:type="dcterms:W3CDTF">2021-03-13T07:10:52Z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