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2"/>
  </p:sldIdLst>
  <p:sldSz cx="15479713" cy="1727993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92">
          <p15:clr>
            <a:srgbClr val="A4A3A4"/>
          </p15:clr>
        </p15:guide>
        <p15:guide id="2" pos="488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>
      <p:cViewPr>
        <p:scale>
          <a:sx n="50" d="100"/>
          <a:sy n="50" d="100"/>
        </p:scale>
        <p:origin x="2460" y="-366"/>
      </p:cViewPr>
      <p:guideLst>
        <p:guide orient="horz" pos="5792"/>
        <p:guide pos="488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522191" y="2304274"/>
            <a:ext cx="12442656" cy="6477368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016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522191" y="8972152"/>
            <a:ext cx="12442656" cy="371042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4065" spc="200">
                <a:uFillTx/>
              </a:defRPr>
            </a:lvl1pPr>
            <a:lvl2pPr marL="774065" indent="0" algn="ctr">
              <a:buNone/>
              <a:defRPr sz="3380"/>
            </a:lvl2pPr>
            <a:lvl3pPr marL="1548130" indent="0" algn="ctr">
              <a:buNone/>
              <a:defRPr sz="3050"/>
            </a:lvl3pPr>
            <a:lvl4pPr marL="2321560" indent="0" algn="ctr">
              <a:buNone/>
              <a:defRPr sz="2710"/>
            </a:lvl4pPr>
            <a:lvl5pPr marL="3095625" indent="0" algn="ctr">
              <a:buNone/>
              <a:defRPr sz="2710"/>
            </a:lvl5pPr>
            <a:lvl6pPr marL="3869690" indent="0" algn="ctr">
              <a:buNone/>
              <a:defRPr sz="2710"/>
            </a:lvl6pPr>
            <a:lvl7pPr marL="4644390" indent="0" algn="ctr">
              <a:buNone/>
              <a:defRPr sz="2710"/>
            </a:lvl7pPr>
            <a:lvl8pPr marL="5418455" indent="0" algn="ctr">
              <a:buNone/>
              <a:defRPr sz="2710"/>
            </a:lvl8pPr>
            <a:lvl9pPr marL="6192520" indent="0" algn="ctr">
              <a:buNone/>
              <a:defRPr sz="271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72523" y="1533158"/>
            <a:ext cx="13928278" cy="177810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772523" y="3755785"/>
            <a:ext cx="13928278" cy="1199310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527843" y="9697908"/>
            <a:ext cx="9864530" cy="193232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7445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2527843" y="11630232"/>
            <a:ext cx="9864530" cy="2186338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3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774065" indent="0">
              <a:buNone/>
              <a:defRPr sz="2710">
                <a:solidFill>
                  <a:schemeClr val="tx1">
                    <a:tint val="75000"/>
                  </a:schemeClr>
                </a:solidFill>
              </a:defRPr>
            </a:lvl2pPr>
            <a:lvl3pPr marL="1548130" indent="0">
              <a:buNone/>
              <a:defRPr sz="2710">
                <a:solidFill>
                  <a:schemeClr val="tx1">
                    <a:tint val="75000"/>
                  </a:schemeClr>
                </a:solidFill>
              </a:defRPr>
            </a:lvl3pPr>
            <a:lvl4pPr marL="2321560" indent="0">
              <a:buNone/>
              <a:defRPr sz="2710">
                <a:solidFill>
                  <a:schemeClr val="tx1">
                    <a:tint val="75000"/>
                  </a:schemeClr>
                </a:solidFill>
              </a:defRPr>
            </a:lvl4pPr>
            <a:lvl5pPr marL="3095625" indent="0">
              <a:buNone/>
              <a:defRPr sz="2710">
                <a:solidFill>
                  <a:schemeClr val="tx1">
                    <a:tint val="75000"/>
                  </a:schemeClr>
                </a:solidFill>
              </a:defRPr>
            </a:lvl5pPr>
            <a:lvl6pPr marL="3869690" indent="0">
              <a:buNone/>
              <a:defRPr sz="2710">
                <a:solidFill>
                  <a:schemeClr val="tx1">
                    <a:tint val="75000"/>
                  </a:schemeClr>
                </a:solidFill>
              </a:defRPr>
            </a:lvl6pPr>
            <a:lvl7pPr marL="4644390" indent="0">
              <a:buNone/>
              <a:defRPr sz="2710">
                <a:solidFill>
                  <a:schemeClr val="tx1">
                    <a:tint val="75000"/>
                  </a:schemeClr>
                </a:solidFill>
              </a:defRPr>
            </a:lvl7pPr>
            <a:lvl8pPr marL="5418455" indent="0">
              <a:buNone/>
              <a:defRPr sz="2710">
                <a:solidFill>
                  <a:schemeClr val="tx1">
                    <a:tint val="75000"/>
                  </a:schemeClr>
                </a:solidFill>
              </a:defRPr>
            </a:lvl8pPr>
            <a:lvl9pPr marL="6192520" indent="0">
              <a:buNone/>
              <a:defRPr sz="27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72523" y="1533158"/>
            <a:ext cx="13928278" cy="177810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772523" y="3783000"/>
            <a:ext cx="6573306" cy="1196589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8141209" y="3783000"/>
            <a:ext cx="6573306" cy="11965893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72523" y="1533158"/>
            <a:ext cx="13928278" cy="177810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772523" y="3601562"/>
            <a:ext cx="6783579" cy="96162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38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74065" indent="0">
              <a:buNone/>
              <a:defRPr sz="3380" b="1"/>
            </a:lvl2pPr>
            <a:lvl3pPr marL="1548130" indent="0">
              <a:buNone/>
              <a:defRPr sz="3050" b="1"/>
            </a:lvl3pPr>
            <a:lvl4pPr marL="2321560" indent="0">
              <a:buNone/>
              <a:defRPr sz="2710" b="1"/>
            </a:lvl4pPr>
            <a:lvl5pPr marL="3095625" indent="0">
              <a:buNone/>
              <a:defRPr sz="2710" b="1"/>
            </a:lvl5pPr>
            <a:lvl6pPr marL="3869690" indent="0">
              <a:buNone/>
              <a:defRPr sz="2710" b="1"/>
            </a:lvl6pPr>
            <a:lvl7pPr marL="4644390" indent="0">
              <a:buNone/>
              <a:defRPr sz="2710" b="1"/>
            </a:lvl7pPr>
            <a:lvl8pPr marL="5418455" indent="0">
              <a:buNone/>
              <a:defRPr sz="2710" b="1"/>
            </a:lvl8pPr>
            <a:lvl9pPr marL="6192520" indent="0">
              <a:buNone/>
              <a:defRPr sz="271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772523" y="4672051"/>
            <a:ext cx="6783579" cy="1107684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7917921" y="3582735"/>
            <a:ext cx="6783579" cy="96162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38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74065" indent="0">
              <a:buNone/>
              <a:defRPr sz="3380" b="1"/>
            </a:lvl2pPr>
            <a:lvl3pPr marL="1548130" indent="0">
              <a:buNone/>
              <a:defRPr sz="3050" b="1"/>
            </a:lvl3pPr>
            <a:lvl4pPr marL="2321560" indent="0">
              <a:buNone/>
              <a:defRPr sz="2710" b="1"/>
            </a:lvl4pPr>
            <a:lvl5pPr marL="3095625" indent="0">
              <a:buNone/>
              <a:defRPr sz="2710" b="1"/>
            </a:lvl5pPr>
            <a:lvl6pPr marL="3869690" indent="0">
              <a:buNone/>
              <a:defRPr sz="2710" b="1"/>
            </a:lvl6pPr>
            <a:lvl7pPr marL="4644390" indent="0">
              <a:buNone/>
              <a:defRPr sz="2710" b="1"/>
            </a:lvl7pPr>
            <a:lvl8pPr marL="5418455" indent="0">
              <a:buNone/>
              <a:defRPr sz="2710" b="1"/>
            </a:lvl8pPr>
            <a:lvl9pPr marL="6192520" indent="0">
              <a:buNone/>
              <a:defRPr sz="271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7917921" y="4672051"/>
            <a:ext cx="6783579" cy="1107684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72523" y="1533158"/>
            <a:ext cx="13928278" cy="177810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772435" y="3918865"/>
            <a:ext cx="6644711" cy="1161257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71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8063499" y="3919080"/>
            <a:ext cx="6637302" cy="116120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71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2021/3/15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2995765" y="2304274"/>
            <a:ext cx="1325632" cy="12673505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474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1161071" y="2304274"/>
            <a:ext cx="11642706" cy="12673505"/>
          </a:xfrm>
        </p:spPr>
        <p:txBody>
          <a:bodyPr vert="eaVert" lIns="46800" tIns="46800" rIns="46800" bIns="46800"/>
          <a:lstStyle>
            <a:lvl1pPr marL="387350" indent="-387350">
              <a:spcAft>
                <a:spcPts val="1000"/>
              </a:spcAft>
              <a:defRPr spc="300"/>
            </a:lvl1pPr>
            <a:lvl2pPr marL="1161415" indent="-387350">
              <a:defRPr spc="300"/>
            </a:lvl2pPr>
            <a:lvl3pPr marL="1934845" indent="-387350">
              <a:defRPr spc="300"/>
            </a:lvl3pPr>
            <a:lvl4pPr marL="2708910" indent="-387350">
              <a:defRPr spc="300"/>
            </a:lvl4pPr>
            <a:lvl5pPr marL="3482975" indent="-3873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772523" y="1950468"/>
            <a:ext cx="13932849" cy="1381657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191" y="6259641"/>
            <a:ext cx="12442656" cy="256736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016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522191" y="8972152"/>
            <a:ext cx="12442656" cy="1188425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406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772523" y="1533158"/>
            <a:ext cx="13928278" cy="1778101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772523" y="3755785"/>
            <a:ext cx="13928278" cy="1199310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777095" y="15912189"/>
            <a:ext cx="3428359" cy="798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9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2021/3/15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5226342" y="15912189"/>
            <a:ext cx="5028259" cy="798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69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11272443" y="15912189"/>
            <a:ext cx="3428359" cy="798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69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548130" rtl="0" eaLnBrk="1" fontAlgn="auto" latinLnBrk="0" hangingPunct="1">
        <a:lnSpc>
          <a:spcPct val="100000"/>
        </a:lnSpc>
        <a:spcBef>
          <a:spcPct val="0"/>
        </a:spcBef>
        <a:buNone/>
        <a:defRPr sz="6095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87350" indent="-387350" algn="l" defTabSz="154813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3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1161415" indent="-387350" algn="l" defTabSz="154813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2724785" algn="l"/>
          <a:tab pos="2724785" algn="l"/>
          <a:tab pos="2724785" algn="l"/>
          <a:tab pos="2724785" algn="l"/>
        </a:tabLst>
        <a:defRPr sz="271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934845" indent="-387350" algn="l" defTabSz="154813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271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2708910" indent="-387350" algn="l" defTabSz="154813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237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3482975" indent="-387350" algn="l" defTabSz="154813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237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4257675" indent="-387350" algn="l" defTabSz="1548130" rtl="0" eaLnBrk="1" latinLnBrk="0" hangingPunct="1">
        <a:lnSpc>
          <a:spcPct val="90000"/>
        </a:lnSpc>
        <a:spcBef>
          <a:spcPct val="170000"/>
        </a:spcBef>
        <a:buFont typeface="Arial" panose="020B0604020202020204" pitchFamily="34" charset="0"/>
        <a:buChar char="•"/>
        <a:defRPr sz="3050" kern="1200">
          <a:solidFill>
            <a:schemeClr val="tx1"/>
          </a:solidFill>
          <a:latin typeface="+mn-lt"/>
          <a:ea typeface="+mn-ea"/>
          <a:cs typeface="+mn-cs"/>
        </a:defRPr>
      </a:lvl6pPr>
      <a:lvl7pPr marL="5031740" indent="-387350" algn="l" defTabSz="1548130" rtl="0" eaLnBrk="1" latinLnBrk="0" hangingPunct="1">
        <a:lnSpc>
          <a:spcPct val="90000"/>
        </a:lnSpc>
        <a:spcBef>
          <a:spcPct val="170000"/>
        </a:spcBef>
        <a:buFont typeface="Arial" panose="020B0604020202020204" pitchFamily="34" charset="0"/>
        <a:buChar char="•"/>
        <a:defRPr sz="3050" kern="1200">
          <a:solidFill>
            <a:schemeClr val="tx1"/>
          </a:solidFill>
          <a:latin typeface="+mn-lt"/>
          <a:ea typeface="+mn-ea"/>
          <a:cs typeface="+mn-cs"/>
        </a:defRPr>
      </a:lvl7pPr>
      <a:lvl8pPr marL="5805805" indent="-387350" algn="l" defTabSz="1548130" rtl="0" eaLnBrk="1" latinLnBrk="0" hangingPunct="1">
        <a:lnSpc>
          <a:spcPct val="90000"/>
        </a:lnSpc>
        <a:spcBef>
          <a:spcPct val="170000"/>
        </a:spcBef>
        <a:buFont typeface="Arial" panose="020B0604020202020204" pitchFamily="34" charset="0"/>
        <a:buChar char="•"/>
        <a:defRPr sz="3050" kern="1200">
          <a:solidFill>
            <a:schemeClr val="tx1"/>
          </a:solidFill>
          <a:latin typeface="+mn-lt"/>
          <a:ea typeface="+mn-ea"/>
          <a:cs typeface="+mn-cs"/>
        </a:defRPr>
      </a:lvl8pPr>
      <a:lvl9pPr marL="6579235" indent="-387350" algn="l" defTabSz="1548130" rtl="0" eaLnBrk="1" latinLnBrk="0" hangingPunct="1">
        <a:lnSpc>
          <a:spcPct val="90000"/>
        </a:lnSpc>
        <a:spcBef>
          <a:spcPct val="170000"/>
        </a:spcBef>
        <a:buFont typeface="Arial" panose="020B0604020202020204" pitchFamily="34" charset="0"/>
        <a:buChar char="•"/>
        <a:defRPr sz="3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548130" rtl="0" eaLnBrk="1" latinLnBrk="0" hangingPunct="1">
        <a:defRPr sz="3050" kern="1200">
          <a:solidFill>
            <a:schemeClr val="tx1"/>
          </a:solidFill>
          <a:latin typeface="+mn-lt"/>
          <a:ea typeface="+mn-ea"/>
          <a:cs typeface="+mn-cs"/>
        </a:defRPr>
      </a:lvl1pPr>
      <a:lvl2pPr marL="774065" algn="l" defTabSz="1548130" rtl="0" eaLnBrk="1" latinLnBrk="0" hangingPunct="1">
        <a:defRPr sz="3050" kern="1200">
          <a:solidFill>
            <a:schemeClr val="tx1"/>
          </a:solidFill>
          <a:latin typeface="+mn-lt"/>
          <a:ea typeface="+mn-ea"/>
          <a:cs typeface="+mn-cs"/>
        </a:defRPr>
      </a:lvl2pPr>
      <a:lvl3pPr marL="1548130" algn="l" defTabSz="1548130" rtl="0" eaLnBrk="1" latinLnBrk="0" hangingPunct="1">
        <a:defRPr sz="3050" kern="1200">
          <a:solidFill>
            <a:schemeClr val="tx1"/>
          </a:solidFill>
          <a:latin typeface="+mn-lt"/>
          <a:ea typeface="+mn-ea"/>
          <a:cs typeface="+mn-cs"/>
        </a:defRPr>
      </a:lvl3pPr>
      <a:lvl4pPr marL="2321560" algn="l" defTabSz="1548130" rtl="0" eaLnBrk="1" latinLnBrk="0" hangingPunct="1">
        <a:defRPr sz="3050" kern="1200">
          <a:solidFill>
            <a:schemeClr val="tx1"/>
          </a:solidFill>
          <a:latin typeface="+mn-lt"/>
          <a:ea typeface="+mn-ea"/>
          <a:cs typeface="+mn-cs"/>
        </a:defRPr>
      </a:lvl4pPr>
      <a:lvl5pPr marL="3095625" algn="l" defTabSz="1548130" rtl="0" eaLnBrk="1" latinLnBrk="0" hangingPunct="1">
        <a:defRPr sz="3050" kern="1200">
          <a:solidFill>
            <a:schemeClr val="tx1"/>
          </a:solidFill>
          <a:latin typeface="+mn-lt"/>
          <a:ea typeface="+mn-ea"/>
          <a:cs typeface="+mn-cs"/>
        </a:defRPr>
      </a:lvl5pPr>
      <a:lvl6pPr marL="3869690" algn="l" defTabSz="1548130" rtl="0" eaLnBrk="1" latinLnBrk="0" hangingPunct="1">
        <a:defRPr sz="3050" kern="1200">
          <a:solidFill>
            <a:schemeClr val="tx1"/>
          </a:solidFill>
          <a:latin typeface="+mn-lt"/>
          <a:ea typeface="+mn-ea"/>
          <a:cs typeface="+mn-cs"/>
        </a:defRPr>
      </a:lvl6pPr>
      <a:lvl7pPr marL="4644390" algn="l" defTabSz="1548130" rtl="0" eaLnBrk="1" latinLnBrk="0" hangingPunct="1">
        <a:defRPr sz="3050" kern="1200">
          <a:solidFill>
            <a:schemeClr val="tx1"/>
          </a:solidFill>
          <a:latin typeface="+mn-lt"/>
          <a:ea typeface="+mn-ea"/>
          <a:cs typeface="+mn-cs"/>
        </a:defRPr>
      </a:lvl7pPr>
      <a:lvl8pPr marL="5418455" algn="l" defTabSz="1548130" rtl="0" eaLnBrk="1" latinLnBrk="0" hangingPunct="1">
        <a:defRPr sz="3050" kern="1200">
          <a:solidFill>
            <a:schemeClr val="tx1"/>
          </a:solidFill>
          <a:latin typeface="+mn-lt"/>
          <a:ea typeface="+mn-ea"/>
          <a:cs typeface="+mn-cs"/>
        </a:defRPr>
      </a:lvl8pPr>
      <a:lvl9pPr marL="6192520" algn="l" defTabSz="1548130" rtl="0" eaLnBrk="1" latinLnBrk="0" hangingPunct="1">
        <a:defRPr sz="3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68083" y="1421813"/>
            <a:ext cx="3164183" cy="404069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015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基因芯片寻找差异基因</a:t>
            </a:r>
            <a:r>
              <a:rPr lang="en-US" altLang="zh-CN" sz="2015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D</a:t>
            </a:r>
          </a:p>
        </p:txBody>
      </p:sp>
      <p:sp>
        <p:nvSpPr>
          <p:cNvPr id="5" name="矩形 4"/>
          <p:cNvSpPr/>
          <p:nvPr/>
        </p:nvSpPr>
        <p:spPr>
          <a:xfrm>
            <a:off x="5804557" y="2209492"/>
            <a:ext cx="3871631" cy="345703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015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在线网站预测与</a:t>
            </a:r>
            <a:r>
              <a:rPr lang="en-US" altLang="zh-CN" sz="2015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D</a:t>
            </a:r>
            <a:r>
              <a:rPr lang="zh-CN" altLang="en-US" sz="2015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结合的</a:t>
            </a:r>
            <a:r>
              <a:rPr lang="en-US" altLang="zh-CN" sz="2015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miRNA</a:t>
            </a:r>
          </a:p>
        </p:txBody>
      </p:sp>
      <p:sp>
        <p:nvSpPr>
          <p:cNvPr id="6" name="矩形 5"/>
          <p:cNvSpPr/>
          <p:nvPr/>
        </p:nvSpPr>
        <p:spPr>
          <a:xfrm>
            <a:off x="5665748" y="2961307"/>
            <a:ext cx="4163773" cy="734013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015" dirty="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锁定研究对象</a:t>
            </a:r>
          </a:p>
          <a:p>
            <a:pPr algn="just"/>
            <a:r>
              <a:rPr lang="en-US" altLang="zh-CN" sz="2015" dirty="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D</a:t>
            </a:r>
            <a:r>
              <a:rPr lang="zh-CN" altLang="en-US" sz="2015" dirty="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、</a:t>
            </a:r>
            <a:r>
              <a:rPr lang="en-US" altLang="zh-CN" sz="2015" dirty="0" err="1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miR</a:t>
            </a:r>
            <a:r>
              <a:rPr lang="en-US" altLang="zh-CN" sz="2015" dirty="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-B</a:t>
            </a:r>
            <a:r>
              <a:rPr lang="zh-CN" altLang="en-US" sz="2015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015" dirty="0" err="1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miR</a:t>
            </a:r>
            <a:r>
              <a:rPr lang="en-US" altLang="zh-CN" sz="2015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-C</a:t>
            </a:r>
            <a:r>
              <a:rPr lang="zh-CN" altLang="en-US" sz="2015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015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E</a:t>
            </a:r>
            <a:r>
              <a:rPr lang="zh-CN" altLang="en-US" sz="2015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015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lncRNA </a:t>
            </a:r>
          </a:p>
        </p:txBody>
      </p:sp>
      <p:sp>
        <p:nvSpPr>
          <p:cNvPr id="8" name="矩形 7"/>
          <p:cNvSpPr/>
          <p:nvPr/>
        </p:nvSpPr>
        <p:spPr>
          <a:xfrm>
            <a:off x="10539730" y="4171644"/>
            <a:ext cx="3402965" cy="7340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2015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收集临床样本并检测六者的表达水平</a:t>
            </a:r>
            <a:endParaRPr lang="zh-CN" sz="2015">
              <a:solidFill>
                <a:schemeClr val="tx1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816412" y="4317131"/>
            <a:ext cx="3871660" cy="4431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2015">
                <a:solidFill>
                  <a:schemeClr val="tx1"/>
                </a:solidFill>
                <a:latin typeface="+mn-ea"/>
              </a:rPr>
              <a:t>韧带的分离，细胞的培养和鉴定</a:t>
            </a:r>
            <a:endParaRPr lang="zh-CN" sz="2015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539730" y="5639129"/>
            <a:ext cx="3402965" cy="10579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201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六者与骨化标记物的相关性及与</a:t>
            </a:r>
            <a:r>
              <a:rPr lang="en-US" altLang="zh-CN" sz="201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OPLL</a:t>
            </a:r>
            <a:r>
              <a:rPr lang="zh-CN" altLang="en-US" sz="201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患者的临床病理相关性</a:t>
            </a:r>
          </a:p>
        </p:txBody>
      </p:sp>
      <p:sp>
        <p:nvSpPr>
          <p:cNvPr id="12" name="矩形 11"/>
          <p:cNvSpPr/>
          <p:nvPr/>
        </p:nvSpPr>
        <p:spPr>
          <a:xfrm>
            <a:off x="5816412" y="5257766"/>
            <a:ext cx="3871660" cy="47062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2015">
                <a:solidFill>
                  <a:schemeClr val="tx1"/>
                </a:solidFill>
                <a:latin typeface="+mn-ea"/>
              </a:rPr>
              <a:t>靶向关系的验证</a:t>
            </a:r>
            <a:endParaRPr lang="zh-CN" sz="2015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816412" y="6225833"/>
            <a:ext cx="3871660" cy="47062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2015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干预</a:t>
            </a:r>
            <a:r>
              <a:rPr lang="en-US" altLang="zh-CN" sz="2015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lncRNA A</a:t>
            </a:r>
            <a:endParaRPr lang="en-US" altLang="zh-CN" sz="2015">
              <a:solidFill>
                <a:schemeClr val="tx1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21796" y="5258102"/>
            <a:ext cx="3871660" cy="470622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2015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RNA pulldown/AGO2-RIP</a:t>
            </a:r>
            <a:endParaRPr lang="en-US" altLang="zh-CN" sz="2015">
              <a:solidFill>
                <a:schemeClr val="tx1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21796" y="5831140"/>
            <a:ext cx="3871660" cy="470622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2015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RNA FISH</a:t>
            </a:r>
            <a:r>
              <a:rPr lang="zh-CN" altLang="en-US" sz="2015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实验</a:t>
            </a:r>
          </a:p>
        </p:txBody>
      </p:sp>
      <p:sp>
        <p:nvSpPr>
          <p:cNvPr id="17" name="矩形 16"/>
          <p:cNvSpPr/>
          <p:nvPr/>
        </p:nvSpPr>
        <p:spPr>
          <a:xfrm>
            <a:off x="1021796" y="4649885"/>
            <a:ext cx="3871660" cy="470622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015">
                <a:solidFill>
                  <a:schemeClr val="tx1"/>
                </a:solidFill>
                <a:latin typeface="+mn-ea"/>
                <a:sym typeface="+mn-ea"/>
              </a:rPr>
              <a:t>双荧光素酶报告基因报告实验</a:t>
            </a:r>
          </a:p>
        </p:txBody>
      </p:sp>
      <p:cxnSp>
        <p:nvCxnSpPr>
          <p:cNvPr id="18" name="直接箭头连接符 17"/>
          <p:cNvCxnSpPr>
            <a:cxnSpLocks/>
            <a:stCxn id="4" idx="2"/>
            <a:endCxn id="5" idx="0"/>
          </p:cNvCxnSpPr>
          <p:nvPr/>
        </p:nvCxnSpPr>
        <p:spPr>
          <a:xfrm flipH="1">
            <a:off x="7740373" y="1825882"/>
            <a:ext cx="9802" cy="383610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cxnSpLocks/>
            <a:stCxn id="5" idx="2"/>
            <a:endCxn id="6" idx="0"/>
          </p:cNvCxnSpPr>
          <p:nvPr/>
        </p:nvCxnSpPr>
        <p:spPr>
          <a:xfrm>
            <a:off x="7740373" y="2555195"/>
            <a:ext cx="7262" cy="406112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cxnSpLocks/>
            <a:stCxn id="6" idx="2"/>
            <a:endCxn id="10" idx="0"/>
          </p:cNvCxnSpPr>
          <p:nvPr/>
        </p:nvCxnSpPr>
        <p:spPr>
          <a:xfrm>
            <a:off x="7747635" y="3695320"/>
            <a:ext cx="4607" cy="621811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9688072" y="4538419"/>
            <a:ext cx="760189" cy="0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7752496" y="4808757"/>
            <a:ext cx="0" cy="475200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3742690" y="7333944"/>
            <a:ext cx="3871595" cy="6985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2015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研究</a:t>
            </a:r>
            <a:r>
              <a:rPr lang="en-US" altLang="zh-CN" sz="2015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miR-B</a:t>
            </a:r>
            <a:r>
              <a:rPr lang="zh-CN" altLang="en-US" sz="2015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及</a:t>
            </a:r>
            <a:r>
              <a:rPr lang="en-US" altLang="zh-CN" sz="2015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D</a:t>
            </a:r>
            <a:r>
              <a:rPr lang="zh-CN" altLang="en-US" sz="2015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对后纵韧带细胞成骨分化的影响及机制</a:t>
            </a:r>
            <a:endParaRPr lang="zh-CN" altLang="en-US" sz="2015">
              <a:solidFill>
                <a:schemeClr val="tx1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326755" y="7333944"/>
            <a:ext cx="3871595" cy="6985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201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研究</a:t>
            </a:r>
            <a:r>
              <a:rPr lang="en-US" altLang="zh-CN" sz="201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miR-C</a:t>
            </a:r>
            <a:r>
              <a:rPr lang="zh-CN" altLang="en-US" sz="201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及</a:t>
            </a:r>
            <a:r>
              <a:rPr lang="en-US" altLang="zh-CN" sz="201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E</a:t>
            </a:r>
            <a:r>
              <a:rPr lang="zh-CN" altLang="en-US" sz="201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对后纵韧带细胞成骨分化的影响及机制</a:t>
            </a:r>
            <a:endParaRPr lang="en-US" altLang="zh-CN" sz="2015">
              <a:solidFill>
                <a:schemeClr val="tx1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7751938" y="5728388"/>
            <a:ext cx="0" cy="497445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5357495" y="8923349"/>
            <a:ext cx="4785360" cy="4705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2100" dirty="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韧带的分离，成纤维细胞的培养</a:t>
            </a:r>
            <a:endParaRPr lang="zh-CN" sz="2100" dirty="0">
              <a:solidFill>
                <a:schemeClr val="tx1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357495" y="10199064"/>
            <a:ext cx="4785360" cy="470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210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后纵韧带成纤维细胞实验</a:t>
            </a:r>
            <a:endParaRPr lang="zh-CN" sz="2100">
              <a:solidFill>
                <a:schemeClr val="tx1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21715" y="11307139"/>
            <a:ext cx="2521585" cy="53727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周期性应变张力</a:t>
            </a:r>
            <a:endParaRPr lang="zh-CN" sz="1730">
              <a:solidFill>
                <a:schemeClr val="tx1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7736037" y="6696618"/>
            <a:ext cx="3658" cy="245063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5707865" y="6941681"/>
            <a:ext cx="396734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5707865" y="6941681"/>
            <a:ext cx="0" cy="415144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9671548" y="6941681"/>
            <a:ext cx="3658" cy="392589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5507990" y="11307139"/>
            <a:ext cx="2072005" cy="628628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敲低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lncRNA A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及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miR-B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或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C</a:t>
            </a:r>
          </a:p>
        </p:txBody>
      </p:sp>
      <p:sp>
        <p:nvSpPr>
          <p:cNvPr id="34" name="矩形 33"/>
          <p:cNvSpPr/>
          <p:nvPr/>
        </p:nvSpPr>
        <p:spPr>
          <a:xfrm>
            <a:off x="7962265" y="11307139"/>
            <a:ext cx="2028190" cy="628628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过表达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lncRNA A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及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miR-B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或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C</a:t>
            </a:r>
            <a:endParaRPr lang="zh-CN" altLang="en-US" sz="1730">
              <a:solidFill>
                <a:schemeClr val="tx1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982325" y="11307139"/>
            <a:ext cx="1860550" cy="628628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共同敲低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miR-B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或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miR-C</a:t>
            </a:r>
            <a:endParaRPr lang="zh-CN" sz="1730">
              <a:solidFill>
                <a:schemeClr val="tx1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993380" y="9614864"/>
            <a:ext cx="1997075" cy="36385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210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免疫荧光鉴定</a:t>
            </a:r>
          </a:p>
        </p:txBody>
      </p:sp>
      <p:cxnSp>
        <p:nvCxnSpPr>
          <p:cNvPr id="37" name="直接箭头连接符 36"/>
          <p:cNvCxnSpPr>
            <a:stCxn id="26" idx="2"/>
            <a:endCxn id="27" idx="0"/>
          </p:cNvCxnSpPr>
          <p:nvPr/>
        </p:nvCxnSpPr>
        <p:spPr>
          <a:xfrm>
            <a:off x="7750364" y="9394142"/>
            <a:ext cx="0" cy="805180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929006" y="12643874"/>
            <a:ext cx="1638299" cy="214693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730" dirty="0" err="1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qRT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-PCR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检测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OCN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、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ALP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、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Collagen-Ⅰ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、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lncRNA A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730" dirty="0" err="1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miR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-B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或</a:t>
            </a:r>
            <a:r>
              <a:rPr lang="en-US" altLang="zh-CN" sz="1730" dirty="0" err="1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miR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-C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E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等</a:t>
            </a:r>
          </a:p>
        </p:txBody>
      </p:sp>
      <p:sp>
        <p:nvSpPr>
          <p:cNvPr id="39" name="矩形 38"/>
          <p:cNvSpPr/>
          <p:nvPr/>
        </p:nvSpPr>
        <p:spPr>
          <a:xfrm>
            <a:off x="13222605" y="11307139"/>
            <a:ext cx="1860550" cy="628628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共同过表达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miR-B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或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miR-C</a:t>
            </a:r>
            <a:endParaRPr lang="zh-CN" sz="1730">
              <a:solidFill>
                <a:schemeClr val="tx1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2825115" y="12643874"/>
            <a:ext cx="1130300" cy="214693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western blot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检测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OCN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ALP/Collagen-Ⅰ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、、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E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等</a:t>
            </a:r>
            <a:endParaRPr lang="en-US" altLang="zh-CN" sz="1730">
              <a:solidFill>
                <a:schemeClr val="tx1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272280" y="12643874"/>
            <a:ext cx="718820" cy="214693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ALP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及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ARS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染色</a:t>
            </a:r>
          </a:p>
        </p:txBody>
      </p:sp>
      <p:sp>
        <p:nvSpPr>
          <p:cNvPr id="42" name="矩形 41"/>
          <p:cNvSpPr/>
          <p:nvPr/>
        </p:nvSpPr>
        <p:spPr>
          <a:xfrm>
            <a:off x="5549367" y="12715607"/>
            <a:ext cx="2030001" cy="470619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无周期性应变张力</a:t>
            </a:r>
            <a:endParaRPr lang="en-US" altLang="zh-CN" sz="1730">
              <a:solidFill>
                <a:schemeClr val="tx1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017067" y="12715607"/>
            <a:ext cx="1830049" cy="470619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周期性应变张力</a:t>
            </a:r>
            <a:endParaRPr lang="en-US" altLang="zh-CN" sz="1730">
              <a:solidFill>
                <a:schemeClr val="tx1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799916" y="13784326"/>
            <a:ext cx="1297250" cy="1628877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qRT-PCR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检测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OCN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ALP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Collagen-Ⅰ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E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等</a:t>
            </a:r>
          </a:p>
        </p:txBody>
      </p:sp>
      <p:sp>
        <p:nvSpPr>
          <p:cNvPr id="45" name="矩形 44"/>
          <p:cNvSpPr/>
          <p:nvPr/>
        </p:nvSpPr>
        <p:spPr>
          <a:xfrm>
            <a:off x="7320893" y="13784326"/>
            <a:ext cx="1510613" cy="1628877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western blot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检测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OCN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ALP/Collagen-Ⅰ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、、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E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等</a:t>
            </a:r>
            <a:endParaRPr lang="en-US" altLang="zh-CN" sz="1730">
              <a:solidFill>
                <a:schemeClr val="tx1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8968740" y="13784334"/>
            <a:ext cx="878205" cy="162877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ALP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及</a:t>
            </a:r>
            <a:r>
              <a:rPr lang="en-US" alt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ARS</a:t>
            </a:r>
            <a:r>
              <a:rPr lang="zh-CN" altLang="en-US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染色</a:t>
            </a:r>
          </a:p>
        </p:txBody>
      </p:sp>
      <p:sp>
        <p:nvSpPr>
          <p:cNvPr id="48" name="矩形 47"/>
          <p:cNvSpPr/>
          <p:nvPr/>
        </p:nvSpPr>
        <p:spPr>
          <a:xfrm>
            <a:off x="10982325" y="13760204"/>
            <a:ext cx="1297305" cy="2028492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730" dirty="0" err="1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qRT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-PCR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检测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OCN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ALP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Collagen-Ⅰ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E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等</a:t>
            </a:r>
          </a:p>
        </p:txBody>
      </p:sp>
      <p:sp>
        <p:nvSpPr>
          <p:cNvPr id="49" name="矩形 48"/>
          <p:cNvSpPr/>
          <p:nvPr/>
        </p:nvSpPr>
        <p:spPr>
          <a:xfrm>
            <a:off x="12439650" y="13760203"/>
            <a:ext cx="1273810" cy="2028497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western blot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检测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OCN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ALP/ Collagen-Ⅰ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、、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E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等</a:t>
            </a:r>
            <a:endParaRPr lang="en-US" altLang="zh-CN" sz="1730" dirty="0">
              <a:solidFill>
                <a:schemeClr val="tx1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3851890" y="13784334"/>
            <a:ext cx="878205" cy="200436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ALP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及</a:t>
            </a:r>
            <a:r>
              <a:rPr lang="en-US" altLang="zh-CN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ARS</a:t>
            </a:r>
            <a:r>
              <a:rPr lang="zh-CN" altLang="en-US" sz="1730" dirty="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染色</a:t>
            </a:r>
          </a:p>
        </p:txBody>
      </p:sp>
      <p:cxnSp>
        <p:nvCxnSpPr>
          <p:cNvPr id="51" name="直接箭头连接符 50"/>
          <p:cNvCxnSpPr/>
          <p:nvPr/>
        </p:nvCxnSpPr>
        <p:spPr>
          <a:xfrm flipH="1">
            <a:off x="7740015" y="10669599"/>
            <a:ext cx="7620" cy="324485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2339975" y="10994084"/>
            <a:ext cx="1187958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H="1">
            <a:off x="2332355" y="10982654"/>
            <a:ext cx="7620" cy="324485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H="1">
            <a:off x="6323330" y="10994084"/>
            <a:ext cx="7620" cy="324485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H="1">
            <a:off x="8996045" y="10982654"/>
            <a:ext cx="7620" cy="324485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H="1">
            <a:off x="11908790" y="10994084"/>
            <a:ext cx="7620" cy="324485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>
            <a:off x="14219555" y="10994084"/>
            <a:ext cx="0" cy="313055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cxnSpLocks/>
          </p:cNvCxnSpPr>
          <p:nvPr/>
        </p:nvCxnSpPr>
        <p:spPr>
          <a:xfrm>
            <a:off x="1475740" y="12176514"/>
            <a:ext cx="323977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2339975" y="11879969"/>
            <a:ext cx="0" cy="29654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1475740" y="12176514"/>
            <a:ext cx="0" cy="431800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>
            <a:off x="3390265" y="12176514"/>
            <a:ext cx="0" cy="431800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4726940" y="12176514"/>
            <a:ext cx="0" cy="431800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6339840" y="12320024"/>
            <a:ext cx="269621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6323330" y="11959979"/>
            <a:ext cx="0" cy="36004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9036050" y="11959979"/>
            <a:ext cx="0" cy="36004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6390005" y="13328404"/>
            <a:ext cx="269621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6390005" y="13328404"/>
            <a:ext cx="0" cy="431800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7740015" y="12320024"/>
            <a:ext cx="12700" cy="1440180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>
            <a:off x="9086215" y="13328404"/>
            <a:ext cx="0" cy="431800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11915775" y="12320024"/>
            <a:ext cx="230441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11916410" y="11959979"/>
            <a:ext cx="0" cy="36004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14219555" y="11959979"/>
            <a:ext cx="0" cy="36004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11915775" y="13328404"/>
            <a:ext cx="230441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13238672" y="12715607"/>
            <a:ext cx="1830049" cy="470619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1730">
                <a:solidFill>
                  <a:schemeClr val="tx1"/>
                </a:solidFill>
                <a:latin typeface="+mn-ea"/>
                <a:cs typeface="Times New Roman" panose="02020603050405020304" charset="0"/>
                <a:sym typeface="+mn-ea"/>
              </a:rPr>
              <a:t>周期性应变张力</a:t>
            </a:r>
            <a:endParaRPr lang="en-US" altLang="zh-CN" sz="1730">
              <a:solidFill>
                <a:schemeClr val="tx1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cxnSp>
        <p:nvCxnSpPr>
          <p:cNvPr id="80" name="直接箭头连接符 79"/>
          <p:cNvCxnSpPr/>
          <p:nvPr/>
        </p:nvCxnSpPr>
        <p:spPr>
          <a:xfrm>
            <a:off x="11916410" y="13328404"/>
            <a:ext cx="0" cy="431800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>
            <a:off x="13067665" y="12320024"/>
            <a:ext cx="0" cy="1440180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>
            <a:off x="14220190" y="13328404"/>
            <a:ext cx="0" cy="431800"/>
          </a:xfrm>
          <a:prstGeom prst="straightConnector1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/>
        </p:nvCxnSpPr>
        <p:spPr>
          <a:xfrm>
            <a:off x="12557617" y="4905793"/>
            <a:ext cx="17069" cy="697394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 flipV="1">
            <a:off x="4893310" y="4880304"/>
            <a:ext cx="614680" cy="95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flipV="1">
            <a:off x="4893310" y="6061404"/>
            <a:ext cx="614680" cy="95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/>
          <p:cNvCxnSpPr>
            <a:endCxn id="12" idx="1"/>
          </p:cNvCxnSpPr>
          <p:nvPr/>
        </p:nvCxnSpPr>
        <p:spPr>
          <a:xfrm flipV="1">
            <a:off x="4893310" y="5564834"/>
            <a:ext cx="92329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5507990" y="4880304"/>
            <a:ext cx="0" cy="121793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261</Words>
  <Application>Microsoft Office PowerPoint</Application>
  <PresentationFormat>自定义</PresentationFormat>
  <Paragraphs>34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Arial</vt:lpstr>
      <vt:lpstr>Wingdings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Administrator</cp:lastModifiedBy>
  <cp:revision>178</cp:revision>
  <dcterms:created xsi:type="dcterms:W3CDTF">2019-06-19T02:08:00Z</dcterms:created>
  <dcterms:modified xsi:type="dcterms:W3CDTF">2021-03-15T02:39:29Z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