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635" cy="251999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79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82384" y="1143000"/>
            <a:ext cx="149323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948" y="9510744"/>
            <a:ext cx="10853306" cy="3304026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72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948" y="13104000"/>
            <a:ext cx="10853306" cy="3494429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32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1587402"/>
            <a:ext cx="10853306" cy="238110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48" y="4762205"/>
            <a:ext cx="10853306" cy="18524664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96" y="13995333"/>
            <a:ext cx="10853306" cy="2296018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48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91" y="16578333"/>
            <a:ext cx="10853306" cy="3961100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2135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1587402"/>
            <a:ext cx="10853306" cy="238110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96" y="4762205"/>
            <a:ext cx="5283762" cy="18519685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9491" y="4762205"/>
            <a:ext cx="5283762" cy="18519685"/>
          </a:xfrm>
        </p:spPr>
        <p:txBody>
          <a:bodyPr>
            <a:noAutofit/>
          </a:bodyPr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1587402"/>
            <a:ext cx="10853306" cy="238110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96" y="4762205"/>
            <a:ext cx="5283762" cy="1400011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6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91" y="6573911"/>
            <a:ext cx="5283720" cy="16727369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4762205"/>
            <a:ext cx="5283762" cy="140001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6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6573911"/>
            <a:ext cx="5283762" cy="16727369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96" y="4762205"/>
            <a:ext cx="5283762" cy="18519685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9539" y="4762205"/>
            <a:ext cx="5283762" cy="18519685"/>
          </a:xfrm>
        </p:spPr>
        <p:txBody>
          <a:bodyPr vert="horz" lIns="101600" tIns="0" rIns="82550" bIns="0" rtlCol="0">
            <a:norm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2176" y="3500029"/>
            <a:ext cx="951078" cy="19801758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91" y="3500000"/>
            <a:ext cx="9829069" cy="19801758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96" y="3500029"/>
            <a:ext cx="10853306" cy="1851968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948" y="9510744"/>
            <a:ext cx="10853306" cy="3304026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948" y="1587402"/>
            <a:ext cx="10853306" cy="2381102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948" y="4762205"/>
            <a:ext cx="10853306" cy="1851968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829" y="23332720"/>
            <a:ext cx="2700266" cy="116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23332720"/>
            <a:ext cx="3960390" cy="116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1448" y="23332720"/>
            <a:ext cx="2700266" cy="116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3735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146300" algn="l"/>
        </a:tabLst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188210" y="393700"/>
            <a:ext cx="1887220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环状</a:t>
            </a:r>
            <a:r>
              <a:rPr lang="en-US" altLang="zh-CN"/>
              <a:t>RNA</a:t>
            </a:r>
            <a:endParaRPr lang="en-US" altLang="zh-CN"/>
          </a:p>
          <a:p>
            <a:pPr algn="ctr"/>
            <a:r>
              <a:rPr lang="en-US" altLang="zh-CN"/>
              <a:t>circ-xxx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174750" y="1955800"/>
            <a:ext cx="1811020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检测</a:t>
            </a:r>
            <a:r>
              <a:rPr lang="en-US" altLang="zh-CN"/>
              <a:t>poly(A)</a:t>
            </a:r>
            <a:r>
              <a:rPr lang="zh-CN" altLang="en-US"/>
              <a:t>尾巴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397250" y="1955800"/>
            <a:ext cx="1811020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检测</a:t>
            </a:r>
            <a:r>
              <a:rPr lang="en-US" altLang="zh-CN"/>
              <a:t>RNaseR</a:t>
            </a:r>
            <a:r>
              <a:rPr lang="zh-CN" altLang="en-US"/>
              <a:t>的耐受性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142490" y="3073400"/>
            <a:ext cx="2212340" cy="744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验证</a:t>
            </a:r>
            <a:r>
              <a:rPr lang="en-US" altLang="zh-CN"/>
              <a:t>circ-xxx</a:t>
            </a:r>
            <a:r>
              <a:rPr lang="zh-CN" altLang="en-US"/>
              <a:t>为环状</a:t>
            </a:r>
            <a:r>
              <a:rPr lang="en-US" altLang="zh-CN"/>
              <a:t>RNA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96635" y="838200"/>
            <a:ext cx="16960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肝细胞癌患者癌组织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096635" y="1955800"/>
            <a:ext cx="16960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RT-qPCR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8642985" y="527050"/>
            <a:ext cx="16960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肝细胞癌患者癌旁组织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642985" y="1955800"/>
            <a:ext cx="16960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收集肝细胞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336790" y="3187700"/>
            <a:ext cx="2212340" cy="744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验证</a:t>
            </a:r>
            <a:r>
              <a:rPr lang="en-US" altLang="zh-CN"/>
              <a:t>CIRC-XXX</a:t>
            </a:r>
            <a:r>
              <a:rPr lang="zh-CN" altLang="en-US"/>
              <a:t>的临床价值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35990" y="4394200"/>
            <a:ext cx="18103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环状</a:t>
            </a:r>
            <a:r>
              <a:rPr lang="en-US" altLang="zh-CN"/>
              <a:t>RNA</a:t>
            </a:r>
            <a:endParaRPr lang="en-US" altLang="zh-CN"/>
          </a:p>
          <a:p>
            <a:pPr algn="ctr"/>
            <a:r>
              <a:rPr lang="en-US" altLang="zh-CN"/>
              <a:t>circ-xxx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6147435" y="4394200"/>
            <a:ext cx="18103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下游</a:t>
            </a:r>
            <a:r>
              <a:rPr lang="en-US" altLang="zh-CN"/>
              <a:t>miR-xxx/XXX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147300" y="4394200"/>
            <a:ext cx="14674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PI3K/AKT</a:t>
            </a:r>
            <a:r>
              <a:rPr lang="zh-CN" altLang="en-US"/>
              <a:t>信号通路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65430" y="7035800"/>
            <a:ext cx="1658620" cy="1010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EDU</a:t>
            </a:r>
            <a:r>
              <a:rPr lang="zh-CN" altLang="en-US"/>
              <a:t>和流式细胞检测细胞增殖凋亡情况</a:t>
            </a: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188210" y="7035800"/>
            <a:ext cx="1852295" cy="10115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划痕实验和</a:t>
            </a:r>
            <a:r>
              <a:rPr lang="en-US" altLang="zh-CN"/>
              <a:t>Transwell</a:t>
            </a:r>
            <a:r>
              <a:rPr lang="zh-CN" altLang="en-US"/>
              <a:t>实验检测细胞侵袭迁移情况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354830" y="7035800"/>
            <a:ext cx="1581785" cy="10115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体外血管形成实验检测血管生成情况</a:t>
            </a:r>
            <a:endParaRPr lang="zh-CN" altLang="en-US"/>
          </a:p>
        </p:txBody>
      </p:sp>
      <p:sp>
        <p:nvSpPr>
          <p:cNvPr id="21" name="菱形 20"/>
          <p:cNvSpPr/>
          <p:nvPr/>
        </p:nvSpPr>
        <p:spPr>
          <a:xfrm>
            <a:off x="600710" y="5572760"/>
            <a:ext cx="2385060" cy="110490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过表达、抑制</a:t>
            </a:r>
            <a:r>
              <a:rPr lang="en-US" altLang="zh-CN">
                <a:sym typeface="+mn-ea"/>
              </a:rPr>
              <a:t>circ-xxx</a:t>
            </a:r>
            <a:endParaRPr lang="zh-CN" altLang="en-US"/>
          </a:p>
        </p:txBody>
      </p:sp>
      <p:sp>
        <p:nvSpPr>
          <p:cNvPr id="22" name="菱形 21"/>
          <p:cNvSpPr/>
          <p:nvPr/>
        </p:nvSpPr>
        <p:spPr>
          <a:xfrm>
            <a:off x="3397885" y="5405120"/>
            <a:ext cx="2402840" cy="117729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Rescue</a:t>
            </a:r>
            <a:r>
              <a:rPr lang="zh-CN" altLang="en-US"/>
              <a:t>实验过表达</a:t>
            </a:r>
            <a:r>
              <a:rPr lang="en-US" altLang="zh-CN"/>
              <a:t>miR-xxx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265430" y="8420100"/>
            <a:ext cx="5671185" cy="13544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qRT-PCR</a:t>
            </a:r>
            <a:r>
              <a:rPr lang="zh-CN" altLang="en-US"/>
              <a:t>和</a:t>
            </a:r>
            <a:r>
              <a:rPr lang="en-US" altLang="zh-CN"/>
              <a:t>Western Blot</a:t>
            </a:r>
            <a:r>
              <a:rPr lang="zh-CN" altLang="en-US"/>
              <a:t>检测</a:t>
            </a:r>
            <a:endParaRPr lang="zh-CN" altLang="en-US"/>
          </a:p>
          <a:p>
            <a:pPr algn="ctr"/>
            <a:r>
              <a:rPr lang="en-US" altLang="zh-CN"/>
              <a:t>Bax</a:t>
            </a:r>
            <a:r>
              <a:rPr lang="zh-CN" altLang="en-US"/>
              <a:t>和</a:t>
            </a:r>
            <a:r>
              <a:rPr lang="en-US" altLang="zh-CN"/>
              <a:t>Bcl-2</a:t>
            </a:r>
            <a:r>
              <a:rPr lang="zh-CN" altLang="en-US"/>
              <a:t>、血管生成相关分子</a:t>
            </a:r>
            <a:r>
              <a:rPr lang="en-US" altLang="zh-CN"/>
              <a:t>VEGF</a:t>
            </a:r>
            <a:r>
              <a:rPr lang="zh-CN" altLang="en-US"/>
              <a:t>、</a:t>
            </a:r>
            <a:r>
              <a:rPr lang="en-US" altLang="zh-CN"/>
              <a:t>MMP-9</a:t>
            </a:r>
            <a:r>
              <a:rPr lang="zh-CN" altLang="en-US"/>
              <a:t>表达情况，以及侵袭迁移相关因子</a:t>
            </a:r>
            <a:r>
              <a:rPr lang="en-US" altLang="zh-CN"/>
              <a:t>Caspase-3</a:t>
            </a:r>
            <a:r>
              <a:rPr lang="zh-CN" altLang="en-US"/>
              <a:t>、</a:t>
            </a:r>
            <a:r>
              <a:rPr lang="en-US" altLang="zh-CN"/>
              <a:t>Caspase-9</a:t>
            </a:r>
            <a:r>
              <a:rPr lang="zh-CN" altLang="en-US"/>
              <a:t>和</a:t>
            </a:r>
            <a:r>
              <a:rPr lang="en-US" altLang="zh-CN"/>
              <a:t>E-cadherin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600710" y="10290175"/>
            <a:ext cx="4803140" cy="10687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验证</a:t>
            </a:r>
            <a:r>
              <a:rPr lang="en-US" altLang="zh-CN"/>
              <a:t>CIRC-XXX</a:t>
            </a:r>
            <a:r>
              <a:rPr lang="zh-CN" altLang="en-US"/>
              <a:t>在肝细胞癌中的发挥的生物学功能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146800" y="5781675"/>
            <a:ext cx="133032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生物素偶联探针下拉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907655" y="5838190"/>
            <a:ext cx="14674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生物素偶联的</a:t>
            </a:r>
            <a:r>
              <a:rPr lang="en-US" altLang="zh-CN">
                <a:sym typeface="+mn-ea"/>
              </a:rPr>
              <a:t>miRNA</a:t>
            </a:r>
            <a:endParaRPr lang="en-US" altLang="zh-CN"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303010" y="7035800"/>
            <a:ext cx="3072130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测定</a:t>
            </a:r>
            <a:r>
              <a:rPr lang="en-US" altLang="zh-CN"/>
              <a:t>circ-xxx</a:t>
            </a:r>
            <a:r>
              <a:rPr lang="zh-CN" altLang="en-US"/>
              <a:t>吸附</a:t>
            </a:r>
            <a:r>
              <a:rPr lang="en-US" altLang="zh-CN"/>
              <a:t>miR-xxx</a:t>
            </a:r>
            <a:r>
              <a:rPr lang="zh-CN" altLang="en-US"/>
              <a:t>关系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303010" y="8047355"/>
            <a:ext cx="307276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双荧光素酶验证</a:t>
            </a:r>
            <a:r>
              <a:rPr lang="en-US" altLang="zh-CN"/>
              <a:t>miR-XXX</a:t>
            </a:r>
            <a:r>
              <a:rPr lang="zh-CN" altLang="en-US"/>
              <a:t>靶向调控</a:t>
            </a:r>
            <a:r>
              <a:rPr lang="en-US" altLang="zh-CN"/>
              <a:t>XXX</a:t>
            </a:r>
            <a:endParaRPr lang="en-US" altLang="zh-CN"/>
          </a:p>
        </p:txBody>
      </p:sp>
      <p:sp>
        <p:nvSpPr>
          <p:cNvPr id="29" name="菱形 28"/>
          <p:cNvSpPr/>
          <p:nvPr/>
        </p:nvSpPr>
        <p:spPr>
          <a:xfrm>
            <a:off x="6687185" y="9014460"/>
            <a:ext cx="2172335" cy="104775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过表达、抑制</a:t>
            </a:r>
            <a:r>
              <a:rPr lang="en-US" altLang="zh-CN">
                <a:sym typeface="+mn-ea"/>
              </a:rPr>
              <a:t>circ-xxx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687185" y="10290175"/>
            <a:ext cx="223202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观察</a:t>
            </a:r>
            <a:r>
              <a:rPr lang="en-US" altLang="zh-CN"/>
              <a:t>miR-XXX</a:t>
            </a:r>
            <a:r>
              <a:rPr lang="zh-CN" altLang="en-US"/>
              <a:t>和</a:t>
            </a:r>
            <a:r>
              <a:rPr lang="en-US" altLang="zh-CN"/>
              <a:t>XXX</a:t>
            </a:r>
            <a:r>
              <a:rPr lang="zh-CN" altLang="en-US"/>
              <a:t>的表达情况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6303010" y="11358880"/>
            <a:ext cx="2936240" cy="8413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环状</a:t>
            </a:r>
            <a:r>
              <a:rPr lang="en-US" altLang="zh-CN"/>
              <a:t>RNA circ-XXX </a:t>
            </a:r>
            <a:r>
              <a:rPr lang="zh-CN" altLang="en-US"/>
              <a:t>吸附</a:t>
            </a:r>
            <a:r>
              <a:rPr lang="en-US" altLang="zh-CN"/>
              <a:t>miR-XXX</a:t>
            </a:r>
            <a:r>
              <a:rPr lang="zh-CN" altLang="en-US"/>
              <a:t>调控</a:t>
            </a:r>
            <a:r>
              <a:rPr lang="en-US" altLang="zh-CN"/>
              <a:t>XXX</a:t>
            </a:r>
            <a:r>
              <a:rPr lang="zh-CN" altLang="en-US"/>
              <a:t>机制研究</a:t>
            </a:r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0147300" y="5838190"/>
            <a:ext cx="1467485" cy="744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过表达、抑制</a:t>
            </a:r>
            <a:r>
              <a:rPr lang="en-US" altLang="zh-CN">
                <a:sym typeface="+mn-ea"/>
              </a:rPr>
              <a:t>circ-xxx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759315" y="6983095"/>
            <a:ext cx="2242185" cy="1117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检测</a:t>
            </a:r>
            <a:r>
              <a:rPr lang="en-US" altLang="zh-CN"/>
              <a:t>pI3K</a:t>
            </a:r>
            <a:r>
              <a:rPr lang="zh-CN" altLang="en-US"/>
              <a:t>、</a:t>
            </a:r>
            <a:r>
              <a:rPr lang="en-US" altLang="zh-CN"/>
              <a:t>AKT</a:t>
            </a:r>
            <a:r>
              <a:rPr lang="zh-CN" altLang="en-US"/>
              <a:t>、</a:t>
            </a:r>
            <a:r>
              <a:rPr lang="en-US" altLang="zh-CN"/>
              <a:t>PAKT</a:t>
            </a:r>
            <a:r>
              <a:rPr lang="zh-CN" altLang="en-US"/>
              <a:t>、</a:t>
            </a:r>
            <a:r>
              <a:rPr lang="en-US" altLang="zh-CN"/>
              <a:t>mTOR</a:t>
            </a:r>
            <a:r>
              <a:rPr lang="zh-CN" altLang="en-US"/>
              <a:t>和</a:t>
            </a:r>
            <a:r>
              <a:rPr lang="en-US" altLang="zh-CN"/>
              <a:t>P-mTOR</a:t>
            </a:r>
            <a:r>
              <a:rPr lang="zh-CN" altLang="en-US"/>
              <a:t>的表达情况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9759315" y="8420100"/>
            <a:ext cx="2242820" cy="774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检测通路上游基因</a:t>
            </a:r>
            <a:r>
              <a:rPr lang="en-US" altLang="zh-CN"/>
              <a:t>PIP2</a:t>
            </a:r>
            <a:r>
              <a:rPr lang="zh-CN" altLang="en-US"/>
              <a:t>和</a:t>
            </a:r>
            <a:r>
              <a:rPr lang="en-US" altLang="zh-CN"/>
              <a:t>PI3P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9759315" y="9582150"/>
            <a:ext cx="2242820" cy="1117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RNA Pulldowm</a:t>
            </a:r>
            <a:r>
              <a:rPr lang="zh-CN" altLang="en-US"/>
              <a:t>实验验证</a:t>
            </a:r>
            <a:r>
              <a:rPr lang="en-US" altLang="zh-CN"/>
              <a:t>XXX</a:t>
            </a:r>
            <a:r>
              <a:rPr lang="zh-CN" altLang="en-US"/>
              <a:t>和</a:t>
            </a:r>
            <a:r>
              <a:rPr lang="en-US" altLang="zh-CN">
                <a:sym typeface="+mn-ea"/>
              </a:rPr>
              <a:t>PIP2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PI3P</a:t>
            </a:r>
            <a:r>
              <a:rPr lang="zh-CN" altLang="en-US">
                <a:sym typeface="+mn-ea"/>
              </a:rPr>
              <a:t>的结合情况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759315" y="11082020"/>
            <a:ext cx="2242820" cy="1117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证明</a:t>
            </a:r>
            <a:r>
              <a:rPr lang="en-US" altLang="zh-CN"/>
              <a:t>XXX</a:t>
            </a:r>
            <a:r>
              <a:rPr lang="zh-CN" altLang="en-US"/>
              <a:t>是否通过募集</a:t>
            </a:r>
            <a:r>
              <a:rPr lang="en-US" altLang="zh-CN"/>
              <a:t>PIP2</a:t>
            </a:r>
            <a:r>
              <a:rPr lang="zh-CN" altLang="en-US"/>
              <a:t>或</a:t>
            </a:r>
            <a:r>
              <a:rPr lang="en-US" altLang="zh-CN"/>
              <a:t>PI3P</a:t>
            </a:r>
            <a:r>
              <a:rPr lang="zh-CN" altLang="en-US"/>
              <a:t>来调控</a:t>
            </a:r>
            <a:r>
              <a:rPr lang="en-US" altLang="zh-CN"/>
              <a:t>PI3K/AKT</a:t>
            </a:r>
            <a:r>
              <a:rPr lang="zh-CN" altLang="en-US"/>
              <a:t>信号通路</a:t>
            </a:r>
            <a:endParaRPr lang="zh-CN" altLang="en-US"/>
          </a:p>
        </p:txBody>
      </p:sp>
      <p:sp>
        <p:nvSpPr>
          <p:cNvPr id="37" name="菱形 36"/>
          <p:cNvSpPr/>
          <p:nvPr/>
        </p:nvSpPr>
        <p:spPr>
          <a:xfrm>
            <a:off x="3889375" y="12646660"/>
            <a:ext cx="2207260" cy="116840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过表达、抑制</a:t>
            </a:r>
            <a:r>
              <a:rPr lang="en-US" altLang="zh-CN">
                <a:sym typeface="+mn-ea"/>
              </a:rPr>
              <a:t>circ- xxx</a:t>
            </a:r>
            <a:endParaRPr lang="zh-CN" altLang="en-US"/>
          </a:p>
        </p:txBody>
      </p:sp>
      <p:sp>
        <p:nvSpPr>
          <p:cNvPr id="38" name="菱形 37"/>
          <p:cNvSpPr/>
          <p:nvPr/>
        </p:nvSpPr>
        <p:spPr>
          <a:xfrm>
            <a:off x="7083425" y="12621260"/>
            <a:ext cx="2465705" cy="101536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LY294002</a:t>
            </a:r>
            <a:r>
              <a:rPr lang="zh-CN" altLang="en-US"/>
              <a:t>抑制</a:t>
            </a:r>
            <a:r>
              <a:rPr lang="en-US" altLang="zh-CN"/>
              <a:t>AKT</a:t>
            </a:r>
            <a:r>
              <a:rPr lang="zh-CN" altLang="en-US"/>
              <a:t>信号通路</a:t>
            </a:r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3888740" y="14179550"/>
            <a:ext cx="3779520" cy="10496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qRT-PCR</a:t>
            </a:r>
            <a:r>
              <a:rPr lang="zh-CN" altLang="en-US"/>
              <a:t>和</a:t>
            </a:r>
            <a:r>
              <a:rPr lang="en-US" altLang="zh-CN"/>
              <a:t>Western Blot</a:t>
            </a:r>
            <a:r>
              <a:rPr lang="zh-CN" altLang="en-US"/>
              <a:t>检测</a:t>
            </a:r>
            <a:r>
              <a:rPr lang="en-US" altLang="zh-CN"/>
              <a:t>AKT</a:t>
            </a:r>
            <a:r>
              <a:rPr lang="zh-CN" altLang="en-US"/>
              <a:t>信号通路相关因子</a:t>
            </a:r>
            <a:r>
              <a:rPr lang="en-US" altLang="zh-CN"/>
              <a:t>PI3K</a:t>
            </a:r>
            <a:r>
              <a:rPr lang="zh-CN" altLang="en-US"/>
              <a:t>、</a:t>
            </a:r>
            <a:r>
              <a:rPr lang="en-US" altLang="zh-CN"/>
              <a:t>AKT</a:t>
            </a:r>
            <a:r>
              <a:rPr lang="zh-CN" altLang="en-US"/>
              <a:t>、</a:t>
            </a:r>
            <a:r>
              <a:rPr lang="en-US" altLang="zh-CN"/>
              <a:t>mTOR</a:t>
            </a:r>
            <a:r>
              <a:rPr lang="zh-CN" altLang="en-US"/>
              <a:t>和</a:t>
            </a:r>
            <a:r>
              <a:rPr lang="en-US" altLang="zh-CN"/>
              <a:t>PTEN</a:t>
            </a:r>
            <a:r>
              <a:rPr lang="zh-CN" altLang="en-US"/>
              <a:t>的表达情况</a:t>
            </a:r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83540" y="15944850"/>
            <a:ext cx="207708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EDU</a:t>
            </a:r>
            <a:r>
              <a:rPr lang="zh-CN" altLang="en-US"/>
              <a:t>和流式细胞检测细胞增殖凋亡情况</a:t>
            </a:r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985770" y="15944850"/>
            <a:ext cx="207708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划痕实验和</a:t>
            </a:r>
            <a:r>
              <a:rPr lang="en-US" altLang="zh-CN"/>
              <a:t>Transwell</a:t>
            </a:r>
            <a:r>
              <a:rPr lang="zh-CN" altLang="en-US"/>
              <a:t>实验检测细胞侵袭迁移情况</a:t>
            </a:r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5591175" y="15944850"/>
            <a:ext cx="207708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体外血管形成实验检测血管生成情况</a:t>
            </a: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089265" y="15944850"/>
            <a:ext cx="371665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qRT-PCR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Western Blot</a:t>
            </a:r>
            <a:r>
              <a:rPr lang="zh-CN" altLang="en-US">
                <a:sym typeface="+mn-ea"/>
              </a:rPr>
              <a:t>检测 </a:t>
            </a:r>
            <a:r>
              <a:rPr lang="en-US" altLang="zh-CN">
                <a:sym typeface="+mn-ea"/>
              </a:rPr>
              <a:t>Bax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Bcl-2</a:t>
            </a:r>
            <a:r>
              <a:rPr lang="zh-CN" altLang="en-US">
                <a:sym typeface="+mn-ea"/>
              </a:rPr>
              <a:t>、血管生成相关因子</a:t>
            </a:r>
            <a:r>
              <a:rPr lang="en-US" altLang="zh-CN">
                <a:sym typeface="+mn-ea"/>
              </a:rPr>
              <a:t>Caspase-3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Caspase-9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E-Cadherin</a:t>
            </a:r>
            <a:endParaRPr lang="en-US" altLang="zh-CN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985770" y="18039715"/>
            <a:ext cx="6774180" cy="8782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探究</a:t>
            </a:r>
            <a:r>
              <a:rPr lang="en-US" altLang="zh-CN"/>
              <a:t>circ-xxx</a:t>
            </a:r>
            <a:endParaRPr lang="en-US" altLang="zh-CN"/>
          </a:p>
          <a:p>
            <a:pPr algn="ctr"/>
            <a:r>
              <a:rPr lang="zh-CN" altLang="en-US"/>
              <a:t>调控</a:t>
            </a:r>
            <a:r>
              <a:rPr lang="en-US" altLang="zh-CN"/>
              <a:t>PI3K\AKT</a:t>
            </a:r>
            <a:r>
              <a:rPr lang="zh-CN" altLang="en-US"/>
              <a:t>信号通路对于肝细胞癌发生发展的调控影响</a:t>
            </a:r>
            <a:endParaRPr lang="zh-CN" altLang="en-US"/>
          </a:p>
        </p:txBody>
      </p:sp>
      <p:sp>
        <p:nvSpPr>
          <p:cNvPr id="45" name="下箭头 44"/>
          <p:cNvSpPr/>
          <p:nvPr/>
        </p:nvSpPr>
        <p:spPr>
          <a:xfrm>
            <a:off x="6096000" y="19161125"/>
            <a:ext cx="591185" cy="704850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菱形 45"/>
          <p:cNvSpPr/>
          <p:nvPr/>
        </p:nvSpPr>
        <p:spPr>
          <a:xfrm>
            <a:off x="3397250" y="19865975"/>
            <a:ext cx="2680970" cy="99568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过表达、抑制</a:t>
            </a:r>
            <a:r>
              <a:rPr lang="en-US" altLang="zh-CN"/>
              <a:t>circ-xxx</a:t>
            </a:r>
            <a:endParaRPr lang="en-US" altLang="zh-CN"/>
          </a:p>
        </p:txBody>
      </p:sp>
      <p:pic>
        <p:nvPicPr>
          <p:cNvPr id="47" name="图片 46" descr="4e655edaa8543adb5691577ebbaef4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25" y="20004405"/>
            <a:ext cx="1761490" cy="1001395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600075" y="21266150"/>
            <a:ext cx="207708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活体荧光成像观察</a:t>
            </a: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3131185" y="21266150"/>
            <a:ext cx="207708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HE</a:t>
            </a:r>
            <a:r>
              <a:rPr lang="zh-CN" altLang="en-US"/>
              <a:t>染色观察淋巴结转移情况</a:t>
            </a: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5591175" y="21665565"/>
            <a:ext cx="2922905" cy="840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miR-xxx\xxx\PI3K\AKT</a:t>
            </a:r>
            <a:r>
              <a:rPr lang="zh-CN" altLang="en-US"/>
              <a:t>和</a:t>
            </a:r>
            <a:r>
              <a:rPr lang="en-US" altLang="zh-CN"/>
              <a:t>mtor</a:t>
            </a:r>
            <a:r>
              <a:rPr lang="zh-CN" altLang="en-US"/>
              <a:t>基因表达情况</a:t>
            </a: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858885" y="21266150"/>
            <a:ext cx="3143250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肿瘤生长相关因子</a:t>
            </a:r>
            <a:r>
              <a:rPr lang="en-US" altLang="zh-CN"/>
              <a:t>VEGF</a:t>
            </a:r>
            <a:r>
              <a:rPr lang="zh-CN" altLang="en-US"/>
              <a:t>、</a:t>
            </a:r>
            <a:r>
              <a:rPr lang="en-US" altLang="zh-CN"/>
              <a:t>MMP-2\MMP-9\caspase-3\CASPASE-9</a:t>
            </a:r>
            <a:r>
              <a:rPr lang="zh-CN" altLang="en-US"/>
              <a:t>和</a:t>
            </a:r>
            <a:r>
              <a:rPr lang="en-US" altLang="zh-CN"/>
              <a:t>E-Cadherin</a:t>
            </a:r>
            <a:r>
              <a:rPr lang="zh-CN" altLang="en-US"/>
              <a:t>表达情况</a:t>
            </a:r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2677160" y="23253065"/>
            <a:ext cx="7336790" cy="89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体内探究</a:t>
            </a:r>
            <a:r>
              <a:rPr lang="en-US" altLang="zh-CN" sz="2400"/>
              <a:t>circ-xxx/miR-xxx/xxx/AKT</a:t>
            </a:r>
            <a:r>
              <a:rPr lang="zh-CN" altLang="en-US" sz="2400"/>
              <a:t>对于肝细胞癌的影响</a:t>
            </a:r>
            <a:endParaRPr lang="zh-CN" altLang="en-US" sz="2400"/>
          </a:p>
        </p:txBody>
      </p:sp>
      <p:cxnSp>
        <p:nvCxnSpPr>
          <p:cNvPr id="53" name="直接连接符 52"/>
          <p:cNvCxnSpPr>
            <a:stCxn id="6" idx="2"/>
          </p:cNvCxnSpPr>
          <p:nvPr/>
        </p:nvCxnSpPr>
        <p:spPr>
          <a:xfrm>
            <a:off x="3131820" y="1137920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endCxn id="7" idx="0"/>
          </p:cNvCxnSpPr>
          <p:nvPr/>
        </p:nvCxnSpPr>
        <p:spPr>
          <a:xfrm>
            <a:off x="2060575" y="1600200"/>
            <a:ext cx="19685" cy="355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endCxn id="8" idx="0"/>
          </p:cNvCxnSpPr>
          <p:nvPr/>
        </p:nvCxnSpPr>
        <p:spPr>
          <a:xfrm>
            <a:off x="4289425" y="152400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2022475" y="1562100"/>
            <a:ext cx="230505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2092960" y="2838450"/>
            <a:ext cx="2310765" cy="69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8432800" y="2876550"/>
            <a:ext cx="19685" cy="355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7" idx="2"/>
          </p:cNvCxnSpPr>
          <p:nvPr/>
        </p:nvCxnSpPr>
        <p:spPr>
          <a:xfrm flipH="1">
            <a:off x="2079625" y="2700020"/>
            <a:ext cx="635" cy="138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4302760" y="2731770"/>
            <a:ext cx="5715" cy="1765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6938010" y="15824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9535795" y="136525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3239135" y="2908300"/>
            <a:ext cx="19685" cy="355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6899275" y="2895600"/>
            <a:ext cx="2667000" cy="5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6951345" y="2700020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8844280" y="6177915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1786255" y="51384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3117850" y="9858375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3107690" y="8203565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7668260" y="77800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7796530" y="876300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7894320" y="1006221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7907655" y="110820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10874375" y="80467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10887710" y="919480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10901045" y="1069975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7068820" y="5222240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6337935" y="5377180"/>
            <a:ext cx="230505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6381750" y="5426075"/>
            <a:ext cx="19685" cy="355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8623300" y="5482590"/>
            <a:ext cx="19685" cy="355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endCxn id="32" idx="0"/>
          </p:cNvCxnSpPr>
          <p:nvPr/>
        </p:nvCxnSpPr>
        <p:spPr>
          <a:xfrm>
            <a:off x="10854690" y="5222240"/>
            <a:ext cx="26670" cy="61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10914380" y="6525895"/>
            <a:ext cx="26670" cy="61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flipV="1">
            <a:off x="6554470" y="6814820"/>
            <a:ext cx="230505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6554470" y="6466840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8642985" y="6582410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>
            <a:off x="4986020" y="1381506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>
            <a:off x="1415415" y="156286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>
            <a:off x="4040505" y="156286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6687185" y="1562862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10000615" y="1551305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1428750" y="15544165"/>
            <a:ext cx="8709025" cy="122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stCxn id="46" idx="3"/>
          </p:cNvCxnSpPr>
          <p:nvPr/>
        </p:nvCxnSpPr>
        <p:spPr>
          <a:xfrm flipV="1">
            <a:off x="6078220" y="20340955"/>
            <a:ext cx="1335405" cy="228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1631950" y="20861655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flipV="1">
            <a:off x="1438275" y="21005800"/>
            <a:ext cx="8709025" cy="122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10147300" y="21005800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flipV="1">
            <a:off x="1291590" y="22821265"/>
            <a:ext cx="8709025" cy="122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6089650" y="22821265"/>
            <a:ext cx="1333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1630680" y="22595840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10137775" y="22473285"/>
            <a:ext cx="14605" cy="34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WPS 演示</Application>
  <PresentationFormat>宽屏</PresentationFormat>
  <Paragraphs>95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2021-03-13T13:05:26Z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