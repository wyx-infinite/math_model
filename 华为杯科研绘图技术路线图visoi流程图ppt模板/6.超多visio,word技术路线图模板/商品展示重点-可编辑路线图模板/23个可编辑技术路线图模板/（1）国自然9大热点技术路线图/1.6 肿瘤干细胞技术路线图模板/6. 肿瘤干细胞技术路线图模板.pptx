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7999710" cy="179997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4" y="54"/>
      </p:cViewPr>
      <p:guideLst>
        <p:guide orient="horz" pos="5698"/>
        <p:guide pos="570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989015" y="6793628"/>
            <a:ext cx="16022262" cy="2360102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63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989015" y="9360330"/>
            <a:ext cx="16022262" cy="2496109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72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899795" indent="0" algn="ctr">
              <a:buNone/>
              <a:defRPr sz="3940"/>
            </a:lvl2pPr>
            <a:lvl3pPr marL="1799590" indent="0" algn="ctr">
              <a:buNone/>
              <a:defRPr sz="3545"/>
            </a:lvl3pPr>
            <a:lvl4pPr marL="2700020" indent="0" algn="ctr">
              <a:buNone/>
              <a:defRPr sz="3150"/>
            </a:lvl4pPr>
            <a:lvl5pPr marL="3600450" indent="0" algn="ctr">
              <a:buNone/>
              <a:defRPr sz="3150"/>
            </a:lvl5pPr>
            <a:lvl6pPr marL="4500245" indent="0" algn="ctr">
              <a:buNone/>
              <a:defRPr sz="3150"/>
            </a:lvl6pPr>
            <a:lvl7pPr marL="5400040" indent="0" algn="ctr">
              <a:buNone/>
              <a:defRPr sz="3150"/>
            </a:lvl7pPr>
            <a:lvl8pPr marL="6300470" indent="0" algn="ctr">
              <a:buNone/>
              <a:defRPr sz="3150"/>
            </a:lvl8pPr>
            <a:lvl9pPr marL="7200265" indent="0" algn="ctr">
              <a:buNone/>
              <a:defRPr sz="315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89015" y="1133898"/>
            <a:ext cx="16022262" cy="1700847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551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989015" y="3401695"/>
            <a:ext cx="16022262" cy="13232370"/>
          </a:xfrm>
        </p:spPr>
        <p:txBody>
          <a:bodyPr vert="horz" lIns="101600" tIns="0" rIns="82550" bIns="0" rtlCol="0">
            <a:noAutofit/>
          </a:bodyPr>
          <a:lstStyle>
            <a:lvl1pPr marL="450215" marR="0" lvl="0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1350010" marR="0" lvl="1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2249805" marR="0" lvl="2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3149600" marR="0" lvl="3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4050665" marR="0" lvl="4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89086" y="9997020"/>
            <a:ext cx="16022262" cy="1640071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7085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989078" y="11842085"/>
            <a:ext cx="16022262" cy="2829457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315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899795" indent="0">
              <a:buNone/>
              <a:defRPr sz="3940">
                <a:solidFill>
                  <a:schemeClr val="tx1">
                    <a:tint val="75000"/>
                  </a:schemeClr>
                </a:solidFill>
              </a:defRPr>
            </a:lvl2pPr>
            <a:lvl3pPr marL="1799590" indent="0">
              <a:buNone/>
              <a:defRPr sz="3545">
                <a:solidFill>
                  <a:schemeClr val="tx1">
                    <a:tint val="75000"/>
                  </a:schemeClr>
                </a:solidFill>
              </a:defRPr>
            </a:lvl3pPr>
            <a:lvl4pPr marL="270002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4pPr>
            <a:lvl5pPr marL="360045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5pPr>
            <a:lvl6pPr marL="4500245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6pPr>
            <a:lvl7pPr marL="540004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7pPr>
            <a:lvl8pPr marL="630047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8pPr>
            <a:lvl9pPr marL="7200265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89015" y="1133898"/>
            <a:ext cx="16022262" cy="1700847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551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989086" y="3401695"/>
            <a:ext cx="7800188" cy="13228813"/>
          </a:xfrm>
        </p:spPr>
        <p:txBody>
          <a:bodyPr vert="horz" lIns="101600" tIns="0" rIns="82550" bIns="0" rtlCol="0">
            <a:noAutofit/>
          </a:bodyPr>
          <a:lstStyle>
            <a:lvl1pPr marL="450215" marR="0" lvl="0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1350010" marR="0" lvl="1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2249805" marR="0" lvl="2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3149600" marR="0" lvl="3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4050665" marR="0" lvl="4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9211089" y="3401695"/>
            <a:ext cx="7800188" cy="13228813"/>
          </a:xfrm>
        </p:spPr>
        <p:txBody>
          <a:bodyPr>
            <a:noAutofit/>
          </a:bodyPr>
          <a:lstStyle>
            <a:lvl1pPr>
              <a:defRPr sz="3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31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315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31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31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89015" y="1133898"/>
            <a:ext cx="16022262" cy="1700847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551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989086" y="3401695"/>
            <a:ext cx="7800188" cy="100004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394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899795" indent="0">
              <a:buNone/>
              <a:defRPr sz="3940" b="1"/>
            </a:lvl2pPr>
            <a:lvl3pPr marL="1799590" indent="0">
              <a:buNone/>
              <a:defRPr sz="3545" b="1"/>
            </a:lvl3pPr>
            <a:lvl4pPr marL="2700020" indent="0">
              <a:buNone/>
              <a:defRPr sz="3150" b="1"/>
            </a:lvl4pPr>
            <a:lvl5pPr marL="3600450" indent="0">
              <a:buNone/>
              <a:defRPr sz="3150" b="1"/>
            </a:lvl5pPr>
            <a:lvl6pPr marL="4500245" indent="0">
              <a:buNone/>
              <a:defRPr sz="3150" b="1"/>
            </a:lvl6pPr>
            <a:lvl7pPr marL="5400040" indent="0">
              <a:buNone/>
              <a:defRPr sz="3150" b="1"/>
            </a:lvl7pPr>
            <a:lvl8pPr marL="6300470" indent="0">
              <a:buNone/>
              <a:defRPr sz="3150" b="1"/>
            </a:lvl8pPr>
            <a:lvl9pPr marL="7200265" indent="0">
              <a:buNone/>
              <a:defRPr sz="315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989078" y="4695817"/>
            <a:ext cx="7800126" cy="11948542"/>
          </a:xfrm>
        </p:spPr>
        <p:txBody>
          <a:bodyPr vert="horz" lIns="101600" tIns="0" rIns="82550" bIns="0" rtlCol="0">
            <a:noAutofit/>
          </a:bodyPr>
          <a:lstStyle>
            <a:lvl1pPr marL="450215" marR="0" lvl="0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1350010" marR="0" lvl="1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2249805" marR="0" lvl="2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3149600" marR="0" lvl="3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4050665" marR="0" lvl="4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9206472" y="3401695"/>
            <a:ext cx="7800188" cy="100004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394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899795" indent="0">
              <a:buNone/>
              <a:defRPr sz="3940" b="1"/>
            </a:lvl2pPr>
            <a:lvl3pPr marL="1799590" indent="0">
              <a:buNone/>
              <a:defRPr sz="3545" b="1"/>
            </a:lvl3pPr>
            <a:lvl4pPr marL="2700020" indent="0">
              <a:buNone/>
              <a:defRPr sz="3150" b="1"/>
            </a:lvl4pPr>
            <a:lvl5pPr marL="3600450" indent="0">
              <a:buNone/>
              <a:defRPr sz="3150" b="1"/>
            </a:lvl5pPr>
            <a:lvl6pPr marL="4500245" indent="0">
              <a:buNone/>
              <a:defRPr sz="3150" b="1"/>
            </a:lvl6pPr>
            <a:lvl7pPr marL="5400040" indent="0">
              <a:buNone/>
              <a:defRPr sz="3150" b="1"/>
            </a:lvl7pPr>
            <a:lvl8pPr marL="6300470" indent="0">
              <a:buNone/>
              <a:defRPr sz="3150" b="1"/>
            </a:lvl8pPr>
            <a:lvl9pPr marL="7200265" indent="0">
              <a:buNone/>
              <a:defRPr sz="315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9206472" y="4695817"/>
            <a:ext cx="7800188" cy="11948542"/>
          </a:xfrm>
        </p:spPr>
        <p:txBody>
          <a:bodyPr vert="horz" lIns="101600" tIns="0" rIns="82550" bIns="0" rtlCol="0">
            <a:noAutofit/>
          </a:bodyPr>
          <a:lstStyle>
            <a:lvl1pPr marL="450215" marR="0" lvl="0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1350010" marR="0" lvl="1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2249805" marR="0" lvl="2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3149600" marR="0" lvl="3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4050665" marR="0" lvl="4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551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989086" y="3401695"/>
            <a:ext cx="7800188" cy="13228813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1350010" marR="0" lvl="1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1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2249805" marR="0" lvl="2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1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3149600" marR="0" lvl="3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1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4050665" marR="0" lvl="4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1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9211160" y="3401695"/>
            <a:ext cx="7800188" cy="13228813"/>
          </a:xfrm>
        </p:spPr>
        <p:txBody>
          <a:bodyPr vert="horz" lIns="101600" tIns="0" rIns="82550" bIns="0" rtlCol="0">
            <a:normAutofit/>
          </a:bodyPr>
          <a:lstStyle>
            <a:lvl1pPr marL="450215" marR="0" lvl="0" indent="-45021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1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5607242" y="2500109"/>
            <a:ext cx="1404034" cy="14144612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472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89078" y="2500088"/>
            <a:ext cx="14510226" cy="14144612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989086" y="2500109"/>
            <a:ext cx="16022262" cy="1322881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89015" y="6793628"/>
            <a:ext cx="16022262" cy="2360102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1063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989015" y="1133898"/>
            <a:ext cx="16022262" cy="1700847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989015" y="3401695"/>
            <a:ext cx="16022262" cy="13228813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1298853" y="16666817"/>
            <a:ext cx="3986285" cy="831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3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6076870" y="16666817"/>
            <a:ext cx="5846551" cy="831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3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12712705" y="16666817"/>
            <a:ext cx="3986285" cy="831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3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799590" rtl="0" eaLnBrk="1" fontAlgn="auto" latinLnBrk="0" hangingPunct="1">
        <a:lnSpc>
          <a:spcPct val="100000"/>
        </a:lnSpc>
        <a:spcBef>
          <a:spcPct val="0"/>
        </a:spcBef>
        <a:buNone/>
        <a:defRPr sz="551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450215" indent="-450215" algn="l" defTabSz="179959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315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1350010" indent="-450215" algn="l" defTabSz="179959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3168650" algn="l"/>
        </a:tabLst>
        <a:defRPr sz="315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2249805" indent="-450215" algn="l" defTabSz="179959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315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3149600" indent="-450215" algn="l" defTabSz="179959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315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4050665" indent="-450215" algn="l" defTabSz="179959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315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4950460" indent="-450215" algn="l" defTabSz="1799590" rtl="0" eaLnBrk="1" latinLnBrk="0" hangingPunct="1">
        <a:lnSpc>
          <a:spcPct val="90000"/>
        </a:lnSpc>
        <a:spcBef>
          <a:spcPts val="985"/>
        </a:spcBef>
        <a:buFont typeface="Arial" panose="020B0604020202020204" pitchFamily="34" charset="0"/>
        <a:buChar char="•"/>
        <a:defRPr sz="3545" kern="1200">
          <a:solidFill>
            <a:schemeClr val="tx1"/>
          </a:solidFill>
          <a:latin typeface="+mn-lt"/>
          <a:ea typeface="+mn-ea"/>
          <a:cs typeface="+mn-cs"/>
        </a:defRPr>
      </a:lvl6pPr>
      <a:lvl7pPr marL="5850255" indent="-450215" algn="l" defTabSz="1799590" rtl="0" eaLnBrk="1" latinLnBrk="0" hangingPunct="1">
        <a:lnSpc>
          <a:spcPct val="90000"/>
        </a:lnSpc>
        <a:spcBef>
          <a:spcPts val="985"/>
        </a:spcBef>
        <a:buFont typeface="Arial" panose="020B0604020202020204" pitchFamily="34" charset="0"/>
        <a:buChar char="•"/>
        <a:defRPr sz="3545" kern="1200">
          <a:solidFill>
            <a:schemeClr val="tx1"/>
          </a:solidFill>
          <a:latin typeface="+mn-lt"/>
          <a:ea typeface="+mn-ea"/>
          <a:cs typeface="+mn-cs"/>
        </a:defRPr>
      </a:lvl7pPr>
      <a:lvl8pPr marL="6750050" indent="-450215" algn="l" defTabSz="1799590" rtl="0" eaLnBrk="1" latinLnBrk="0" hangingPunct="1">
        <a:lnSpc>
          <a:spcPct val="90000"/>
        </a:lnSpc>
        <a:spcBef>
          <a:spcPts val="985"/>
        </a:spcBef>
        <a:buFont typeface="Arial" panose="020B0604020202020204" pitchFamily="34" charset="0"/>
        <a:buChar char="•"/>
        <a:defRPr sz="3545" kern="1200">
          <a:solidFill>
            <a:schemeClr val="tx1"/>
          </a:solidFill>
          <a:latin typeface="+mn-lt"/>
          <a:ea typeface="+mn-ea"/>
          <a:cs typeface="+mn-cs"/>
        </a:defRPr>
      </a:lvl8pPr>
      <a:lvl9pPr marL="7650480" indent="-450215" algn="l" defTabSz="1799590" rtl="0" eaLnBrk="1" latinLnBrk="0" hangingPunct="1">
        <a:lnSpc>
          <a:spcPct val="90000"/>
        </a:lnSpc>
        <a:spcBef>
          <a:spcPts val="985"/>
        </a:spcBef>
        <a:buFont typeface="Arial" panose="020B0604020202020204" pitchFamily="34" charset="0"/>
        <a:buChar char="•"/>
        <a:defRPr sz="35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799590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1pPr>
      <a:lvl2pPr marL="899795" algn="l" defTabSz="1799590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2pPr>
      <a:lvl3pPr marL="1799590" algn="l" defTabSz="1799590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3pPr>
      <a:lvl4pPr marL="2700020" algn="l" defTabSz="1799590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4pPr>
      <a:lvl5pPr marL="3600450" algn="l" defTabSz="1799590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5pPr>
      <a:lvl6pPr marL="4500245" algn="l" defTabSz="1799590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6pPr>
      <a:lvl7pPr marL="5400040" algn="l" defTabSz="1799590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7pPr>
      <a:lvl8pPr marL="6300470" algn="l" defTabSz="1799590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8pPr>
      <a:lvl9pPr marL="7200265" algn="l" defTabSz="1799590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/>
          <p:cNvSpPr/>
          <p:nvPr/>
        </p:nvSpPr>
        <p:spPr>
          <a:xfrm>
            <a:off x="0" y="3156001"/>
            <a:ext cx="11192055" cy="6823820"/>
          </a:xfrm>
          <a:prstGeom prst="roundRect">
            <a:avLst/>
          </a:prstGeom>
          <a:ln>
            <a:prstDash val="sysDot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mid</a:t>
            </a:r>
            <a:endParaRPr lang="en-US" altLang="zh-CN"/>
          </a:p>
        </p:txBody>
      </p:sp>
      <p:sp>
        <p:nvSpPr>
          <p:cNvPr id="16" name="圆角矩形 15"/>
          <p:cNvSpPr/>
          <p:nvPr/>
        </p:nvSpPr>
        <p:spPr>
          <a:xfrm>
            <a:off x="5195654" y="4123121"/>
            <a:ext cx="5498554" cy="4889579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64524" y="4259014"/>
            <a:ext cx="4182812" cy="509087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prstDash val="sysDot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815353" y="4721301"/>
            <a:ext cx="3780851" cy="84456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基因芯片筛选疾病表达差异显著的</a:t>
            </a:r>
            <a:r>
              <a:rPr lang="en-US" altLang="zh-CN"/>
              <a:t>miRNA</a:t>
            </a:r>
            <a:endParaRPr lang="en-US" altLang="zh-CN"/>
          </a:p>
        </p:txBody>
      </p:sp>
      <p:sp>
        <p:nvSpPr>
          <p:cNvPr id="7" name="圆角矩形 6"/>
          <p:cNvSpPr/>
          <p:nvPr/>
        </p:nvSpPr>
        <p:spPr>
          <a:xfrm>
            <a:off x="815988" y="5977986"/>
            <a:ext cx="3780851" cy="75820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基因芯片筛选疾病表达差异显著的基因</a:t>
            </a:r>
            <a:endParaRPr lang="zh-CN" altLang="en-US"/>
          </a:p>
        </p:txBody>
      </p:sp>
      <p:sp>
        <p:nvSpPr>
          <p:cNvPr id="8" name="流程图: 可选过程 7"/>
          <p:cNvSpPr/>
          <p:nvPr/>
        </p:nvSpPr>
        <p:spPr>
          <a:xfrm>
            <a:off x="815988" y="7208001"/>
            <a:ext cx="3781486" cy="1478939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生物信息学网站检测</a:t>
            </a:r>
            <a:r>
              <a:rPr lang="en-US" altLang="zh-CN"/>
              <a:t>miR-A</a:t>
            </a:r>
            <a:r>
              <a:rPr lang="zh-CN" altLang="en-US"/>
              <a:t>与</a:t>
            </a:r>
            <a:r>
              <a:rPr lang="en-US" altLang="zh-CN"/>
              <a:t>mIR-B</a:t>
            </a:r>
            <a:r>
              <a:rPr lang="zh-CN" altLang="en-US"/>
              <a:t>；</a:t>
            </a:r>
            <a:r>
              <a:rPr lang="en-US" altLang="zh-CN">
                <a:sym typeface="+mn-ea"/>
              </a:rPr>
              <a:t>miR-A</a:t>
            </a:r>
            <a:r>
              <a:rPr lang="zh-CN" altLang="en-US">
                <a:sym typeface="+mn-ea"/>
              </a:rPr>
              <a:t>与</a:t>
            </a:r>
            <a:r>
              <a:rPr lang="en-US" altLang="zh-CN">
                <a:sym typeface="+mn-ea"/>
              </a:rPr>
              <a:t>geneC</a:t>
            </a:r>
            <a:r>
              <a:rPr lang="zh-CN" altLang="en-US">
                <a:sym typeface="+mn-ea"/>
              </a:rPr>
              <a:t>以及</a:t>
            </a:r>
            <a:r>
              <a:rPr lang="en-US" altLang="zh-CN">
                <a:sym typeface="+mn-ea"/>
              </a:rPr>
              <a:t>mIR-B</a:t>
            </a:r>
            <a:r>
              <a:rPr lang="zh-CN" altLang="en-US">
                <a:sym typeface="+mn-ea"/>
              </a:rPr>
              <a:t>与</a:t>
            </a:r>
            <a:r>
              <a:rPr lang="en-US" altLang="zh-CN">
                <a:sym typeface="+mn-ea"/>
              </a:rPr>
              <a:t>geneC</a:t>
            </a:r>
            <a:r>
              <a:rPr lang="zh-CN" altLang="en-US">
                <a:sym typeface="+mn-ea"/>
              </a:rPr>
              <a:t>的靶向关系</a:t>
            </a:r>
            <a:endParaRPr lang="zh-CN" altLang="en-US">
              <a:sym typeface="+mn-ea"/>
            </a:endParaRPr>
          </a:p>
        </p:txBody>
      </p:sp>
      <p:cxnSp>
        <p:nvCxnSpPr>
          <p:cNvPr id="9" name="直接箭头连接符 8"/>
          <p:cNvCxnSpPr>
            <a:stCxn id="6" idx="2"/>
            <a:endCxn id="7" idx="0"/>
          </p:cNvCxnSpPr>
          <p:nvPr/>
        </p:nvCxnSpPr>
        <p:spPr>
          <a:xfrm>
            <a:off x="2705779" y="5565865"/>
            <a:ext cx="635" cy="41212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endCxn id="8" idx="0"/>
          </p:cNvCxnSpPr>
          <p:nvPr/>
        </p:nvCxnSpPr>
        <p:spPr>
          <a:xfrm flipH="1">
            <a:off x="2707049" y="6686023"/>
            <a:ext cx="7620" cy="52197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endCxn id="23" idx="0"/>
          </p:cNvCxnSpPr>
          <p:nvPr/>
        </p:nvCxnSpPr>
        <p:spPr>
          <a:xfrm flipH="1">
            <a:off x="2475904" y="9370846"/>
            <a:ext cx="3175" cy="109983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5557610" y="4519368"/>
            <a:ext cx="4808933" cy="68454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/>
              <a:t>临床组织样本收集</a:t>
            </a:r>
            <a:endParaRPr lang="zh-CN"/>
          </a:p>
        </p:txBody>
      </p:sp>
      <p:sp>
        <p:nvSpPr>
          <p:cNvPr id="14" name="圆角矩形 13"/>
          <p:cNvSpPr/>
          <p:nvPr/>
        </p:nvSpPr>
        <p:spPr>
          <a:xfrm>
            <a:off x="5557610" y="5565865"/>
            <a:ext cx="4809568" cy="131066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qRT-PCR</a:t>
            </a:r>
            <a:r>
              <a:rPr lang="zh-CN" altLang="en-US"/>
              <a:t>检测各组织相关</a:t>
            </a:r>
            <a:r>
              <a:rPr lang="en-US" altLang="zh-CN"/>
              <a:t>miRNA</a:t>
            </a:r>
            <a:r>
              <a:rPr lang="zh-CN" altLang="en-US"/>
              <a:t>和基因；</a:t>
            </a:r>
            <a:r>
              <a:rPr lang="en-US" altLang="zh-CN"/>
              <a:t>CSC</a:t>
            </a:r>
            <a:r>
              <a:rPr lang="zh-CN" altLang="en-US"/>
              <a:t>细胞分选后通过</a:t>
            </a:r>
            <a:r>
              <a:rPr lang="en-US" altLang="zh-CN"/>
              <a:t>western blot</a:t>
            </a:r>
            <a:r>
              <a:rPr lang="zh-CN" altLang="en-US"/>
              <a:t>检测</a:t>
            </a:r>
            <a:r>
              <a:rPr lang="en-US" altLang="zh-CN"/>
              <a:t>CSC</a:t>
            </a:r>
            <a:r>
              <a:rPr lang="zh-CN" altLang="en-US"/>
              <a:t>标志物、免疫组化检测</a:t>
            </a:r>
            <a:r>
              <a:rPr lang="en-US" altLang="zh-CN"/>
              <a:t>geneC</a:t>
            </a:r>
            <a:r>
              <a:rPr lang="zh-CN" altLang="en-US"/>
              <a:t>及下游因子表达</a:t>
            </a:r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5557610" y="7208001"/>
            <a:ext cx="4949270" cy="12820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统计学分析各分子表达与</a:t>
            </a:r>
            <a:r>
              <a:rPr lang="en-US" altLang="zh-CN"/>
              <a:t>XX</a:t>
            </a:r>
            <a:r>
              <a:rPr lang="zh-CN" altLang="en-US"/>
              <a:t>癌发展及患者生存的相关性、各分子表达水平之间的相关性、各分子表达与</a:t>
            </a:r>
            <a:r>
              <a:rPr lang="en-US" altLang="zh-CN"/>
              <a:t>CSC</a:t>
            </a:r>
            <a:r>
              <a:rPr lang="zh-CN" altLang="en-US"/>
              <a:t>标志物的相关性</a:t>
            </a:r>
            <a:endParaRPr lang="zh-CN" altLang="en-US"/>
          </a:p>
        </p:txBody>
      </p:sp>
      <p:cxnSp>
        <p:nvCxnSpPr>
          <p:cNvPr id="19" name="直接箭头连接符 18"/>
          <p:cNvCxnSpPr/>
          <p:nvPr/>
        </p:nvCxnSpPr>
        <p:spPr>
          <a:xfrm>
            <a:off x="7588372" y="5203909"/>
            <a:ext cx="0" cy="36195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7601708" y="6875891"/>
            <a:ext cx="19050" cy="33211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圆角矩形 22"/>
          <p:cNvSpPr/>
          <p:nvPr/>
        </p:nvSpPr>
        <p:spPr>
          <a:xfrm>
            <a:off x="687705" y="10470515"/>
            <a:ext cx="3576320" cy="421830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prstDash val="sysDot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967121" y="11242856"/>
            <a:ext cx="2999788" cy="68454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Co-IP</a:t>
            </a:r>
            <a:r>
              <a:rPr lang="zh-CN" altLang="en-US"/>
              <a:t>验证</a:t>
            </a:r>
            <a:r>
              <a:rPr lang="en-US" altLang="zh-CN"/>
              <a:t>miR-A</a:t>
            </a:r>
            <a:r>
              <a:rPr lang="zh-CN" altLang="en-US"/>
              <a:t>与</a:t>
            </a:r>
            <a:r>
              <a:rPr lang="en-US" altLang="zh-CN"/>
              <a:t>miR-B</a:t>
            </a:r>
            <a:r>
              <a:rPr lang="zh-CN" altLang="en-US"/>
              <a:t>的结合</a:t>
            </a:r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967121" y="11927397"/>
            <a:ext cx="2999788" cy="68454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/>
              <a:t>双荧光素酶验证</a:t>
            </a:r>
            <a:r>
              <a:rPr lang="en-US" altLang="zh-CN">
                <a:sym typeface="+mn-ea"/>
              </a:rPr>
              <a:t>miRNA</a:t>
            </a:r>
            <a:endParaRPr lang="en-US" altLang="zh-CN"/>
          </a:p>
          <a:p>
            <a:pPr algn="ctr"/>
            <a:r>
              <a:rPr lang="en-US" altLang="zh-CN"/>
              <a:t>/B</a:t>
            </a:r>
            <a:r>
              <a:rPr lang="zh-CN" altLang="en-US"/>
              <a:t>与</a:t>
            </a:r>
            <a:r>
              <a:rPr lang="en-US" altLang="zh-CN">
                <a:sym typeface="+mn-ea"/>
              </a:rPr>
              <a:t>geneC</a:t>
            </a:r>
            <a:r>
              <a:rPr lang="zh-CN" altLang="en-US">
                <a:sym typeface="+mn-ea"/>
              </a:rPr>
              <a:t>结合</a:t>
            </a:r>
            <a:endParaRPr lang="zh-CN" altLang="en-US">
              <a:sym typeface="+mn-ea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955690" y="12611938"/>
            <a:ext cx="2999788" cy="68454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/>
              <a:t>分别过表达</a:t>
            </a:r>
            <a:r>
              <a:rPr lang="en-US" altLang="zh-CN"/>
              <a:t>/</a:t>
            </a:r>
            <a:r>
              <a:rPr lang="zh-CN" altLang="en-US"/>
              <a:t>敲除</a:t>
            </a:r>
            <a:r>
              <a:rPr lang="en-US" altLang="zh-CN">
                <a:sym typeface="+mn-ea"/>
              </a:rPr>
              <a:t>miR-A</a:t>
            </a:r>
            <a:r>
              <a:rPr lang="zh-CN" altLang="en-US">
                <a:sym typeface="+mn-ea"/>
              </a:rPr>
              <a:t>与</a:t>
            </a:r>
            <a:r>
              <a:rPr lang="en-US" altLang="zh-CN">
                <a:sym typeface="+mn-ea"/>
              </a:rPr>
              <a:t>mIR-B</a:t>
            </a:r>
            <a:r>
              <a:rPr lang="zh-CN" altLang="en-US">
                <a:sym typeface="+mn-ea"/>
              </a:rPr>
              <a:t>，检测</a:t>
            </a:r>
            <a:r>
              <a:rPr lang="en-US" altLang="zh-CN">
                <a:sym typeface="+mn-ea"/>
              </a:rPr>
              <a:t>geneC</a:t>
            </a:r>
            <a:r>
              <a:rPr lang="zh-CN" altLang="en-US">
                <a:sym typeface="+mn-ea"/>
              </a:rPr>
              <a:t>的表达</a:t>
            </a:r>
            <a:endParaRPr lang="zh-CN" altLang="en-US"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967121" y="13296479"/>
            <a:ext cx="2999788" cy="98553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/>
              <a:t>同时过表达</a:t>
            </a:r>
            <a:r>
              <a:rPr lang="en-US" altLang="zh-CN"/>
              <a:t>/</a:t>
            </a:r>
            <a:r>
              <a:rPr lang="zh-CN" altLang="en-US"/>
              <a:t>敲低</a:t>
            </a:r>
            <a:r>
              <a:rPr lang="en-US" altLang="zh-CN">
                <a:sym typeface="+mn-ea"/>
              </a:rPr>
              <a:t>miR-A</a:t>
            </a:r>
            <a:r>
              <a:rPr lang="zh-CN" altLang="en-US">
                <a:sym typeface="+mn-ea"/>
              </a:rPr>
              <a:t>与</a:t>
            </a:r>
            <a:r>
              <a:rPr lang="en-US" altLang="zh-CN">
                <a:sym typeface="+mn-ea"/>
              </a:rPr>
              <a:t>mIR-B</a:t>
            </a:r>
            <a:r>
              <a:rPr lang="zh-CN" altLang="en-US">
                <a:sym typeface="+mn-ea"/>
              </a:rPr>
              <a:t>，检测</a:t>
            </a:r>
            <a:r>
              <a:rPr lang="en-US" altLang="zh-CN">
                <a:sym typeface="+mn-ea"/>
              </a:rPr>
              <a:t>geneC</a:t>
            </a:r>
            <a:r>
              <a:rPr lang="zh-CN" altLang="en-US">
                <a:sym typeface="+mn-ea"/>
              </a:rPr>
              <a:t>的表达</a:t>
            </a:r>
            <a:endParaRPr lang="zh-CN" altLang="en-US">
              <a:sym typeface="+mn-e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967121" y="10663727"/>
            <a:ext cx="2999788" cy="5791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</a:rPr>
              <a:t>通路验证</a:t>
            </a:r>
            <a:endParaRPr lang="zh-CN" sz="2000" b="1">
              <a:solidFill>
                <a:schemeClr val="tx1"/>
              </a:solidFill>
            </a:endParaRPr>
          </a:p>
        </p:txBody>
      </p:sp>
      <p:sp>
        <p:nvSpPr>
          <p:cNvPr id="29" name="流程图: 可选过程 28"/>
          <p:cNvSpPr/>
          <p:nvPr/>
        </p:nvSpPr>
        <p:spPr>
          <a:xfrm>
            <a:off x="815340" y="16180435"/>
            <a:ext cx="2294255" cy="773430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生信筛选</a:t>
            </a:r>
            <a:endParaRPr lang="zh-CN" altLang="en-US">
              <a:sym typeface="+mn-ea"/>
            </a:endParaRPr>
          </a:p>
        </p:txBody>
      </p:sp>
      <p:sp>
        <p:nvSpPr>
          <p:cNvPr id="30" name="流程图: 可选过程 29"/>
          <p:cNvSpPr/>
          <p:nvPr/>
        </p:nvSpPr>
        <p:spPr>
          <a:xfrm>
            <a:off x="3636645" y="16180435"/>
            <a:ext cx="2098040" cy="773430"/>
          </a:xfrm>
          <a:prstGeom prst="flowChartAlternateProcess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临床水平</a:t>
            </a:r>
            <a:endParaRPr lang="zh-CN" altLang="en-US">
              <a:sym typeface="+mn-ea"/>
            </a:endParaRPr>
          </a:p>
        </p:txBody>
      </p:sp>
      <p:sp>
        <p:nvSpPr>
          <p:cNvPr id="31" name="流程图: 可选过程 30"/>
          <p:cNvSpPr/>
          <p:nvPr/>
        </p:nvSpPr>
        <p:spPr>
          <a:xfrm>
            <a:off x="6233795" y="16035655"/>
            <a:ext cx="2273935" cy="773430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细胞水平</a:t>
            </a:r>
            <a:endParaRPr lang="zh-CN" altLang="en-US">
              <a:sym typeface="+mn-ea"/>
            </a:endParaRPr>
          </a:p>
        </p:txBody>
      </p:sp>
      <p:sp>
        <p:nvSpPr>
          <p:cNvPr id="32" name="流程图: 可选过程 31"/>
          <p:cNvSpPr/>
          <p:nvPr/>
        </p:nvSpPr>
        <p:spPr>
          <a:xfrm>
            <a:off x="9006840" y="16035655"/>
            <a:ext cx="2427605" cy="773430"/>
          </a:xfrm>
          <a:prstGeom prst="flowChartAlternate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动物水平</a:t>
            </a:r>
            <a:endParaRPr lang="zh-CN" altLang="en-US">
              <a:sym typeface="+mn-ea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12197715" y="3310255"/>
            <a:ext cx="5276850" cy="6061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圆角矩形 33"/>
          <p:cNvSpPr/>
          <p:nvPr/>
        </p:nvSpPr>
        <p:spPr>
          <a:xfrm>
            <a:off x="12369800" y="3309620"/>
            <a:ext cx="4970780" cy="603948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圆角矩形 34"/>
          <p:cNvSpPr/>
          <p:nvPr/>
        </p:nvSpPr>
        <p:spPr>
          <a:xfrm>
            <a:off x="12808585" y="4721225"/>
            <a:ext cx="2277745" cy="6845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qRT-PCR</a:t>
            </a:r>
            <a:endParaRPr lang="zh-CN"/>
          </a:p>
        </p:txBody>
      </p:sp>
      <p:sp>
        <p:nvSpPr>
          <p:cNvPr id="36" name="圆角矩形 35"/>
          <p:cNvSpPr/>
          <p:nvPr/>
        </p:nvSpPr>
        <p:spPr>
          <a:xfrm>
            <a:off x="12808585" y="5686425"/>
            <a:ext cx="2277745" cy="6845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western blot</a:t>
            </a:r>
            <a:endParaRPr lang="zh-CN"/>
          </a:p>
        </p:txBody>
      </p:sp>
      <p:sp>
        <p:nvSpPr>
          <p:cNvPr id="37" name="圆角矩形 36"/>
          <p:cNvSpPr/>
          <p:nvPr/>
        </p:nvSpPr>
        <p:spPr>
          <a:xfrm>
            <a:off x="12808585" y="6604635"/>
            <a:ext cx="2278380" cy="6845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/>
              <a:t>活体荧光成像</a:t>
            </a:r>
            <a:endParaRPr lang="zh-CN"/>
          </a:p>
        </p:txBody>
      </p:sp>
      <p:sp>
        <p:nvSpPr>
          <p:cNvPr id="38" name="圆角矩形 37"/>
          <p:cNvSpPr/>
          <p:nvPr/>
        </p:nvSpPr>
        <p:spPr>
          <a:xfrm>
            <a:off x="12808585" y="7506970"/>
            <a:ext cx="2278380" cy="6845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SFA</a:t>
            </a:r>
            <a:endParaRPr lang="en-US" altLang="zh-CN"/>
          </a:p>
        </p:txBody>
      </p:sp>
      <p:sp>
        <p:nvSpPr>
          <p:cNvPr id="39" name="圆角矩形 38"/>
          <p:cNvSpPr/>
          <p:nvPr/>
        </p:nvSpPr>
        <p:spPr>
          <a:xfrm>
            <a:off x="12808585" y="8361045"/>
            <a:ext cx="2278380" cy="6845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HE</a:t>
            </a:r>
            <a:r>
              <a:rPr lang="zh-CN" altLang="en-US"/>
              <a:t>染色</a:t>
            </a:r>
            <a:endParaRPr lang="zh-CN" altLang="en-US"/>
          </a:p>
        </p:txBody>
      </p:sp>
      <p:sp>
        <p:nvSpPr>
          <p:cNvPr id="40" name="圆角矩形 39"/>
          <p:cNvSpPr/>
          <p:nvPr/>
        </p:nvSpPr>
        <p:spPr>
          <a:xfrm>
            <a:off x="15362555" y="4123055"/>
            <a:ext cx="1428750" cy="5143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体内验证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16010255" y="5203825"/>
            <a:ext cx="781050" cy="249618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裸</a:t>
            </a:r>
            <a:endParaRPr lang="zh-CN" altLang="en-US"/>
          </a:p>
          <a:p>
            <a:pPr algn="ctr"/>
            <a:r>
              <a:rPr lang="zh-CN" altLang="en-US"/>
              <a:t>鼠</a:t>
            </a:r>
            <a:endParaRPr lang="zh-CN" altLang="en-US"/>
          </a:p>
          <a:p>
            <a:pPr algn="ctr"/>
            <a:r>
              <a:rPr lang="zh-CN" altLang="en-US"/>
              <a:t>成</a:t>
            </a:r>
            <a:endParaRPr lang="zh-CN" altLang="en-US"/>
          </a:p>
          <a:p>
            <a:pPr algn="ctr"/>
            <a:r>
              <a:rPr lang="zh-CN" altLang="en-US"/>
              <a:t>瘤</a:t>
            </a:r>
            <a:endParaRPr lang="zh-CN" altLang="en-US"/>
          </a:p>
          <a:p>
            <a:pPr algn="ctr"/>
            <a:r>
              <a:rPr lang="zh-CN" altLang="en-US"/>
              <a:t>实</a:t>
            </a:r>
            <a:endParaRPr lang="zh-CN" altLang="en-US"/>
          </a:p>
          <a:p>
            <a:pPr algn="ctr"/>
            <a:r>
              <a:rPr lang="zh-CN" altLang="en-US"/>
              <a:t>验</a:t>
            </a:r>
            <a:endParaRPr lang="zh-CN" altLang="en-US"/>
          </a:p>
        </p:txBody>
      </p:sp>
      <p:cxnSp>
        <p:nvCxnSpPr>
          <p:cNvPr id="42" name="直接连接符 41"/>
          <p:cNvCxnSpPr>
            <a:stCxn id="41" idx="1"/>
          </p:cNvCxnSpPr>
          <p:nvPr/>
        </p:nvCxnSpPr>
        <p:spPr>
          <a:xfrm flipH="1" flipV="1">
            <a:off x="15629255" y="6439535"/>
            <a:ext cx="381000" cy="12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15629255" y="4934585"/>
            <a:ext cx="38100" cy="37909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H="1">
            <a:off x="14981555" y="4953635"/>
            <a:ext cx="666750" cy="1905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endCxn id="36" idx="3"/>
          </p:cNvCxnSpPr>
          <p:nvPr/>
        </p:nvCxnSpPr>
        <p:spPr>
          <a:xfrm flipH="1" flipV="1">
            <a:off x="15086330" y="6028690"/>
            <a:ext cx="610235" cy="1905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flipH="1">
            <a:off x="15057755" y="6858635"/>
            <a:ext cx="552450" cy="177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15057755" y="7811135"/>
            <a:ext cx="571500" cy="1905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H="1" flipV="1">
            <a:off x="15057755" y="8706485"/>
            <a:ext cx="666750" cy="1905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圆角矩形 49"/>
          <p:cNvSpPr/>
          <p:nvPr/>
        </p:nvSpPr>
        <p:spPr>
          <a:xfrm>
            <a:off x="4747895" y="9697720"/>
            <a:ext cx="12726035" cy="61220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圆角矩形 51"/>
          <p:cNvSpPr/>
          <p:nvPr/>
        </p:nvSpPr>
        <p:spPr>
          <a:xfrm>
            <a:off x="4909185" y="9697720"/>
            <a:ext cx="12431395" cy="61214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圆角矩形 50"/>
          <p:cNvSpPr/>
          <p:nvPr/>
        </p:nvSpPr>
        <p:spPr>
          <a:xfrm>
            <a:off x="5734685" y="9944735"/>
            <a:ext cx="3272155" cy="8750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/>
              <a:t>细胞株培养、</a:t>
            </a:r>
            <a:endParaRPr lang="zh-CN"/>
          </a:p>
          <a:p>
            <a:pPr algn="ctr"/>
            <a:r>
              <a:rPr lang="zh-CN"/>
              <a:t>筛选和</a:t>
            </a:r>
            <a:r>
              <a:rPr lang="en-US" altLang="zh-CN"/>
              <a:t>CSC</a:t>
            </a:r>
            <a:r>
              <a:rPr lang="zh-CN" altLang="en-US"/>
              <a:t>细胞分选（</a:t>
            </a:r>
            <a:r>
              <a:rPr lang="en-US" altLang="zh-CN"/>
              <a:t>FACS</a:t>
            </a:r>
            <a:r>
              <a:rPr lang="zh-CN" altLang="en-US"/>
              <a:t>）</a:t>
            </a:r>
            <a:endParaRPr lang="zh-CN" altLang="en-US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7642225" y="8839835"/>
            <a:ext cx="0" cy="11049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6480175" y="10926445"/>
            <a:ext cx="9785350" cy="19418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圆角矩形 53"/>
          <p:cNvSpPr/>
          <p:nvPr/>
        </p:nvSpPr>
        <p:spPr>
          <a:xfrm>
            <a:off x="6062980" y="13296265"/>
            <a:ext cx="902970" cy="5067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/>
              <a:t>表达</a:t>
            </a:r>
            <a:endParaRPr lang="zh-CN"/>
          </a:p>
        </p:txBody>
      </p:sp>
      <p:sp>
        <p:nvSpPr>
          <p:cNvPr id="55" name="圆角矩形 54"/>
          <p:cNvSpPr/>
          <p:nvPr/>
        </p:nvSpPr>
        <p:spPr>
          <a:xfrm>
            <a:off x="7844155" y="13296265"/>
            <a:ext cx="2317750" cy="5067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/>
              <a:t>集落形成能力</a:t>
            </a:r>
            <a:endParaRPr lang="zh-CN"/>
          </a:p>
        </p:txBody>
      </p:sp>
      <p:sp>
        <p:nvSpPr>
          <p:cNvPr id="56" name="圆角矩形 55"/>
          <p:cNvSpPr/>
          <p:nvPr/>
        </p:nvSpPr>
        <p:spPr>
          <a:xfrm>
            <a:off x="10635615" y="13335635"/>
            <a:ext cx="1295400" cy="4673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/>
              <a:t>增殖</a:t>
            </a:r>
            <a:endParaRPr lang="zh-CN"/>
          </a:p>
        </p:txBody>
      </p:sp>
      <p:sp>
        <p:nvSpPr>
          <p:cNvPr id="57" name="圆角矩形 56"/>
          <p:cNvSpPr/>
          <p:nvPr/>
        </p:nvSpPr>
        <p:spPr>
          <a:xfrm>
            <a:off x="12637135" y="13296265"/>
            <a:ext cx="1335405" cy="5067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/>
              <a:t>细胞周期</a:t>
            </a:r>
            <a:endParaRPr lang="zh-CN"/>
          </a:p>
        </p:txBody>
      </p:sp>
      <p:sp>
        <p:nvSpPr>
          <p:cNvPr id="58" name="圆角矩形 57"/>
          <p:cNvSpPr/>
          <p:nvPr/>
        </p:nvSpPr>
        <p:spPr>
          <a:xfrm>
            <a:off x="14629130" y="13296265"/>
            <a:ext cx="1636395" cy="5067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/>
              <a:t>自我更新能力</a:t>
            </a:r>
            <a:endParaRPr lang="zh-CN"/>
          </a:p>
        </p:txBody>
      </p:sp>
      <p:sp>
        <p:nvSpPr>
          <p:cNvPr id="59" name="圆角矩形 58"/>
          <p:cNvSpPr/>
          <p:nvPr/>
        </p:nvSpPr>
        <p:spPr>
          <a:xfrm>
            <a:off x="5194935" y="14453235"/>
            <a:ext cx="2256155" cy="11633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western blot</a:t>
            </a:r>
            <a:r>
              <a:rPr lang="zh-CN" altLang="en-US">
                <a:sym typeface="+mn-ea"/>
              </a:rPr>
              <a:t>检测各组织相关基因转录物和</a:t>
            </a:r>
            <a:r>
              <a:rPr lang="en-US" altLang="zh-CN">
                <a:sym typeface="+mn-ea"/>
              </a:rPr>
              <a:t>CSC</a:t>
            </a:r>
            <a:r>
              <a:rPr lang="zh-CN" altLang="en-US">
                <a:sym typeface="+mn-ea"/>
              </a:rPr>
              <a:t>标志物表达水平</a:t>
            </a:r>
            <a:endParaRPr lang="zh-CN" altLang="en-US">
              <a:sym typeface="+mn-ea"/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8690610" y="14085570"/>
            <a:ext cx="1675765" cy="6051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软琼脂克隆形成实验</a:t>
            </a:r>
            <a:endParaRPr lang="zh-CN" altLang="en-US"/>
          </a:p>
        </p:txBody>
      </p:sp>
      <p:sp>
        <p:nvSpPr>
          <p:cNvPr id="63" name="圆角矩形 62"/>
          <p:cNvSpPr/>
          <p:nvPr/>
        </p:nvSpPr>
        <p:spPr>
          <a:xfrm>
            <a:off x="10694035" y="14084935"/>
            <a:ext cx="1236980" cy="5270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EDU</a:t>
            </a:r>
            <a:endParaRPr lang="en-US" altLang="zh-CN"/>
          </a:p>
        </p:txBody>
      </p:sp>
      <p:sp>
        <p:nvSpPr>
          <p:cNvPr id="64" name="圆角矩形 63"/>
          <p:cNvSpPr/>
          <p:nvPr/>
        </p:nvSpPr>
        <p:spPr>
          <a:xfrm>
            <a:off x="12575540" y="14062710"/>
            <a:ext cx="1397000" cy="5270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/>
              <a:t>流式细胞术</a:t>
            </a:r>
            <a:endParaRPr lang="zh-CN"/>
          </a:p>
        </p:txBody>
      </p:sp>
      <p:sp>
        <p:nvSpPr>
          <p:cNvPr id="65" name="圆角矩形 64"/>
          <p:cNvSpPr/>
          <p:nvPr/>
        </p:nvSpPr>
        <p:spPr>
          <a:xfrm>
            <a:off x="6662420" y="11127105"/>
            <a:ext cx="2344420" cy="79311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miR-A mimic+</a:t>
            </a:r>
            <a:endParaRPr lang="en-US" altLang="zh-CN">
              <a:sym typeface="+mn-ea"/>
            </a:endParaRPr>
          </a:p>
          <a:p>
            <a:pPr algn="ctr"/>
            <a:r>
              <a:rPr lang="en-US" altLang="zh-CN">
                <a:sym typeface="+mn-ea"/>
              </a:rPr>
              <a:t>miR-B </a:t>
            </a:r>
            <a:r>
              <a:rPr lang="en-US" altLang="zh-CN">
                <a:sym typeface="+mn-ea"/>
              </a:rPr>
              <a:t>mimic</a:t>
            </a:r>
            <a:endParaRPr lang="zh-CN" altLang="en-US">
              <a:sym typeface="+mn-ea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9139555" y="11127740"/>
            <a:ext cx="6871335" cy="79184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miR-A  mimic+miR-B  mimic+Si-geneC</a:t>
            </a:r>
            <a:endParaRPr lang="zh-CN"/>
          </a:p>
        </p:txBody>
      </p:sp>
      <p:sp>
        <p:nvSpPr>
          <p:cNvPr id="67" name="圆角矩形 66"/>
          <p:cNvSpPr/>
          <p:nvPr/>
        </p:nvSpPr>
        <p:spPr>
          <a:xfrm>
            <a:off x="6663055" y="12062460"/>
            <a:ext cx="3703955" cy="67754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miR-A inhibitor+miR-B inhibitor</a:t>
            </a:r>
            <a:r>
              <a:rPr lang="en-US" altLang="zh-CN">
                <a:sym typeface="+mn-ea"/>
              </a:rPr>
              <a:t> </a:t>
            </a:r>
            <a:endParaRPr lang="zh-CN"/>
          </a:p>
        </p:txBody>
      </p:sp>
      <p:sp>
        <p:nvSpPr>
          <p:cNvPr id="68" name="圆角矩形 67"/>
          <p:cNvSpPr/>
          <p:nvPr/>
        </p:nvSpPr>
        <p:spPr>
          <a:xfrm>
            <a:off x="10521315" y="12062460"/>
            <a:ext cx="2826385" cy="67754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Si-geneC</a:t>
            </a:r>
            <a:endParaRPr lang="zh-CN"/>
          </a:p>
        </p:txBody>
      </p:sp>
      <p:sp>
        <p:nvSpPr>
          <p:cNvPr id="69" name="圆角矩形 68"/>
          <p:cNvSpPr/>
          <p:nvPr/>
        </p:nvSpPr>
        <p:spPr>
          <a:xfrm>
            <a:off x="13623290" y="12062460"/>
            <a:ext cx="2387600" cy="67754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Control</a:t>
            </a:r>
            <a:endParaRPr lang="en-US" altLang="zh-CN"/>
          </a:p>
        </p:txBody>
      </p:sp>
      <p:cxnSp>
        <p:nvCxnSpPr>
          <p:cNvPr id="70" name="肘形连接符 69"/>
          <p:cNvCxnSpPr>
            <a:stCxn id="51" idx="3"/>
            <a:endCxn id="66" idx="0"/>
          </p:cNvCxnSpPr>
          <p:nvPr/>
        </p:nvCxnSpPr>
        <p:spPr>
          <a:xfrm>
            <a:off x="9006840" y="10382250"/>
            <a:ext cx="3568700" cy="745490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>
            <a:off x="10366375" y="12868275"/>
            <a:ext cx="0" cy="29591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6480175" y="13028295"/>
            <a:ext cx="9105900" cy="2159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6461125" y="12973685"/>
            <a:ext cx="19050" cy="36195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5556885" y="14163675"/>
            <a:ext cx="2866390" cy="1016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圆角矩形 80"/>
          <p:cNvSpPr/>
          <p:nvPr/>
        </p:nvSpPr>
        <p:spPr>
          <a:xfrm>
            <a:off x="7621270" y="14690725"/>
            <a:ext cx="1544320" cy="11283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Northern blot</a:t>
            </a:r>
            <a:r>
              <a:rPr lang="zh-CN" altLang="en-US"/>
              <a:t>检测各组织相关</a:t>
            </a:r>
            <a:r>
              <a:rPr lang="en-US" altLang="zh-CN"/>
              <a:t>mRNA</a:t>
            </a:r>
            <a:endParaRPr lang="en-US" altLang="zh-CN"/>
          </a:p>
        </p:txBody>
      </p:sp>
      <p:cxnSp>
        <p:nvCxnSpPr>
          <p:cNvPr id="82" name="直接连接符 81"/>
          <p:cNvCxnSpPr>
            <a:stCxn id="54" idx="2"/>
          </p:cNvCxnSpPr>
          <p:nvPr/>
        </p:nvCxnSpPr>
        <p:spPr>
          <a:xfrm>
            <a:off x="6514465" y="13802995"/>
            <a:ext cx="3810" cy="3517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 flipH="1">
            <a:off x="5508625" y="14097635"/>
            <a:ext cx="19050" cy="45720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>
            <a:off x="8442325" y="14154785"/>
            <a:ext cx="10795" cy="49085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/>
        </p:nvCxnSpPr>
        <p:spPr>
          <a:xfrm flipH="1">
            <a:off x="15638780" y="13049885"/>
            <a:ext cx="19050" cy="45720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/>
          <p:nvPr/>
        </p:nvCxnSpPr>
        <p:spPr>
          <a:xfrm flipH="1">
            <a:off x="9006840" y="12926060"/>
            <a:ext cx="19050" cy="45720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>
          <a:xfrm flipH="1">
            <a:off x="11363325" y="13028295"/>
            <a:ext cx="19050" cy="45720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/>
          <p:nvPr/>
        </p:nvCxnSpPr>
        <p:spPr>
          <a:xfrm flipH="1">
            <a:off x="13294995" y="12973685"/>
            <a:ext cx="19050" cy="45720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圆角矩形 89"/>
          <p:cNvSpPr/>
          <p:nvPr/>
        </p:nvSpPr>
        <p:spPr>
          <a:xfrm>
            <a:off x="14613255" y="14119860"/>
            <a:ext cx="1397000" cy="5270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SFA</a:t>
            </a:r>
            <a:endParaRPr lang="zh-CN" altLang="en-US"/>
          </a:p>
        </p:txBody>
      </p:sp>
      <p:cxnSp>
        <p:nvCxnSpPr>
          <p:cNvPr id="91" name="直接箭头连接符 90"/>
          <p:cNvCxnSpPr/>
          <p:nvPr/>
        </p:nvCxnSpPr>
        <p:spPr>
          <a:xfrm>
            <a:off x="9071610" y="13706475"/>
            <a:ext cx="10160" cy="34861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>
            <a:off x="11382375" y="13716635"/>
            <a:ext cx="4445" cy="31940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/>
        </p:nvCxnSpPr>
        <p:spPr>
          <a:xfrm flipH="1">
            <a:off x="13295630" y="13697585"/>
            <a:ext cx="19050" cy="45720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 flipH="1">
            <a:off x="15667355" y="13716635"/>
            <a:ext cx="19050" cy="45720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矩形 94"/>
          <p:cNvSpPr/>
          <p:nvPr/>
        </p:nvSpPr>
        <p:spPr>
          <a:xfrm>
            <a:off x="13063220" y="9944735"/>
            <a:ext cx="3542665" cy="7956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  <a:sym typeface="+mn-ea"/>
              </a:rPr>
              <a:t>miR-A/B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与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geneC</a:t>
            </a:r>
            <a:endParaRPr lang="zh-CN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  <a:sym typeface="+mn-ea"/>
              </a:rPr>
              <a:t>在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XX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癌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CSCs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中的功能研究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96" name="圆角矩形 95"/>
          <p:cNvSpPr/>
          <p:nvPr/>
        </p:nvSpPr>
        <p:spPr>
          <a:xfrm>
            <a:off x="11191875" y="9914890"/>
            <a:ext cx="1295400" cy="4673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/>
              <a:t>分组转染</a:t>
            </a:r>
            <a:endParaRPr lang="zh-CN"/>
          </a:p>
        </p:txBody>
      </p:sp>
      <p:sp>
        <p:nvSpPr>
          <p:cNvPr id="97" name="圆角矩形 96"/>
          <p:cNvSpPr/>
          <p:nvPr/>
        </p:nvSpPr>
        <p:spPr>
          <a:xfrm>
            <a:off x="16265525" y="11289665"/>
            <a:ext cx="1295400" cy="4673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/>
              <a:t>制悬液</a:t>
            </a:r>
            <a:endParaRPr lang="zh-CN"/>
          </a:p>
        </p:txBody>
      </p:sp>
      <p:cxnSp>
        <p:nvCxnSpPr>
          <p:cNvPr id="98" name="肘形连接符 97"/>
          <p:cNvCxnSpPr/>
          <p:nvPr/>
        </p:nvCxnSpPr>
        <p:spPr>
          <a:xfrm flipV="1">
            <a:off x="17560925" y="5844540"/>
            <a:ext cx="169545" cy="5678805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/>
        </p:nvCxnSpPr>
        <p:spPr>
          <a:xfrm flipH="1">
            <a:off x="16739870" y="5844540"/>
            <a:ext cx="9906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矩形 99"/>
          <p:cNvSpPr/>
          <p:nvPr/>
        </p:nvSpPr>
        <p:spPr>
          <a:xfrm>
            <a:off x="2479040" y="3310255"/>
            <a:ext cx="6256020" cy="6438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  <a:sym typeface="+mn-ea"/>
              </a:rPr>
              <a:t>miR-A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miR-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B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geneC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与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XX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癌</a:t>
            </a:r>
            <a:r>
              <a:rPr lang="zh-CN" b="1">
                <a:solidFill>
                  <a:schemeClr val="tx1"/>
                </a:solidFill>
                <a:sym typeface="+mn-ea"/>
              </a:rPr>
              <a:t>的生物学相关性</a:t>
            </a:r>
            <a:endParaRPr lang="zh-CN" b="1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</Words>
  <Application>WPS 演示</Application>
  <PresentationFormat>宽屏</PresentationFormat>
  <Paragraphs>97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宋体</vt:lpstr>
      <vt:lpstr>Wingdings</vt:lpstr>
      <vt:lpstr>微软雅黑</vt:lpstr>
      <vt:lpstr>Arial Unicode MS</vt:lpstr>
      <vt:lpstr>Office 主题​​</vt:lpstr>
      <vt:lpstr>空白演示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Summer</cp:lastModifiedBy>
  <cp:revision>27</cp:revision>
  <dcterms:created xsi:type="dcterms:W3CDTF">2019-06-19T02:08:00Z</dcterms:created>
  <dcterms:modified xsi:type="dcterms:W3CDTF">2021-03-12T07:43:14Z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