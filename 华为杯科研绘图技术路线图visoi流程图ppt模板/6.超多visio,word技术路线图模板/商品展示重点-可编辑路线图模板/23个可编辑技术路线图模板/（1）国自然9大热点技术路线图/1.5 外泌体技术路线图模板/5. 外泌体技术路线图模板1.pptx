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35999420" cy="251999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7936"/>
        <p:guide pos="1147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24643" y="1143000"/>
            <a:ext cx="44087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978002" y="9510906"/>
            <a:ext cx="32044070" cy="3304082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9845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978002" y="13104224"/>
            <a:ext cx="32044070" cy="3494489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882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1680845" indent="0" algn="ctr">
              <a:buNone/>
              <a:defRPr sz="7355"/>
            </a:lvl2pPr>
            <a:lvl3pPr marL="3360420" indent="0" algn="ctr">
              <a:buNone/>
              <a:defRPr sz="6615"/>
            </a:lvl3pPr>
            <a:lvl4pPr marL="5039995" indent="0" algn="ctr">
              <a:buNone/>
              <a:defRPr sz="5880"/>
            </a:lvl4pPr>
            <a:lvl5pPr marL="6720205" indent="0" algn="ctr">
              <a:buNone/>
              <a:defRPr sz="5880"/>
            </a:lvl5pPr>
            <a:lvl6pPr marL="8400415" indent="0" algn="ctr">
              <a:buNone/>
              <a:defRPr sz="5880"/>
            </a:lvl6pPr>
            <a:lvl7pPr marL="10080625" indent="0" algn="ctr">
              <a:buNone/>
              <a:defRPr sz="5880"/>
            </a:lvl7pPr>
            <a:lvl8pPr marL="11760200" indent="0" algn="ctr">
              <a:buNone/>
              <a:defRPr sz="5880"/>
            </a:lvl8pPr>
            <a:lvl9pPr marL="13439775" indent="0" algn="ctr">
              <a:buNone/>
              <a:defRPr sz="588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978002" y="1587429"/>
            <a:ext cx="32044070" cy="2381143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029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978002" y="4762286"/>
            <a:ext cx="32044070" cy="18524981"/>
          </a:xfrm>
        </p:spPr>
        <p:txBody>
          <a:bodyPr vert="horz" lIns="101600" tIns="0" rIns="82550" bIns="0" rtlCol="0">
            <a:noAutofit/>
          </a:bodyPr>
          <a:lstStyle>
            <a:lvl1pPr marL="840105" marR="0" lvl="0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2520315" marR="0" lvl="1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4199255" marR="0" lvl="2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5880100" marR="0" lvl="3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7559675" marR="0" lvl="4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978144" y="13995573"/>
            <a:ext cx="32044070" cy="2296058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13235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978129" y="16578617"/>
            <a:ext cx="32044070" cy="3961167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588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680845" indent="0">
              <a:buNone/>
              <a:defRPr sz="7355">
                <a:solidFill>
                  <a:schemeClr val="tx1">
                    <a:tint val="75000"/>
                  </a:schemeClr>
                </a:solidFill>
              </a:defRPr>
            </a:lvl2pPr>
            <a:lvl3pPr marL="3360420" indent="0">
              <a:buNone/>
              <a:defRPr sz="6615">
                <a:solidFill>
                  <a:schemeClr val="tx1">
                    <a:tint val="75000"/>
                  </a:schemeClr>
                </a:solidFill>
              </a:defRPr>
            </a:lvl3pPr>
            <a:lvl4pPr marL="5039995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4pPr>
            <a:lvl5pPr marL="6720205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5pPr>
            <a:lvl6pPr marL="8400415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6pPr>
            <a:lvl7pPr marL="10080625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7pPr>
            <a:lvl8pPr marL="11760200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8pPr>
            <a:lvl9pPr marL="13439775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978002" y="1587429"/>
            <a:ext cx="32044070" cy="2381143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029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978144" y="4762286"/>
            <a:ext cx="15600155" cy="18520002"/>
          </a:xfrm>
        </p:spPr>
        <p:txBody>
          <a:bodyPr vert="horz" lIns="101600" tIns="0" rIns="82550" bIns="0" rtlCol="0">
            <a:noAutofit/>
          </a:bodyPr>
          <a:lstStyle>
            <a:lvl1pPr marL="840105" marR="0" lvl="0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2520315" marR="0" lvl="1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4199255" marR="0" lvl="2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5880100" marR="0" lvl="3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7559675" marR="0" lvl="4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421917" y="4762286"/>
            <a:ext cx="15600155" cy="18520002"/>
          </a:xfrm>
        </p:spPr>
        <p:txBody>
          <a:bodyPr>
            <a:noAutofit/>
          </a:bodyPr>
          <a:lstStyle>
            <a:lvl1pPr>
              <a:defRPr sz="5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588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588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588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588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978002" y="1587429"/>
            <a:ext cx="32044070" cy="2381143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029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78144" y="4762286"/>
            <a:ext cx="15600155" cy="1400035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7355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1680845" indent="0">
              <a:buNone/>
              <a:defRPr sz="7355" b="1"/>
            </a:lvl2pPr>
            <a:lvl3pPr marL="3360420" indent="0">
              <a:buNone/>
              <a:defRPr sz="6615" b="1"/>
            </a:lvl3pPr>
            <a:lvl4pPr marL="5039995" indent="0">
              <a:buNone/>
              <a:defRPr sz="5880" b="1"/>
            </a:lvl4pPr>
            <a:lvl5pPr marL="6720205" indent="0">
              <a:buNone/>
              <a:defRPr sz="5880" b="1"/>
            </a:lvl5pPr>
            <a:lvl6pPr marL="8400415" indent="0">
              <a:buNone/>
              <a:defRPr sz="5880" b="1"/>
            </a:lvl6pPr>
            <a:lvl7pPr marL="10080625" indent="0">
              <a:buNone/>
              <a:defRPr sz="5880" b="1"/>
            </a:lvl7pPr>
            <a:lvl8pPr marL="11760200" indent="0">
              <a:buNone/>
              <a:defRPr sz="5880" b="1"/>
            </a:lvl8pPr>
            <a:lvl9pPr marL="13439775" indent="0">
              <a:buNone/>
              <a:defRPr sz="588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978129" y="6574024"/>
            <a:ext cx="15600031" cy="16727655"/>
          </a:xfrm>
        </p:spPr>
        <p:txBody>
          <a:bodyPr vert="horz" lIns="101600" tIns="0" rIns="82550" bIns="0" rtlCol="0">
            <a:noAutofit/>
          </a:bodyPr>
          <a:lstStyle>
            <a:lvl1pPr marL="840105" marR="0" lvl="0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2520315" marR="0" lvl="1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4199255" marR="0" lvl="2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5880100" marR="0" lvl="3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7559675" marR="0" lvl="4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18412684" y="4762286"/>
            <a:ext cx="15600155" cy="1400035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735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680845" indent="0">
              <a:buNone/>
              <a:defRPr sz="7355" b="1"/>
            </a:lvl2pPr>
            <a:lvl3pPr marL="3360420" indent="0">
              <a:buNone/>
              <a:defRPr sz="6615" b="1"/>
            </a:lvl3pPr>
            <a:lvl4pPr marL="5039995" indent="0">
              <a:buNone/>
              <a:defRPr sz="5880" b="1"/>
            </a:lvl4pPr>
            <a:lvl5pPr marL="6720205" indent="0">
              <a:buNone/>
              <a:defRPr sz="5880" b="1"/>
            </a:lvl5pPr>
            <a:lvl6pPr marL="8400415" indent="0">
              <a:buNone/>
              <a:defRPr sz="5880" b="1"/>
            </a:lvl6pPr>
            <a:lvl7pPr marL="10080625" indent="0">
              <a:buNone/>
              <a:defRPr sz="5880" b="1"/>
            </a:lvl7pPr>
            <a:lvl8pPr marL="11760200" indent="0">
              <a:buNone/>
              <a:defRPr sz="5880" b="1"/>
            </a:lvl8pPr>
            <a:lvl9pPr marL="13439775" indent="0">
              <a:buNone/>
              <a:defRPr sz="588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18412684" y="6574024"/>
            <a:ext cx="15600155" cy="16727655"/>
          </a:xfrm>
        </p:spPr>
        <p:txBody>
          <a:bodyPr vert="horz" lIns="101600" tIns="0" rIns="82550" bIns="0" rtlCol="0">
            <a:noAutofit/>
          </a:bodyPr>
          <a:lstStyle>
            <a:lvl1pPr marL="840105" marR="0" lvl="0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2520315" marR="0" lvl="1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4199255" marR="0" lvl="2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5880100" marR="0" lvl="3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7559675" marR="0" lvl="4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029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978144" y="4762286"/>
            <a:ext cx="15600155" cy="18520002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2520315" marR="0" lvl="1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588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4199255" marR="0" lvl="2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5880100" marR="0" lvl="3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7559675" marR="0" lvl="4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8422059" y="4762286"/>
            <a:ext cx="15600155" cy="18520002"/>
          </a:xfrm>
        </p:spPr>
        <p:txBody>
          <a:bodyPr vert="horz" lIns="101600" tIns="0" rIns="82550" bIns="0" rtlCol="0">
            <a:normAutofit/>
          </a:bodyPr>
          <a:lstStyle>
            <a:lvl1pPr marL="840105" marR="0" lvl="0" indent="-840105" algn="l" defTabSz="914400" rtl="0" eaLnBrk="1" fontAlgn="auto" latinLnBrk="0" hangingPunct="1">
              <a:lnSpc>
                <a:spcPct val="130000"/>
              </a:lnSpc>
              <a:spcBef>
                <a:spcPts val="5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58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31214043" y="3500089"/>
            <a:ext cx="2808029" cy="1980209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882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978129" y="3500060"/>
            <a:ext cx="29020041" cy="1980209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978144" y="3500089"/>
            <a:ext cx="32044070" cy="1852000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978002" y="9510906"/>
            <a:ext cx="32044070" cy="3304082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19845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978002" y="1587429"/>
            <a:ext cx="32044070" cy="2381143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1978002" y="4762286"/>
            <a:ext cx="32044070" cy="18520002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2597669" y="23333119"/>
            <a:ext cx="7972457" cy="1164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44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12153567" y="23333119"/>
            <a:ext cx="11692937" cy="1164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4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25425050" y="23333119"/>
            <a:ext cx="7972457" cy="1164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44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360420" rtl="0" eaLnBrk="1" fontAlgn="auto" latinLnBrk="0" hangingPunct="1">
        <a:lnSpc>
          <a:spcPct val="100000"/>
        </a:lnSpc>
        <a:spcBef>
          <a:spcPct val="0"/>
        </a:spcBef>
        <a:buNone/>
        <a:defRPr sz="10295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840105" indent="-840105" algn="l" defTabSz="3360420" rtl="0" eaLnBrk="1" fontAlgn="auto" latinLnBrk="0" hangingPunct="1">
        <a:lnSpc>
          <a:spcPct val="130000"/>
        </a:lnSpc>
        <a:spcBef>
          <a:spcPts val="5"/>
        </a:spcBef>
        <a:spcAft>
          <a:spcPts val="1000"/>
        </a:spcAft>
        <a:buFont typeface="Arial" panose="020B0604020202020204" pitchFamily="34" charset="0"/>
        <a:buChar char="•"/>
        <a:defRPr sz="588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2520315" indent="-840105" algn="l" defTabSz="3360420" rtl="0" eaLnBrk="1" fontAlgn="auto" latinLnBrk="0" hangingPunct="1">
        <a:lnSpc>
          <a:spcPct val="130000"/>
        </a:lnSpc>
        <a:spcBef>
          <a:spcPts val="5"/>
        </a:spcBef>
        <a:spcAft>
          <a:spcPts val="1000"/>
        </a:spcAft>
        <a:buFont typeface="Arial" panose="020B0604020202020204" pitchFamily="34" charset="0"/>
        <a:buChar char="•"/>
        <a:tabLst>
          <a:tab pos="5915660" algn="l"/>
        </a:tabLst>
        <a:defRPr sz="588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4199255" indent="-840105" algn="l" defTabSz="3360420" rtl="0" eaLnBrk="1" fontAlgn="auto" latinLnBrk="0" hangingPunct="1">
        <a:lnSpc>
          <a:spcPct val="130000"/>
        </a:lnSpc>
        <a:spcBef>
          <a:spcPts val="5"/>
        </a:spcBef>
        <a:spcAft>
          <a:spcPts val="1000"/>
        </a:spcAft>
        <a:buFont typeface="Arial" panose="020B0604020202020204" pitchFamily="34" charset="0"/>
        <a:buChar char="•"/>
        <a:defRPr sz="588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5880100" indent="-840105" algn="l" defTabSz="3360420" rtl="0" eaLnBrk="1" fontAlgn="auto" latinLnBrk="0" hangingPunct="1">
        <a:lnSpc>
          <a:spcPct val="130000"/>
        </a:lnSpc>
        <a:spcBef>
          <a:spcPts val="5"/>
        </a:spcBef>
        <a:spcAft>
          <a:spcPts val="1000"/>
        </a:spcAft>
        <a:buFont typeface="Arial" panose="020B0604020202020204" pitchFamily="34" charset="0"/>
        <a:buChar char="•"/>
        <a:defRPr sz="588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7559675" indent="-840105" algn="l" defTabSz="3360420" rtl="0" eaLnBrk="1" fontAlgn="auto" latinLnBrk="0" hangingPunct="1">
        <a:lnSpc>
          <a:spcPct val="130000"/>
        </a:lnSpc>
        <a:spcBef>
          <a:spcPts val="5"/>
        </a:spcBef>
        <a:spcAft>
          <a:spcPts val="1000"/>
        </a:spcAft>
        <a:buFont typeface="Arial" panose="020B0604020202020204" pitchFamily="34" charset="0"/>
        <a:buChar char="•"/>
        <a:defRPr sz="588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9240520" indent="-840105" algn="l" defTabSz="3360420" rtl="0" eaLnBrk="1" latinLnBrk="0" hangingPunct="1">
        <a:lnSpc>
          <a:spcPct val="90000"/>
        </a:lnSpc>
        <a:spcBef>
          <a:spcPct val="369000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6pPr>
      <a:lvl7pPr marL="10919460" indent="-840105" algn="l" defTabSz="3360420" rtl="0" eaLnBrk="1" latinLnBrk="0" hangingPunct="1">
        <a:lnSpc>
          <a:spcPct val="90000"/>
        </a:lnSpc>
        <a:spcBef>
          <a:spcPct val="369000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7pPr>
      <a:lvl8pPr marL="12600305" indent="-840105" algn="l" defTabSz="3360420" rtl="0" eaLnBrk="1" latinLnBrk="0" hangingPunct="1">
        <a:lnSpc>
          <a:spcPct val="90000"/>
        </a:lnSpc>
        <a:spcBef>
          <a:spcPct val="369000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80" indent="-840105" algn="l" defTabSz="3360420" rtl="0" eaLnBrk="1" latinLnBrk="0" hangingPunct="1">
        <a:lnSpc>
          <a:spcPct val="90000"/>
        </a:lnSpc>
        <a:spcBef>
          <a:spcPct val="369000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360420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1pPr>
      <a:lvl2pPr marL="1680845" algn="l" defTabSz="3360420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0" algn="l" defTabSz="3360420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3pPr>
      <a:lvl4pPr marL="5039995" algn="l" defTabSz="3360420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4pPr>
      <a:lvl5pPr marL="6720205" algn="l" defTabSz="3360420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5pPr>
      <a:lvl6pPr marL="8400415" algn="l" defTabSz="3360420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6pPr>
      <a:lvl7pPr marL="10080625" algn="l" defTabSz="3360420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7pPr>
      <a:lvl8pPr marL="11760200" algn="l" defTabSz="3360420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8pPr>
      <a:lvl9pPr marL="13439775" algn="l" defTabSz="3360420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977216" y="4094806"/>
            <a:ext cx="3517907" cy="112839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临床癌及癌旁组织</a:t>
            </a:r>
            <a:endParaRPr lang="zh-CN" altLang="en-US" sz="2800" b="1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77216" y="7227267"/>
            <a:ext cx="1966599" cy="112839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tx1"/>
                </a:solidFill>
                <a:latin typeface="+mn-ea"/>
                <a:cs typeface="+mn-ea"/>
              </a:rPr>
              <a:t>xx</a:t>
            </a:r>
            <a:r>
              <a:rPr lang="zh-CN" altLang="en-US" sz="3200" b="1">
                <a:solidFill>
                  <a:schemeClr val="tx1"/>
                </a:solidFill>
                <a:latin typeface="+mn-ea"/>
                <a:cs typeface="+mn-ea"/>
              </a:rPr>
              <a:t>癌细胞系</a:t>
            </a:r>
            <a:endParaRPr lang="zh-CN" altLang="en-US" sz="32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77216" y="10359728"/>
            <a:ext cx="1223012" cy="112839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裸鼠成瘤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111710" y="4094806"/>
            <a:ext cx="3594742" cy="840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qRT-PCR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检测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miR-xx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的表达水平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193520" y="4095115"/>
            <a:ext cx="3746500" cy="8401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分析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miR-xx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表达量与临床相关性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664825" y="5586730"/>
            <a:ext cx="4265295" cy="8401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latin typeface="+mn-ea"/>
                <a:cs typeface="+mn-ea"/>
              </a:rPr>
              <a:t>EDU</a:t>
            </a:r>
            <a:r>
              <a:rPr lang="zh-CN" altLang="en-US" sz="2400" b="1">
                <a:latin typeface="+mn-ea"/>
                <a:cs typeface="+mn-ea"/>
              </a:rPr>
              <a:t>法检测细胞增殖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664825" y="6763385"/>
            <a:ext cx="4265930" cy="8401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划痕实验和</a:t>
            </a:r>
            <a:r>
              <a:rPr lang="en-US" altLang="zh-CN" sz="2400" b="1">
                <a:solidFill>
                  <a:schemeClr val="tx1"/>
                </a:solidFill>
              </a:rPr>
              <a:t>Transwell</a:t>
            </a:r>
            <a:r>
              <a:rPr lang="zh-CN" altLang="en-US" sz="2400" b="1">
                <a:solidFill>
                  <a:schemeClr val="tx1"/>
                </a:solidFill>
              </a:rPr>
              <a:t>迁移实验检测细胞迁移和侵袭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664825" y="7983855"/>
            <a:ext cx="4264660" cy="8401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流式细胞术检测细胞凋亡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664825" y="9204960"/>
            <a:ext cx="4265295" cy="8401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Western Blot</a:t>
            </a:r>
            <a:r>
              <a:rPr lang="zh-CN" altLang="en-US" sz="2400" b="1">
                <a:solidFill>
                  <a:schemeClr val="tx1"/>
                </a:solidFill>
              </a:rPr>
              <a:t>检测增殖和凋亡相关因子的表达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481945" y="10648315"/>
            <a:ext cx="4448810" cy="8401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分析肿瘤大小及重量，淋巴结大小及转移情况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341072" y="12179641"/>
            <a:ext cx="11072517" cy="840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+mn-ea"/>
                <a:cs typeface="+mn-ea"/>
              </a:rPr>
              <a:t>生信预测</a:t>
            </a:r>
            <a:r>
              <a:rPr lang="en-US" altLang="zh-CN" sz="2400" b="1">
                <a:latin typeface="+mn-ea"/>
                <a:cs typeface="+mn-ea"/>
              </a:rPr>
              <a:t>miR-XX</a:t>
            </a:r>
            <a:r>
              <a:rPr lang="zh-CN" altLang="en-US" sz="2400" b="1">
                <a:latin typeface="+mn-ea"/>
                <a:cs typeface="+mn-ea"/>
              </a:rPr>
              <a:t>和</a:t>
            </a:r>
            <a:r>
              <a:rPr lang="en-US" altLang="zh-CN" sz="2400" b="1">
                <a:latin typeface="+mn-ea"/>
                <a:cs typeface="+mn-ea"/>
              </a:rPr>
              <a:t>geneA</a:t>
            </a:r>
            <a:r>
              <a:rPr lang="zh-CN" altLang="en-US" sz="2400" b="1">
                <a:latin typeface="+mn-ea"/>
                <a:cs typeface="+mn-ea"/>
              </a:rPr>
              <a:t>、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miR-xx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和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geneB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的结合位点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373457" y="13352489"/>
            <a:ext cx="11071247" cy="840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+mn-ea"/>
                <a:cs typeface="+mn-ea"/>
              </a:rPr>
              <a:t>双荧光素酶实验验证</a:t>
            </a:r>
            <a:r>
              <a:rPr lang="en-US" altLang="zh-CN" sz="2400" b="1">
                <a:latin typeface="+mn-ea"/>
                <a:cs typeface="+mn-ea"/>
              </a:rPr>
              <a:t>miR-XX</a:t>
            </a:r>
            <a:r>
              <a:rPr lang="zh-CN" altLang="en-US" sz="2400" b="1">
                <a:latin typeface="+mn-ea"/>
                <a:cs typeface="+mn-ea"/>
              </a:rPr>
              <a:t>和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geneA</a:t>
            </a:r>
            <a:r>
              <a:rPr lang="zh-CN" altLang="en-US" sz="2400" b="1">
                <a:latin typeface="+mn-ea"/>
                <a:cs typeface="+mn-ea"/>
                <a:sym typeface="+mn-ea"/>
              </a:rPr>
              <a:t>、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miR-XX</a:t>
            </a:r>
            <a:r>
              <a:rPr lang="zh-CN" altLang="en-US" sz="2400" b="1">
                <a:latin typeface="+mn-ea"/>
                <a:cs typeface="+mn-ea"/>
                <a:sym typeface="+mn-ea"/>
              </a:rPr>
              <a:t>和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geneB</a:t>
            </a:r>
            <a:r>
              <a:rPr lang="zh-CN" altLang="en-US" sz="2400" b="1">
                <a:latin typeface="+mn-ea"/>
                <a:cs typeface="+mn-ea"/>
                <a:sym typeface="+mn-ea"/>
              </a:rPr>
              <a:t>的表达水平</a:t>
            </a:r>
            <a:endParaRPr lang="zh-CN" altLang="en-US" sz="2400" b="1">
              <a:latin typeface="+mn-ea"/>
              <a:cs typeface="+mn-ea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302840" y="14403084"/>
            <a:ext cx="3124203" cy="9182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  <a:sym typeface="+mn-ea"/>
              </a:rPr>
              <a:t>临床癌及癌旁组织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302625" y="18187670"/>
            <a:ext cx="7475220" cy="5734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+mn-ea"/>
                <a:cs typeface="+mn-ea"/>
              </a:rPr>
              <a:t>划痕实验和</a:t>
            </a:r>
            <a:r>
              <a:rPr lang="en-US" altLang="zh-CN" sz="2400" b="1">
                <a:latin typeface="+mn-ea"/>
                <a:cs typeface="+mn-ea"/>
              </a:rPr>
              <a:t>Transwell</a:t>
            </a:r>
            <a:r>
              <a:rPr lang="zh-CN" altLang="en-US" sz="2400" b="1">
                <a:latin typeface="+mn-ea"/>
                <a:cs typeface="+mn-ea"/>
              </a:rPr>
              <a:t>迁移实验检测细胞迁移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302591" y="15641033"/>
            <a:ext cx="7475235" cy="840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Western Blot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检测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geneA</a:t>
            </a:r>
            <a:r>
              <a:rPr lang="zh-CN" altLang="en-US" sz="2400" b="1">
                <a:latin typeface="+mn-ea"/>
                <a:cs typeface="+mn-ea"/>
                <a:sym typeface="+mn-ea"/>
              </a:rPr>
              <a:t>和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geneB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的表达水平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347290" y="16833867"/>
            <a:ext cx="3079753" cy="73406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tx1"/>
                </a:solidFill>
                <a:latin typeface="+mn-ea"/>
                <a:cs typeface="+mn-ea"/>
              </a:rPr>
              <a:t>xx</a:t>
            </a:r>
            <a:r>
              <a:rPr lang="zh-CN" altLang="en-US" sz="3200" b="1">
                <a:solidFill>
                  <a:schemeClr val="tx1"/>
                </a:solidFill>
                <a:latin typeface="+mn-ea"/>
                <a:cs typeface="+mn-ea"/>
              </a:rPr>
              <a:t>癌细胞系</a:t>
            </a:r>
            <a:endParaRPr lang="zh-CN" altLang="en-US" sz="32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13706452" y="4508191"/>
            <a:ext cx="603251" cy="1333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9495123" y="4652337"/>
            <a:ext cx="603251" cy="1333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V="1">
            <a:off x="10124410" y="5999809"/>
            <a:ext cx="603251" cy="1333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10061544" y="9729172"/>
            <a:ext cx="603251" cy="1333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124410" y="5984569"/>
            <a:ext cx="26035" cy="38589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8" idx="3"/>
            <a:endCxn id="30" idx="3"/>
          </p:cNvCxnSpPr>
          <p:nvPr/>
        </p:nvCxnSpPr>
        <p:spPr>
          <a:xfrm flipV="1">
            <a:off x="7943815" y="7753683"/>
            <a:ext cx="2230755" cy="381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292304" y="10590233"/>
            <a:ext cx="3189611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solidFill>
                  <a:srgbClr val="FF0000"/>
                </a:solidFill>
                <a:sym typeface="+mn-ea"/>
              </a:rPr>
              <a:t>过表达</a:t>
            </a:r>
            <a:r>
              <a:rPr lang="en-US" altLang="zh-CN" sz="2400" b="1">
                <a:solidFill>
                  <a:srgbClr val="FF0000"/>
                </a:solidFill>
                <a:sym typeface="+mn-ea"/>
              </a:rPr>
              <a:t>/</a:t>
            </a:r>
            <a:r>
              <a:rPr lang="zh-CN" altLang="en-US" sz="2400" b="1">
                <a:solidFill>
                  <a:srgbClr val="FF0000"/>
                </a:solidFill>
                <a:sym typeface="+mn-ea"/>
              </a:rPr>
              <a:t>敲减</a:t>
            </a:r>
            <a:r>
              <a:rPr lang="en-US" altLang="zh-CN" sz="2400" b="1">
                <a:solidFill>
                  <a:srgbClr val="FF0000"/>
                </a:solidFill>
                <a:sym typeface="+mn-ea"/>
              </a:rPr>
              <a:t>miR-XX</a:t>
            </a:r>
            <a:endParaRPr lang="en-US" altLang="zh-CN" sz="2400" b="1">
              <a:solidFill>
                <a:srgbClr val="FF0000"/>
              </a:solidFill>
              <a:sym typeface="+mn-ea"/>
            </a:endParaRPr>
          </a:p>
        </p:txBody>
      </p:sp>
      <p:cxnSp>
        <p:nvCxnSpPr>
          <p:cNvPr id="34" name="直接箭头连接符 33"/>
          <p:cNvCxnSpPr>
            <a:endCxn id="16" idx="1"/>
          </p:cNvCxnSpPr>
          <p:nvPr/>
        </p:nvCxnSpPr>
        <p:spPr>
          <a:xfrm>
            <a:off x="7237059" y="11050609"/>
            <a:ext cx="3244856" cy="177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7943815" y="7523177"/>
            <a:ext cx="223075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>
                <a:solidFill>
                  <a:srgbClr val="FF0000"/>
                </a:solidFill>
              </a:rPr>
              <a:t>过表达</a:t>
            </a:r>
            <a:r>
              <a:rPr lang="en-US" altLang="zh-CN" sz="2400" b="1">
                <a:solidFill>
                  <a:srgbClr val="FF0000"/>
                </a:solidFill>
                <a:sym typeface="+mn-ea"/>
              </a:rPr>
              <a:t>miR-XX</a:t>
            </a:r>
            <a:endParaRPr lang="en-US" altLang="zh-CN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372821" y="19000489"/>
            <a:ext cx="11623686" cy="631191"/>
          </a:xfrm>
          <a:prstGeom prst="rect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latin typeface="+mn-ea"/>
                <a:cs typeface="+mn-ea"/>
                <a:sym typeface="+mn-ea"/>
              </a:rPr>
              <a:t>2</a:t>
            </a:r>
            <a:r>
              <a:rPr lang="zh-CN" altLang="en-US" sz="2400" b="1">
                <a:latin typeface="+mn-ea"/>
                <a:cs typeface="+mn-ea"/>
                <a:sym typeface="+mn-ea"/>
              </a:rPr>
              <a:t>、验证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miR-xx</a:t>
            </a:r>
            <a:r>
              <a:rPr lang="zh-CN" altLang="en-US" sz="2400" b="1">
                <a:latin typeface="+mn-ea"/>
                <a:cs typeface="+mn-ea"/>
                <a:sym typeface="+mn-ea"/>
              </a:rPr>
              <a:t>靶向调控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geneA</a:t>
            </a:r>
            <a:r>
              <a:rPr lang="zh-CN" altLang="en-US" sz="2400" b="1">
                <a:latin typeface="+mn-ea"/>
                <a:cs typeface="+mn-ea"/>
                <a:sym typeface="+mn-ea"/>
              </a:rPr>
              <a:t>和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geneB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的表达在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癌细胞转移中发挥作用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769571" y="22009122"/>
            <a:ext cx="2818768" cy="60134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tx1"/>
                </a:solidFill>
                <a:latin typeface="+mn-ea"/>
                <a:cs typeface="+mn-ea"/>
              </a:rPr>
              <a:t>xx</a:t>
            </a:r>
            <a:r>
              <a:rPr lang="zh-CN" altLang="en-US" sz="3200" b="1">
                <a:solidFill>
                  <a:schemeClr val="tx1"/>
                </a:solidFill>
                <a:latin typeface="+mn-ea"/>
                <a:cs typeface="+mn-ea"/>
              </a:rPr>
              <a:t>癌细胞系</a:t>
            </a:r>
            <a:endParaRPr lang="zh-CN" altLang="en-US" sz="32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495119" y="20034905"/>
            <a:ext cx="7475227" cy="4718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latin typeface="+mn-ea"/>
                <a:cs typeface="+mn-ea"/>
              </a:rPr>
              <a:t>RNA-fish</a:t>
            </a:r>
            <a:r>
              <a:rPr lang="zh-CN" altLang="en-US" b="1">
                <a:latin typeface="+mn-ea"/>
                <a:cs typeface="+mn-ea"/>
              </a:rPr>
              <a:t>检测</a:t>
            </a:r>
            <a:r>
              <a:rPr lang="en-US" altLang="zh-CN" b="1">
                <a:latin typeface="+mn-ea"/>
                <a:cs typeface="+mn-ea"/>
              </a:rPr>
              <a:t>LncRNA XX</a:t>
            </a:r>
            <a:r>
              <a:rPr lang="zh-CN" altLang="en-US" b="1">
                <a:latin typeface="+mn-ea"/>
                <a:cs typeface="+mn-ea"/>
              </a:rPr>
              <a:t>的亚细胞定位</a:t>
            </a:r>
            <a:endParaRPr lang="zh-CN" altLang="en-US" b="1">
              <a:latin typeface="+mn-ea"/>
              <a:cs typeface="+mn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495119" y="20705465"/>
            <a:ext cx="7475227" cy="3384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latin typeface="+mn-ea"/>
                <a:cs typeface="+mn-ea"/>
              </a:rPr>
              <a:t>MSP</a:t>
            </a:r>
            <a:r>
              <a:rPr lang="zh-CN" altLang="en-US" b="1">
                <a:latin typeface="+mn-ea"/>
                <a:cs typeface="+mn-ea"/>
              </a:rPr>
              <a:t>检测甲基化水平</a:t>
            </a:r>
            <a:endParaRPr lang="zh-CN" altLang="en-US" b="1">
              <a:latin typeface="+mn-ea"/>
              <a:cs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495119" y="21254106"/>
            <a:ext cx="7475227" cy="402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latin typeface="+mn-ea"/>
                <a:cs typeface="+mn-ea"/>
              </a:rPr>
              <a:t>qRT-PCR</a:t>
            </a:r>
            <a:r>
              <a:rPr lang="zh-CN" altLang="en-US" b="1">
                <a:latin typeface="+mn-ea"/>
                <a:cs typeface="+mn-ea"/>
              </a:rPr>
              <a:t>检测</a:t>
            </a:r>
            <a:r>
              <a:rPr lang="en-US" altLang="zh-CN" b="1">
                <a:latin typeface="+mn-ea"/>
                <a:cs typeface="+mn-ea"/>
              </a:rPr>
              <a:t>miR-XX</a:t>
            </a:r>
            <a:r>
              <a:rPr lang="zh-CN" altLang="en-US" b="1">
                <a:latin typeface="+mn-ea"/>
                <a:cs typeface="+mn-ea"/>
              </a:rPr>
              <a:t>的表达水平</a:t>
            </a:r>
            <a:endParaRPr lang="zh-CN" altLang="en-US" b="1">
              <a:latin typeface="+mn-ea"/>
              <a:cs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495119" y="21866882"/>
            <a:ext cx="8444238" cy="402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latin typeface="+mn-ea"/>
                <a:cs typeface="+mn-ea"/>
              </a:rPr>
              <a:t>RIP</a:t>
            </a:r>
            <a:r>
              <a:rPr lang="zh-CN" altLang="en-US" b="1">
                <a:latin typeface="+mn-ea"/>
                <a:cs typeface="+mn-ea"/>
              </a:rPr>
              <a:t>和</a:t>
            </a:r>
            <a:r>
              <a:rPr lang="en-US" altLang="zh-CN" b="1">
                <a:latin typeface="+mn-ea"/>
                <a:cs typeface="+mn-ea"/>
              </a:rPr>
              <a:t>RNA pull-down</a:t>
            </a:r>
            <a:r>
              <a:rPr lang="zh-CN" altLang="en-US" b="1">
                <a:latin typeface="+mn-ea"/>
                <a:cs typeface="+mn-ea"/>
              </a:rPr>
              <a:t>实验检测</a:t>
            </a:r>
            <a:r>
              <a:rPr lang="en-US" altLang="zh-CN" b="1">
                <a:latin typeface="+mn-ea"/>
                <a:cs typeface="+mn-ea"/>
              </a:rPr>
              <a:t>lncRNA xx</a:t>
            </a:r>
            <a:r>
              <a:rPr lang="zh-CN" altLang="en-US" b="1">
                <a:latin typeface="+mn-ea"/>
                <a:cs typeface="+mn-ea"/>
              </a:rPr>
              <a:t>结合</a:t>
            </a:r>
            <a:r>
              <a:rPr lang="en-US" altLang="zh-CN" b="1">
                <a:latin typeface="+mn-ea"/>
                <a:cs typeface="+mn-ea"/>
              </a:rPr>
              <a:t>DNM1/DNMT3(A/B)</a:t>
            </a:r>
            <a:r>
              <a:rPr lang="zh-CN" altLang="en-US" b="1">
                <a:latin typeface="+mn-ea"/>
                <a:cs typeface="+mn-ea"/>
              </a:rPr>
              <a:t>直接结合</a:t>
            </a:r>
            <a:endParaRPr lang="zh-CN" altLang="en-US" b="1">
              <a:latin typeface="+mn-ea"/>
              <a:cs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495119" y="22491087"/>
            <a:ext cx="7475227" cy="402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latin typeface="+mn-ea"/>
                <a:cs typeface="+mn-ea"/>
              </a:rPr>
              <a:t>CHIP</a:t>
            </a:r>
            <a:r>
              <a:rPr lang="zh-CN" altLang="en-US" b="1">
                <a:latin typeface="+mn-ea"/>
                <a:cs typeface="+mn-ea"/>
              </a:rPr>
              <a:t>检测</a:t>
            </a:r>
            <a:r>
              <a:rPr lang="en-US" altLang="zh-CN" b="1">
                <a:latin typeface="+mn-ea"/>
                <a:cs typeface="+mn-ea"/>
              </a:rPr>
              <a:t>miR-XX</a:t>
            </a:r>
            <a:r>
              <a:rPr lang="zh-CN" altLang="en-US" b="1">
                <a:latin typeface="+mn-ea"/>
                <a:cs typeface="+mn-ea"/>
              </a:rPr>
              <a:t>启动子区与</a:t>
            </a:r>
            <a:r>
              <a:rPr lang="en-US" altLang="zh-CN" b="1">
                <a:latin typeface="+mn-ea"/>
                <a:cs typeface="+mn-ea"/>
                <a:sym typeface="+mn-ea"/>
              </a:rPr>
              <a:t>DNM1/DNMT3(A/B)</a:t>
            </a:r>
            <a:r>
              <a:rPr lang="zh-CN" altLang="en-US" b="1">
                <a:latin typeface="+mn-ea"/>
                <a:cs typeface="+mn-ea"/>
                <a:sym typeface="+mn-ea"/>
              </a:rPr>
              <a:t>直接结合</a:t>
            </a:r>
            <a:endParaRPr lang="zh-CN" altLang="en-US" b="1">
              <a:latin typeface="+mn-ea"/>
              <a:cs typeface="+mn-ea"/>
              <a:sym typeface="+mn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0150440" y="23068938"/>
            <a:ext cx="7562857" cy="402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b="1">
                <a:latin typeface="+mn-ea"/>
                <a:cs typeface="+mn-ea"/>
              </a:rPr>
              <a:t>划痕实验和</a:t>
            </a:r>
            <a:r>
              <a:rPr lang="en-US" altLang="zh-CN" b="1">
                <a:latin typeface="+mn-ea"/>
                <a:cs typeface="+mn-ea"/>
              </a:rPr>
              <a:t>Transwell</a:t>
            </a:r>
            <a:r>
              <a:rPr lang="zh-CN" altLang="en-US" b="1">
                <a:latin typeface="+mn-ea"/>
                <a:cs typeface="+mn-ea"/>
              </a:rPr>
              <a:t>迁移实验检测细胞迁移和侵袭</a:t>
            </a:r>
            <a:endParaRPr lang="zh-CN" altLang="en-US" b="1">
              <a:latin typeface="+mn-ea"/>
              <a:cs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0174570" y="23647423"/>
            <a:ext cx="7475227" cy="402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b="1">
                <a:latin typeface="+mn-ea"/>
                <a:cs typeface="+mn-ea"/>
              </a:rPr>
              <a:t>检测</a:t>
            </a:r>
            <a:r>
              <a:rPr lang="en-US" altLang="zh-CN" b="1">
                <a:latin typeface="+mn-ea"/>
                <a:cs typeface="+mn-ea"/>
                <a:sym typeface="+mn-ea"/>
              </a:rPr>
              <a:t>miR-XX</a:t>
            </a:r>
            <a:r>
              <a:rPr lang="zh-CN" altLang="en-US" b="1">
                <a:latin typeface="+mn-ea"/>
                <a:cs typeface="+mn-ea"/>
                <a:sym typeface="+mn-ea"/>
              </a:rPr>
              <a:t>和</a:t>
            </a:r>
            <a:r>
              <a:rPr lang="en-US" altLang="zh-CN" b="1">
                <a:latin typeface="+mn-ea"/>
                <a:cs typeface="+mn-ea"/>
                <a:sym typeface="+mn-ea"/>
              </a:rPr>
              <a:t>geneA</a:t>
            </a:r>
            <a:r>
              <a:rPr lang="zh-CN" altLang="en-US" b="1">
                <a:latin typeface="+mn-ea"/>
                <a:cs typeface="+mn-ea"/>
                <a:sym typeface="+mn-ea"/>
              </a:rPr>
              <a:t>和</a:t>
            </a:r>
            <a:r>
              <a:rPr lang="en-US" altLang="zh-CN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geneB</a:t>
            </a:r>
            <a:r>
              <a:rPr lang="zh-CN" altLang="en-US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的表达</a:t>
            </a:r>
            <a:endParaRPr lang="zh-CN" altLang="en-US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8169255" y="758825"/>
            <a:ext cx="2784475" cy="5124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临床癌及癌旁组织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9020129" y="1603377"/>
            <a:ext cx="1356996" cy="4406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CAFs</a:t>
            </a:r>
            <a:endParaRPr lang="en-US" altLang="zh-CN" sz="24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9020129" y="2044067"/>
            <a:ext cx="1356996" cy="4406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NFs</a:t>
            </a:r>
            <a:endParaRPr lang="en-US" altLang="zh-CN" sz="24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8444183" y="2888618"/>
            <a:ext cx="2509522" cy="7639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差速超速离心法分离出外泌体</a:t>
            </a:r>
            <a:endParaRPr lang="zh-CN" sz="24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8608013" y="4225294"/>
            <a:ext cx="2677163" cy="4406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32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NFs-exos</a:t>
            </a:r>
            <a:endParaRPr lang="en-US" altLang="zh-CN" sz="3200" b="1">
              <a:solidFill>
                <a:schemeClr val="tx1"/>
              </a:solidFill>
              <a:latin typeface="+mn-ea"/>
              <a:cs typeface="+mn-ea"/>
            </a:endParaRPr>
          </a:p>
          <a:p>
            <a:pPr algn="ctr"/>
            <a:endParaRPr lang="en-US" altLang="zh-CN" sz="32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8608013" y="4652650"/>
            <a:ext cx="2677163" cy="4406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32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CAFs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-exos</a:t>
            </a:r>
            <a:endParaRPr lang="en-US" altLang="zh-CN" sz="3200" b="1">
              <a:solidFill>
                <a:schemeClr val="tx1"/>
              </a:solidFill>
              <a:latin typeface="+mn-ea"/>
              <a:cs typeface="+mn-ea"/>
            </a:endParaRPr>
          </a:p>
          <a:p>
            <a:pPr algn="ctr"/>
            <a:endParaRPr lang="en-US" altLang="zh-CN" sz="32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8608013" y="6427476"/>
            <a:ext cx="2193927" cy="10960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CAFs-exos</a:t>
            </a:r>
            <a:endParaRPr lang="en-US" altLang="zh-CN" sz="24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+</a:t>
            </a:r>
            <a:endParaRPr lang="en-US" altLang="zh-CN" sz="24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Tumor cell</a:t>
            </a:r>
            <a:endParaRPr lang="zh-CN" sz="24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2082102" y="516890"/>
            <a:ext cx="2390777" cy="11760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CAF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特异性标记物（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a-SMA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等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）的存在进行鉴定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5619710" y="104140"/>
            <a:ext cx="4630420" cy="535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EDU</a:t>
            </a: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法检测细胞增殖</a:t>
            </a:r>
            <a:endParaRPr lang="zh-CN" altLang="en-US" sz="20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5619710" y="638810"/>
            <a:ext cx="4631055" cy="4743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流式细胞术检测细胞凋亡</a:t>
            </a:r>
            <a:endParaRPr lang="zh-CN" sz="20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5619710" y="1113155"/>
            <a:ext cx="4631055" cy="5797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检测</a:t>
            </a:r>
            <a:r>
              <a:rPr lang="en-US" altLang="zh-CN" sz="2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IncRNAXX,miR-xx</a:t>
            </a: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geneA</a:t>
            </a: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和</a:t>
            </a:r>
            <a:r>
              <a:rPr lang="en-US" altLang="zh-CN" sz="2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geneB</a:t>
            </a: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的表达</a:t>
            </a:r>
            <a:endParaRPr lang="zh-CN" altLang="en-US" sz="20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2084665" y="6131560"/>
            <a:ext cx="8166100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测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IncRNAXX,miR-xx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、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geneA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和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geneB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的表达变化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2084665" y="6630035"/>
            <a:ext cx="8166735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latin typeface="+mn-ea"/>
                <a:cs typeface="+mn-ea"/>
              </a:rPr>
              <a:t>EDU</a:t>
            </a:r>
            <a:r>
              <a:rPr lang="zh-CN" altLang="en-US" sz="2400" b="1">
                <a:latin typeface="+mn-ea"/>
                <a:cs typeface="+mn-ea"/>
              </a:rPr>
              <a:t>法检测细胞增殖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2084665" y="7128510"/>
            <a:ext cx="8165465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  <a:sym typeface="+mn-ea"/>
              </a:rPr>
              <a:t>划痕实验和</a:t>
            </a:r>
            <a:r>
              <a:rPr lang="en-US" altLang="zh-CN" sz="2400" b="1">
                <a:solidFill>
                  <a:schemeClr val="tx1"/>
                </a:solidFill>
                <a:sym typeface="+mn-ea"/>
              </a:rPr>
              <a:t>Transwell</a:t>
            </a:r>
            <a:r>
              <a:rPr lang="zh-CN" altLang="en-US" sz="2400" b="1">
                <a:solidFill>
                  <a:schemeClr val="tx1"/>
                </a:solidFill>
                <a:sym typeface="+mn-ea"/>
              </a:rPr>
              <a:t>迁移实验检测细胞迁移和侵袭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2084665" y="7626985"/>
            <a:ext cx="8167370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流式细胞术检测细胞凋亡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2084665" y="4594860"/>
            <a:ext cx="8165465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400" b="1">
                <a:latin typeface="+mn-ea"/>
                <a:cs typeface="+mn-ea"/>
                <a:sym typeface="+mn-ea"/>
              </a:rPr>
              <a:t>检测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lncRNA xx</a:t>
            </a:r>
            <a:r>
              <a:rPr lang="zh-CN" altLang="en-US" sz="2400" b="1">
                <a:latin typeface="+mn-ea"/>
                <a:cs typeface="+mn-ea"/>
                <a:sym typeface="+mn-ea"/>
              </a:rPr>
              <a:t>的表达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2084665" y="2753995"/>
            <a:ext cx="8165465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latin typeface="+mn-ea"/>
                <a:cs typeface="+mn-ea"/>
              </a:rPr>
              <a:t>Nanosight</a:t>
            </a:r>
            <a:r>
              <a:rPr lang="zh-CN" altLang="en-US" sz="2400" b="1">
                <a:latin typeface="+mn-ea"/>
                <a:cs typeface="+mn-ea"/>
              </a:rPr>
              <a:t>纳米颗粒粒径分析和</a:t>
            </a:r>
            <a:r>
              <a:rPr lang="en-US" altLang="zh-CN" sz="2400" b="1">
                <a:latin typeface="+mn-ea"/>
                <a:cs typeface="+mn-ea"/>
              </a:rPr>
              <a:t>TEM</a:t>
            </a:r>
            <a:r>
              <a:rPr lang="zh-CN" altLang="en-US" sz="2400" b="1">
                <a:latin typeface="+mn-ea"/>
                <a:cs typeface="+mn-ea"/>
              </a:rPr>
              <a:t>观察进行外泌体鉴定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2084665" y="3252470"/>
            <a:ext cx="8165465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latin typeface="+mn-ea"/>
                <a:cs typeface="+mn-ea"/>
              </a:rPr>
              <a:t>western blot</a:t>
            </a:r>
            <a:r>
              <a:rPr lang="zh-CN" altLang="en-US" sz="2400" b="1">
                <a:latin typeface="+mn-ea"/>
                <a:cs typeface="+mn-ea"/>
              </a:rPr>
              <a:t>检测外泌体标记蛋白（</a:t>
            </a:r>
            <a:r>
              <a:rPr lang="en-US" altLang="zh-CN" sz="2400" b="1">
                <a:latin typeface="+mn-ea"/>
                <a:cs typeface="+mn-ea"/>
              </a:rPr>
              <a:t>CD63</a:t>
            </a:r>
            <a:r>
              <a:rPr lang="zh-CN" altLang="en-US" sz="2400" b="1">
                <a:latin typeface="+mn-ea"/>
                <a:cs typeface="+mn-ea"/>
              </a:rPr>
              <a:t>等</a:t>
            </a:r>
            <a:r>
              <a:rPr lang="zh-CN" altLang="en-US" sz="2400" b="1">
                <a:latin typeface="+mn-ea"/>
                <a:cs typeface="+mn-ea"/>
              </a:rPr>
              <a:t>）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2084665" y="3750945"/>
            <a:ext cx="8165465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+mn-ea"/>
                <a:cs typeface="+mn-ea"/>
              </a:rPr>
              <a:t>激光共聚焦显微镜观察肿瘤细胞对标外泌体的摄取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2081490" y="1851660"/>
            <a:ext cx="8168640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400" b="1">
                <a:latin typeface="+mn-ea"/>
                <a:cs typeface="+mn-ea"/>
              </a:rPr>
              <a:t>检测</a:t>
            </a:r>
            <a:r>
              <a:rPr lang="en-US" altLang="zh-CN" sz="2400" b="1">
                <a:latin typeface="+mn-ea"/>
                <a:cs typeface="+mn-ea"/>
              </a:rPr>
              <a:t>lncRNA xx</a:t>
            </a:r>
            <a:r>
              <a:rPr lang="zh-CN" altLang="en-US" sz="2400" b="1">
                <a:latin typeface="+mn-ea"/>
                <a:cs typeface="+mn-ea"/>
              </a:rPr>
              <a:t>的表达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24999315" y="9052560"/>
            <a:ext cx="6322060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400" b="1">
                <a:latin typeface="+mn-ea"/>
                <a:cs typeface="+mn-ea"/>
              </a:rPr>
              <a:t>检测裸鼠形成肿瘤大小及重量</a:t>
            </a:r>
            <a:endParaRPr lang="zh-CN" sz="2400" b="1">
              <a:latin typeface="+mn-ea"/>
              <a:cs typeface="+mn-ea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999315" y="9551035"/>
            <a:ext cx="6322060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400" b="1">
                <a:latin typeface="+mn-ea"/>
                <a:cs typeface="+mn-ea"/>
              </a:rPr>
              <a:t>活体荧光成像技术检测肿瘤转移</a:t>
            </a:r>
            <a:endParaRPr lang="zh-CN" sz="2400" b="1">
              <a:latin typeface="+mn-ea"/>
              <a:cs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4999315" y="10552430"/>
            <a:ext cx="6322060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+mn-ea"/>
                <a:cs typeface="+mn-ea"/>
              </a:rPr>
              <a:t>测量转移结节的数目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4999315" y="11068685"/>
            <a:ext cx="6322060" cy="498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latin typeface="+mn-ea"/>
                <a:cs typeface="+mn-ea"/>
              </a:rPr>
              <a:t>HE</a:t>
            </a:r>
            <a:r>
              <a:rPr lang="zh-CN" altLang="en-US" sz="2400" b="1">
                <a:latin typeface="+mn-ea"/>
                <a:cs typeface="+mn-ea"/>
              </a:rPr>
              <a:t>染色检测肺组织学形态</a:t>
            </a:r>
            <a:endParaRPr lang="zh-CN" altLang="en-US" sz="2400" b="1">
              <a:latin typeface="+mn-ea"/>
              <a:cs typeface="+mn-ea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8728055" y="9404985"/>
            <a:ext cx="2557780" cy="4406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裸鼠移植瘤模型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8728055" y="10847705"/>
            <a:ext cx="2557780" cy="4406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癌肺转移模型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5713075" y="6743700"/>
            <a:ext cx="2281555" cy="2057400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1.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探究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miR-xx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在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癌进程中的作用</a:t>
            </a:r>
            <a:r>
              <a:rPr lang="en-US" altLang="zh-CN"/>
              <a:t>.</a:t>
            </a:r>
            <a:endParaRPr lang="en-US" altLang="zh-CN"/>
          </a:p>
        </p:txBody>
      </p:sp>
      <p:cxnSp>
        <p:nvCxnSpPr>
          <p:cNvPr id="71" name="直接连接符 70"/>
          <p:cNvCxnSpPr/>
          <p:nvPr/>
        </p:nvCxnSpPr>
        <p:spPr>
          <a:xfrm>
            <a:off x="15204440" y="5877560"/>
            <a:ext cx="29845" cy="3818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V="1">
            <a:off x="15280640" y="7639050"/>
            <a:ext cx="467995" cy="12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16035655" y="4916805"/>
            <a:ext cx="62865" cy="18465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12" idx="3"/>
          </p:cNvCxnSpPr>
          <p:nvPr/>
        </p:nvCxnSpPr>
        <p:spPr>
          <a:xfrm flipV="1">
            <a:off x="14930120" y="6000750"/>
            <a:ext cx="285115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15" idx="3"/>
          </p:cNvCxnSpPr>
          <p:nvPr/>
        </p:nvCxnSpPr>
        <p:spPr>
          <a:xfrm>
            <a:off x="14930120" y="9625330"/>
            <a:ext cx="323215" cy="330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19111595" y="21043900"/>
            <a:ext cx="2281555" cy="2801620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3.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阐明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癌中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IncRNAxx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招募甲基化醇下调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miR-XX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的表达具体机制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cxnSp>
        <p:nvCxnSpPr>
          <p:cNvPr id="77" name="直接箭头连接符 76"/>
          <p:cNvCxnSpPr/>
          <p:nvPr/>
        </p:nvCxnSpPr>
        <p:spPr>
          <a:xfrm flipH="1">
            <a:off x="11786235" y="12952730"/>
            <a:ext cx="38100" cy="4762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>
            <a:off x="11890375" y="14192885"/>
            <a:ext cx="10160" cy="2457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 flipH="1">
            <a:off x="11907520" y="16481425"/>
            <a:ext cx="3175" cy="3524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11843385" y="15321280"/>
            <a:ext cx="19050" cy="4191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24" idx="2"/>
          </p:cNvCxnSpPr>
          <p:nvPr/>
        </p:nvCxnSpPr>
        <p:spPr>
          <a:xfrm flipH="1">
            <a:off x="11881485" y="17567910"/>
            <a:ext cx="5715" cy="2806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 flipV="1">
            <a:off x="7699375" y="20871180"/>
            <a:ext cx="1795780" cy="63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>
            <a:off x="6349365" y="20067905"/>
            <a:ext cx="3162300" cy="381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V="1">
            <a:off x="7699375" y="21452205"/>
            <a:ext cx="1795780" cy="63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>
          <a:xfrm flipV="1">
            <a:off x="8354695" y="23267035"/>
            <a:ext cx="1795780" cy="63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 flipV="1">
            <a:off x="6557645" y="23845520"/>
            <a:ext cx="3745230" cy="63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>
            <a:off x="18711545" y="22436455"/>
            <a:ext cx="361950" cy="190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18692495" y="20150455"/>
            <a:ext cx="57150" cy="3752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>
            <a:stCxn id="37" idx="3"/>
          </p:cNvCxnSpPr>
          <p:nvPr/>
        </p:nvCxnSpPr>
        <p:spPr>
          <a:xfrm>
            <a:off x="16970375" y="20271105"/>
            <a:ext cx="1722120" cy="12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43" idx="3"/>
          </p:cNvCxnSpPr>
          <p:nvPr/>
        </p:nvCxnSpPr>
        <p:spPr>
          <a:xfrm>
            <a:off x="17649825" y="23848695"/>
            <a:ext cx="1137920" cy="54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6482715" y="20086955"/>
            <a:ext cx="19050" cy="1847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7682865" y="20029805"/>
            <a:ext cx="19050" cy="1409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 flipH="1">
            <a:off x="6468745" y="22563455"/>
            <a:ext cx="13970" cy="13823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8354695" y="23256875"/>
            <a:ext cx="13970" cy="5892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>
            <a:off x="8959215" y="22055455"/>
            <a:ext cx="557530" cy="95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>
            <a:off x="8973820" y="22687915"/>
            <a:ext cx="557530" cy="95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9051925" y="22055455"/>
            <a:ext cx="13970" cy="5892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V="1">
            <a:off x="8608695" y="22341205"/>
            <a:ext cx="483870" cy="381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flipV="1">
            <a:off x="9340215" y="17807305"/>
            <a:ext cx="5067300" cy="38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 flipH="1">
            <a:off x="9337040" y="17848580"/>
            <a:ext cx="3175" cy="3524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 flipH="1">
            <a:off x="14404340" y="17848580"/>
            <a:ext cx="3175" cy="3524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/>
          <p:nvPr/>
        </p:nvCxnSpPr>
        <p:spPr>
          <a:xfrm flipH="1">
            <a:off x="11910695" y="18761075"/>
            <a:ext cx="3175" cy="3524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/>
          <p:cNvSpPr txBox="1"/>
          <p:nvPr/>
        </p:nvSpPr>
        <p:spPr>
          <a:xfrm>
            <a:off x="8302625" y="17807305"/>
            <a:ext cx="2379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b="1">
                <a:solidFill>
                  <a:srgbClr val="FF0000"/>
                </a:solidFill>
                <a:sym typeface="+mn-ea"/>
              </a:rPr>
              <a:t>干扰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miR-XX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和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geneA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13058775" y="17848580"/>
            <a:ext cx="2379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b="1">
                <a:solidFill>
                  <a:srgbClr val="FF0000"/>
                </a:solidFill>
                <a:sym typeface="+mn-ea"/>
              </a:rPr>
              <a:t>干扰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miR-XX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和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geneA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4447540" y="23086060"/>
            <a:ext cx="38550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b="1">
                <a:solidFill>
                  <a:srgbClr val="FF0000"/>
                </a:solidFill>
                <a:sym typeface="+mn-ea"/>
              </a:rPr>
              <a:t>同时</a:t>
            </a:r>
            <a:r>
              <a:rPr lang="zh-CN" b="1">
                <a:solidFill>
                  <a:srgbClr val="FF0000"/>
                </a:solidFill>
                <a:sym typeface="+mn-ea"/>
              </a:rPr>
              <a:t>干扰</a:t>
            </a:r>
            <a:r>
              <a:rPr lang="en-US" altLang="zh-CN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LncRNA XX</a:t>
            </a:r>
            <a:r>
              <a:rPr lang="zh-CN" altLang="en-US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和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miR-XX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7718425" y="20502880"/>
            <a:ext cx="16217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b="1">
                <a:solidFill>
                  <a:srgbClr val="FF0000"/>
                </a:solidFill>
                <a:sym typeface="+mn-ea"/>
              </a:rPr>
              <a:t>+-5-aza-dc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7770495" y="21043900"/>
            <a:ext cx="2566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b="1">
                <a:solidFill>
                  <a:srgbClr val="FF0000"/>
                </a:solidFill>
                <a:sym typeface="+mn-ea"/>
              </a:rPr>
              <a:t>oe-NC/oe-</a:t>
            </a:r>
            <a:r>
              <a:rPr lang="en-US" altLang="zh-CN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LncRNA XX</a:t>
            </a:r>
            <a:endParaRPr lang="en-US" altLang="zh-CN" b="1">
              <a:solidFill>
                <a:srgbClr val="FF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21285835" y="9180830"/>
            <a:ext cx="37134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b="1">
                <a:solidFill>
                  <a:srgbClr val="FF0000"/>
                </a:solidFill>
                <a:sym typeface="+mn-ea"/>
              </a:rPr>
              <a:t>体内注射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CAFs-exos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algn="l"/>
            <a:r>
              <a:rPr lang="zh-CN" altLang="en-US" b="1">
                <a:solidFill>
                  <a:srgbClr val="FF0000"/>
                </a:solidFill>
                <a:sym typeface="+mn-ea"/>
              </a:rPr>
              <a:t>过表达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敲减 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lnRNAXX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稳转细胞株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algn="l"/>
            <a:endParaRPr lang="en-US" altLang="zh-CN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21393150" y="10847705"/>
            <a:ext cx="36068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b="1">
                <a:solidFill>
                  <a:srgbClr val="FF0000"/>
                </a:solidFill>
                <a:sym typeface="+mn-ea"/>
              </a:rPr>
              <a:t>体内注射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CAFs-exos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algn="l"/>
            <a:r>
              <a:rPr lang="zh-CN" altLang="en-US" b="1">
                <a:solidFill>
                  <a:srgbClr val="FF0000"/>
                </a:solidFill>
                <a:sym typeface="+mn-ea"/>
              </a:rPr>
              <a:t>过表达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敲减 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lnRNAXX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稳转细胞株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algn="l"/>
            <a:endParaRPr lang="en-US" altLang="zh-CN" b="1">
              <a:solidFill>
                <a:srgbClr val="FF0000"/>
              </a:solidFill>
              <a:sym typeface="+mn-ea"/>
            </a:endParaRPr>
          </a:p>
        </p:txBody>
      </p:sp>
      <p:cxnSp>
        <p:nvCxnSpPr>
          <p:cNvPr id="117" name="直接箭头连接符 116"/>
          <p:cNvCxnSpPr/>
          <p:nvPr/>
        </p:nvCxnSpPr>
        <p:spPr>
          <a:xfrm>
            <a:off x="24472900" y="9297035"/>
            <a:ext cx="557530" cy="95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24472900" y="9845675"/>
            <a:ext cx="557530" cy="95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24442420" y="10815955"/>
            <a:ext cx="557530" cy="95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>
            <a:off x="24472900" y="11478895"/>
            <a:ext cx="557530" cy="95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/>
          <p:nvPr/>
        </p:nvCxnSpPr>
        <p:spPr>
          <a:xfrm>
            <a:off x="21523960" y="6427470"/>
            <a:ext cx="557530" cy="95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>
            <a:off x="20929600" y="7943850"/>
            <a:ext cx="1238250" cy="381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/>
          <p:cNvCxnSpPr/>
          <p:nvPr/>
        </p:nvCxnSpPr>
        <p:spPr>
          <a:xfrm>
            <a:off x="21291550" y="4838700"/>
            <a:ext cx="793115" cy="1016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/>
          <p:nvPr/>
        </p:nvCxnSpPr>
        <p:spPr>
          <a:xfrm>
            <a:off x="21523960" y="2998470"/>
            <a:ext cx="557530" cy="95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/>
          <p:nvPr/>
        </p:nvCxnSpPr>
        <p:spPr>
          <a:xfrm>
            <a:off x="21409660" y="4084955"/>
            <a:ext cx="793115" cy="1016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/>
          <p:nvPr/>
        </p:nvCxnSpPr>
        <p:spPr>
          <a:xfrm flipV="1">
            <a:off x="20339050" y="2105660"/>
            <a:ext cx="1742440" cy="2794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>
            <a:endCxn id="51" idx="1"/>
          </p:cNvCxnSpPr>
          <p:nvPr/>
        </p:nvCxnSpPr>
        <p:spPr>
          <a:xfrm flipV="1">
            <a:off x="20872450" y="1104900"/>
            <a:ext cx="1209675" cy="190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/>
          <p:nvPr/>
        </p:nvCxnSpPr>
        <p:spPr>
          <a:xfrm>
            <a:off x="24441785" y="1095375"/>
            <a:ext cx="1193165" cy="95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肘形连接符 129"/>
          <p:cNvCxnSpPr>
            <a:stCxn id="47" idx="3"/>
          </p:cNvCxnSpPr>
          <p:nvPr/>
        </p:nvCxnSpPr>
        <p:spPr>
          <a:xfrm flipV="1">
            <a:off x="20953730" y="2990850"/>
            <a:ext cx="852170" cy="28003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>
            <a:off x="21405850" y="3067050"/>
            <a:ext cx="0" cy="9525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肘形连接符 131"/>
          <p:cNvCxnSpPr/>
          <p:nvPr/>
        </p:nvCxnSpPr>
        <p:spPr>
          <a:xfrm flipV="1">
            <a:off x="20801965" y="6400800"/>
            <a:ext cx="775335" cy="618490"/>
          </a:xfrm>
          <a:prstGeom prst="bentConnector3">
            <a:avLst>
              <a:gd name="adj1" fmla="val 5004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>
            <a:off x="20953730" y="7040880"/>
            <a:ext cx="0" cy="9525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/>
          <p:cNvSpPr/>
          <p:nvPr/>
        </p:nvSpPr>
        <p:spPr>
          <a:xfrm>
            <a:off x="31461075" y="1270635"/>
            <a:ext cx="3215005" cy="2480310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  <a:latin typeface="+mn-ea"/>
                <a:cs typeface="+mn-ea"/>
              </a:rPr>
              <a:t>4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、体外实验明确肿瘤相关成纤维细胞外泌体携带</a:t>
            </a:r>
            <a:r>
              <a:rPr lang="en-US" altLang="zh-CN" sz="2400">
                <a:latin typeface="+mn-ea"/>
                <a:cs typeface="+mn-ea"/>
              </a:rPr>
              <a:t>.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IncRNAxx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对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影响肿瘤细胞增殖、侵袭和凋亡的具体机制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2235775" y="9204960"/>
            <a:ext cx="2623820" cy="2385695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  <a:latin typeface="+mn-ea"/>
                <a:cs typeface="+mn-ea"/>
              </a:rPr>
              <a:t>5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、体内实验明确肿瘤相关成纤维细胞外泌体携带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IncRNAxx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对</a:t>
            </a:r>
            <a:r>
              <a:rPr lang="en-US" altLang="zh-CN" sz="2400" b="1">
                <a:solidFill>
                  <a:schemeClr val="tx1"/>
                </a:solidFill>
                <a:latin typeface="+mn-ea"/>
                <a:cs typeface="+mn-ea"/>
              </a:rPr>
              <a:t>XX</a:t>
            </a: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</a:rPr>
              <a:t>癌转移的影响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cxnSp>
        <p:nvCxnSpPr>
          <p:cNvPr id="136" name="直接箭头连接符 135"/>
          <p:cNvCxnSpPr>
            <a:endCxn id="134" idx="1"/>
          </p:cNvCxnSpPr>
          <p:nvPr/>
        </p:nvCxnSpPr>
        <p:spPr>
          <a:xfrm flipV="1">
            <a:off x="30816550" y="2510790"/>
            <a:ext cx="644525" cy="2286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 flipV="1">
            <a:off x="31591250" y="10219690"/>
            <a:ext cx="644525" cy="2286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 flipH="1">
            <a:off x="30911800" y="361950"/>
            <a:ext cx="38100" cy="76390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>
            <a:stCxn id="58" idx="3"/>
          </p:cNvCxnSpPr>
          <p:nvPr/>
        </p:nvCxnSpPr>
        <p:spPr>
          <a:xfrm flipV="1">
            <a:off x="30252035" y="7867650"/>
            <a:ext cx="694690" cy="88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/>
        </p:nvCxnSpPr>
        <p:spPr>
          <a:xfrm flipV="1">
            <a:off x="30255210" y="367665"/>
            <a:ext cx="694690" cy="88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flipH="1">
            <a:off x="31556325" y="9201150"/>
            <a:ext cx="57150" cy="21907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/>
        </p:nvCxnSpPr>
        <p:spPr>
          <a:xfrm>
            <a:off x="31308675" y="9277350"/>
            <a:ext cx="297815" cy="10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31293435" y="11381105"/>
            <a:ext cx="297815" cy="10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1236</Words>
  <Application>WPS 演示</Application>
  <PresentationFormat>宽屏</PresentationFormat>
  <Paragraphs>136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仿宋</vt:lpstr>
      <vt:lpstr>Office 主题​​</vt:lpstr>
      <vt:lpstr>空白演示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Summer</cp:lastModifiedBy>
  <cp:revision>25</cp:revision>
  <dcterms:created xsi:type="dcterms:W3CDTF">2019-06-19T02:08:00Z</dcterms:created>
  <dcterms:modified xsi:type="dcterms:W3CDTF">2021-03-13T02:23:36Z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