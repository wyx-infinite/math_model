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635" cy="251999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7937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82384" y="1143000"/>
            <a:ext cx="149323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948" y="9510744"/>
            <a:ext cx="10853306" cy="3304026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72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948" y="13104000"/>
            <a:ext cx="10853306" cy="3494429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32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48" y="4762205"/>
            <a:ext cx="10853306" cy="18524664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96" y="13995333"/>
            <a:ext cx="10853306" cy="2296018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48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91" y="16578333"/>
            <a:ext cx="10853306" cy="3961100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2135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96" y="4762205"/>
            <a:ext cx="5283762" cy="18519685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9491" y="4762205"/>
            <a:ext cx="5283762" cy="18519685"/>
          </a:xfrm>
        </p:spPr>
        <p:txBody>
          <a:bodyPr>
            <a:noAutofit/>
          </a:bodyPr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1587402"/>
            <a:ext cx="10853306" cy="238110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96" y="4762205"/>
            <a:ext cx="5283762" cy="1400011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6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91" y="6573911"/>
            <a:ext cx="5283720" cy="16727369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4762205"/>
            <a:ext cx="5283762" cy="140001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6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6573911"/>
            <a:ext cx="5283762" cy="16727369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96" y="4762205"/>
            <a:ext cx="5283762" cy="18519685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9539" y="4762205"/>
            <a:ext cx="5283762" cy="18519685"/>
          </a:xfrm>
        </p:spPr>
        <p:txBody>
          <a:bodyPr vert="horz" lIns="101600" tIns="0" rIns="82550" bIns="0" rtlCol="0">
            <a:norm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2176" y="3500029"/>
            <a:ext cx="951078" cy="19801758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91" y="3500000"/>
            <a:ext cx="9829069" cy="19801758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96" y="3500029"/>
            <a:ext cx="10853306" cy="1851968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948" y="9510744"/>
            <a:ext cx="10853306" cy="3304026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48" y="1587402"/>
            <a:ext cx="10853306" cy="2381102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48" y="4762205"/>
            <a:ext cx="10853306" cy="1851968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829" y="23332720"/>
            <a:ext cx="2700266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23332720"/>
            <a:ext cx="3960390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1448" y="23332720"/>
            <a:ext cx="2700266" cy="116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373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146300" algn="l"/>
        </a:tabLst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233545" y="248285"/>
            <a:ext cx="3644900" cy="5384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抗癌药物阿霉素（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）诱导的心肌病和缺血再灌注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56285" y="1410970"/>
            <a:ext cx="1464945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铁死亡抑制剂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Fer-1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877820" y="1410970"/>
            <a:ext cx="1271905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自噬抑制剂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3-MA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906645" y="1410970"/>
            <a:ext cx="1746250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凋亡抑制剂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emeicasan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409815" y="1410970"/>
            <a:ext cx="1588770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坏死抑制剂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Nec-1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877820" y="2461260"/>
            <a:ext cx="2029460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检测心肌细胞生存情况</a:t>
            </a:r>
            <a:endParaRPr 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29960" y="2461260"/>
            <a:ext cx="1848485" cy="6076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Ptgs2 mRNA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表达情况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480310" y="3497580"/>
            <a:ext cx="6004560" cy="386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铁死亡是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诱导的心肌病细胞死亡的主要方式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16865" y="4492625"/>
            <a:ext cx="1508760" cy="8432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铁死亡抑制剂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Fer-1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221230" y="4603750"/>
            <a:ext cx="1612265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铁螯合剂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DXZ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16865" y="5778500"/>
            <a:ext cx="1421765" cy="650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检测细胞生存情况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221230" y="5730240"/>
            <a:ext cx="1612900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电镜观察铁死亡情况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110615" y="6860540"/>
            <a:ext cx="2072005" cy="8978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Fer-1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DXZ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可预防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诱导的心肌病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565015" y="4603750"/>
            <a:ext cx="1464945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Hmoxl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抑制剂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Znpp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510020" y="4603750"/>
            <a:ext cx="1643380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Hmoxl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激活剂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Hemin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233545" y="5778500"/>
            <a:ext cx="1369060" cy="594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测序分析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944870" y="5778500"/>
            <a:ext cx="1604010" cy="594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Nrf2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的表达情况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878445" y="5778500"/>
            <a:ext cx="1534160" cy="5949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检测细胞生存情况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205095" y="6871335"/>
            <a:ext cx="234378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Hmox1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对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诱导的心脏毒性至关重要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9605645" y="4603750"/>
            <a:ext cx="1009650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敲除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HMOX1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0975340" y="4603750"/>
            <a:ext cx="871220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敲除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Nrf2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605645" y="5641340"/>
            <a:ext cx="1287145" cy="7321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检测细胞生存情况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0975340" y="5641340"/>
            <a:ext cx="1167130" cy="8362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电镜观察铁死亡情况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9723755" y="6861175"/>
            <a:ext cx="2122805" cy="8413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Hmox1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对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诱导的心脏毒性至关重要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5066030" y="8378825"/>
            <a:ext cx="217868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DOX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处理小鼠心脏组织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559175" y="9706610"/>
            <a:ext cx="217868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透镜电镜观察</a:t>
            </a:r>
            <a:endParaRPr 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652895" y="9706610"/>
            <a:ext cx="217868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ATP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生成与线粒体膜电位情况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205095" y="10924540"/>
            <a:ext cx="217868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分离心肌线粒体</a:t>
            </a:r>
            <a:endParaRPr 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204460" y="11853545"/>
            <a:ext cx="2204720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观察铁蓄积和脂质过氧化</a:t>
            </a:r>
            <a:endParaRPr 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559810" y="12933045"/>
            <a:ext cx="2494280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线粒体特异性抗氧化剂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MitoTEMPO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7037070" y="12933045"/>
            <a:ext cx="2099310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抗氧化剂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TEMPO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149725" y="14385925"/>
            <a:ext cx="1769110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检测细胞生存情况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7037070" y="14385925"/>
            <a:ext cx="2098675" cy="7467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电镜观察铁死亡情况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5066030" y="15824200"/>
            <a:ext cx="2935605" cy="9677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线粒体及其膜脂质过氧化病变促发心脏铁死亡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47" name="直接连接符 46"/>
          <p:cNvCxnSpPr>
            <a:endCxn id="7" idx="0"/>
          </p:cNvCxnSpPr>
          <p:nvPr/>
        </p:nvCxnSpPr>
        <p:spPr>
          <a:xfrm>
            <a:off x="1466850" y="938530"/>
            <a:ext cx="22225" cy="4724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1466850" y="993775"/>
            <a:ext cx="6722745" cy="133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10" idx="0"/>
          </p:cNvCxnSpPr>
          <p:nvPr/>
        </p:nvCxnSpPr>
        <p:spPr>
          <a:xfrm>
            <a:off x="8189595" y="965835"/>
            <a:ext cx="14605" cy="4451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3547745" y="1103630"/>
            <a:ext cx="11430" cy="3486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6054090" y="1103630"/>
            <a:ext cx="22860" cy="350520"/>
          </a:xfrm>
          <a:prstGeom prst="straightConnector1">
            <a:avLst/>
          </a:prstGeom>
          <a:ln w="28575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3482340" y="1145540"/>
            <a:ext cx="259461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7" idx="2"/>
            <a:endCxn id="11" idx="0"/>
          </p:cNvCxnSpPr>
          <p:nvPr/>
        </p:nvCxnSpPr>
        <p:spPr>
          <a:xfrm rot="5400000" flipV="1">
            <a:off x="2469515" y="1037590"/>
            <a:ext cx="442595" cy="2403475"/>
          </a:xfrm>
          <a:prstGeom prst="bentConnector3">
            <a:avLst>
              <a:gd name="adj1" fmla="val 50072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10" idx="2"/>
            <a:endCxn id="12" idx="0"/>
          </p:cNvCxnSpPr>
          <p:nvPr/>
        </p:nvCxnSpPr>
        <p:spPr>
          <a:xfrm rot="5400000">
            <a:off x="7358380" y="1614805"/>
            <a:ext cx="442595" cy="1249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3799840" y="3216275"/>
            <a:ext cx="2898775" cy="133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3834130" y="3068955"/>
            <a:ext cx="38100" cy="2159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6643370" y="2967355"/>
            <a:ext cx="27305" cy="2622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5262880" y="3188335"/>
            <a:ext cx="13970" cy="3175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下箭头 60"/>
          <p:cNvSpPr/>
          <p:nvPr/>
        </p:nvSpPr>
        <p:spPr>
          <a:xfrm>
            <a:off x="6029960" y="4036695"/>
            <a:ext cx="504825" cy="45593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2" name="直接连接符 61"/>
          <p:cNvCxnSpPr/>
          <p:nvPr/>
        </p:nvCxnSpPr>
        <p:spPr>
          <a:xfrm flipV="1">
            <a:off x="756285" y="5507355"/>
            <a:ext cx="2366645" cy="165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786765" y="6630670"/>
            <a:ext cx="2395855" cy="88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5017135" y="5523865"/>
            <a:ext cx="2366645" cy="165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4906645" y="6584315"/>
            <a:ext cx="3830955" cy="29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0339070" y="5480050"/>
            <a:ext cx="1200785" cy="13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10339070" y="6625590"/>
            <a:ext cx="1270000" cy="5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2480310" y="8047355"/>
            <a:ext cx="8121015" cy="577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767080" y="5328285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786765" y="6428740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V="1">
            <a:off x="3100070" y="5231130"/>
            <a:ext cx="0" cy="2762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1967865" y="6639560"/>
            <a:ext cx="0" cy="2209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5066030" y="5328285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918075" y="6377305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8645525" y="6377305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7409815" y="5293995"/>
            <a:ext cx="0" cy="2762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6376670" y="6639560"/>
            <a:ext cx="0" cy="2209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>
            <a:off x="2480310" y="7702550"/>
            <a:ext cx="3175" cy="4025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10598150" y="7618095"/>
            <a:ext cx="3175" cy="4025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6065520" y="8105140"/>
            <a:ext cx="0" cy="2209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10339070" y="5363210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V="1">
            <a:off x="11558905" y="5335905"/>
            <a:ext cx="0" cy="2762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339070" y="6373495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1539855" y="6494780"/>
            <a:ext cx="0" cy="207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>
            <a:off x="10939780" y="6612255"/>
            <a:ext cx="0" cy="2209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 flipV="1">
            <a:off x="4319905" y="9412605"/>
            <a:ext cx="3879215" cy="41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4319905" y="9453880"/>
            <a:ext cx="0" cy="2209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8153400" y="9398635"/>
            <a:ext cx="17780" cy="3079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H="1">
            <a:off x="6047740" y="9210040"/>
            <a:ext cx="12700" cy="2025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V="1">
            <a:off x="4233545" y="10685145"/>
            <a:ext cx="3879215" cy="41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6148705" y="10726420"/>
            <a:ext cx="12700" cy="2025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H="1">
            <a:off x="6166485" y="11650980"/>
            <a:ext cx="12700" cy="2025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flipH="1">
            <a:off x="4264660" y="10454005"/>
            <a:ext cx="27940" cy="2489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8102600" y="10467975"/>
            <a:ext cx="13970" cy="2349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肘形连接符 103"/>
          <p:cNvCxnSpPr>
            <a:stCxn id="34" idx="2"/>
            <a:endCxn id="35" idx="0"/>
          </p:cNvCxnSpPr>
          <p:nvPr/>
        </p:nvCxnSpPr>
        <p:spPr>
          <a:xfrm rot="5400000">
            <a:off x="5390515" y="12016740"/>
            <a:ext cx="332740" cy="14998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肘形连接符 104"/>
          <p:cNvCxnSpPr/>
          <p:nvPr/>
        </p:nvCxnSpPr>
        <p:spPr>
          <a:xfrm rot="5400000">
            <a:off x="4719955" y="13680440"/>
            <a:ext cx="653415" cy="65151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/>
          <p:nvPr/>
        </p:nvCxnSpPr>
        <p:spPr>
          <a:xfrm rot="5400000" flipV="1">
            <a:off x="7840345" y="13629005"/>
            <a:ext cx="731520" cy="704850"/>
          </a:xfrm>
          <a:prstGeom prst="bentConnector3">
            <a:avLst>
              <a:gd name="adj1" fmla="val 50087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/>
          <p:nvPr/>
        </p:nvCxnSpPr>
        <p:spPr>
          <a:xfrm>
            <a:off x="6335395" y="12745720"/>
            <a:ext cx="2222500" cy="179705"/>
          </a:xfrm>
          <a:prstGeom prst="bentConnector3">
            <a:avLst>
              <a:gd name="adj1" fmla="val 5002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5024120" y="15617190"/>
            <a:ext cx="3534410" cy="44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 flipH="1">
            <a:off x="6497320" y="15621635"/>
            <a:ext cx="12700" cy="2025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44" idx="2"/>
          </p:cNvCxnSpPr>
          <p:nvPr/>
        </p:nvCxnSpPr>
        <p:spPr>
          <a:xfrm flipH="1">
            <a:off x="5024120" y="15132685"/>
            <a:ext cx="10160" cy="4845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H="1">
            <a:off x="8484870" y="15137130"/>
            <a:ext cx="10160" cy="48450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WPS 演示</Application>
  <PresentationFormat>宽屏</PresentationFormat>
  <Paragraphs>69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仿宋</vt:lpstr>
      <vt:lpstr>Segoe UI</vt:lpstr>
      <vt:lpstr>Office 主题​​</vt:lpstr>
      <vt:lpstr>空白演示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2021-03-13T05:54:05Z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