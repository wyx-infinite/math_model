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635" cy="107994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3519"/>
        <p:guide pos="39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86896" y="1143000"/>
            <a:ext cx="348420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948" y="4076033"/>
            <a:ext cx="10853306" cy="1416011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72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948" y="5616000"/>
            <a:ext cx="10853306" cy="1497613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32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680315"/>
            <a:ext cx="10853306" cy="102047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948" y="2040945"/>
            <a:ext cx="10853306" cy="7939141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96" y="5998000"/>
            <a:ext cx="10853306" cy="984008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48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91" y="7105000"/>
            <a:ext cx="10853306" cy="1697614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2135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680315"/>
            <a:ext cx="10853306" cy="102047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96" y="2040945"/>
            <a:ext cx="5283762" cy="7937007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9491" y="2040945"/>
            <a:ext cx="5283762" cy="7937007"/>
          </a:xfrm>
        </p:spPr>
        <p:txBody>
          <a:bodyPr>
            <a:noAutofit/>
          </a:bodyPr>
          <a:lstStyle>
            <a:lvl1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48" y="680315"/>
            <a:ext cx="10853306" cy="1020472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96" y="2040945"/>
            <a:ext cx="5283762" cy="600005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65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91" y="2817390"/>
            <a:ext cx="5283720" cy="7168872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2040945"/>
            <a:ext cx="5283762" cy="600005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66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2817390"/>
            <a:ext cx="5283762" cy="7168872"/>
          </a:xfrm>
        </p:spPr>
        <p:txBody>
          <a:bodyPr vert="horz" lIns="101600" tIns="0" rIns="82550" bIns="0" rtlCol="0">
            <a:no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73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96" y="2040945"/>
            <a:ext cx="5283762" cy="79370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524000" marR="0" lvl="2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133600" marR="0" lvl="3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743200" marR="0" lvl="4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9539" y="2040945"/>
            <a:ext cx="5283762" cy="7937007"/>
          </a:xfrm>
        </p:spPr>
        <p:txBody>
          <a:bodyPr vert="horz" lIns="101600" tIns="0" rIns="82550" bIns="0" rtlCol="0">
            <a:normAutofit/>
          </a:bodyPr>
          <a:lstStyle>
            <a:lvl1pPr marL="304800" marR="0" lvl="0" indent="-3048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135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2176" y="1500013"/>
            <a:ext cx="951078" cy="848646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91" y="1500000"/>
            <a:ext cx="9829069" cy="848646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96" y="1500013"/>
            <a:ext cx="10853306" cy="7937007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948" y="4076033"/>
            <a:ext cx="10853306" cy="1416011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948" y="680315"/>
            <a:ext cx="10853306" cy="1020472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948" y="2040945"/>
            <a:ext cx="10853306" cy="79370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829" y="9999736"/>
            <a:ext cx="2700266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9999736"/>
            <a:ext cx="3960390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1448" y="9999736"/>
            <a:ext cx="2700266" cy="498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3735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146300" algn="l"/>
        </a:tabLst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135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单圆角矩形 3"/>
          <p:cNvSpPr/>
          <p:nvPr/>
        </p:nvSpPr>
        <p:spPr>
          <a:xfrm>
            <a:off x="2291715" y="102870"/>
            <a:ext cx="2259330" cy="679450"/>
          </a:xfrm>
          <a:prstGeom prst="round1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单圆角矩形 4"/>
          <p:cNvSpPr/>
          <p:nvPr/>
        </p:nvSpPr>
        <p:spPr>
          <a:xfrm>
            <a:off x="5090160" y="102870"/>
            <a:ext cx="2259330" cy="679450"/>
          </a:xfrm>
          <a:prstGeom prst="round1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ALI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小鼠模型</a:t>
            </a:r>
            <a:endParaRPr lang="zh-CN" altLang="en-US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6" name="单圆角矩形 5"/>
          <p:cNvSpPr/>
          <p:nvPr/>
        </p:nvSpPr>
        <p:spPr>
          <a:xfrm>
            <a:off x="7815580" y="102870"/>
            <a:ext cx="2259330" cy="679450"/>
          </a:xfrm>
          <a:prstGeom prst="round1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ALI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细胞模型</a:t>
            </a:r>
            <a:endParaRPr lang="zh-CN" altLang="en-US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7" name="单圆角矩形 6"/>
          <p:cNvSpPr/>
          <p:nvPr/>
        </p:nvSpPr>
        <p:spPr>
          <a:xfrm>
            <a:off x="1307465" y="1078865"/>
            <a:ext cx="4227830" cy="1101725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单圆角矩形 7"/>
          <p:cNvSpPr/>
          <p:nvPr/>
        </p:nvSpPr>
        <p:spPr>
          <a:xfrm>
            <a:off x="6471285" y="1240790"/>
            <a:ext cx="4533265" cy="93980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干湿法（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W/D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）比值测定肺水肿，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HE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染色观察组织病理学变化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" name="单圆角矩形 8"/>
          <p:cNvSpPr/>
          <p:nvPr/>
        </p:nvSpPr>
        <p:spPr>
          <a:xfrm>
            <a:off x="2879090" y="2359025"/>
            <a:ext cx="6410325" cy="709930"/>
          </a:xfrm>
          <a:prstGeom prst="round1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去泛素化修饰稳定蛋白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激活蛋白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信号通路机制验证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0" name="单圆角矩形 9"/>
          <p:cNvSpPr/>
          <p:nvPr/>
        </p:nvSpPr>
        <p:spPr>
          <a:xfrm>
            <a:off x="1307465" y="3298825"/>
            <a:ext cx="2689860" cy="93980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in suit PLA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技术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的共定位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1" name="单圆角矩形 10"/>
          <p:cNvSpPr/>
          <p:nvPr/>
        </p:nvSpPr>
        <p:spPr>
          <a:xfrm>
            <a:off x="4721860" y="3298825"/>
            <a:ext cx="2689860" cy="93980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western blot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对蛋白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去泛素化修饰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2" name="单圆角矩形 11"/>
          <p:cNvSpPr/>
          <p:nvPr/>
        </p:nvSpPr>
        <p:spPr>
          <a:xfrm>
            <a:off x="8456930" y="3298825"/>
            <a:ext cx="2689860" cy="93980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CHX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处理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对蛋白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蛋白稳定影响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" name="单圆角矩形 1"/>
          <p:cNvSpPr/>
          <p:nvPr/>
        </p:nvSpPr>
        <p:spPr>
          <a:xfrm>
            <a:off x="2618740" y="4364990"/>
            <a:ext cx="7200265" cy="1222375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分组：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PBS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处理，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LPS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处理组，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LPS+sh-NC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LPS+sh-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LPS+sh-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LPS+oe-NC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LPS+oe-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LPS+oe-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LPS+sh--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A+oe-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LPS+oe-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+sh-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组。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3" name="单圆角矩形 2"/>
          <p:cNvSpPr/>
          <p:nvPr/>
        </p:nvSpPr>
        <p:spPr>
          <a:xfrm>
            <a:off x="2292350" y="5732780"/>
            <a:ext cx="3815080" cy="79502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qRT-PCR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及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western blot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表达及蛋白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磷酸化情况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3" name="单圆角矩形 12"/>
          <p:cNvSpPr/>
          <p:nvPr/>
        </p:nvSpPr>
        <p:spPr>
          <a:xfrm>
            <a:off x="6471285" y="5732780"/>
            <a:ext cx="3486150" cy="79502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TUNEL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染色检测细胞凋亡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" name="单圆角矩形 13"/>
          <p:cNvSpPr/>
          <p:nvPr/>
        </p:nvSpPr>
        <p:spPr>
          <a:xfrm>
            <a:off x="2716530" y="6844030"/>
            <a:ext cx="6598285" cy="673735"/>
          </a:xfrm>
          <a:prstGeom prst="round1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动物水平上验证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A/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B/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信号轴对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ALI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的影响</a:t>
            </a:r>
            <a:endParaRPr lang="zh-CN" altLang="en-US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5" name="单圆角矩形 14"/>
          <p:cNvSpPr/>
          <p:nvPr/>
        </p:nvSpPr>
        <p:spPr>
          <a:xfrm>
            <a:off x="2716530" y="7743825"/>
            <a:ext cx="6598920" cy="904240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分组：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control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组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,sh-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,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oe-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组、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CT-133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组（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NF-kB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抑制剂），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sh-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</a:t>
            </a:r>
            <a:r>
              <a:rPr lang="en-US" altLang="zh-CN" sz="2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+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oe-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oe-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组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+CT-133</a:t>
            </a:r>
            <a:endParaRPr lang="en-US" altLang="zh-CN" sz="2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6" name="单圆角矩形 15"/>
          <p:cNvSpPr/>
          <p:nvPr/>
        </p:nvSpPr>
        <p:spPr>
          <a:xfrm>
            <a:off x="1857375" y="8874760"/>
            <a:ext cx="2693670" cy="851535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干湿法（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W/B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ctr"/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比值测定肺水肿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7" name="单圆角矩形 16"/>
          <p:cNvSpPr/>
          <p:nvPr/>
        </p:nvSpPr>
        <p:spPr>
          <a:xfrm>
            <a:off x="5090160" y="8874760"/>
            <a:ext cx="2693670" cy="851535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HE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染色观察组织病理学变化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8" name="单圆角矩形 17"/>
          <p:cNvSpPr/>
          <p:nvPr/>
        </p:nvSpPr>
        <p:spPr>
          <a:xfrm>
            <a:off x="8456930" y="8874760"/>
            <a:ext cx="2693670" cy="851535"/>
          </a:xfrm>
          <a:prstGeom prst="round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ELISA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检测</a:t>
            </a:r>
            <a:r>
              <a:rPr lang="en-US" altLang="zh-CN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IL-1β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lang="en-US" altLang="zh-CN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TNF-a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lang="en-US" altLang="zh-CN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IL-6</a:t>
            </a:r>
            <a:r>
              <a:rPr lang="zh-CN" altLang="en-US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lang="en-US" altLang="zh-CN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IL-8</a:t>
            </a:r>
            <a:endParaRPr lang="zh-CN" altLang="en-US"/>
          </a:p>
        </p:txBody>
      </p:sp>
      <p:sp>
        <p:nvSpPr>
          <p:cNvPr id="19" name="单圆角矩形 18"/>
          <p:cNvSpPr/>
          <p:nvPr/>
        </p:nvSpPr>
        <p:spPr>
          <a:xfrm>
            <a:off x="2717165" y="10045700"/>
            <a:ext cx="6955155" cy="753745"/>
          </a:xfrm>
          <a:prstGeom prst="round1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去泛素化酶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去泛素化修饰稳定蛋白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B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激活蛋白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信号通路影响</a:t>
            </a:r>
            <a:r>
              <a:rPr lang="en-US" altLang="zh-CN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ALI</a:t>
            </a:r>
            <a:r>
              <a:rPr lang="zh-CN" altLang="en-US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进程</a:t>
            </a:r>
            <a:endParaRPr lang="zh-CN" altLang="en-US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389505" y="307340"/>
            <a:ext cx="1948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ALI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患者外周血</a:t>
            </a:r>
            <a:endParaRPr lang="zh-CN" altLang="en-US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07465" y="1079500"/>
            <a:ext cx="40684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qRT-PCR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检测去泛素化酶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B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、蛋白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表达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ELISA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检测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IL-1β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TNF-a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IL-6</a:t>
            </a:r>
            <a:r>
              <a:rPr lang="zh-CN" altLang="en-US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，</a:t>
            </a:r>
            <a:r>
              <a:rPr lang="en-US" altLang="zh-CN" sz="2000" b="1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IL-8</a:t>
            </a:r>
            <a:endParaRPr lang="en-US" altLang="zh-CN" sz="2000" b="1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23" name="直接连接符 22"/>
          <p:cNvCxnSpPr>
            <a:stCxn id="4" idx="2"/>
          </p:cNvCxnSpPr>
          <p:nvPr/>
        </p:nvCxnSpPr>
        <p:spPr>
          <a:xfrm flipH="1">
            <a:off x="3419475" y="782320"/>
            <a:ext cx="1905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088380" y="793750"/>
            <a:ext cx="14605" cy="250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6" idx="2"/>
          </p:cNvCxnSpPr>
          <p:nvPr/>
        </p:nvCxnSpPr>
        <p:spPr>
          <a:xfrm flipH="1">
            <a:off x="8933815" y="782320"/>
            <a:ext cx="1143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1812925" y="897255"/>
            <a:ext cx="0" cy="25019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0245725" y="1000125"/>
            <a:ext cx="0" cy="26543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812925" y="941070"/>
            <a:ext cx="8536305" cy="29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endCxn id="9" idx="0"/>
          </p:cNvCxnSpPr>
          <p:nvPr/>
        </p:nvCxnSpPr>
        <p:spPr>
          <a:xfrm>
            <a:off x="3316605" y="2238375"/>
            <a:ext cx="2767965" cy="120650"/>
          </a:xfrm>
          <a:prstGeom prst="bentConnector2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8" idx="2"/>
          </p:cNvCxnSpPr>
          <p:nvPr/>
        </p:nvCxnSpPr>
        <p:spPr>
          <a:xfrm rot="5400000">
            <a:off x="7376795" y="877570"/>
            <a:ext cx="58420" cy="266446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2432050" y="3152775"/>
            <a:ext cx="7194550" cy="146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2417445" y="3138170"/>
            <a:ext cx="14605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9582150" y="3152775"/>
            <a:ext cx="15240" cy="2362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8206740" y="5497195"/>
            <a:ext cx="14605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4192270" y="5586730"/>
            <a:ext cx="14605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6179185" y="6608445"/>
            <a:ext cx="14605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4446270" y="5840730"/>
            <a:ext cx="14605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832860" y="6661785"/>
            <a:ext cx="4614545" cy="44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8329295" y="6529070"/>
            <a:ext cx="0" cy="14732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6212840" y="7508240"/>
            <a:ext cx="14605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V="1">
            <a:off x="3316605" y="8742680"/>
            <a:ext cx="5676265" cy="368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3110230" y="9890760"/>
            <a:ext cx="61626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15" idx="2"/>
          </p:cNvCxnSpPr>
          <p:nvPr/>
        </p:nvCxnSpPr>
        <p:spPr>
          <a:xfrm>
            <a:off x="6015990" y="8648065"/>
            <a:ext cx="27940" cy="136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3390265" y="8769985"/>
            <a:ext cx="0" cy="2355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8992870" y="8784590"/>
            <a:ext cx="14605" cy="250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16" idx="2"/>
          </p:cNvCxnSpPr>
          <p:nvPr/>
        </p:nvCxnSpPr>
        <p:spPr>
          <a:xfrm flipH="1">
            <a:off x="3198495" y="9726295"/>
            <a:ext cx="5715" cy="16446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9228455" y="9742805"/>
            <a:ext cx="0" cy="16256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H="1">
            <a:off x="3817620" y="6514465"/>
            <a:ext cx="15240" cy="191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WPS 演示</Application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仿宋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Summer</cp:lastModifiedBy>
  <cp:revision>25</cp:revision>
  <dcterms:created xsi:type="dcterms:W3CDTF">2019-06-19T02:08:00Z</dcterms:created>
  <dcterms:modified xsi:type="dcterms:W3CDTF">2021-03-11T11:24:16Z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