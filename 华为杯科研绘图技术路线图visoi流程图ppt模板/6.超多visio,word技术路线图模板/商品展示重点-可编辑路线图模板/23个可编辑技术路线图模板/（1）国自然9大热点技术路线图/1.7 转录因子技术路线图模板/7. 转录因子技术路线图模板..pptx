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6199485" cy="4319968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13660"/>
        <p:guide pos="53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50356" y="1143000"/>
            <a:ext cx="115728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890230" y="16304846"/>
            <a:ext cx="14421922" cy="5664292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9565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890230" y="22464984"/>
            <a:ext cx="14421922" cy="5990713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255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810260" indent="0" algn="ctr">
              <a:buNone/>
              <a:defRPr sz="3545"/>
            </a:lvl2pPr>
            <a:lvl3pPr marL="1620520" indent="0" algn="ctr">
              <a:buNone/>
              <a:defRPr sz="3190"/>
            </a:lvl3pPr>
            <a:lvl4pPr marL="2429510" indent="0" algn="ctr">
              <a:buNone/>
              <a:defRPr sz="2835"/>
            </a:lvl4pPr>
            <a:lvl5pPr marL="3239770" indent="0" algn="ctr">
              <a:buNone/>
              <a:defRPr sz="2835"/>
            </a:lvl5pPr>
            <a:lvl6pPr marL="4050030" indent="0" algn="ctr">
              <a:buNone/>
              <a:defRPr sz="2835"/>
            </a:lvl6pPr>
            <a:lvl7pPr marL="4860925" indent="0" algn="ctr">
              <a:buNone/>
              <a:defRPr sz="2835"/>
            </a:lvl7pPr>
            <a:lvl8pPr marL="5669915" indent="0" algn="ctr">
              <a:buNone/>
              <a:defRPr sz="2835"/>
            </a:lvl8pPr>
            <a:lvl9pPr marL="6480175" indent="0" algn="ctr">
              <a:buNone/>
              <a:defRPr sz="283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90230" y="2721379"/>
            <a:ext cx="14421922" cy="4082068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96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90230" y="8164137"/>
            <a:ext cx="14421922" cy="31757957"/>
          </a:xfrm>
        </p:spPr>
        <p:txBody>
          <a:bodyPr vert="horz" lIns="101600" tIns="0" rIns="82550" bIns="0" rtlCol="0">
            <a:noAutofit/>
          </a:bodyPr>
          <a:lstStyle>
            <a:lvl1pPr marL="405130" marR="0" lvl="0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214755" marR="0" lvl="1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025015" marR="0" lvl="2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834640" marR="0" lvl="3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3644900" marR="0" lvl="4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90294" y="23993050"/>
            <a:ext cx="14421922" cy="3936204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638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90287" y="28421244"/>
            <a:ext cx="14421922" cy="6790754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2835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810260" indent="0">
              <a:buNone/>
              <a:defRPr sz="3545">
                <a:solidFill>
                  <a:schemeClr val="tx1">
                    <a:tint val="75000"/>
                  </a:schemeClr>
                </a:solidFill>
              </a:defRPr>
            </a:lvl2pPr>
            <a:lvl3pPr marL="1620520" indent="0">
              <a:buNone/>
              <a:defRPr sz="3190">
                <a:solidFill>
                  <a:schemeClr val="tx1">
                    <a:tint val="75000"/>
                  </a:schemeClr>
                </a:solidFill>
              </a:defRPr>
            </a:lvl3pPr>
            <a:lvl4pPr marL="242951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77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5003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6092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6991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8017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90230" y="2721379"/>
            <a:ext cx="14421922" cy="4082068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96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90294" y="8164137"/>
            <a:ext cx="7021087" cy="31749421"/>
          </a:xfrm>
        </p:spPr>
        <p:txBody>
          <a:bodyPr vert="horz" lIns="101600" tIns="0" rIns="82550" bIns="0" rtlCol="0">
            <a:noAutofit/>
          </a:bodyPr>
          <a:lstStyle>
            <a:lvl1pPr marL="405130" marR="0" lvl="0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214755" marR="0" lvl="1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025015" marR="0" lvl="2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834640" marR="0" lvl="3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3644900" marR="0" lvl="4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291065" y="8164137"/>
            <a:ext cx="7021087" cy="31749421"/>
          </a:xfrm>
        </p:spPr>
        <p:txBody>
          <a:bodyPr>
            <a:noAutofit/>
          </a:bodyPr>
          <a:lstStyle>
            <a:lvl1pPr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90230" y="2721379"/>
            <a:ext cx="14421922" cy="4082068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96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90294" y="8164137"/>
            <a:ext cx="7021087" cy="2400124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3545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810260" indent="0">
              <a:buNone/>
              <a:defRPr sz="3545" b="1"/>
            </a:lvl2pPr>
            <a:lvl3pPr marL="1620520" indent="0">
              <a:buNone/>
              <a:defRPr sz="3190" b="1"/>
            </a:lvl3pPr>
            <a:lvl4pPr marL="2429510" indent="0">
              <a:buNone/>
              <a:defRPr sz="2835" b="1"/>
            </a:lvl4pPr>
            <a:lvl5pPr marL="3239770" indent="0">
              <a:buNone/>
              <a:defRPr sz="2835" b="1"/>
            </a:lvl5pPr>
            <a:lvl6pPr marL="4050030" indent="0">
              <a:buNone/>
              <a:defRPr sz="2835" b="1"/>
            </a:lvl6pPr>
            <a:lvl7pPr marL="4860925" indent="0">
              <a:buNone/>
              <a:defRPr sz="2835" b="1"/>
            </a:lvl7pPr>
            <a:lvl8pPr marL="5669915" indent="0">
              <a:buNone/>
              <a:defRPr sz="2835" b="1"/>
            </a:lvl8pPr>
            <a:lvl9pPr marL="6480175" indent="0">
              <a:buNone/>
              <a:defRPr sz="28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90287" y="11270056"/>
            <a:ext cx="7021032" cy="28676745"/>
          </a:xfrm>
        </p:spPr>
        <p:txBody>
          <a:bodyPr vert="horz" lIns="101600" tIns="0" rIns="82550" bIns="0" rtlCol="0">
            <a:noAutofit/>
          </a:bodyPr>
          <a:lstStyle>
            <a:lvl1pPr marL="405130" marR="0" lvl="0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214755" marR="0" lvl="1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025015" marR="0" lvl="2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834640" marR="0" lvl="3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3644900" marR="0" lvl="4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8286909" y="8164137"/>
            <a:ext cx="7021087" cy="240012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0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354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810260" indent="0">
              <a:buNone/>
              <a:defRPr sz="3545" b="1"/>
            </a:lvl2pPr>
            <a:lvl3pPr marL="1620520" indent="0">
              <a:buNone/>
              <a:defRPr sz="3190" b="1"/>
            </a:lvl3pPr>
            <a:lvl4pPr marL="2429510" indent="0">
              <a:buNone/>
              <a:defRPr sz="2835" b="1"/>
            </a:lvl4pPr>
            <a:lvl5pPr marL="3239770" indent="0">
              <a:buNone/>
              <a:defRPr sz="2835" b="1"/>
            </a:lvl5pPr>
            <a:lvl6pPr marL="4050030" indent="0">
              <a:buNone/>
              <a:defRPr sz="2835" b="1"/>
            </a:lvl6pPr>
            <a:lvl7pPr marL="4860925" indent="0">
              <a:buNone/>
              <a:defRPr sz="2835" b="1"/>
            </a:lvl7pPr>
            <a:lvl8pPr marL="5669915" indent="0">
              <a:buNone/>
              <a:defRPr sz="2835" b="1"/>
            </a:lvl8pPr>
            <a:lvl9pPr marL="6480175" indent="0">
              <a:buNone/>
              <a:defRPr sz="283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8286909" y="11270056"/>
            <a:ext cx="7021087" cy="28676745"/>
          </a:xfrm>
        </p:spPr>
        <p:txBody>
          <a:bodyPr vert="horz" lIns="101600" tIns="0" rIns="82550" bIns="0" rtlCol="0">
            <a:noAutofit/>
          </a:bodyPr>
          <a:lstStyle>
            <a:lvl1pPr marL="405130" marR="0" lvl="0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214755" marR="0" lvl="1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025015" marR="0" lvl="2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834640" marR="0" lvl="3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3644900" marR="0" lvl="4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96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890294" y="8164137"/>
            <a:ext cx="7021087" cy="31749421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214755" marR="0" lvl="1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025015" marR="0" lvl="2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834640" marR="0" lvl="3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3644900" marR="0" lvl="4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291128" y="8164137"/>
            <a:ext cx="7021087" cy="31749421"/>
          </a:xfrm>
        </p:spPr>
        <p:txBody>
          <a:bodyPr vert="horz" lIns="101600" tIns="0" rIns="82550" bIns="0" rtlCol="0">
            <a:normAutofit/>
          </a:bodyPr>
          <a:lstStyle>
            <a:lvl1pPr marL="405130" marR="0" lvl="0" indent="-40513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4048356" y="6000313"/>
            <a:ext cx="1263796" cy="3394735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425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90287" y="6000263"/>
            <a:ext cx="13060911" cy="3394735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890294" y="6000313"/>
            <a:ext cx="14421922" cy="3174942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0230" y="16304846"/>
            <a:ext cx="14421922" cy="5664292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9565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90230" y="2721379"/>
            <a:ext cx="14421922" cy="4082068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90230" y="8164137"/>
            <a:ext cx="14421922" cy="31749421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169120" y="40000699"/>
            <a:ext cx="3588126" cy="1995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1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5469898" y="40000699"/>
            <a:ext cx="5262584" cy="1995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1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1442931" y="40000699"/>
            <a:ext cx="3588126" cy="1995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1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79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20520" rtl="0" eaLnBrk="1" fontAlgn="auto" latinLnBrk="0" hangingPunct="1">
        <a:lnSpc>
          <a:spcPct val="100000"/>
        </a:lnSpc>
        <a:spcBef>
          <a:spcPct val="0"/>
        </a:spcBef>
        <a:buNone/>
        <a:defRPr sz="4965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405130" indent="-405130" algn="l" defTabSz="162052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28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1214755" indent="-405130" algn="l" defTabSz="162052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2851785" algn="l"/>
        </a:tabLst>
        <a:defRPr sz="28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2025015" indent="-405130" algn="l" defTabSz="162052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28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2834640" indent="-405130" algn="l" defTabSz="162052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28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3644900" indent="-405130" algn="l" defTabSz="162052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28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4455795" indent="-405130" algn="l" defTabSz="1620520" rtl="0" eaLnBrk="1" latinLnBrk="0" hangingPunct="1">
        <a:lnSpc>
          <a:spcPct val="90000"/>
        </a:lnSpc>
        <a:spcBef>
          <a:spcPct val="178000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6pPr>
      <a:lvl7pPr marL="5265420" indent="-405130" algn="l" defTabSz="1620520" rtl="0" eaLnBrk="1" latinLnBrk="0" hangingPunct="1">
        <a:lnSpc>
          <a:spcPct val="90000"/>
        </a:lnSpc>
        <a:spcBef>
          <a:spcPct val="178000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7pPr>
      <a:lvl8pPr marL="6075680" indent="-405130" algn="l" defTabSz="1620520" rtl="0" eaLnBrk="1" latinLnBrk="0" hangingPunct="1">
        <a:lnSpc>
          <a:spcPct val="90000"/>
        </a:lnSpc>
        <a:spcBef>
          <a:spcPct val="178000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8pPr>
      <a:lvl9pPr marL="6885940" indent="-405130" algn="l" defTabSz="1620520" rtl="0" eaLnBrk="1" latinLnBrk="0" hangingPunct="1">
        <a:lnSpc>
          <a:spcPct val="90000"/>
        </a:lnSpc>
        <a:spcBef>
          <a:spcPct val="178000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1pPr>
      <a:lvl2pPr marL="81026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2pPr>
      <a:lvl3pPr marL="162052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3pPr>
      <a:lvl4pPr marL="242951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4pPr>
      <a:lvl5pPr marL="323977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5pPr>
      <a:lvl6pPr marL="405003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6pPr>
      <a:lvl7pPr marL="4860925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7pPr>
      <a:lvl8pPr marL="5669915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8pPr>
      <a:lvl9pPr marL="6480175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4140200" y="0"/>
            <a:ext cx="7698740" cy="8699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收集患者骨关节组织样本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6450" y="1924685"/>
            <a:ext cx="2953385" cy="9709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HE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染色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901690" y="1890395"/>
            <a:ext cx="3639185" cy="10052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</a:rPr>
              <a:t>qRT-PCR</a:t>
            </a:r>
            <a:endParaRPr lang="en-US" altLang="zh-CN" sz="36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423015" y="1890395"/>
            <a:ext cx="3453130" cy="9709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相关性分析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384550" y="3543300"/>
            <a:ext cx="10902315" cy="8426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TF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incRNAXXX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miR-xxx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及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GENE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在骨组织中的表达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98805" y="5293995"/>
            <a:ext cx="7451090" cy="9848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TF/INCRNAXXX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关系验证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618220" y="5048885"/>
            <a:ext cx="7151370" cy="12293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incRNAXXX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miR-xxx/GENE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机制验证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83845" y="6904990"/>
            <a:ext cx="7290435" cy="18891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345"/>
          </a:p>
        </p:txBody>
      </p:sp>
      <p:sp>
        <p:nvSpPr>
          <p:cNvPr id="14" name="圆角矩形 13"/>
          <p:cNvSpPr/>
          <p:nvPr/>
        </p:nvSpPr>
        <p:spPr>
          <a:xfrm>
            <a:off x="8330565" y="6941185"/>
            <a:ext cx="7684135" cy="15722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345"/>
          </a:p>
        </p:txBody>
      </p:sp>
      <p:sp>
        <p:nvSpPr>
          <p:cNvPr id="15" name="圆角矩形 14"/>
          <p:cNvSpPr/>
          <p:nvPr/>
        </p:nvSpPr>
        <p:spPr>
          <a:xfrm>
            <a:off x="60960" y="9561830"/>
            <a:ext cx="3490595" cy="14344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过表达或敲除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TF</a:t>
            </a:r>
            <a:endParaRPr lang="en-US" altLang="zh-CN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837305" y="9561830"/>
            <a:ext cx="4212590" cy="14344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干扰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TF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IncRNAXXX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的表达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10270" y="9562465"/>
            <a:ext cx="4206875" cy="14338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干扰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incRNAXXX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miR-xxx/GENE</a:t>
            </a:r>
            <a:endParaRPr lang="en-US" altLang="zh-CN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77365" y="21980525"/>
            <a:ext cx="13547090" cy="12903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动物水平上验证转录因子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TF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调控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INCRNAXXX/miR-XXX/GENE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信号轴对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RA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的影响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519045" y="12164695"/>
            <a:ext cx="11714480" cy="9759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incRNAXXX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miR-xxx/GENE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调控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信号通路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07085" y="13891895"/>
            <a:ext cx="14962505" cy="9550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干扰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IncRNAXXX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miR-xxx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GENE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及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Bmp2</a:t>
            </a:r>
            <a:endParaRPr lang="en-US" altLang="zh-CN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85800" y="16099790"/>
            <a:ext cx="3205480" cy="14528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CCK-8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细胞活力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197350" y="16099790"/>
            <a:ext cx="6339205" cy="14528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ALPquantification assays ALP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活性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0774680" y="15972790"/>
            <a:ext cx="5459730" cy="15798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ALizarin Red S staining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成骨细胞矿化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717165" y="20184110"/>
            <a:ext cx="11570335" cy="9734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Western blot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检测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OSX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OC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Col1a1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DLx2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表达水平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60705" y="18529300"/>
            <a:ext cx="15453995" cy="11690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sym typeface="+mn-ea"/>
              </a:rPr>
              <a:t>qRT-PCR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TF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incRNAXXX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miR-xxx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及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GENE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OSX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OC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Col1a1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DLx2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表达水平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2904470" y="9561195"/>
            <a:ext cx="3340735" cy="14351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过表达</a:t>
            </a:r>
            <a:r>
              <a:rPr lang="en-US" altLang="zh-CN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incRNAXXX</a:t>
            </a:r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突变体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83845" y="24903430"/>
            <a:ext cx="3856990" cy="1367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胶原诱导关节炎（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CIA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）小鼠模型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511675" y="24876760"/>
            <a:ext cx="3164205" cy="13658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Micro-CT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及组织学分析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8330565" y="24876760"/>
            <a:ext cx="3329305" cy="13931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345" b="1">
                <a:latin typeface="仿宋" panose="02010609060101010101" charset="-122"/>
                <a:ea typeface="仿宋" panose="02010609060101010101" charset="-122"/>
                <a:sym typeface="+mn-ea"/>
              </a:rPr>
              <a:t>qRT-PCR</a:t>
            </a:r>
            <a:endParaRPr lang="zh-CN" altLang="en-US" sz="3345"/>
          </a:p>
        </p:txBody>
      </p:sp>
      <p:sp>
        <p:nvSpPr>
          <p:cNvPr id="31" name="圆角矩形 30"/>
          <p:cNvSpPr/>
          <p:nvPr/>
        </p:nvSpPr>
        <p:spPr>
          <a:xfrm>
            <a:off x="12226290" y="24903430"/>
            <a:ext cx="3543300" cy="1367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AlizarinRed S staining</a:t>
            </a:r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成骨细胞矿化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60705" y="7283450"/>
            <a:ext cx="2160905" cy="1228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双荧光素酶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896870" y="7283450"/>
            <a:ext cx="2063750" cy="12293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345" b="1">
                <a:latin typeface="仿宋" panose="02010609060101010101" charset="-122"/>
                <a:ea typeface="仿宋" panose="02010609060101010101" charset="-122"/>
                <a:sym typeface="+mn-ea"/>
              </a:rPr>
              <a:t>qRT-PCR</a:t>
            </a:r>
            <a:endParaRPr lang="zh-CN" altLang="en-US" sz="3345"/>
          </a:p>
        </p:txBody>
      </p:sp>
      <p:sp>
        <p:nvSpPr>
          <p:cNvPr id="36" name="圆角矩形 35"/>
          <p:cNvSpPr/>
          <p:nvPr/>
        </p:nvSpPr>
        <p:spPr>
          <a:xfrm>
            <a:off x="5195570" y="7283450"/>
            <a:ext cx="1796415" cy="12299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</a:rPr>
              <a:t>CHIP</a:t>
            </a:r>
            <a:endParaRPr lang="en-US" altLang="zh-CN" sz="36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9046845" y="7281545"/>
            <a:ext cx="2613025" cy="12299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sym typeface="+mn-ea"/>
              </a:rPr>
              <a:t>qRT-PCR</a:t>
            </a:r>
            <a:endParaRPr lang="en-US" altLang="zh-CN" sz="36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12716510" y="7285355"/>
            <a:ext cx="2607945" cy="1228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双荧光素酶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1777365" y="27169745"/>
            <a:ext cx="13547090" cy="12903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oe-NC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组、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oe-TF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组、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sh-</a:t>
            </a:r>
            <a:r>
              <a:rPr 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NC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sh-TF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oe-Bmp2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sh-</a:t>
            </a:r>
            <a:r>
              <a:rPr 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Bmp2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oe-TF+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sh-</a:t>
            </a:r>
            <a:r>
              <a:rPr 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Bmp2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sh-TF+</a:t>
            </a:r>
            <a:r>
              <a:rPr 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oe-Bmp2</a:t>
            </a:r>
            <a:r>
              <a:rPr lang="zh-CN" altLang="en-US" sz="36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</a:t>
            </a:r>
            <a:endParaRPr lang="zh-CN" altLang="en-US" sz="36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cxnSp>
        <p:nvCxnSpPr>
          <p:cNvPr id="48" name="直接连接符 47"/>
          <p:cNvCxnSpPr/>
          <p:nvPr/>
        </p:nvCxnSpPr>
        <p:spPr>
          <a:xfrm flipH="1">
            <a:off x="7970520" y="869950"/>
            <a:ext cx="19050" cy="6197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73605" y="1408430"/>
            <a:ext cx="109943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2146300" y="1326515"/>
            <a:ext cx="0" cy="6261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H="1">
            <a:off x="7943215" y="1408430"/>
            <a:ext cx="27305" cy="57150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13167995" y="1408430"/>
            <a:ext cx="0" cy="6261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2173605" y="2932430"/>
            <a:ext cx="0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9" idx="2"/>
          </p:cNvCxnSpPr>
          <p:nvPr/>
        </p:nvCxnSpPr>
        <p:spPr>
          <a:xfrm flipH="1">
            <a:off x="13140690" y="2861310"/>
            <a:ext cx="8890" cy="5067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2173605" y="3258820"/>
            <a:ext cx="10967085" cy="273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8" idx="2"/>
          </p:cNvCxnSpPr>
          <p:nvPr/>
        </p:nvCxnSpPr>
        <p:spPr>
          <a:xfrm>
            <a:off x="7721600" y="2895600"/>
            <a:ext cx="3810" cy="716915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2519045" y="4703445"/>
            <a:ext cx="10967085" cy="273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7725410" y="4110990"/>
            <a:ext cx="19050" cy="6197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2519045" y="4703445"/>
            <a:ext cx="0" cy="6261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3486130" y="4730750"/>
            <a:ext cx="0" cy="6261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2519045" y="6278880"/>
            <a:ext cx="0" cy="6261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13486130" y="6278880"/>
            <a:ext cx="0" cy="6261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1777365" y="9100185"/>
            <a:ext cx="0" cy="6261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5694045" y="9100185"/>
            <a:ext cx="0" cy="6261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749425" y="9100185"/>
            <a:ext cx="3935095" cy="9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3891280" y="8511540"/>
            <a:ext cx="0" cy="6261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10536555" y="8513445"/>
            <a:ext cx="24130" cy="122237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H="1">
            <a:off x="14561185" y="8493760"/>
            <a:ext cx="1270" cy="110617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V="1">
            <a:off x="1777365" y="11314430"/>
            <a:ext cx="12865735" cy="47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1743075" y="10996295"/>
            <a:ext cx="6350" cy="50863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4662150" y="11028680"/>
            <a:ext cx="7620" cy="4762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H="1">
            <a:off x="8372475" y="11314430"/>
            <a:ext cx="7620" cy="85026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8356600" y="13110210"/>
            <a:ext cx="8255" cy="7816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H="1">
            <a:off x="8345805" y="14846935"/>
            <a:ext cx="19050" cy="6197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1922145" y="15466695"/>
            <a:ext cx="12865735" cy="47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2138045" y="15466695"/>
            <a:ext cx="13335" cy="58293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 flipH="1">
            <a:off x="14751685" y="15466695"/>
            <a:ext cx="27940" cy="55562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 flipV="1">
            <a:off x="2117725" y="17907000"/>
            <a:ext cx="12865735" cy="47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2157095" y="17552670"/>
            <a:ext cx="21590" cy="4565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14798675" y="17621250"/>
            <a:ext cx="7620" cy="3606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>
            <a:off x="8493760" y="17954625"/>
            <a:ext cx="26035" cy="6800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 flipH="1">
            <a:off x="8437880" y="19698335"/>
            <a:ext cx="29845" cy="45847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endCxn id="18" idx="0"/>
          </p:cNvCxnSpPr>
          <p:nvPr/>
        </p:nvCxnSpPr>
        <p:spPr>
          <a:xfrm flipH="1">
            <a:off x="8550910" y="21226780"/>
            <a:ext cx="15240" cy="75374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V="1">
            <a:off x="1666875" y="24157305"/>
            <a:ext cx="12865735" cy="47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8395335" y="23451185"/>
            <a:ext cx="15240" cy="67881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>
            <a:off x="1798955" y="24224615"/>
            <a:ext cx="15240" cy="67881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>
            <a:off x="14517370" y="24224615"/>
            <a:ext cx="15240" cy="67881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V="1">
            <a:off x="1777365" y="26679525"/>
            <a:ext cx="12865735" cy="47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1795145" y="26270585"/>
            <a:ext cx="21590" cy="4565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14564360" y="26269950"/>
            <a:ext cx="21590" cy="4565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8315325" y="26679525"/>
            <a:ext cx="13970" cy="52578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WPS 演示</Application>
  <PresentationFormat>宽屏</PresentationFormat>
  <Paragraphs>58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仿宋</vt:lpstr>
      <vt:lpstr>Segoe UI</vt:lpstr>
      <vt:lpstr>Office 主题​​</vt:lpstr>
      <vt:lpstr>空白演示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25</cp:revision>
  <dcterms:created xsi:type="dcterms:W3CDTF">2019-06-19T02:08:00Z</dcterms:created>
  <dcterms:modified xsi:type="dcterms:W3CDTF">2021-03-12T05:48:50Z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