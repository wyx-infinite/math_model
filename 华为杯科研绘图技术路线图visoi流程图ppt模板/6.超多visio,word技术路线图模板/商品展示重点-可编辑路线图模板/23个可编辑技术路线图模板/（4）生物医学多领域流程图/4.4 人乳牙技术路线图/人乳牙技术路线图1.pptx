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4399895" cy="2339975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68" y="96"/>
      </p:cViewPr>
      <p:guideLst>
        <p:guide orient="horz" pos="7367"/>
        <p:guide pos="453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89932" y="1279525"/>
            <a:ext cx="212578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00107" y="4514295"/>
            <a:ext cx="10800645" cy="7462624"/>
          </a:xfrm>
        </p:spPr>
        <p:txBody>
          <a:bodyPr anchor="b">
            <a:normAutofit/>
          </a:bodyPr>
          <a:lstStyle>
            <a:lvl1pPr algn="ctr">
              <a:defRPr sz="945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00107" y="12291103"/>
            <a:ext cx="10800645" cy="5649896"/>
          </a:xfrm>
        </p:spPr>
        <p:txBody>
          <a:bodyPr>
            <a:normAutofit/>
          </a:bodyPr>
          <a:lstStyle>
            <a:lvl1pPr marL="0" indent="0" algn="ctr">
              <a:buNone/>
              <a:defRPr sz="2835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720725" indent="0" algn="ctr">
              <a:buNone/>
              <a:defRPr sz="3155"/>
            </a:lvl2pPr>
            <a:lvl3pPr marL="1440180" indent="0" algn="ctr">
              <a:buNone/>
              <a:defRPr sz="2835"/>
            </a:lvl3pPr>
            <a:lvl4pPr marL="2160905" indent="0" algn="ctr">
              <a:buNone/>
              <a:defRPr sz="2520"/>
            </a:lvl4pPr>
            <a:lvl5pPr marL="2879725" indent="0" algn="ctr">
              <a:buNone/>
              <a:defRPr sz="2520"/>
            </a:lvl5pPr>
            <a:lvl6pPr marL="3600450" indent="0" algn="ctr">
              <a:buNone/>
              <a:defRPr sz="2520"/>
            </a:lvl6pPr>
            <a:lvl7pPr marL="4320540" indent="0" algn="ctr">
              <a:buNone/>
              <a:defRPr sz="2520"/>
            </a:lvl7pPr>
            <a:lvl8pPr marL="5040630" indent="0" algn="ctr">
              <a:buNone/>
              <a:defRPr sz="2520"/>
            </a:lvl8pPr>
            <a:lvl9pPr marL="5760720" indent="0" algn="ctr">
              <a:buNone/>
              <a:defRPr sz="252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5046" y="881882"/>
            <a:ext cx="12420742" cy="4523170"/>
          </a:xfrm>
        </p:spPr>
        <p:txBody>
          <a:bodyPr anchor="ctr" anchorCtr="0">
            <a:normAutofit/>
          </a:bodyPr>
          <a:lstStyle>
            <a:lvl1pPr>
              <a:defRPr sz="378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5046" y="6229514"/>
            <a:ext cx="12420742" cy="14847911"/>
          </a:xfrm>
        </p:spPr>
        <p:txBody>
          <a:bodyPr>
            <a:normAutofit/>
          </a:bodyPr>
          <a:lstStyle>
            <a:lvl1pPr>
              <a:defRPr sz="315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2559" y="12799799"/>
            <a:ext cx="8648016" cy="2768564"/>
          </a:xfrm>
        </p:spPr>
        <p:txBody>
          <a:bodyPr anchor="b">
            <a:normAutofit/>
          </a:bodyPr>
          <a:lstStyle>
            <a:lvl1pPr>
              <a:defRPr sz="63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82559" y="15730630"/>
            <a:ext cx="8648016" cy="2209628"/>
          </a:xfrm>
        </p:spPr>
        <p:txBody>
          <a:bodyPr>
            <a:normAutofit/>
          </a:bodyPr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720725" indent="0">
              <a:buNone/>
              <a:defRPr sz="3155">
                <a:solidFill>
                  <a:schemeClr val="tx1">
                    <a:tint val="75000"/>
                  </a:schemeClr>
                </a:solidFill>
              </a:defRPr>
            </a:lvl2pPr>
            <a:lvl3pPr marL="144018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6090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72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60045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2054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4063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6072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5046" y="881882"/>
            <a:ext cx="12420742" cy="4523170"/>
          </a:xfrm>
        </p:spPr>
        <p:txBody>
          <a:bodyPr>
            <a:normAutofit/>
          </a:bodyPr>
          <a:lstStyle>
            <a:lvl1pPr>
              <a:defRPr sz="378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5046" y="6229514"/>
            <a:ext cx="6120365" cy="14847911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15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28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065422" y="6229514"/>
            <a:ext cx="6120365" cy="14847911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15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28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1934" y="1245903"/>
            <a:ext cx="12420742" cy="452317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91934" y="5954266"/>
            <a:ext cx="6092238" cy="281140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20725" indent="0">
              <a:buNone/>
              <a:defRPr sz="3155" b="1"/>
            </a:lvl2pPr>
            <a:lvl3pPr marL="1440180" indent="0">
              <a:buNone/>
              <a:defRPr sz="2835" b="1"/>
            </a:lvl3pPr>
            <a:lvl4pPr marL="2160905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0540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91934" y="8925147"/>
            <a:ext cx="6092238" cy="1219561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290435" y="5954266"/>
            <a:ext cx="6122241" cy="281140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20725" indent="0">
              <a:buNone/>
              <a:defRPr sz="3155" b="1"/>
            </a:lvl2pPr>
            <a:lvl3pPr marL="1440180" indent="0">
              <a:buNone/>
              <a:defRPr sz="2835" b="1"/>
            </a:lvl3pPr>
            <a:lvl4pPr marL="2160905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0540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290435" y="8925147"/>
            <a:ext cx="6122241" cy="1219561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059" y="9439068"/>
            <a:ext cx="12420742" cy="4523170"/>
          </a:xfrm>
        </p:spPr>
        <p:txBody>
          <a:bodyPr>
            <a:normAutofit/>
          </a:bodyPr>
          <a:lstStyle>
            <a:lvl1pPr algn="ctr">
              <a:defRPr sz="756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3920" y="433358"/>
            <a:ext cx="4919821" cy="5460304"/>
          </a:xfrm>
        </p:spPr>
        <p:txBody>
          <a:bodyPr anchor="ctr" anchorCtr="0">
            <a:normAutofit/>
          </a:bodyPr>
          <a:lstStyle>
            <a:lvl1pPr>
              <a:defRPr sz="378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6123200" y="2615001"/>
            <a:ext cx="6871325" cy="17383592"/>
          </a:xfrm>
        </p:spPr>
        <p:txBody>
          <a:bodyPr/>
          <a:lstStyle>
            <a:lvl1pPr marL="0" indent="0">
              <a:buNone/>
              <a:defRPr sz="5040"/>
            </a:lvl1pPr>
            <a:lvl2pPr marL="720725" indent="0">
              <a:buNone/>
              <a:defRPr sz="4415"/>
            </a:lvl2pPr>
            <a:lvl3pPr marL="1440180" indent="0">
              <a:buNone/>
              <a:defRPr sz="3780"/>
            </a:lvl3pPr>
            <a:lvl4pPr marL="2160905" indent="0">
              <a:buNone/>
              <a:defRPr sz="3155"/>
            </a:lvl4pPr>
            <a:lvl5pPr marL="2879725" indent="0">
              <a:buNone/>
              <a:defRPr sz="3155"/>
            </a:lvl5pPr>
            <a:lvl6pPr marL="3600450" indent="0">
              <a:buNone/>
              <a:defRPr sz="3155"/>
            </a:lvl6pPr>
            <a:lvl7pPr marL="4320540" indent="0">
              <a:buNone/>
              <a:defRPr sz="3155"/>
            </a:lvl7pPr>
            <a:lvl8pPr marL="5040630" indent="0">
              <a:buNone/>
              <a:defRPr sz="3155"/>
            </a:lvl8pPr>
            <a:lvl9pPr marL="5760720" indent="0">
              <a:buNone/>
              <a:defRPr sz="3155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69920" y="7020391"/>
            <a:ext cx="4919821" cy="1300614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520"/>
            </a:lvl1pPr>
            <a:lvl2pPr marL="720725" indent="0">
              <a:buNone/>
              <a:defRPr sz="2205"/>
            </a:lvl2pPr>
            <a:lvl3pPr marL="1440180" indent="0">
              <a:buNone/>
              <a:defRPr sz="1895"/>
            </a:lvl3pPr>
            <a:lvl4pPr marL="2160905" indent="0">
              <a:buNone/>
              <a:defRPr sz="1575"/>
            </a:lvl4pPr>
            <a:lvl5pPr marL="2879725" indent="0">
              <a:buNone/>
              <a:defRPr sz="1575"/>
            </a:lvl5pPr>
            <a:lvl6pPr marL="3600450" indent="0">
              <a:buNone/>
              <a:defRPr sz="1575"/>
            </a:lvl6pPr>
            <a:lvl7pPr marL="4320540" indent="0">
              <a:buNone/>
              <a:defRPr sz="1575"/>
            </a:lvl7pPr>
            <a:lvl8pPr marL="5040630" indent="0">
              <a:buNone/>
              <a:defRPr sz="1575"/>
            </a:lvl8pPr>
            <a:lvl9pPr marL="5760720" indent="0">
              <a:buNone/>
              <a:defRPr sz="157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877553" y="1482083"/>
            <a:ext cx="0" cy="47474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604414" y="1245903"/>
            <a:ext cx="1806386" cy="19831522"/>
          </a:xfrm>
        </p:spPr>
        <p:txBody>
          <a:bodyPr vert="eaVert">
            <a:normAutofit/>
          </a:bodyPr>
          <a:lstStyle>
            <a:lvl1pPr>
              <a:defRPr sz="567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90059" y="1245903"/>
            <a:ext cx="10488765" cy="19831522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990059" y="1882010"/>
            <a:ext cx="12420742" cy="1896867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.xml"/><Relationship Id="rId12" Type="http://schemas.openxmlformats.org/officeDocument/2006/relationships/tags" Target="../tags/tag2.xml"/><Relationship Id="rId11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tx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990059" y="1245903"/>
            <a:ext cx="12420742" cy="4523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990059" y="6229514"/>
            <a:ext cx="12420742" cy="14847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90059" y="21689540"/>
            <a:ext cx="3240193" cy="1245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770284" y="21689540"/>
            <a:ext cx="4860289" cy="1245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170607" y="21689540"/>
            <a:ext cx="3240193" cy="1245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2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1440180" rtl="0" eaLnBrk="1" latinLnBrk="0" hangingPunct="1">
        <a:lnSpc>
          <a:spcPct val="90000"/>
        </a:lnSpc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1440180" rtl="0" eaLnBrk="1" latinLnBrk="0" hangingPunct="1">
        <a:lnSpc>
          <a:spcPct val="90000"/>
        </a:lnSpc>
        <a:spcBef>
          <a:spcPct val="31500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108013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3155" kern="1200">
          <a:solidFill>
            <a:schemeClr val="tx1"/>
          </a:solidFill>
          <a:latin typeface="+mn-lt"/>
          <a:ea typeface="+mn-ea"/>
          <a:cs typeface="+mn-cs"/>
        </a:defRPr>
      </a:lvl2pPr>
      <a:lvl3pPr marL="180022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52095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4040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86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8058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40004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2076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2072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6090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72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60045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2054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4063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6072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422372" y="744766"/>
            <a:ext cx="3618866" cy="1967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9957385" y="721904"/>
            <a:ext cx="3618866" cy="1967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8" name="矩形 7"/>
          <p:cNvSpPr/>
          <p:nvPr/>
        </p:nvSpPr>
        <p:spPr>
          <a:xfrm>
            <a:off x="5391043" y="3812419"/>
            <a:ext cx="3618866" cy="1967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 sz="3735" b="1">
                <a:latin typeface="仿宋" panose="02010609060101010101" charset="-122"/>
                <a:ea typeface="仿宋" panose="02010609060101010101" charset="-122"/>
                <a:sym typeface="+mn-ea"/>
              </a:rPr>
              <a:t>细胞表面分子标志检测</a:t>
            </a:r>
            <a:endParaRPr lang="zh-CN" altLang="en-US" sz="3735" b="1"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390197" y="6947817"/>
            <a:ext cx="3618866" cy="1967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 sz="3735" b="1">
                <a:latin typeface="仿宋" panose="02010609060101010101" charset="-122"/>
                <a:ea typeface="仿宋" panose="02010609060101010101" charset="-122"/>
                <a:sym typeface="+mn-ea"/>
              </a:rPr>
              <a:t>体外诱导乳牙干细胞向神经元细胞的分化</a:t>
            </a:r>
            <a:endParaRPr lang="zh-CN" altLang="en-US" sz="3735" b="1"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44148" y="10343143"/>
            <a:ext cx="4534166" cy="1967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735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免疫组织化学鉴定</a:t>
            </a:r>
            <a:r>
              <a:rPr lang="en-US" altLang="zh-CN" sz="3735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NSE</a:t>
            </a:r>
            <a:r>
              <a:rPr lang="zh-CN" altLang="en-US" sz="3735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</a:t>
            </a:r>
            <a:r>
              <a:rPr lang="en-US" altLang="zh-CN" sz="3735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neetin</a:t>
            </a:r>
            <a:r>
              <a:rPr lang="zh-CN" altLang="en-US" sz="3735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</a:t>
            </a:r>
            <a:r>
              <a:rPr lang="en-US" altLang="zh-CN" sz="3735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GFAP</a:t>
            </a:r>
            <a:r>
              <a:rPr lang="zh-CN" altLang="en-US" sz="3735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</a:t>
            </a:r>
            <a:r>
              <a:rPr lang="en-US" altLang="zh-CN" sz="3735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MAP-2</a:t>
            </a:r>
            <a:r>
              <a:rPr lang="zh-CN" altLang="en-US" sz="3735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和</a:t>
            </a:r>
            <a:r>
              <a:rPr lang="en-US" altLang="zh-CN" sz="3735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NF-M</a:t>
            </a:r>
            <a:r>
              <a:rPr lang="zh-CN" altLang="en-US" sz="3735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的表达</a:t>
            </a:r>
            <a:endParaRPr lang="zh-CN" altLang="en-US" sz="3735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459544" y="10343143"/>
            <a:ext cx="4534166" cy="1967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735" b="1">
                <a:latin typeface="仿宋" panose="02010609060101010101" charset="-122"/>
                <a:ea typeface="仿宋" panose="02010609060101010101" charset="-122"/>
              </a:rPr>
              <a:t>生物信息学网站和观荧光素酶报告基因实验</a:t>
            </a:r>
            <a:endParaRPr lang="zh-CN" altLang="en-US" sz="3735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91150" y="13326745"/>
            <a:ext cx="3618865" cy="18656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735" b="1">
                <a:latin typeface="仿宋" panose="02010609060101010101" charset="-122"/>
                <a:ea typeface="仿宋" panose="02010609060101010101" charset="-122"/>
              </a:rPr>
              <a:t>细胞培养和转染</a:t>
            </a:r>
            <a:endParaRPr lang="zh-CN" altLang="en-US" sz="3735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16863706"/>
            <a:ext cx="1844148" cy="1331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/>
              <a:t>BLANK</a:t>
            </a:r>
            <a:r>
              <a:rPr lang="zh-CN" altLang="en-US" sz="2400"/>
              <a:t>组</a:t>
            </a:r>
            <a:endParaRPr lang="zh-CN" altLang="en-US" sz="2400"/>
          </a:p>
        </p:txBody>
      </p:sp>
      <p:sp>
        <p:nvSpPr>
          <p:cNvPr id="14" name="矩形 13"/>
          <p:cNvSpPr/>
          <p:nvPr/>
        </p:nvSpPr>
        <p:spPr>
          <a:xfrm>
            <a:off x="2405521" y="16863706"/>
            <a:ext cx="1872937" cy="1331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/>
              <a:t>NC</a:t>
            </a:r>
            <a:r>
              <a:rPr lang="zh-CN" altLang="en-US" sz="2400"/>
              <a:t>组</a:t>
            </a:r>
            <a:endParaRPr lang="zh-CN" altLang="en-US" sz="2400"/>
          </a:p>
        </p:txBody>
      </p:sp>
      <p:sp>
        <p:nvSpPr>
          <p:cNvPr id="15" name="矩形 14"/>
          <p:cNvSpPr/>
          <p:nvPr/>
        </p:nvSpPr>
        <p:spPr>
          <a:xfrm>
            <a:off x="5084532" y="16863706"/>
            <a:ext cx="1905112" cy="1331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/>
              <a:t>MIR-221</a:t>
            </a:r>
            <a:endParaRPr lang="en-US" altLang="zh-CN" sz="2400"/>
          </a:p>
          <a:p>
            <a:pPr algn="ctr"/>
            <a:r>
              <a:rPr lang="en-US" altLang="zh-CN" sz="2400"/>
              <a:t>mimics</a:t>
            </a:r>
            <a:r>
              <a:rPr lang="zh-CN" altLang="en-US" sz="2400"/>
              <a:t>组</a:t>
            </a:r>
            <a:endParaRPr lang="zh-CN" altLang="en-US" sz="2400"/>
          </a:p>
        </p:txBody>
      </p:sp>
      <p:sp>
        <p:nvSpPr>
          <p:cNvPr id="16" name="矩形 15"/>
          <p:cNvSpPr/>
          <p:nvPr/>
        </p:nvSpPr>
        <p:spPr>
          <a:xfrm>
            <a:off x="7795718" y="16863706"/>
            <a:ext cx="1712907" cy="1331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/>
              <a:t>MIR-221LINHIBITOR</a:t>
            </a:r>
            <a:r>
              <a:rPr lang="zh-CN" altLang="en-US" sz="2400"/>
              <a:t>组</a:t>
            </a:r>
            <a:endParaRPr lang="zh-CN" altLang="en-US" sz="2400"/>
          </a:p>
        </p:txBody>
      </p:sp>
      <p:sp>
        <p:nvSpPr>
          <p:cNvPr id="17" name="矩形 16"/>
          <p:cNvSpPr/>
          <p:nvPr/>
        </p:nvSpPr>
        <p:spPr>
          <a:xfrm>
            <a:off x="9957385" y="16863706"/>
            <a:ext cx="1813667" cy="1331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/>
              <a:t>SIRNACHD8</a:t>
            </a:r>
            <a:r>
              <a:rPr lang="zh-CN" altLang="en-US" sz="2400"/>
              <a:t>组</a:t>
            </a:r>
            <a:endParaRPr lang="zh-CN" altLang="en-US" sz="2400"/>
          </a:p>
        </p:txBody>
      </p:sp>
      <p:sp>
        <p:nvSpPr>
          <p:cNvPr id="18" name="矩形 17"/>
          <p:cNvSpPr/>
          <p:nvPr/>
        </p:nvSpPr>
        <p:spPr>
          <a:xfrm>
            <a:off x="12586439" y="16863706"/>
            <a:ext cx="1813667" cy="1331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/>
              <a:t>MIR-221 INHIBITORS+siRNA-CHD8</a:t>
            </a:r>
            <a:r>
              <a:rPr lang="zh-CN" altLang="en-US" sz="2400"/>
              <a:t>组</a:t>
            </a:r>
            <a:endParaRPr lang="zh-CN" altLang="en-US" sz="2400"/>
          </a:p>
        </p:txBody>
      </p:sp>
      <p:sp>
        <p:nvSpPr>
          <p:cNvPr id="19" name="矩形 18"/>
          <p:cNvSpPr/>
          <p:nvPr/>
        </p:nvSpPr>
        <p:spPr>
          <a:xfrm>
            <a:off x="1421637" y="20729379"/>
            <a:ext cx="2063448" cy="14267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/>
              <a:t>qRT-pcr</a:t>
            </a:r>
            <a:r>
              <a:rPr lang="zh-CN" altLang="en-US" sz="2400"/>
              <a:t>检测相关</a:t>
            </a:r>
            <a:r>
              <a:rPr lang="en-US" altLang="zh-CN" sz="2400"/>
              <a:t>MRNA</a:t>
            </a:r>
            <a:r>
              <a:rPr lang="zh-CN" altLang="en-US" sz="2400"/>
              <a:t>表达</a:t>
            </a:r>
            <a:endParaRPr lang="zh-CN" altLang="en-US" sz="2400"/>
          </a:p>
        </p:txBody>
      </p:sp>
      <p:sp>
        <p:nvSpPr>
          <p:cNvPr id="20" name="矩形 19"/>
          <p:cNvSpPr/>
          <p:nvPr/>
        </p:nvSpPr>
        <p:spPr>
          <a:xfrm>
            <a:off x="4314867" y="20729379"/>
            <a:ext cx="2063448" cy="14267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/>
              <a:t>western blot</a:t>
            </a:r>
            <a:r>
              <a:rPr lang="zh-CN" altLang="en-US" sz="2400"/>
              <a:t>检测相关蛋白</a:t>
            </a:r>
            <a:endParaRPr lang="zh-CN" altLang="en-US" sz="2400"/>
          </a:p>
        </p:txBody>
      </p:sp>
      <p:sp>
        <p:nvSpPr>
          <p:cNvPr id="21" name="矩形 20"/>
          <p:cNvSpPr/>
          <p:nvPr/>
        </p:nvSpPr>
        <p:spPr>
          <a:xfrm>
            <a:off x="8205529" y="20729379"/>
            <a:ext cx="2063448" cy="14267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/>
              <a:t>MTT</a:t>
            </a:r>
            <a:r>
              <a:rPr lang="zh-CN" altLang="en-US" sz="2400"/>
              <a:t>法检测细胞增殖</a:t>
            </a:r>
            <a:endParaRPr lang="zh-CN" altLang="en-US" sz="2400"/>
          </a:p>
        </p:txBody>
      </p:sp>
      <p:sp>
        <p:nvSpPr>
          <p:cNvPr id="22" name="矩形 21"/>
          <p:cNvSpPr/>
          <p:nvPr/>
        </p:nvSpPr>
        <p:spPr>
          <a:xfrm>
            <a:off x="11258788" y="20729379"/>
            <a:ext cx="2063448" cy="14267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流式细胞术检测细胞凋亡</a:t>
            </a:r>
            <a:endParaRPr lang="zh-CN" altLang="en-US" sz="2400"/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7199630" y="2689860"/>
            <a:ext cx="15240" cy="108204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7200476" y="5780188"/>
            <a:ext cx="847" cy="11227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>
            <a:off x="3485515" y="9446895"/>
            <a:ext cx="18415" cy="8959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11200130" y="9483725"/>
            <a:ext cx="0" cy="79565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922074" y="15740960"/>
            <a:ext cx="847" cy="11227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3341143" y="15740960"/>
            <a:ext cx="847" cy="11227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6036241" y="15740960"/>
            <a:ext cx="847" cy="11227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8458697" y="15740960"/>
            <a:ext cx="847" cy="11227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10726203" y="15740960"/>
            <a:ext cx="847" cy="11227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13493115" y="15741015"/>
            <a:ext cx="12065" cy="10953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2404675" y="19606634"/>
            <a:ext cx="847" cy="11227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5346167" y="19606634"/>
            <a:ext cx="847" cy="11227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9236829" y="19606634"/>
            <a:ext cx="847" cy="11227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12285980" y="19645630"/>
            <a:ext cx="4445" cy="108394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2399030" y="19607530"/>
            <a:ext cx="9906000" cy="571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231805" y="18725208"/>
            <a:ext cx="0" cy="8805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913130" y="15722600"/>
            <a:ext cx="12590780" cy="10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3485085" y="9451550"/>
            <a:ext cx="7715280" cy="32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6" idx="3"/>
            <a:endCxn id="7" idx="1"/>
          </p:cNvCxnSpPr>
          <p:nvPr/>
        </p:nvCxnSpPr>
        <p:spPr>
          <a:xfrm flipV="1">
            <a:off x="9041238" y="1678485"/>
            <a:ext cx="916305" cy="228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548588" y="12802854"/>
            <a:ext cx="7715280" cy="32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913130" y="18722340"/>
            <a:ext cx="12592050" cy="3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5640825" y="1237555"/>
            <a:ext cx="3044190" cy="18167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3735" b="1">
                <a:latin typeface="仿宋" panose="02010609060101010101" charset="-122"/>
                <a:ea typeface="仿宋" panose="02010609060101010101" charset="-122"/>
              </a:rPr>
              <a:t>人乳牙干细胞</a:t>
            </a:r>
            <a:endParaRPr lang="zh-CN" altLang="en-US" sz="3735" b="1"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3735" b="1">
                <a:latin typeface="仿宋" panose="02010609060101010101" charset="-122"/>
                <a:ea typeface="仿宋" panose="02010609060101010101" charset="-122"/>
                <a:sym typeface="+mn-ea"/>
              </a:rPr>
              <a:t>分离与培养</a:t>
            </a:r>
            <a:endParaRPr lang="zh-CN" altLang="en-US" sz="3735" b="1"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endParaRPr lang="zh-CN" altLang="en-US" sz="3735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0268977" y="1081759"/>
            <a:ext cx="3052413" cy="1241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735" b="1">
                <a:latin typeface="仿宋" panose="02010609060101010101" charset="-122"/>
                <a:ea typeface="仿宋" panose="02010609060101010101" charset="-122"/>
              </a:rPr>
              <a:t>健康儿童的</a:t>
            </a:r>
            <a:endParaRPr lang="zh-CN" altLang="en-US" sz="3735" b="1"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zh-CN" altLang="en-US" sz="3735" b="1">
                <a:latin typeface="仿宋" panose="02010609060101010101" charset="-122"/>
                <a:ea typeface="仿宋" panose="02010609060101010101" charset="-122"/>
              </a:rPr>
              <a:t>滞留乳牙</a:t>
            </a:r>
            <a:endParaRPr lang="zh-CN" altLang="en-US" sz="3735" b="1"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199630" y="12802870"/>
            <a:ext cx="17145" cy="5302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7192010" y="15192375"/>
            <a:ext cx="17145" cy="5302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3548380" y="12310745"/>
            <a:ext cx="17145" cy="5302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11241405" y="12305030"/>
            <a:ext cx="17145" cy="5302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895985" y="18195290"/>
            <a:ext cx="17145" cy="5302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13505180" y="18195290"/>
            <a:ext cx="17145" cy="5302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H="1">
            <a:off x="7154545" y="8915400"/>
            <a:ext cx="17145" cy="5302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87308"/>
  <p:tag name="KSO_WM_TEMPLATE_THUMBS_INDEX" val="1、2、3、6、8、10、11、12、15"/>
</p:tagLst>
</file>

<file path=ppt/tags/tag4.xml><?xml version="1.0" encoding="utf-8"?>
<p:tagLst xmlns:p="http://schemas.openxmlformats.org/presentationml/2006/main">
  <p:tag name="KSO_WM_SLIDE_ID" val="custom20187308_1"/>
  <p:tag name="KSO_WM_SLIDE_TYPE" val="title"/>
  <p:tag name="KSO_WM_SLIDE_SUBTYPE" val="pureTxt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TEMPLATE_THUMBS_INDEX" val="1、2、3、6、8、10、11、12、15"/>
</p:tagLst>
</file>

<file path=ppt/theme/theme1.xml><?xml version="1.0" encoding="utf-8"?>
<a:theme xmlns:a="http://schemas.openxmlformats.org/drawingml/2006/main" name="Office 主题​​">
  <a:themeElements>
    <a:clrScheme name="2019空白演示文档">
      <a:dk1>
        <a:srgbClr val="000000"/>
      </a:dk1>
      <a:lt1>
        <a:srgbClr val="FFFFFF"/>
      </a:lt1>
      <a:dk2>
        <a:srgbClr val="E6E4E4"/>
      </a:dk2>
      <a:lt2>
        <a:srgbClr val="FFFFFF"/>
      </a:lt2>
      <a:accent1>
        <a:srgbClr val="477DEA"/>
      </a:accent1>
      <a:accent2>
        <a:srgbClr val="9B9B9B"/>
      </a:accent2>
      <a:accent3>
        <a:srgbClr val="F3B745"/>
      </a:accent3>
      <a:accent4>
        <a:srgbClr val="477EE7"/>
      </a:accent4>
      <a:accent5>
        <a:srgbClr val="4BA151"/>
      </a:accent5>
      <a:accent6>
        <a:srgbClr val="E9403C"/>
      </a:accent6>
      <a:hlink>
        <a:srgbClr val="0563C1"/>
      </a:hlink>
      <a:folHlink>
        <a:srgbClr val="954D72"/>
      </a:folHlink>
    </a:clrScheme>
    <a:fontScheme name="2019空白演示文档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WPS 演示</Application>
  <PresentationFormat>宽屏</PresentationFormat>
  <Paragraphs>38</Paragraphs>
  <Slides>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仿宋</vt:lpstr>
      <vt:lpstr>微软雅黑</vt:lpstr>
      <vt:lpstr>Arial Unicode MS</vt:lpstr>
      <vt:lpstr>等线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kingsoft</dc:creator>
  <cp:lastModifiedBy>111</cp:lastModifiedBy>
  <cp:revision>395</cp:revision>
  <dcterms:created xsi:type="dcterms:W3CDTF">2017-08-03T09:01:00Z</dcterms:created>
  <dcterms:modified xsi:type="dcterms:W3CDTF">2021-03-15T06:12:43Z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