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2599670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howGuides="1">
      <p:cViewPr varScale="1">
        <p:scale>
          <a:sx n="99" d="100"/>
          <a:sy n="99" d="100"/>
        </p:scale>
        <p:origin x="84" y="582"/>
      </p:cViewPr>
      <p:guideLst>
        <p:guide orient="horz" pos="3620"/>
        <p:guide pos="70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28775" y="1143000"/>
            <a:ext cx="3600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239129" y="1440289"/>
            <a:ext cx="10128859" cy="404868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2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239129" y="5608053"/>
            <a:ext cx="10128859" cy="231920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310" spc="200">
                <a:uFillTx/>
              </a:defRPr>
            </a:lvl1pPr>
            <a:lvl2pPr marL="629920" indent="0" algn="ctr">
              <a:buNone/>
              <a:defRPr sz="2750"/>
            </a:lvl2pPr>
            <a:lvl3pPr marL="1260475" indent="0" algn="ctr">
              <a:buNone/>
              <a:defRPr sz="2480"/>
            </a:lvl3pPr>
            <a:lvl4pPr marL="1889760" indent="0" algn="ctr">
              <a:buNone/>
              <a:defRPr sz="2205"/>
            </a:lvl4pPr>
            <a:lvl5pPr marL="2519680" indent="0" algn="ctr">
              <a:buNone/>
              <a:defRPr sz="2205"/>
            </a:lvl5pPr>
            <a:lvl6pPr marL="3150235" indent="0" algn="ctr">
              <a:buNone/>
              <a:defRPr sz="2205"/>
            </a:lvl6pPr>
            <a:lvl7pPr marL="3780790" indent="0" algn="ctr">
              <a:buNone/>
              <a:defRPr sz="2205"/>
            </a:lvl7pPr>
            <a:lvl8pPr marL="4410710" indent="0" algn="ctr">
              <a:buNone/>
              <a:defRPr sz="2205"/>
            </a:lvl8pPr>
            <a:lvl9pPr marL="5040630" indent="0" algn="ctr">
              <a:buNone/>
              <a:defRPr sz="220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28867" y="2347557"/>
            <a:ext cx="11338219" cy="749630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057773" y="6061688"/>
            <a:ext cx="8030152" cy="12078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06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057773" y="7269488"/>
            <a:ext cx="8030152" cy="136657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8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2992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26047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3pPr>
            <a:lvl4pPr marL="188976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1968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23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7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71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6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867" y="2364568"/>
            <a:ext cx="5350954" cy="747929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27295" y="2364568"/>
            <a:ext cx="5350954" cy="747929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28867" y="2251160"/>
            <a:ext cx="5522126" cy="60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7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29920" indent="0">
              <a:buNone/>
              <a:defRPr sz="2750" b="1"/>
            </a:lvl2pPr>
            <a:lvl3pPr marL="1260475" indent="0">
              <a:buNone/>
              <a:defRPr sz="2480" b="1"/>
            </a:lvl3pPr>
            <a:lvl4pPr marL="1889760" indent="0">
              <a:buNone/>
              <a:defRPr sz="2205" b="1"/>
            </a:lvl4pPr>
            <a:lvl5pPr marL="2519680" indent="0">
              <a:buNone/>
              <a:defRPr sz="2205" b="1"/>
            </a:lvl5pPr>
            <a:lvl6pPr marL="3150235" indent="0">
              <a:buNone/>
              <a:defRPr sz="2205" b="1"/>
            </a:lvl6pPr>
            <a:lvl7pPr marL="3780790" indent="0">
              <a:buNone/>
              <a:defRPr sz="2205" b="1"/>
            </a:lvl7pPr>
            <a:lvl8pPr marL="4410710" indent="0">
              <a:buNone/>
              <a:defRPr sz="2205" b="1"/>
            </a:lvl8pPr>
            <a:lvl9pPr marL="5040630" indent="0">
              <a:buNone/>
              <a:defRPr sz="22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8867" y="2920270"/>
            <a:ext cx="5522126" cy="692359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445529" y="2239392"/>
            <a:ext cx="5522126" cy="60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7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29920" indent="0">
              <a:buNone/>
              <a:defRPr sz="2750" b="1"/>
            </a:lvl2pPr>
            <a:lvl3pPr marL="1260475" indent="0">
              <a:buNone/>
              <a:defRPr sz="2480" b="1"/>
            </a:lvl3pPr>
            <a:lvl4pPr marL="1889760" indent="0">
              <a:buNone/>
              <a:defRPr sz="2205" b="1"/>
            </a:lvl4pPr>
            <a:lvl5pPr marL="2519680" indent="0">
              <a:buNone/>
              <a:defRPr sz="2205" b="1"/>
            </a:lvl5pPr>
            <a:lvl6pPr marL="3150235" indent="0">
              <a:buNone/>
              <a:defRPr sz="2205" b="1"/>
            </a:lvl6pPr>
            <a:lvl7pPr marL="3780790" indent="0">
              <a:buNone/>
              <a:defRPr sz="2205" b="1"/>
            </a:lvl7pPr>
            <a:lvl8pPr marL="4410710" indent="0">
              <a:buNone/>
              <a:defRPr sz="2205" b="1"/>
            </a:lvl8pPr>
            <a:lvl9pPr marL="5040630" indent="0">
              <a:buNone/>
              <a:defRPr sz="220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45529" y="2920270"/>
            <a:ext cx="5522126" cy="692359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867" y="958302"/>
            <a:ext cx="11338219" cy="111140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28795" y="2449490"/>
            <a:ext cx="5409081" cy="725845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564036" y="2449625"/>
            <a:ext cx="5403050" cy="725814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05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579113" y="1440289"/>
            <a:ext cx="1079122" cy="792158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86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45162" y="1440289"/>
            <a:ext cx="9477665" cy="7921587"/>
          </a:xfrm>
        </p:spPr>
        <p:txBody>
          <a:bodyPr vert="eaVert" lIns="46800" tIns="46800" rIns="46800" bIns="46800"/>
          <a:lstStyle>
            <a:lvl1pPr marL="314960" indent="-314960">
              <a:spcAft>
                <a:spcPts val="1000"/>
              </a:spcAft>
              <a:defRPr spc="300"/>
            </a:lvl1pPr>
            <a:lvl2pPr marL="944880" indent="-314960">
              <a:defRPr spc="300"/>
            </a:lvl2pPr>
            <a:lvl3pPr marL="1575435" indent="-314960">
              <a:defRPr spc="300"/>
            </a:lvl3pPr>
            <a:lvl4pPr marL="2205355" indent="-314960">
              <a:defRPr spc="300"/>
            </a:lvl4pPr>
            <a:lvl5pPr marL="2834640" indent="-31496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8867" y="1219142"/>
            <a:ext cx="11341939" cy="863606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39129" y="3912595"/>
            <a:ext cx="10128859" cy="160473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27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39129" y="5608053"/>
            <a:ext cx="10128859" cy="7428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31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867" y="958302"/>
            <a:ext cx="11338219" cy="111140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867" y="2347557"/>
            <a:ext cx="11338219" cy="749630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32588" y="9945930"/>
            <a:ext cx="2790832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254467" y="9945930"/>
            <a:ext cx="4093219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176255" y="9945930"/>
            <a:ext cx="2790832" cy="4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60475" rtl="0" eaLnBrk="1" fontAlgn="auto" latinLnBrk="0" hangingPunct="1">
        <a:lnSpc>
          <a:spcPct val="100000"/>
        </a:lnSpc>
        <a:spcBef>
          <a:spcPct val="0"/>
        </a:spcBef>
        <a:buNone/>
        <a:defRPr sz="496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14960" indent="-314960" algn="l" defTabSz="126047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944880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218055" algn="l"/>
          <a:tab pos="2218055" algn="l"/>
          <a:tab pos="2218055" algn="l"/>
          <a:tab pos="2218055" algn="l"/>
        </a:tabLst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575435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205355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19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834640" indent="-314960" algn="l" defTabSz="126047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19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465830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6385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6305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590" indent="-314960" algn="l" defTabSz="1260475" rtl="0" eaLnBrk="1" latinLnBrk="0" hangingPunct="1">
        <a:lnSpc>
          <a:spcPct val="90000"/>
        </a:lnSpc>
        <a:spcBef>
          <a:spcPct val="13800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2992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8976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1968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235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79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71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630" algn="l" defTabSz="1260475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759835" y="-5208905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050" b="0">
                <a:ea typeface="宋体" panose="02010600030101010101" pitchFamily="2" charset="-122"/>
              </a:rPr>
              <a:t>　</a:t>
            </a:r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3759835" y="-4498975"/>
            <a:ext cx="50800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050" b="0">
                <a:latin typeface="宋体" panose="02010600030101010101" pitchFamily="2" charset="-122"/>
              </a:rPr>
              <a:t>   </a:t>
            </a:r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3759835" y="-986156"/>
            <a:ext cx="50800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050" b="0">
                <a:latin typeface="宋体" panose="02010600030101010101" pitchFamily="2" charset="-122"/>
              </a:rPr>
              <a:t>   </a:t>
            </a:r>
            <a:endParaRPr lang="zh-CN" altLang="en-US"/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2445385" y="480695"/>
            <a:ext cx="523875" cy="702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9" name="文本框 118"/>
          <p:cNvSpPr txBox="1"/>
          <p:nvPr/>
        </p:nvSpPr>
        <p:spPr>
          <a:xfrm>
            <a:off x="6664960" y="8672195"/>
            <a:ext cx="12998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FF0000"/>
                </a:solidFill>
                <a:ea typeface="宋体" panose="02010600030101010101" pitchFamily="2" charset="-122"/>
              </a:rPr>
              <a:t>激光捕获</a:t>
            </a:r>
            <a:endParaRPr lang="zh-CN" altLang="en-US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3759835" y="13399133"/>
            <a:ext cx="50800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050" b="0">
                <a:ea typeface="宋体" panose="02010600030101010101" pitchFamily="2" charset="-122"/>
              </a:rPr>
              <a:t>　　　　　　　　　　　　　　　　</a:t>
            </a:r>
            <a:r>
              <a:rPr lang="zh-CN" sz="1050" b="0">
                <a:solidFill>
                  <a:srgbClr val="FF0000"/>
                </a:solidFill>
                <a:ea typeface="宋体" panose="02010600030101010101" pitchFamily="2" charset="-122"/>
              </a:rPr>
              <a:t>　</a:t>
            </a:r>
            <a:r>
              <a:rPr lang="en-US" sz="1050" b="0">
                <a:latin typeface="宋体" panose="02010600030101010101" pitchFamily="2" charset="-122"/>
              </a:rPr>
              <a:t>   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848485" y="1183640"/>
            <a:ext cx="2834640" cy="9359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00B050"/>
                </a:solidFill>
              </a:rPr>
              <a:t>体外培养的成骨细胞（</a:t>
            </a:r>
            <a:r>
              <a:rPr lang="en-US" altLang="zh-CN">
                <a:solidFill>
                  <a:srgbClr val="00B050"/>
                </a:solidFill>
              </a:rPr>
              <a:t>OB)</a:t>
            </a:r>
            <a:r>
              <a:rPr lang="zh-CN" altLang="en-US">
                <a:solidFill>
                  <a:srgbClr val="00B050"/>
                </a:solidFill>
              </a:rPr>
              <a:t>和破骨细胞（</a:t>
            </a:r>
            <a:r>
              <a:rPr lang="en-US" altLang="zh-CN">
                <a:solidFill>
                  <a:srgbClr val="00B050"/>
                </a:solidFill>
              </a:rPr>
              <a:t>OC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34990" y="1183640"/>
            <a:ext cx="2834640" cy="9359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体外培养的成骨细胞（</a:t>
            </a:r>
            <a:r>
              <a:rPr lang="en-US" altLang="zh-CN">
                <a:solidFill>
                  <a:srgbClr val="FF0000"/>
                </a:solidFill>
              </a:rPr>
              <a:t>OB)</a:t>
            </a:r>
            <a:r>
              <a:rPr lang="zh-CN" altLang="en-US">
                <a:solidFill>
                  <a:srgbClr val="FF0000"/>
                </a:solidFill>
              </a:rPr>
              <a:t>和破骨细胞（</a:t>
            </a:r>
            <a:r>
              <a:rPr lang="en-US" altLang="zh-CN">
                <a:solidFill>
                  <a:srgbClr val="FF0000"/>
                </a:solidFill>
              </a:rPr>
              <a:t>OC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11645" y="647700"/>
            <a:ext cx="14668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FF0000"/>
                </a:solidFill>
                <a:ea typeface="宋体" panose="02010600030101010101" pitchFamily="2" charset="-122"/>
              </a:rPr>
              <a:t>超负荷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811645" y="2286635"/>
            <a:ext cx="11537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FF0000"/>
                </a:solidFill>
                <a:ea typeface="宋体" panose="02010600030101010101" pitchFamily="2" charset="-122"/>
              </a:rPr>
              <a:t>基因芯片 </a:t>
            </a:r>
            <a:r>
              <a:rPr lang="en-US" b="0">
                <a:latin typeface="宋体" panose="02010600030101010101" pitchFamily="2" charset="-122"/>
              </a:rPr>
              <a:t>                               </a:t>
            </a:r>
            <a:r>
              <a:rPr lang="zh-CN" b="0">
                <a:ea typeface="宋体" panose="02010600030101010101" pitchFamily="2" charset="-122"/>
              </a:rPr>
              <a:t>　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1848485" y="2822575"/>
            <a:ext cx="2834640" cy="9359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00B050"/>
                </a:solidFill>
              </a:rPr>
              <a:t>体外</a:t>
            </a:r>
            <a:r>
              <a:rPr lang="en-US" altLang="zh-CN">
                <a:solidFill>
                  <a:srgbClr val="00B050"/>
                </a:solidFill>
              </a:rPr>
              <a:t>OB</a:t>
            </a:r>
            <a:r>
              <a:rPr lang="zh-CN" altLang="en-US">
                <a:solidFill>
                  <a:srgbClr val="00B050"/>
                </a:solidFill>
              </a:rPr>
              <a:t>、</a:t>
            </a:r>
            <a:r>
              <a:rPr lang="en-US" altLang="zh-CN">
                <a:solidFill>
                  <a:srgbClr val="00B050"/>
                </a:solidFill>
              </a:rPr>
              <a:t>OC</a:t>
            </a:r>
            <a:r>
              <a:rPr lang="zh-CN" altLang="en-US">
                <a:solidFill>
                  <a:srgbClr val="00B050"/>
                </a:solidFill>
              </a:rPr>
              <a:t>基因表达谱的时序变化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574665" y="2822575"/>
            <a:ext cx="2834640" cy="9359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体外</a:t>
            </a:r>
            <a:r>
              <a:rPr lang="en-US" altLang="zh-CN">
                <a:solidFill>
                  <a:srgbClr val="FF0000"/>
                </a:solidFill>
              </a:rPr>
              <a:t>OB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OC</a:t>
            </a:r>
            <a:r>
              <a:rPr lang="zh-CN" altLang="en-US">
                <a:solidFill>
                  <a:srgbClr val="FF0000"/>
                </a:solidFill>
              </a:rPr>
              <a:t>基因表达谱的时序变化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燕尾形箭头 29"/>
          <p:cNvSpPr/>
          <p:nvPr/>
        </p:nvSpPr>
        <p:spPr>
          <a:xfrm>
            <a:off x="852805" y="4018915"/>
            <a:ext cx="8127365" cy="1727835"/>
          </a:xfrm>
          <a:prstGeom prst="notchedRightArrow">
            <a:avLst/>
          </a:prstGeom>
          <a:noFill/>
          <a:ln w="76200">
            <a:solidFill>
              <a:schemeClr val="tx2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RT-PCR</a:t>
            </a:r>
            <a:r>
              <a:rPr lang="zh-CN" altLang="en-US">
                <a:solidFill>
                  <a:schemeClr val="tx1"/>
                </a:solidFill>
              </a:rPr>
              <a:t>法检测</a:t>
            </a:r>
            <a:r>
              <a:rPr lang="en-US" altLang="zh-CN">
                <a:solidFill>
                  <a:schemeClr val="tx1"/>
                </a:solidFill>
              </a:rPr>
              <a:t>OB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OC</a:t>
            </a:r>
            <a:r>
              <a:rPr lang="zh-CN" altLang="en-US">
                <a:solidFill>
                  <a:schemeClr val="tx1"/>
                </a:solidFill>
              </a:rPr>
              <a:t>表达差异最大的几个基因；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、结合基因数据库，明确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标记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基因及功能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848485" y="5962650"/>
            <a:ext cx="2834640" cy="9359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骨界面</a:t>
            </a:r>
            <a:r>
              <a:rPr lang="en-US" altLang="zh-CN">
                <a:solidFill>
                  <a:schemeClr val="tx1"/>
                </a:solidFill>
              </a:rPr>
              <a:t>OB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OC</a:t>
            </a:r>
            <a:r>
              <a:rPr lang="zh-CN" altLang="en-US">
                <a:solidFill>
                  <a:schemeClr val="tx1"/>
                </a:solidFill>
              </a:rPr>
              <a:t>基因表达谱的时序变化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574665" y="5962650"/>
            <a:ext cx="2834640" cy="9359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rgbClr val="FF0000"/>
                </a:solidFill>
              </a:rPr>
              <a:t>骨界面</a:t>
            </a:r>
            <a:r>
              <a:rPr lang="en-US" altLang="zh-CN">
                <a:solidFill>
                  <a:srgbClr val="FF0000"/>
                </a:solidFill>
              </a:rPr>
              <a:t>OB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OC</a:t>
            </a:r>
            <a:r>
              <a:rPr lang="zh-CN" altLang="en-US">
                <a:solidFill>
                  <a:srgbClr val="FF0000"/>
                </a:solidFill>
              </a:rPr>
              <a:t>基因表达谱的时序变化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1848485" y="7568565"/>
            <a:ext cx="2834640" cy="9359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提取骨界面取材的</a:t>
            </a:r>
            <a:r>
              <a:rPr lang="en-US" altLang="zh-CN">
                <a:solidFill>
                  <a:schemeClr val="tx1"/>
                </a:solidFill>
              </a:rPr>
              <a:t>OB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OC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5574665" y="7590790"/>
            <a:ext cx="2834640" cy="9359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rgbClr val="FF0000"/>
                </a:solidFill>
              </a:rPr>
              <a:t>提取骨界面取材的</a:t>
            </a:r>
            <a:r>
              <a:rPr lang="en-US" altLang="zh-CN">
                <a:solidFill>
                  <a:srgbClr val="FF0000"/>
                </a:solidFill>
              </a:rPr>
              <a:t>OB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OC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1848485" y="9207500"/>
            <a:ext cx="2834640" cy="9359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体内种植体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>
                <a:solidFill>
                  <a:schemeClr val="tx1"/>
                </a:solidFill>
              </a:rPr>
              <a:t>骨界面区域的骨组织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574665" y="9207500"/>
            <a:ext cx="2834640" cy="93599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rgbClr val="FF0000"/>
                </a:solidFill>
              </a:rPr>
              <a:t>体内种植体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骨界面区域的骨组织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2" name="图片 71"/>
          <p:cNvPicPr/>
          <p:nvPr/>
        </p:nvPicPr>
        <p:blipFill>
          <a:blip r:embed="rId2"/>
          <a:stretch>
            <a:fillRect/>
          </a:stretch>
        </p:blipFill>
        <p:spPr>
          <a:xfrm rot="10800000">
            <a:off x="6225540" y="480695"/>
            <a:ext cx="472440" cy="7029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" name="图片 73"/>
          <p:cNvPicPr/>
          <p:nvPr/>
        </p:nvPicPr>
        <p:blipFill>
          <a:blip r:embed="rId2"/>
          <a:stretch>
            <a:fillRect/>
          </a:stretch>
        </p:blipFill>
        <p:spPr>
          <a:xfrm rot="10800000">
            <a:off x="6225540" y="2119630"/>
            <a:ext cx="472440" cy="702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" name="流程图: 磁盘 75"/>
          <p:cNvSpPr/>
          <p:nvPr/>
        </p:nvSpPr>
        <p:spPr>
          <a:xfrm>
            <a:off x="9088755" y="4090670"/>
            <a:ext cx="3095625" cy="1584325"/>
          </a:xfrm>
          <a:prstGeom prst="flowChartMagneticDisk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研究骨形成到骨吸收质的变化过程中，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OB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OC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基因调控机理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8" name="右弧形箭头 77"/>
          <p:cNvSpPr/>
          <p:nvPr/>
        </p:nvSpPr>
        <p:spPr>
          <a:xfrm rot="10800000">
            <a:off x="852805" y="7717155"/>
            <a:ext cx="791845" cy="1800225"/>
          </a:xfrm>
          <a:prstGeom prst="curvedLeftArrow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/>
          <p:nvPr/>
        </p:nvPicPr>
        <p:blipFill>
          <a:blip r:embed="rId2"/>
          <a:stretch>
            <a:fillRect/>
          </a:stretch>
        </p:blipFill>
        <p:spPr>
          <a:xfrm>
            <a:off x="6225540" y="6887845"/>
            <a:ext cx="472440" cy="7029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" name="图片 79"/>
          <p:cNvPicPr/>
          <p:nvPr/>
        </p:nvPicPr>
        <p:blipFill>
          <a:blip r:embed="rId1"/>
          <a:stretch>
            <a:fillRect/>
          </a:stretch>
        </p:blipFill>
        <p:spPr>
          <a:xfrm>
            <a:off x="2445385" y="2118995"/>
            <a:ext cx="523875" cy="7029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图片 80"/>
          <p:cNvPicPr/>
          <p:nvPr/>
        </p:nvPicPr>
        <p:blipFill>
          <a:blip r:embed="rId1"/>
          <a:stretch>
            <a:fillRect/>
          </a:stretch>
        </p:blipFill>
        <p:spPr>
          <a:xfrm rot="10800000">
            <a:off x="2397760" y="6887845"/>
            <a:ext cx="523875" cy="702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文本框 82"/>
          <p:cNvSpPr txBox="1"/>
          <p:nvPr/>
        </p:nvSpPr>
        <p:spPr>
          <a:xfrm>
            <a:off x="6724015" y="7222490"/>
            <a:ext cx="1685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FF0000"/>
                </a:solidFill>
                <a:ea typeface="宋体" panose="02010600030101010101" pitchFamily="2" charset="-122"/>
              </a:rPr>
              <a:t>基因芯片</a:t>
            </a:r>
            <a:endParaRPr lang="zh-CN" altLang="en-US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694170" y="10311130"/>
            <a:ext cx="12414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FF0000"/>
                </a:solidFill>
                <a:ea typeface="宋体" panose="02010600030101010101" pitchFamily="2" charset="-122"/>
              </a:rPr>
              <a:t>超负荷</a:t>
            </a:r>
            <a:endParaRPr lang="zh-CN" altLang="en-US"/>
          </a:p>
        </p:txBody>
      </p:sp>
      <p:sp>
        <p:nvSpPr>
          <p:cNvPr id="86" name="右弧形箭头 85"/>
          <p:cNvSpPr/>
          <p:nvPr/>
        </p:nvSpPr>
        <p:spPr>
          <a:xfrm rot="10800000" flipH="1">
            <a:off x="8469630" y="7717155"/>
            <a:ext cx="791845" cy="1800225"/>
          </a:xfrm>
          <a:prstGeom prst="curvedLeftArrow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797810" y="7054850"/>
            <a:ext cx="1685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00B050"/>
                </a:solidFill>
                <a:ea typeface="宋体" panose="02010600030101010101" pitchFamily="2" charset="-122"/>
              </a:rPr>
              <a:t>基因芯片</a:t>
            </a:r>
            <a:endParaRPr lang="zh-CN" altLang="en-US" b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29305" y="2287270"/>
            <a:ext cx="11537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00B050"/>
                </a:solidFill>
                <a:ea typeface="宋体" panose="02010600030101010101" pitchFamily="2" charset="-122"/>
              </a:rPr>
              <a:t>基因芯片</a:t>
            </a:r>
            <a:r>
              <a:rPr lang="en-US" b="0">
                <a:solidFill>
                  <a:srgbClr val="00B050"/>
                </a:solidFill>
                <a:latin typeface="宋体" panose="02010600030101010101" pitchFamily="2" charset="-122"/>
              </a:rPr>
              <a:t>                                </a:t>
            </a:r>
            <a:r>
              <a:rPr lang="zh-CN" b="0">
                <a:solidFill>
                  <a:srgbClr val="00B050"/>
                </a:solidFill>
                <a:ea typeface="宋体" panose="02010600030101010101" pitchFamily="2" charset="-122"/>
              </a:rPr>
              <a:t>　</a:t>
            </a:r>
            <a:endParaRPr lang="zh-CN" altLang="en-US" b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329305" y="647700"/>
            <a:ext cx="11537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>
                <a:solidFill>
                  <a:srgbClr val="00B050"/>
                </a:solidFill>
                <a:ea typeface="宋体" panose="02010600030101010101" pitchFamily="2" charset="-122"/>
                <a:sym typeface="+mn-ea"/>
              </a:rPr>
              <a:t>生理负荷</a:t>
            </a:r>
            <a:r>
              <a:rPr lang="en-US" b="0">
                <a:solidFill>
                  <a:srgbClr val="00B050"/>
                </a:solidFill>
                <a:latin typeface="宋体" panose="02010600030101010101" pitchFamily="2" charset="-122"/>
              </a:rPr>
              <a:t> </a:t>
            </a:r>
            <a:r>
              <a:rPr lang="en-US" b="0">
                <a:latin typeface="宋体" panose="02010600030101010101" pitchFamily="2" charset="-122"/>
              </a:rPr>
              <a:t>                              </a:t>
            </a:r>
            <a:r>
              <a:rPr lang="zh-CN" b="0">
                <a:ea typeface="宋体" panose="02010600030101010101" pitchFamily="2" charset="-122"/>
              </a:rPr>
              <a:t>　</a:t>
            </a:r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2797810" y="8672195"/>
            <a:ext cx="1133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00B050"/>
                </a:solidFill>
                <a:ea typeface="宋体" panose="02010600030101010101" pitchFamily="2" charset="-122"/>
              </a:rPr>
              <a:t>激光捕获</a:t>
            </a:r>
            <a:endParaRPr lang="zh-CN" altLang="en-US" b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797810" y="10311130"/>
            <a:ext cx="12414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solidFill>
                  <a:srgbClr val="00B050"/>
                </a:solidFill>
                <a:ea typeface="宋体" panose="02010600030101010101" pitchFamily="2" charset="-122"/>
              </a:rPr>
              <a:t>超负荷</a:t>
            </a:r>
            <a:endParaRPr lang="zh-CN" altLang="en-US" b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WPS 演示</Application>
  <PresentationFormat>宽屏</PresentationFormat>
  <Paragraphs>59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Tahoma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188</cp:revision>
  <dcterms:created xsi:type="dcterms:W3CDTF">2019-06-19T02:08:00Z</dcterms:created>
  <dcterms:modified xsi:type="dcterms:W3CDTF">2021-03-15T02:50:08Z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