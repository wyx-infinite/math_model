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9" r:id="rId3"/>
  </p:sldIdLst>
  <p:sldSz cx="21239480" cy="251999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>
      <p:cViewPr varScale="1">
        <p:scale>
          <a:sx n="99" d="100"/>
          <a:sy n="99" d="100"/>
        </p:scale>
        <p:origin x="84" y="582"/>
      </p:cViewPr>
      <p:guideLst>
        <p:guide orient="horz" pos="8527"/>
        <p:guide pos="6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28429" y="1143000"/>
            <a:ext cx="260114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2088839" y="3360731"/>
            <a:ext cx="17074544" cy="944709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394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2088839" y="13085681"/>
            <a:ext cx="17074544" cy="541157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5580" spc="200">
                <a:uFillTx/>
              </a:defRPr>
            </a:lvl1pPr>
            <a:lvl2pPr marL="1061720" indent="0" algn="ctr">
              <a:buNone/>
              <a:defRPr sz="4635"/>
            </a:lvl2pPr>
            <a:lvl3pPr marL="2124710" indent="0" algn="ctr">
              <a:buNone/>
              <a:defRPr sz="4185"/>
            </a:lvl3pPr>
            <a:lvl4pPr marL="3185160" indent="0" algn="ctr">
              <a:buNone/>
              <a:defRPr sz="3715"/>
            </a:lvl4pPr>
            <a:lvl5pPr marL="4248150" indent="0" algn="ctr">
              <a:buNone/>
              <a:defRPr sz="3715"/>
            </a:lvl5pPr>
            <a:lvl6pPr marL="5310505" indent="0" algn="ctr">
              <a:buNone/>
              <a:defRPr sz="3715"/>
            </a:lvl6pPr>
            <a:lvl7pPr marL="6372860" indent="0" algn="ctr">
              <a:buNone/>
              <a:defRPr sz="3715"/>
            </a:lvl7pPr>
            <a:lvl8pPr marL="7435215" indent="0" algn="ctr">
              <a:buNone/>
              <a:defRPr sz="3715"/>
            </a:lvl8pPr>
            <a:lvl9pPr marL="8496935" indent="0" algn="ctr">
              <a:buNone/>
              <a:defRPr sz="371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60101" y="2236076"/>
            <a:ext cx="19113202" cy="259332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060101" y="5477727"/>
            <a:ext cx="19113202" cy="1749167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468855" y="14144180"/>
            <a:ext cx="13536687" cy="281825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021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68855" y="16962431"/>
            <a:ext cx="13536687" cy="3188724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418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061720" indent="0">
              <a:buNone/>
              <a:defRPr sz="3715">
                <a:solidFill>
                  <a:schemeClr val="tx1">
                    <a:tint val="75000"/>
                  </a:schemeClr>
                </a:solidFill>
              </a:defRPr>
            </a:lvl2pPr>
            <a:lvl3pPr marL="2124710" indent="0">
              <a:buNone/>
              <a:defRPr sz="3715">
                <a:solidFill>
                  <a:schemeClr val="tx1">
                    <a:tint val="75000"/>
                  </a:schemeClr>
                </a:solidFill>
              </a:defRPr>
            </a:lvl3pPr>
            <a:lvl4pPr marL="3185160" indent="0">
              <a:buNone/>
              <a:defRPr sz="3715">
                <a:solidFill>
                  <a:schemeClr val="tx1">
                    <a:tint val="75000"/>
                  </a:schemeClr>
                </a:solidFill>
              </a:defRPr>
            </a:lvl4pPr>
            <a:lvl5pPr marL="4248150" indent="0">
              <a:buNone/>
              <a:defRPr sz="3715">
                <a:solidFill>
                  <a:schemeClr val="tx1">
                    <a:tint val="75000"/>
                  </a:schemeClr>
                </a:solidFill>
              </a:defRPr>
            </a:lvl5pPr>
            <a:lvl6pPr marL="5310505" indent="0">
              <a:buNone/>
              <a:defRPr sz="3715">
                <a:solidFill>
                  <a:schemeClr val="tx1">
                    <a:tint val="75000"/>
                  </a:schemeClr>
                </a:solidFill>
              </a:defRPr>
            </a:lvl6pPr>
            <a:lvl7pPr marL="6372860" indent="0">
              <a:buNone/>
              <a:defRPr sz="3715">
                <a:solidFill>
                  <a:schemeClr val="tx1">
                    <a:tint val="75000"/>
                  </a:schemeClr>
                </a:solidFill>
              </a:defRPr>
            </a:lvl7pPr>
            <a:lvl8pPr marL="7435215" indent="0">
              <a:buNone/>
              <a:defRPr sz="3715">
                <a:solidFill>
                  <a:schemeClr val="tx1">
                    <a:tint val="75000"/>
                  </a:schemeClr>
                </a:solidFill>
              </a:defRPr>
            </a:lvl8pPr>
            <a:lvl9pPr marL="8496935" indent="0">
              <a:buNone/>
              <a:defRPr sz="37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60101" y="2236076"/>
            <a:ext cx="19113202" cy="259332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060101" y="5517421"/>
            <a:ext cx="9020277" cy="1745198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1171844" y="5517421"/>
            <a:ext cx="9020277" cy="17451983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60101" y="2236076"/>
            <a:ext cx="19113202" cy="259332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60101" y="5252797"/>
            <a:ext cx="9308826" cy="140251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63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61720" indent="0">
              <a:buNone/>
              <a:defRPr sz="4635" b="1"/>
            </a:lvl2pPr>
            <a:lvl3pPr marL="2124710" indent="0">
              <a:buNone/>
              <a:defRPr sz="4185" b="1"/>
            </a:lvl3pPr>
            <a:lvl4pPr marL="3185160" indent="0">
              <a:buNone/>
              <a:defRPr sz="3715" b="1"/>
            </a:lvl4pPr>
            <a:lvl5pPr marL="4248150" indent="0">
              <a:buNone/>
              <a:defRPr sz="3715" b="1"/>
            </a:lvl5pPr>
            <a:lvl6pPr marL="5310505" indent="0">
              <a:buNone/>
              <a:defRPr sz="3715" b="1"/>
            </a:lvl6pPr>
            <a:lvl7pPr marL="6372860" indent="0">
              <a:buNone/>
              <a:defRPr sz="3715" b="1"/>
            </a:lvl7pPr>
            <a:lvl8pPr marL="7435215" indent="0">
              <a:buNone/>
              <a:defRPr sz="3715" b="1"/>
            </a:lvl8pPr>
            <a:lvl9pPr marL="8496935" indent="0">
              <a:buNone/>
              <a:defRPr sz="371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60101" y="6814082"/>
            <a:ext cx="9308826" cy="1615532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0865436" y="5225339"/>
            <a:ext cx="9308826" cy="140251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63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061720" indent="0">
              <a:buNone/>
              <a:defRPr sz="4635" b="1"/>
            </a:lvl2pPr>
            <a:lvl3pPr marL="2124710" indent="0">
              <a:buNone/>
              <a:defRPr sz="4185" b="1"/>
            </a:lvl3pPr>
            <a:lvl4pPr marL="3185160" indent="0">
              <a:buNone/>
              <a:defRPr sz="3715" b="1"/>
            </a:lvl4pPr>
            <a:lvl5pPr marL="4248150" indent="0">
              <a:buNone/>
              <a:defRPr sz="3715" b="1"/>
            </a:lvl5pPr>
            <a:lvl6pPr marL="5310505" indent="0">
              <a:buNone/>
              <a:defRPr sz="3715" b="1"/>
            </a:lvl6pPr>
            <a:lvl7pPr marL="6372860" indent="0">
              <a:buNone/>
              <a:defRPr sz="3715" b="1"/>
            </a:lvl7pPr>
            <a:lvl8pPr marL="7435215" indent="0">
              <a:buNone/>
              <a:defRPr sz="3715" b="1"/>
            </a:lvl8pPr>
            <a:lvl9pPr marL="8496935" indent="0">
              <a:buNone/>
              <a:defRPr sz="371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0865436" y="6814082"/>
            <a:ext cx="9308826" cy="1615532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60101" y="2236076"/>
            <a:ext cx="19113202" cy="259332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059980" y="5715575"/>
            <a:ext cx="9118262" cy="1693668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715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1065208" y="5715889"/>
            <a:ext cx="9108095" cy="1693596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715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7833554" y="3360731"/>
            <a:ext cx="1819110" cy="1848402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6505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593290" y="3360731"/>
            <a:ext cx="15976805" cy="18484020"/>
          </a:xfrm>
        </p:spPr>
        <p:txBody>
          <a:bodyPr vert="eaVert" lIns="46800" tIns="46800" rIns="46800" bIns="46800"/>
          <a:lstStyle>
            <a:lvl1pPr marL="531495" indent="-531495">
              <a:spcAft>
                <a:spcPts val="1000"/>
              </a:spcAft>
              <a:defRPr spc="300"/>
            </a:lvl1pPr>
            <a:lvl2pPr marL="1593215" indent="-531495">
              <a:defRPr spc="300"/>
            </a:lvl2pPr>
            <a:lvl3pPr marL="2655570" indent="-531495">
              <a:defRPr spc="300"/>
            </a:lvl3pPr>
            <a:lvl4pPr marL="3717290" indent="-531495">
              <a:defRPr spc="300"/>
            </a:lvl4pPr>
            <a:lvl5pPr marL="4778375" indent="-53149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060101" y="2844713"/>
            <a:ext cx="19119474" cy="2015115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088839" y="9129545"/>
            <a:ext cx="17074544" cy="374443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394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2088839" y="13085681"/>
            <a:ext cx="17074544" cy="173329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558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060101" y="2236076"/>
            <a:ext cx="19113202" cy="259332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060101" y="5477727"/>
            <a:ext cx="19113202" cy="1749167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066374" y="23207568"/>
            <a:ext cx="4704595" cy="1164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33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7171894" y="23207568"/>
            <a:ext cx="6900072" cy="1164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33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5468710" y="23207568"/>
            <a:ext cx="4704595" cy="1164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33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24710" rtl="0" eaLnBrk="1" fontAlgn="auto" latinLnBrk="0" hangingPunct="1">
        <a:lnSpc>
          <a:spcPct val="100000"/>
        </a:lnSpc>
        <a:spcBef>
          <a:spcPct val="0"/>
        </a:spcBef>
        <a:buNone/>
        <a:defRPr sz="836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531495" indent="-531495" algn="l" defTabSz="2124710" rtl="0" eaLnBrk="1" fontAlgn="auto" latinLnBrk="0" hangingPunct="1">
        <a:lnSpc>
          <a:spcPct val="130000"/>
        </a:lnSpc>
        <a:spcBef>
          <a:spcPts val="5"/>
        </a:spcBef>
        <a:spcAft>
          <a:spcPts val="1000"/>
        </a:spcAft>
        <a:buFont typeface="Arial" panose="020B0604020202020204" pitchFamily="34" charset="0"/>
        <a:buChar char="●"/>
        <a:defRPr sz="41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1593215" indent="-531495" algn="l" defTabSz="2124710" rtl="0" eaLnBrk="1" fontAlgn="auto" latinLnBrk="0" hangingPunct="1">
        <a:lnSpc>
          <a:spcPct val="120000"/>
        </a:lnSpc>
        <a:spcBef>
          <a:spcPts val="5"/>
        </a:spcBef>
        <a:spcAft>
          <a:spcPts val="600"/>
        </a:spcAft>
        <a:buFont typeface="Arial" panose="020B0604020202020204" pitchFamily="34" charset="0"/>
        <a:buChar char="●"/>
        <a:tabLst>
          <a:tab pos="3738880" algn="l"/>
          <a:tab pos="3738880" algn="l"/>
          <a:tab pos="3738880" algn="l"/>
          <a:tab pos="3738880" algn="l"/>
        </a:tabLst>
        <a:defRPr sz="37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2655570" indent="-531495" algn="l" defTabSz="2124710" rtl="0" eaLnBrk="1" fontAlgn="auto" latinLnBrk="0" hangingPunct="1">
        <a:lnSpc>
          <a:spcPct val="120000"/>
        </a:lnSpc>
        <a:spcBef>
          <a:spcPts val="5"/>
        </a:spcBef>
        <a:spcAft>
          <a:spcPts val="600"/>
        </a:spcAft>
        <a:buFont typeface="Arial" panose="020B0604020202020204" pitchFamily="34" charset="0"/>
        <a:buChar char="●"/>
        <a:defRPr sz="37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3717290" indent="-531495" algn="l" defTabSz="2124710" rtl="0" eaLnBrk="1" fontAlgn="auto" latinLnBrk="0" hangingPunct="1">
        <a:lnSpc>
          <a:spcPct val="120000"/>
        </a:lnSpc>
        <a:spcBef>
          <a:spcPts val="5"/>
        </a:spcBef>
        <a:spcAft>
          <a:spcPts val="300"/>
        </a:spcAft>
        <a:buFont typeface="Wingdings" panose="05000000000000000000" charset="0"/>
        <a:buChar char=""/>
        <a:defRPr sz="32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4778375" indent="-531495" algn="l" defTabSz="2124710" rtl="0" eaLnBrk="1" fontAlgn="auto" latinLnBrk="0" hangingPunct="1">
        <a:lnSpc>
          <a:spcPct val="120000"/>
        </a:lnSpc>
        <a:spcBef>
          <a:spcPts val="5"/>
        </a:spcBef>
        <a:spcAft>
          <a:spcPts val="300"/>
        </a:spcAft>
        <a:buFont typeface="Arial" panose="020B0604020202020204" pitchFamily="34" charset="0"/>
        <a:buChar char="•"/>
        <a:defRPr sz="32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5842635" indent="-531495" algn="l" defTabSz="2124710" rtl="0" eaLnBrk="1" latinLnBrk="0" hangingPunct="1">
        <a:lnSpc>
          <a:spcPct val="90000"/>
        </a:lnSpc>
        <a:spcBef>
          <a:spcPct val="233000"/>
        </a:spcBef>
        <a:buFont typeface="Arial" panose="020B0604020202020204" pitchFamily="34" charset="0"/>
        <a:buChar char="•"/>
        <a:defRPr sz="4185" kern="1200">
          <a:solidFill>
            <a:schemeClr val="tx1"/>
          </a:solidFill>
          <a:latin typeface="+mn-lt"/>
          <a:ea typeface="+mn-ea"/>
          <a:cs typeface="+mn-cs"/>
        </a:defRPr>
      </a:lvl6pPr>
      <a:lvl7pPr marL="6904990" indent="-531495" algn="l" defTabSz="2124710" rtl="0" eaLnBrk="1" latinLnBrk="0" hangingPunct="1">
        <a:lnSpc>
          <a:spcPct val="90000"/>
        </a:lnSpc>
        <a:spcBef>
          <a:spcPct val="233000"/>
        </a:spcBef>
        <a:buFont typeface="Arial" panose="020B0604020202020204" pitchFamily="34" charset="0"/>
        <a:buChar char="•"/>
        <a:defRPr sz="4185" kern="1200">
          <a:solidFill>
            <a:schemeClr val="tx1"/>
          </a:solidFill>
          <a:latin typeface="+mn-lt"/>
          <a:ea typeface="+mn-ea"/>
          <a:cs typeface="+mn-cs"/>
        </a:defRPr>
      </a:lvl7pPr>
      <a:lvl8pPr marL="7967345" indent="-531495" algn="l" defTabSz="2124710" rtl="0" eaLnBrk="1" latinLnBrk="0" hangingPunct="1">
        <a:lnSpc>
          <a:spcPct val="90000"/>
        </a:lnSpc>
        <a:spcBef>
          <a:spcPct val="233000"/>
        </a:spcBef>
        <a:buFont typeface="Arial" panose="020B0604020202020204" pitchFamily="34" charset="0"/>
        <a:buChar char="•"/>
        <a:defRPr sz="4185" kern="1200">
          <a:solidFill>
            <a:schemeClr val="tx1"/>
          </a:solidFill>
          <a:latin typeface="+mn-lt"/>
          <a:ea typeface="+mn-ea"/>
          <a:cs typeface="+mn-cs"/>
        </a:defRPr>
      </a:lvl8pPr>
      <a:lvl9pPr marL="9028430" indent="-531495" algn="l" defTabSz="2124710" rtl="0" eaLnBrk="1" latinLnBrk="0" hangingPunct="1">
        <a:lnSpc>
          <a:spcPct val="90000"/>
        </a:lnSpc>
        <a:spcBef>
          <a:spcPct val="233000"/>
        </a:spcBef>
        <a:buFont typeface="Arial" panose="020B0604020202020204" pitchFamily="34" charset="0"/>
        <a:buChar char="•"/>
        <a:defRPr sz="41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1pPr>
      <a:lvl2pPr marL="1061720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2pPr>
      <a:lvl3pPr marL="2124710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3pPr>
      <a:lvl4pPr marL="3185160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4pPr>
      <a:lvl5pPr marL="4248150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5pPr>
      <a:lvl6pPr marL="5310505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6pPr>
      <a:lvl7pPr marL="6372860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7pPr>
      <a:lvl8pPr marL="7435215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8pPr>
      <a:lvl9pPr marL="8496935" algn="l" defTabSz="2124710" rtl="0" eaLnBrk="1" latinLnBrk="0" hangingPunct="1">
        <a:defRPr sz="41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72091" y="1174116"/>
            <a:ext cx="11476366" cy="5146680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卒中精准预警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、卒中新型危险因素前瞻性多组学队列研究                 卒中高危人群筛查芯片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、卒中早期预警的生物标记物研究                               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卒中早期精准预警芯片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卒中精准诊断  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、卒中精准分层诊断多组学登记研究  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、基于组学信息的卒中病因分型和发病机制研究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、不同病因卒中诊断生物标记物研究                           遗传性卒中快速诊断试剂盒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、路内外动脉狭窄生物标记物研究                                  卒中精准分层诊断芯片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、遗传性卒中致病基因定位克隆与功能验证研究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、中国脑卒中新型疾病谱研究与数据库建立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卒中精准干预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、卒中干预效果多组学前瞻性队列研究                             药物基因组学芯片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、中国卒中二级预防疗效组学数据库的建立                   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药物蛋白组学芯片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、组学指导卒中干预治疗的新型临床随机对照研究         精准靶点新药创制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遗传性卒中基因靶向治疗研究                                         基因靶点治疗研发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、卒中蛋白转导治疗疗效与机制研究                                 蛋白转导药物研发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6029889" y="4602485"/>
            <a:ext cx="0" cy="1152526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779072" y="3079379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" name="矩形 5"/>
          <p:cNvSpPr/>
          <p:nvPr/>
        </p:nvSpPr>
        <p:spPr>
          <a:xfrm>
            <a:off x="507299" y="2800988"/>
            <a:ext cx="2249807" cy="5562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基因蛋白组研究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3360991" y="2232027"/>
            <a:ext cx="11293486" cy="1587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360991" y="4391664"/>
            <a:ext cx="11293486" cy="127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07299" y="8130548"/>
            <a:ext cx="2249807" cy="5562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多模影像研究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72091" y="6501771"/>
            <a:ext cx="11476366" cy="3832864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卒中精准预警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、脑小血管病早期预警前瞻性队列研究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、建立中国人脑小血管病影响预警模型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卒中精准诊断  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、卒中多模式影响队列研究  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、开展卒中精准影像诊断策略研究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、探索斑块破裂机制分子影像研究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卒中精准干预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、颅内外动脉狭窄的数字化血流动力学研究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、开展影像学引导脑血管介入及外科干预研究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、开展基于影像学评估的临床试验研究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、开展卒中影像预测疾病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研究                                              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7299" y="11934202"/>
            <a:ext cx="2249807" cy="5562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神经连接组研究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72091" y="10645785"/>
            <a:ext cx="11476366" cy="2594613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卒中精准预警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、基于神经网络功能的脑卒中并发症预警研究                 神经网络分析系统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卒中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精准干预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、脑卒中后脑结构和功能网络继发性损害研究                新型靶向神经保护剂药物研发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、基于连接组的卒中认知障碍神经保护研究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卒中精准干预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脑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卒中神经功能网络康复训练研究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      神经网络康复系统开发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、基于连接组的脑卒中预后研究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7299" y="15261605"/>
            <a:ext cx="2249807" cy="5562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分层疾病管理研究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72091" y="13536943"/>
            <a:ext cx="11476366" cy="3638554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卒中精准预警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、新型危险因素卒中早期精准分层预警体系的建立       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卒中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精准干预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、多维度精准病因分层新系统的建立                   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、开展多维分层诊断临床实效比较研究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、开展卒中并发症分层风险评价研究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、卒中并发症分层预警评估体系建立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卒中精准干预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、开展卒中精准二级预防模式的随机对照研究                  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、开展计算机辅助卒中康复训练研究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、探索盐城技术辅助的家庭卒中康复研究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、卒中精准决策的预后与效果效益比较研究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72091" y="17515857"/>
            <a:ext cx="11476366" cy="3165478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卒中精准预警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、开展社区人群大型前瞻性大队列  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卒中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精准干预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、开展电子病历系统数据交换标准研究                           标准化数字字典开发与应用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、开展医疗信息大数据存储与共享平台研究                数据源与模块化最小数据集研究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                                                                                                  医疗大数据共享平台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            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卒中精准干预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、环境医保等多元多维大数据集成整合研究                          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、大数据运行机制与隐私保护研究                                          医疗健康大数据平台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                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、大数据数据共享机制研究                   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7299" y="18455658"/>
            <a:ext cx="2249807" cy="5562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大数据大队列建设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779072" y="8455929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756847" y="12212593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2756847" y="15539996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779072" y="18734049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0" name="矩形 29"/>
          <p:cNvSpPr/>
          <p:nvPr/>
        </p:nvSpPr>
        <p:spPr>
          <a:xfrm>
            <a:off x="507365" y="20989925"/>
            <a:ext cx="18426430" cy="1909445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精准医疗平台体系支撑</a:t>
            </a:r>
            <a:endParaRPr lang="zh-CN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just"/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just"/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组学平台体系，生物样本与多维信息数据库，多模式影像技术平台，神经网络超速计算处理平台，大数据运行与共享平台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 flipV="1">
            <a:off x="3360991" y="7487927"/>
            <a:ext cx="11293486" cy="4953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3360991" y="8639819"/>
            <a:ext cx="11365241" cy="5778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V="1">
            <a:off x="3383216" y="11262371"/>
            <a:ext cx="11365241" cy="5778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3383216" y="12183757"/>
            <a:ext cx="11365241" cy="5778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V="1">
            <a:off x="3383216" y="14111619"/>
            <a:ext cx="11365241" cy="5778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3383216" y="15611490"/>
            <a:ext cx="11365241" cy="5778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3350196" y="18138793"/>
            <a:ext cx="11398261" cy="7747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 flipV="1">
            <a:off x="3421951" y="19492614"/>
            <a:ext cx="11326506" cy="1968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654619" y="21930382"/>
            <a:ext cx="15375270" cy="292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654619" y="275590"/>
            <a:ext cx="1525907" cy="556261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研究项目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6039424" y="275590"/>
            <a:ext cx="1525907" cy="556261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研究方向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1595680" y="275590"/>
            <a:ext cx="1525907" cy="556261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产业及转化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6330243" y="275590"/>
            <a:ext cx="1525907" cy="556261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重点解决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8766106" y="275590"/>
            <a:ext cx="1525907" cy="556261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整体目标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5784144" y="5755011"/>
            <a:ext cx="2249807" cy="13512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精准病因发病机制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5784144" y="11536691"/>
            <a:ext cx="2249807" cy="13512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神经功能网络评价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96" name="直接箭头连接符 95"/>
          <p:cNvCxnSpPr/>
          <p:nvPr/>
        </p:nvCxnSpPr>
        <p:spPr>
          <a:xfrm flipV="1">
            <a:off x="14748458" y="12166612"/>
            <a:ext cx="1057911" cy="17145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7" name="直接箭头连接符 96"/>
          <p:cNvCxnSpPr/>
          <p:nvPr/>
        </p:nvCxnSpPr>
        <p:spPr>
          <a:xfrm flipV="1">
            <a:off x="16063544" y="7106292"/>
            <a:ext cx="7620" cy="1101726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8" name="直接连接符 97"/>
          <p:cNvCxnSpPr/>
          <p:nvPr/>
        </p:nvCxnSpPr>
        <p:spPr>
          <a:xfrm flipV="1">
            <a:off x="14751633" y="4602485"/>
            <a:ext cx="1278001" cy="6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14748458" y="8208018"/>
            <a:ext cx="131508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V="1">
            <a:off x="14748458" y="15522590"/>
            <a:ext cx="1057911" cy="17145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3" name="矩形 102"/>
          <p:cNvSpPr/>
          <p:nvPr/>
        </p:nvSpPr>
        <p:spPr>
          <a:xfrm>
            <a:off x="15806369" y="14855205"/>
            <a:ext cx="2249807" cy="13512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分层决策效果评价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5809544" y="18161018"/>
            <a:ext cx="2249807" cy="13512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大数据采集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/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支持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105" name="直接箭头连接符 104"/>
          <p:cNvCxnSpPr/>
          <p:nvPr/>
        </p:nvCxnSpPr>
        <p:spPr>
          <a:xfrm flipV="1">
            <a:off x="14751633" y="18733788"/>
            <a:ext cx="1057911" cy="17145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7" name="直接连接符 106"/>
          <p:cNvCxnSpPr/>
          <p:nvPr/>
        </p:nvCxnSpPr>
        <p:spPr>
          <a:xfrm flipV="1">
            <a:off x="18033948" y="6426840"/>
            <a:ext cx="900000" cy="6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V="1">
            <a:off x="18059348" y="18833470"/>
            <a:ext cx="864000" cy="69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flipH="1">
            <a:off x="18899505" y="6433820"/>
            <a:ext cx="15240" cy="12402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>
            <a:off x="18934107" y="12888229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1" name="矩形 110"/>
          <p:cNvSpPr/>
          <p:nvPr/>
        </p:nvSpPr>
        <p:spPr>
          <a:xfrm>
            <a:off x="19426555" y="11262360"/>
            <a:ext cx="440690" cy="3310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卒中精准医疗模式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11019155" y="6641465"/>
            <a:ext cx="3258820" cy="846455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脑小血管病影像预警软件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10996930" y="7784465"/>
            <a:ext cx="3258820" cy="846455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高分辨版块成像线圈开发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分子影像实际研发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11080750" y="9095105"/>
            <a:ext cx="3258820" cy="846455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数字化血流动力学分析软件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影像导航操作系统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11080750" y="13582650"/>
            <a:ext cx="3258820" cy="528955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卒中分层预警体系推广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10853420" y="14732635"/>
            <a:ext cx="3945890" cy="528955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卒中分层诊断体系推广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并发症分层管理体系推广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0996930" y="15999460"/>
            <a:ext cx="3945890" cy="528955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卒中精准二级预防模式推广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康复辅助计算机软件研发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远程康复系统开发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3586</Words>
  <Application>WPS 演示</Application>
  <PresentationFormat>宽屏</PresentationFormat>
  <Paragraphs>110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Times New Roman</vt:lpstr>
      <vt:lpstr>仿宋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111</cp:lastModifiedBy>
  <cp:revision>186</cp:revision>
  <dcterms:created xsi:type="dcterms:W3CDTF">2019-06-19T02:08:00Z</dcterms:created>
  <dcterms:modified xsi:type="dcterms:W3CDTF">2021-03-15T05:43:25Z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