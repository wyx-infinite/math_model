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256" r:id="rId3"/>
  </p:sldIdLst>
  <p:sldSz cx="17999710" cy="10799445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110" d="100"/>
          <a:sy n="110" d="100"/>
        </p:scale>
        <p:origin x="168" y="96"/>
      </p:cViewPr>
      <p:guideLst>
        <p:guide orient="horz" pos="3400"/>
        <p:guide pos="5669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74158" y="1279525"/>
            <a:ext cx="5757334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2250000" y="2083405"/>
            <a:ext cx="13500000" cy="3444096"/>
          </a:xfrm>
        </p:spPr>
        <p:txBody>
          <a:bodyPr anchor="b">
            <a:normAutofit/>
          </a:bodyPr>
          <a:lstStyle>
            <a:lvl1pPr algn="ctr">
              <a:defRPr sz="945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2250000" y="5672500"/>
            <a:ext cx="13500000" cy="2607499"/>
          </a:xfrm>
        </p:spPr>
        <p:txBody>
          <a:bodyPr>
            <a:normAutofit/>
          </a:bodyPr>
          <a:lstStyle>
            <a:lvl1pPr marL="0" indent="0" algn="ctr">
              <a:buNone/>
              <a:defRPr sz="2835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  <a:ea typeface="+mj-ea"/>
              </a:defRPr>
            </a:lvl1pPr>
            <a:lvl2pPr marL="720090" indent="0" algn="ctr">
              <a:buNone/>
              <a:defRPr sz="3150"/>
            </a:lvl2pPr>
            <a:lvl3pPr marL="1440180" indent="0" algn="ctr">
              <a:buNone/>
              <a:defRPr sz="2835"/>
            </a:lvl3pPr>
            <a:lvl4pPr marL="2160270" indent="0" algn="ctr">
              <a:buNone/>
              <a:defRPr sz="2520"/>
            </a:lvl4pPr>
            <a:lvl5pPr marL="2879725" indent="0" algn="ctr">
              <a:buNone/>
              <a:defRPr sz="2520"/>
            </a:lvl5pPr>
            <a:lvl6pPr marL="3599815" indent="0" algn="ctr">
              <a:buNone/>
              <a:defRPr sz="2520"/>
            </a:lvl6pPr>
            <a:lvl7pPr marL="4319905" indent="0" algn="ctr">
              <a:buNone/>
              <a:defRPr sz="2520"/>
            </a:lvl7pPr>
            <a:lvl8pPr marL="5039995" indent="0" algn="ctr">
              <a:buNone/>
              <a:defRPr sz="2520"/>
            </a:lvl8pPr>
            <a:lvl9pPr marL="5760085" indent="0" algn="ctr">
              <a:buNone/>
              <a:defRPr sz="252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56250" y="407000"/>
            <a:ext cx="15525000" cy="2087501"/>
          </a:xfrm>
        </p:spPr>
        <p:txBody>
          <a:bodyPr anchor="ctr" anchorCtr="0">
            <a:normAutofit/>
          </a:bodyPr>
          <a:lstStyle>
            <a:lvl1pPr>
              <a:defRPr sz="378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956250" y="2875000"/>
            <a:ext cx="15525000" cy="6852500"/>
          </a:xfrm>
        </p:spPr>
        <p:txBody>
          <a:bodyPr>
            <a:normAutofit/>
          </a:bodyPr>
          <a:lstStyle>
            <a:lvl1pPr>
              <a:defRPr sz="31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2835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252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252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252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28125" y="5907271"/>
            <a:ext cx="10809375" cy="1277727"/>
          </a:xfrm>
        </p:spPr>
        <p:txBody>
          <a:bodyPr anchor="b">
            <a:normAutofit/>
          </a:bodyPr>
          <a:lstStyle>
            <a:lvl1pPr>
              <a:defRPr sz="63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228125" y="7259886"/>
            <a:ext cx="10809375" cy="1019772"/>
          </a:xfrm>
        </p:spPr>
        <p:txBody>
          <a:bodyPr>
            <a:normAutofit/>
          </a:bodyPr>
          <a:lstStyle>
            <a:lvl1pPr marL="0" indent="0">
              <a:buNone/>
              <a:defRPr sz="2835">
                <a:solidFill>
                  <a:schemeClr val="tx1"/>
                </a:solidFill>
              </a:defRPr>
            </a:lvl1pPr>
            <a:lvl2pPr marL="720090" indent="0">
              <a:buNone/>
              <a:defRPr sz="3150">
                <a:solidFill>
                  <a:schemeClr val="tx1">
                    <a:tint val="75000"/>
                  </a:schemeClr>
                </a:solidFill>
              </a:defRPr>
            </a:lvl2pPr>
            <a:lvl3pPr marL="1440180" indent="0">
              <a:buNone/>
              <a:defRPr sz="2835">
                <a:solidFill>
                  <a:schemeClr val="tx1">
                    <a:tint val="75000"/>
                  </a:schemeClr>
                </a:solidFill>
              </a:defRPr>
            </a:lvl3pPr>
            <a:lvl4pPr marL="2160270" indent="0">
              <a:buNone/>
              <a:defRPr sz="2520">
                <a:solidFill>
                  <a:schemeClr val="tx1">
                    <a:tint val="75000"/>
                  </a:schemeClr>
                </a:solidFill>
              </a:defRPr>
            </a:lvl4pPr>
            <a:lvl5pPr marL="2879725" indent="0">
              <a:buNone/>
              <a:defRPr sz="2520">
                <a:solidFill>
                  <a:schemeClr val="tx1">
                    <a:tint val="75000"/>
                  </a:schemeClr>
                </a:solidFill>
              </a:defRPr>
            </a:lvl5pPr>
            <a:lvl6pPr marL="3599815" indent="0">
              <a:buNone/>
              <a:defRPr sz="2520">
                <a:solidFill>
                  <a:schemeClr val="tx1">
                    <a:tint val="75000"/>
                  </a:schemeClr>
                </a:solidFill>
              </a:defRPr>
            </a:lvl6pPr>
            <a:lvl7pPr marL="4319905" indent="0">
              <a:buNone/>
              <a:defRPr sz="2520">
                <a:solidFill>
                  <a:schemeClr val="tx1">
                    <a:tint val="75000"/>
                  </a:schemeClr>
                </a:solidFill>
              </a:defRPr>
            </a:lvl7pPr>
            <a:lvl8pPr marL="5039995" indent="0">
              <a:buNone/>
              <a:defRPr sz="2520">
                <a:solidFill>
                  <a:schemeClr val="tx1">
                    <a:tint val="75000"/>
                  </a:schemeClr>
                </a:solidFill>
              </a:defRPr>
            </a:lvl8pPr>
            <a:lvl9pPr marL="5760085" indent="0">
              <a:buNone/>
              <a:defRPr sz="252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56250" y="407000"/>
            <a:ext cx="15525000" cy="2087501"/>
          </a:xfrm>
        </p:spPr>
        <p:txBody>
          <a:bodyPr>
            <a:normAutofit/>
          </a:bodyPr>
          <a:lstStyle>
            <a:lvl1pPr>
              <a:defRPr sz="3780" b="1" i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956250" y="2875000"/>
            <a:ext cx="7650000" cy="6852500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31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2835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252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252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252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831250" y="2875000"/>
            <a:ext cx="7650000" cy="6852500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31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2835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252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252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252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39845" y="575000"/>
            <a:ext cx="15525000" cy="2087501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239845" y="2747970"/>
            <a:ext cx="7614843" cy="1297499"/>
          </a:xfrm>
        </p:spPr>
        <p:txBody>
          <a:bodyPr anchor="b"/>
          <a:lstStyle>
            <a:lvl1pPr marL="0" indent="0">
              <a:buNone/>
              <a:defRPr sz="3780" b="1"/>
            </a:lvl1pPr>
            <a:lvl2pPr marL="720090" indent="0">
              <a:buNone/>
              <a:defRPr sz="3150" b="1"/>
            </a:lvl2pPr>
            <a:lvl3pPr marL="1440180" indent="0">
              <a:buNone/>
              <a:defRPr sz="2835" b="1"/>
            </a:lvl3pPr>
            <a:lvl4pPr marL="2160270" indent="0">
              <a:buNone/>
              <a:defRPr sz="2520" b="1"/>
            </a:lvl4pPr>
            <a:lvl5pPr marL="2879725" indent="0">
              <a:buNone/>
              <a:defRPr sz="2520" b="1"/>
            </a:lvl5pPr>
            <a:lvl6pPr marL="3599815" indent="0">
              <a:buNone/>
              <a:defRPr sz="2520" b="1"/>
            </a:lvl6pPr>
            <a:lvl7pPr marL="4319905" indent="0">
              <a:buNone/>
              <a:defRPr sz="2520" b="1"/>
            </a:lvl7pPr>
            <a:lvl8pPr marL="5039995" indent="0">
              <a:buNone/>
              <a:defRPr sz="2520" b="1"/>
            </a:lvl8pPr>
            <a:lvl9pPr marL="5760085" indent="0">
              <a:buNone/>
              <a:defRPr sz="252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1239845" y="4119069"/>
            <a:ext cx="7614843" cy="5628431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9112500" y="2747970"/>
            <a:ext cx="7652345" cy="1297499"/>
          </a:xfrm>
        </p:spPr>
        <p:txBody>
          <a:bodyPr anchor="b"/>
          <a:lstStyle>
            <a:lvl1pPr marL="0" indent="0">
              <a:buNone/>
              <a:defRPr sz="3780" b="1"/>
            </a:lvl1pPr>
            <a:lvl2pPr marL="720090" indent="0">
              <a:buNone/>
              <a:defRPr sz="3150" b="1"/>
            </a:lvl2pPr>
            <a:lvl3pPr marL="1440180" indent="0">
              <a:buNone/>
              <a:defRPr sz="2835" b="1"/>
            </a:lvl3pPr>
            <a:lvl4pPr marL="2160270" indent="0">
              <a:buNone/>
              <a:defRPr sz="2520" b="1"/>
            </a:lvl4pPr>
            <a:lvl5pPr marL="2879725" indent="0">
              <a:buNone/>
              <a:defRPr sz="2520" b="1"/>
            </a:lvl5pPr>
            <a:lvl6pPr marL="3599815" indent="0">
              <a:buNone/>
              <a:defRPr sz="2520" b="1"/>
            </a:lvl6pPr>
            <a:lvl7pPr marL="4319905" indent="0">
              <a:buNone/>
              <a:defRPr sz="2520" b="1"/>
            </a:lvl7pPr>
            <a:lvl8pPr marL="5039995" indent="0">
              <a:buNone/>
              <a:defRPr sz="2520" b="1"/>
            </a:lvl8pPr>
            <a:lvl9pPr marL="5760085" indent="0">
              <a:buNone/>
              <a:defRPr sz="252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9112500" y="4119069"/>
            <a:ext cx="7652345" cy="5628431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37500" y="4356250"/>
            <a:ext cx="15525000" cy="2087501"/>
          </a:xfrm>
        </p:spPr>
        <p:txBody>
          <a:bodyPr>
            <a:normAutofit/>
          </a:bodyPr>
          <a:lstStyle>
            <a:lvl1pPr algn="ctr">
              <a:defRPr sz="7560" b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954843" y="200000"/>
            <a:ext cx="6149410" cy="2520000"/>
          </a:xfrm>
        </p:spPr>
        <p:txBody>
          <a:bodyPr anchor="ctr" anchorCtr="0">
            <a:normAutofit/>
          </a:bodyPr>
          <a:lstStyle>
            <a:lvl1pPr>
              <a:defRPr sz="378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7653543" y="1206857"/>
            <a:ext cx="8588644" cy="8022749"/>
          </a:xfrm>
        </p:spPr>
        <p:txBody>
          <a:bodyPr/>
          <a:lstStyle>
            <a:lvl1pPr marL="0" indent="0">
              <a:buNone/>
              <a:defRPr sz="5040"/>
            </a:lvl1pPr>
            <a:lvl2pPr marL="720090" indent="0">
              <a:buNone/>
              <a:defRPr sz="4410"/>
            </a:lvl2pPr>
            <a:lvl3pPr marL="1440180" indent="0">
              <a:buNone/>
              <a:defRPr sz="3780"/>
            </a:lvl3pPr>
            <a:lvl4pPr marL="2160270" indent="0">
              <a:buNone/>
              <a:defRPr sz="3150"/>
            </a:lvl4pPr>
            <a:lvl5pPr marL="2879725" indent="0">
              <a:buNone/>
              <a:defRPr sz="3150"/>
            </a:lvl5pPr>
            <a:lvl6pPr marL="3599815" indent="0">
              <a:buNone/>
              <a:defRPr sz="3150"/>
            </a:lvl6pPr>
            <a:lvl7pPr marL="4319905" indent="0">
              <a:buNone/>
              <a:defRPr sz="3150"/>
            </a:lvl7pPr>
            <a:lvl8pPr marL="5039995" indent="0">
              <a:buNone/>
              <a:defRPr sz="3150"/>
            </a:lvl8pPr>
            <a:lvl9pPr marL="5760085" indent="0">
              <a:buNone/>
              <a:defRPr sz="315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962343" y="3240000"/>
            <a:ext cx="6149410" cy="6002500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2520"/>
            </a:lvl1pPr>
            <a:lvl2pPr marL="720090" indent="0">
              <a:buNone/>
              <a:defRPr sz="2205"/>
            </a:lvl2pPr>
            <a:lvl3pPr marL="1440180" indent="0">
              <a:buNone/>
              <a:defRPr sz="1890"/>
            </a:lvl3pPr>
            <a:lvl4pPr marL="2160270" indent="0">
              <a:buNone/>
              <a:defRPr sz="1575"/>
            </a:lvl4pPr>
            <a:lvl5pPr marL="2879725" indent="0">
              <a:buNone/>
              <a:defRPr sz="1575"/>
            </a:lvl5pPr>
            <a:lvl6pPr marL="3599815" indent="0">
              <a:buNone/>
              <a:defRPr sz="1575"/>
            </a:lvl6pPr>
            <a:lvl7pPr marL="4319905" indent="0">
              <a:buNone/>
              <a:defRPr sz="1575"/>
            </a:lvl7pPr>
            <a:lvl8pPr marL="5039995" indent="0">
              <a:buNone/>
              <a:defRPr sz="1575"/>
            </a:lvl8pPr>
            <a:lvl9pPr marL="5760085" indent="0">
              <a:buNone/>
              <a:defRPr sz="1575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cxnSp>
        <p:nvCxnSpPr>
          <p:cNvPr id="8" name="直接连接符 7" hidden="1"/>
          <p:cNvCxnSpPr/>
          <p:nvPr userDrawn="1"/>
        </p:nvCxnSpPr>
        <p:spPr>
          <a:xfrm>
            <a:off x="1096875" y="684000"/>
            <a:ext cx="0" cy="2191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14504652" y="575000"/>
            <a:ext cx="2257848" cy="9152500"/>
          </a:xfrm>
        </p:spPr>
        <p:txBody>
          <a:bodyPr vert="eaVert">
            <a:normAutofit/>
          </a:bodyPr>
          <a:lstStyle>
            <a:lvl1pPr>
              <a:defRPr sz="567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237500" y="575000"/>
            <a:ext cx="13110174" cy="9152500"/>
          </a:xfrm>
        </p:spPr>
        <p:txBody>
          <a:bodyPr vert="eaVert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1237500" y="868572"/>
            <a:ext cx="15525000" cy="8754285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tags" Target="../tags/tag3.xml"/><Relationship Id="rId12" Type="http://schemas.openxmlformats.org/officeDocument/2006/relationships/tags" Target="../tags/tag2.xml"/><Relationship Id="rId11" Type="http://schemas.openxmlformats.org/officeDocument/2006/relationships/tags" Target="../tags/tag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>
          <a:gsLst>
            <a:gs pos="0">
              <a:schemeClr val="bg1">
                <a:lumMod val="95000"/>
              </a:schemeClr>
            </a:gs>
            <a:gs pos="100000">
              <a:schemeClr val="tx2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1"/>
            </p:custDataLst>
          </p:nvPr>
        </p:nvSpPr>
        <p:spPr>
          <a:xfrm>
            <a:off x="1237500" y="575000"/>
            <a:ext cx="15525000" cy="20875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2"/>
            </p:custDataLst>
          </p:nvPr>
        </p:nvSpPr>
        <p:spPr>
          <a:xfrm>
            <a:off x="1237500" y="2875000"/>
            <a:ext cx="15525000" cy="68525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1237500" y="10009999"/>
            <a:ext cx="4050000" cy="575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89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5962500" y="10009999"/>
            <a:ext cx="6075000" cy="575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89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2712500" y="10009999"/>
            <a:ext cx="4050000" cy="575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89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KSO_TEMPLATE" hidden="1"/>
          <p:cNvSpPr/>
          <p:nvPr userDrawn="1">
            <p:custDataLst>
              <p:tags r:id="rId13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1440180" rtl="0" eaLnBrk="1" latinLnBrk="0" hangingPunct="1">
        <a:lnSpc>
          <a:spcPct val="90000"/>
        </a:lnSpc>
        <a:spcBef>
          <a:spcPct val="0"/>
        </a:spcBef>
        <a:buNone/>
        <a:defRPr sz="6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60045" indent="-360045" algn="l" defTabSz="1440180" rtl="0" eaLnBrk="1" latinLnBrk="0" hangingPunct="1">
        <a:lnSpc>
          <a:spcPct val="90000"/>
        </a:lnSpc>
        <a:spcBef>
          <a:spcPts val="1575"/>
        </a:spcBef>
        <a:buFont typeface="Arial" panose="020B0604020202020204" pitchFamily="34" charset="0"/>
        <a:buChar char="•"/>
        <a:defRPr sz="3780" kern="1200">
          <a:solidFill>
            <a:schemeClr val="tx1"/>
          </a:solidFill>
          <a:latin typeface="+mn-lt"/>
          <a:ea typeface="+mn-ea"/>
          <a:cs typeface="+mn-cs"/>
        </a:defRPr>
      </a:lvl1pPr>
      <a:lvl2pPr marL="1080135" indent="-360045" algn="l" defTabSz="1440180" rtl="0" eaLnBrk="1" latinLnBrk="0" hangingPunct="1">
        <a:lnSpc>
          <a:spcPct val="90000"/>
        </a:lnSpc>
        <a:spcBef>
          <a:spcPct val="158000"/>
        </a:spcBef>
        <a:buFont typeface="Arial" panose="020B0604020202020204" pitchFamily="34" charset="0"/>
        <a:buChar char="•"/>
        <a:defRPr sz="3150" kern="1200">
          <a:solidFill>
            <a:schemeClr val="tx1"/>
          </a:solidFill>
          <a:latin typeface="+mn-lt"/>
          <a:ea typeface="+mn-ea"/>
          <a:cs typeface="+mn-cs"/>
        </a:defRPr>
      </a:lvl2pPr>
      <a:lvl3pPr marL="1800225" indent="-360045" algn="l" defTabSz="1440180" rtl="0" eaLnBrk="1" latinLnBrk="0" hangingPunct="1">
        <a:lnSpc>
          <a:spcPct val="90000"/>
        </a:lnSpc>
        <a:spcBef>
          <a:spcPct val="158000"/>
        </a:spcBef>
        <a:buFont typeface="Arial" panose="020B060402020202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3pPr>
      <a:lvl4pPr marL="2520315" indent="-360045" algn="l" defTabSz="1440180" rtl="0" eaLnBrk="1" latinLnBrk="0" hangingPunct="1">
        <a:lnSpc>
          <a:spcPct val="90000"/>
        </a:lnSpc>
        <a:spcBef>
          <a:spcPct val="158000"/>
        </a:spcBef>
        <a:buFont typeface="Arial" panose="020B060402020202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4pPr>
      <a:lvl5pPr marL="3239770" indent="-360045" algn="l" defTabSz="1440180" rtl="0" eaLnBrk="1" latinLnBrk="0" hangingPunct="1">
        <a:lnSpc>
          <a:spcPct val="90000"/>
        </a:lnSpc>
        <a:spcBef>
          <a:spcPct val="158000"/>
        </a:spcBef>
        <a:buFont typeface="Arial" panose="020B060402020202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5pPr>
      <a:lvl6pPr marL="3959860" indent="-360045" algn="l" defTabSz="1440180" rtl="0" eaLnBrk="1" latinLnBrk="0" hangingPunct="1">
        <a:lnSpc>
          <a:spcPct val="90000"/>
        </a:lnSpc>
        <a:spcBef>
          <a:spcPct val="158000"/>
        </a:spcBef>
        <a:buFont typeface="Arial" panose="020B060402020202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6pPr>
      <a:lvl7pPr marL="4679950" indent="-360045" algn="l" defTabSz="1440180" rtl="0" eaLnBrk="1" latinLnBrk="0" hangingPunct="1">
        <a:lnSpc>
          <a:spcPct val="90000"/>
        </a:lnSpc>
        <a:spcBef>
          <a:spcPct val="158000"/>
        </a:spcBef>
        <a:buFont typeface="Arial" panose="020B060402020202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7pPr>
      <a:lvl8pPr marL="5400040" indent="-360045" algn="l" defTabSz="1440180" rtl="0" eaLnBrk="1" latinLnBrk="0" hangingPunct="1">
        <a:lnSpc>
          <a:spcPct val="90000"/>
        </a:lnSpc>
        <a:spcBef>
          <a:spcPct val="158000"/>
        </a:spcBef>
        <a:buFont typeface="Arial" panose="020B060402020202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8pPr>
      <a:lvl9pPr marL="6120130" indent="-360045" algn="l" defTabSz="1440180" rtl="0" eaLnBrk="1" latinLnBrk="0" hangingPunct="1">
        <a:lnSpc>
          <a:spcPct val="90000"/>
        </a:lnSpc>
        <a:spcBef>
          <a:spcPct val="158000"/>
        </a:spcBef>
        <a:buFont typeface="Arial" panose="020B060402020202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440180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1pPr>
      <a:lvl2pPr marL="720090" algn="l" defTabSz="1440180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2pPr>
      <a:lvl3pPr marL="1440180" algn="l" defTabSz="1440180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3pPr>
      <a:lvl4pPr marL="2160270" algn="l" defTabSz="1440180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4pPr>
      <a:lvl5pPr marL="2879725" algn="l" defTabSz="1440180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5pPr>
      <a:lvl6pPr marL="3599815" algn="l" defTabSz="1440180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6pPr>
      <a:lvl7pPr marL="4319905" algn="l" defTabSz="1440180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7pPr>
      <a:lvl8pPr marL="5039995" algn="l" defTabSz="1440180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8pPr>
      <a:lvl9pPr marL="5760085" algn="l" defTabSz="1440180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7244225" y="595590"/>
            <a:ext cx="3511550" cy="659765"/>
          </a:xfrm>
          <a:prstGeom prst="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altLang="en-US"/>
              <a:t>不同时期样品</a:t>
            </a:r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3184670" y="2224365"/>
            <a:ext cx="2600325" cy="505460"/>
          </a:xfrm>
          <a:prstGeom prst="rect">
            <a:avLst/>
          </a:prstGeom>
          <a:ln w="38100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分别转录组测序</a:t>
            </a:r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6387610" y="2224365"/>
            <a:ext cx="2894330" cy="505460"/>
          </a:xfrm>
          <a:prstGeom prst="rect">
            <a:avLst/>
          </a:prstGeom>
          <a:ln w="38100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分别</a:t>
            </a:r>
            <a:r>
              <a:rPr lang="en-US" altLang="zh-CN"/>
              <a:t>miRNA</a:t>
            </a:r>
            <a:endParaRPr lang="en-US" altLang="zh-CN"/>
          </a:p>
        </p:txBody>
      </p:sp>
      <p:sp>
        <p:nvSpPr>
          <p:cNvPr id="9" name="矩形 8"/>
          <p:cNvSpPr/>
          <p:nvPr/>
        </p:nvSpPr>
        <p:spPr>
          <a:xfrm>
            <a:off x="12579350" y="2125980"/>
            <a:ext cx="3210560" cy="505460"/>
          </a:xfrm>
          <a:prstGeom prst="rect">
            <a:avLst/>
          </a:prstGeom>
          <a:ln w="38100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分别降解组测序</a:t>
            </a:r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10070465" y="2828925"/>
            <a:ext cx="2078355" cy="505460"/>
          </a:xfrm>
          <a:prstGeom prst="rect">
            <a:avLst/>
          </a:prstGeom>
          <a:ln w="38100">
            <a:solidFill>
              <a:srgbClr val="202020"/>
            </a:solidFill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qPCR</a:t>
            </a:r>
            <a:r>
              <a:rPr lang="zh-CN" altLang="en-US"/>
              <a:t>验证</a:t>
            </a:r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3732675" y="3122890"/>
            <a:ext cx="1687830" cy="505460"/>
          </a:xfrm>
          <a:prstGeom prst="rect">
            <a:avLst/>
          </a:prstGeom>
          <a:ln w="95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altLang="en-US"/>
              <a:t>序列拼接</a:t>
            </a:r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3504075" y="4008080"/>
            <a:ext cx="2145030" cy="505460"/>
          </a:xfrm>
          <a:prstGeom prst="rect">
            <a:avLst/>
          </a:prstGeom>
          <a:ln w="95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altLang="en-US"/>
              <a:t>长度分布统计</a:t>
            </a:r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3504075" y="4865330"/>
            <a:ext cx="2145030" cy="505460"/>
          </a:xfrm>
          <a:prstGeom prst="rect">
            <a:avLst/>
          </a:prstGeom>
          <a:ln w="95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altLang="zh-CN"/>
              <a:t>GO,KEGG</a:t>
            </a:r>
            <a:r>
              <a:rPr lang="zh-CN" altLang="en-US"/>
              <a:t>注释</a:t>
            </a:r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3293255" y="5765125"/>
            <a:ext cx="2883535" cy="505460"/>
          </a:xfrm>
          <a:prstGeom prst="rect">
            <a:avLst/>
          </a:prstGeom>
          <a:ln w="95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altLang="en-US"/>
              <a:t>样品中表达的所有基因</a:t>
            </a:r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6049790" y="3254970"/>
            <a:ext cx="3232150" cy="1258570"/>
          </a:xfrm>
          <a:prstGeom prst="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altLang="en-US"/>
              <a:t>进行</a:t>
            </a:r>
            <a:r>
              <a:rPr lang="en-US" altLang="zh-CN"/>
              <a:t>MIrbase</a:t>
            </a:r>
            <a:r>
              <a:rPr lang="zh-CN" altLang="en-US"/>
              <a:t>数据库；近缘物种基因组，</a:t>
            </a:r>
            <a:r>
              <a:rPr lang="en-US" altLang="zh-CN"/>
              <a:t>ncbi</a:t>
            </a:r>
            <a:r>
              <a:rPr lang="zh-CN" altLang="en-US"/>
              <a:t>报道的尘螨</a:t>
            </a:r>
            <a:r>
              <a:rPr lang="en-US" altLang="zh-CN"/>
              <a:t>EST</a:t>
            </a:r>
            <a:r>
              <a:rPr lang="zh-CN" altLang="en-US"/>
              <a:t>序列，</a:t>
            </a:r>
            <a:r>
              <a:rPr lang="en-US" altLang="zh-CN"/>
              <a:t>RFAM,Repbase</a:t>
            </a:r>
            <a:r>
              <a:rPr lang="zh-CN" altLang="en-US"/>
              <a:t>数据库比对分类</a:t>
            </a:r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6631940" y="5235575"/>
            <a:ext cx="2649220" cy="946150"/>
          </a:xfrm>
          <a:prstGeom prst="rect">
            <a:avLst/>
          </a:prstGeom>
          <a:ln w="95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altLang="en-US"/>
              <a:t>该物种中节肢动物界保守</a:t>
            </a:r>
            <a:r>
              <a:rPr lang="en-US" altLang="zh-CN"/>
              <a:t>miRNA</a:t>
            </a:r>
            <a:r>
              <a:rPr lang="zh-CN" altLang="en-US"/>
              <a:t>与特异的</a:t>
            </a:r>
            <a:r>
              <a:rPr lang="en-US" altLang="zh-CN">
                <a:sym typeface="+mn-ea"/>
              </a:rPr>
              <a:t>miRNA</a:t>
            </a:r>
            <a:r>
              <a:rPr lang="zh-CN" altLang="en-US">
                <a:sym typeface="+mn-ea"/>
              </a:rPr>
              <a:t>及差异表达</a:t>
            </a:r>
            <a:endParaRPr lang="zh-CN" altLang="en-US">
              <a:sym typeface="+mn-ea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3293110" y="7181850"/>
            <a:ext cx="2883535" cy="793750"/>
          </a:xfrm>
          <a:prstGeom prst="rect">
            <a:avLst/>
          </a:prstGeom>
          <a:ln w="9525"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altLang="en-US"/>
              <a:t>样品之间差异表达基因与</a:t>
            </a:r>
            <a:r>
              <a:rPr lang="en-US" altLang="zh-CN"/>
              <a:t>SNV</a:t>
            </a:r>
            <a:r>
              <a:rPr lang="zh-CN" altLang="en-US"/>
              <a:t>基因</a:t>
            </a:r>
            <a:endParaRPr lang="zh-CN" altLang="en-US"/>
          </a:p>
        </p:txBody>
      </p:sp>
      <p:sp>
        <p:nvSpPr>
          <p:cNvPr id="18" name="矩形 17"/>
          <p:cNvSpPr/>
          <p:nvPr/>
        </p:nvSpPr>
        <p:spPr>
          <a:xfrm>
            <a:off x="3293110" y="8713470"/>
            <a:ext cx="2883535" cy="593725"/>
          </a:xfrm>
          <a:prstGeom prst="rect">
            <a:avLst/>
          </a:prstGeom>
          <a:ln w="9525"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altLang="zh-CN">
                <a:sym typeface="+mn-ea"/>
              </a:rPr>
              <a:t>GO,KEGG</a:t>
            </a:r>
            <a:r>
              <a:rPr lang="zh-CN" altLang="en-US">
                <a:sym typeface="+mn-ea"/>
              </a:rPr>
              <a:t>富集性分析</a:t>
            </a:r>
            <a:endParaRPr lang="zh-CN" altLang="en-US">
              <a:sym typeface="+mn-ea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12886055" y="3502660"/>
            <a:ext cx="2273935" cy="505460"/>
          </a:xfrm>
          <a:prstGeom prst="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altLang="en-US"/>
              <a:t>降解组片段</a:t>
            </a:r>
            <a:endParaRPr lang="zh-CN" altLang="en-US"/>
          </a:p>
        </p:txBody>
      </p:sp>
      <p:sp>
        <p:nvSpPr>
          <p:cNvPr id="20" name="矩形 19"/>
          <p:cNvSpPr/>
          <p:nvPr/>
        </p:nvSpPr>
        <p:spPr>
          <a:xfrm>
            <a:off x="13646785" y="4486910"/>
            <a:ext cx="788035" cy="2423795"/>
          </a:xfrm>
          <a:prstGeom prst="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altLang="en-US"/>
              <a:t>动物降解组数据运算程序</a:t>
            </a:r>
            <a:endParaRPr lang="zh-CN" altLang="en-US"/>
          </a:p>
        </p:txBody>
      </p:sp>
      <p:sp>
        <p:nvSpPr>
          <p:cNvPr id="21" name="矩形 20"/>
          <p:cNvSpPr/>
          <p:nvPr/>
        </p:nvSpPr>
        <p:spPr>
          <a:xfrm>
            <a:off x="12939395" y="7425055"/>
            <a:ext cx="2273935" cy="505460"/>
          </a:xfrm>
          <a:prstGeom prst="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altLang="zh-CN">
                <a:sym typeface="+mn-ea"/>
              </a:rPr>
              <a:t>miRNA</a:t>
            </a:r>
            <a:r>
              <a:rPr lang="zh-CN" altLang="en-US">
                <a:sym typeface="+mn-ea"/>
              </a:rPr>
              <a:t>靶基因</a:t>
            </a:r>
            <a:endParaRPr lang="zh-CN" altLang="en-US">
              <a:sym typeface="+mn-ea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12886055" y="8382000"/>
            <a:ext cx="2580005" cy="925195"/>
          </a:xfrm>
          <a:prstGeom prst="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altLang="en-US"/>
              <a:t>同时筛选剪切方式负控的</a:t>
            </a:r>
            <a:r>
              <a:rPr lang="en-US" altLang="zh-CN">
                <a:sym typeface="+mn-ea"/>
              </a:rPr>
              <a:t>miRNA</a:t>
            </a:r>
            <a:endParaRPr lang="zh-CN" altLang="en-US"/>
          </a:p>
        </p:txBody>
      </p:sp>
      <p:cxnSp>
        <p:nvCxnSpPr>
          <p:cNvPr id="23" name="直接箭头连接符 22"/>
          <p:cNvCxnSpPr>
            <a:stCxn id="7" idx="2"/>
          </p:cNvCxnSpPr>
          <p:nvPr/>
        </p:nvCxnSpPr>
        <p:spPr>
          <a:xfrm>
            <a:off x="4485005" y="2712085"/>
            <a:ext cx="3810" cy="43200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箭头连接符 23"/>
          <p:cNvCxnSpPr/>
          <p:nvPr/>
        </p:nvCxnSpPr>
        <p:spPr>
          <a:xfrm>
            <a:off x="4530090" y="3667760"/>
            <a:ext cx="6985" cy="36000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箭头连接符 24"/>
          <p:cNvCxnSpPr/>
          <p:nvPr/>
        </p:nvCxnSpPr>
        <p:spPr>
          <a:xfrm>
            <a:off x="4573270" y="4483735"/>
            <a:ext cx="6985" cy="41400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箭头连接符 25"/>
          <p:cNvCxnSpPr/>
          <p:nvPr/>
        </p:nvCxnSpPr>
        <p:spPr>
          <a:xfrm>
            <a:off x="4572635" y="5370830"/>
            <a:ext cx="6985" cy="44280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箭头连接符 26"/>
          <p:cNvCxnSpPr/>
          <p:nvPr/>
        </p:nvCxnSpPr>
        <p:spPr>
          <a:xfrm>
            <a:off x="4554855" y="6311900"/>
            <a:ext cx="18415" cy="87630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箭头连接符 27"/>
          <p:cNvCxnSpPr/>
          <p:nvPr/>
        </p:nvCxnSpPr>
        <p:spPr>
          <a:xfrm>
            <a:off x="4568825" y="8049895"/>
            <a:ext cx="22860" cy="663575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箭头连接符 28"/>
          <p:cNvCxnSpPr/>
          <p:nvPr/>
        </p:nvCxnSpPr>
        <p:spPr>
          <a:xfrm>
            <a:off x="7762240" y="2693035"/>
            <a:ext cx="13970" cy="549275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箭头连接符 29"/>
          <p:cNvCxnSpPr/>
          <p:nvPr/>
        </p:nvCxnSpPr>
        <p:spPr>
          <a:xfrm>
            <a:off x="7827010" y="4483735"/>
            <a:ext cx="5080" cy="751205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箭头连接符 30"/>
          <p:cNvCxnSpPr/>
          <p:nvPr/>
        </p:nvCxnSpPr>
        <p:spPr>
          <a:xfrm>
            <a:off x="11098530" y="1692910"/>
            <a:ext cx="11430" cy="1136015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箭头连接符 31"/>
          <p:cNvCxnSpPr/>
          <p:nvPr/>
        </p:nvCxnSpPr>
        <p:spPr>
          <a:xfrm flipH="1">
            <a:off x="14055725" y="2631440"/>
            <a:ext cx="4445" cy="88200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箭头连接符 32"/>
          <p:cNvCxnSpPr/>
          <p:nvPr/>
        </p:nvCxnSpPr>
        <p:spPr>
          <a:xfrm>
            <a:off x="14069060" y="3980815"/>
            <a:ext cx="8890" cy="50400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箭头连接符 33"/>
          <p:cNvCxnSpPr/>
          <p:nvPr/>
        </p:nvCxnSpPr>
        <p:spPr>
          <a:xfrm>
            <a:off x="14077950" y="6910705"/>
            <a:ext cx="0" cy="49657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箭头连接符 34"/>
          <p:cNvCxnSpPr/>
          <p:nvPr/>
        </p:nvCxnSpPr>
        <p:spPr>
          <a:xfrm>
            <a:off x="14095730" y="7975600"/>
            <a:ext cx="635" cy="41400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箭头连接符 36"/>
          <p:cNvCxnSpPr/>
          <p:nvPr/>
        </p:nvCxnSpPr>
        <p:spPr>
          <a:xfrm>
            <a:off x="4488815" y="1692910"/>
            <a:ext cx="14605" cy="56515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箭头连接符 37"/>
          <p:cNvCxnSpPr/>
          <p:nvPr/>
        </p:nvCxnSpPr>
        <p:spPr>
          <a:xfrm>
            <a:off x="14037945" y="1692910"/>
            <a:ext cx="6350" cy="433070"/>
          </a:xfrm>
          <a:prstGeom prst="straightConnector1">
            <a:avLst/>
          </a:prstGeom>
          <a:ln w="38100"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直接连接符 38"/>
          <p:cNvCxnSpPr/>
          <p:nvPr/>
        </p:nvCxnSpPr>
        <p:spPr>
          <a:xfrm>
            <a:off x="4490085" y="1692910"/>
            <a:ext cx="956564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连接符 39"/>
          <p:cNvCxnSpPr>
            <a:stCxn id="6" idx="2"/>
          </p:cNvCxnSpPr>
          <p:nvPr/>
        </p:nvCxnSpPr>
        <p:spPr>
          <a:xfrm flipH="1">
            <a:off x="8999220" y="1255395"/>
            <a:ext cx="635" cy="41910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肘形连接符 40"/>
          <p:cNvCxnSpPr>
            <a:stCxn id="16" idx="3"/>
            <a:endCxn id="10" idx="1"/>
          </p:cNvCxnSpPr>
          <p:nvPr/>
        </p:nvCxnSpPr>
        <p:spPr>
          <a:xfrm flipV="1">
            <a:off x="9281160" y="3081655"/>
            <a:ext cx="789305" cy="2626995"/>
          </a:xfrm>
          <a:prstGeom prst="bentConnector3">
            <a:avLst>
              <a:gd name="adj1" fmla="val 50040"/>
            </a:avLst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连接符 47"/>
          <p:cNvCxnSpPr/>
          <p:nvPr/>
        </p:nvCxnSpPr>
        <p:spPr>
          <a:xfrm flipV="1">
            <a:off x="6205855" y="7534910"/>
            <a:ext cx="4947285" cy="1778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接箭头连接符 48"/>
          <p:cNvCxnSpPr>
            <a:endCxn id="10" idx="2"/>
          </p:cNvCxnSpPr>
          <p:nvPr/>
        </p:nvCxnSpPr>
        <p:spPr>
          <a:xfrm flipH="1" flipV="1">
            <a:off x="11109960" y="3334385"/>
            <a:ext cx="43180" cy="4218305"/>
          </a:xfrm>
          <a:prstGeom prst="straightConnector1">
            <a:avLst/>
          </a:prstGeom>
          <a:ln w="38100">
            <a:solidFill>
              <a:srgbClr val="20202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文本框 49"/>
          <p:cNvSpPr txBox="1"/>
          <p:nvPr/>
        </p:nvSpPr>
        <p:spPr>
          <a:xfrm>
            <a:off x="12148820" y="5869305"/>
            <a:ext cx="1199515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2400" b="1">
                <a:solidFill>
                  <a:srgbClr val="FF0000"/>
                </a:solidFill>
              </a:rPr>
              <a:t>miRNA</a:t>
            </a:r>
            <a:endParaRPr lang="en-US" altLang="zh-CN" sz="2400" b="1">
              <a:solidFill>
                <a:srgbClr val="FF0000"/>
              </a:solidFill>
            </a:endParaRPr>
          </a:p>
        </p:txBody>
      </p:sp>
      <p:sp>
        <p:nvSpPr>
          <p:cNvPr id="51" name="文本框 50"/>
          <p:cNvSpPr txBox="1"/>
          <p:nvPr/>
        </p:nvSpPr>
        <p:spPr>
          <a:xfrm>
            <a:off x="12148820" y="6311900"/>
            <a:ext cx="145288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 b="1">
                <a:solidFill>
                  <a:srgbClr val="FF0000"/>
                </a:solidFill>
              </a:rPr>
              <a:t>mRNA</a:t>
            </a:r>
            <a:endParaRPr lang="en-US" altLang="zh-CN" sz="2400" b="1">
              <a:solidFill>
                <a:srgbClr val="FF0000"/>
              </a:solidFill>
            </a:endParaRPr>
          </a:p>
        </p:txBody>
      </p:sp>
      <p:sp>
        <p:nvSpPr>
          <p:cNvPr id="60" name="矩形 59"/>
          <p:cNvSpPr/>
          <p:nvPr/>
        </p:nvSpPr>
        <p:spPr>
          <a:xfrm>
            <a:off x="7849870" y="9873615"/>
            <a:ext cx="3053715" cy="396875"/>
          </a:xfrm>
          <a:prstGeom prst="rect">
            <a:avLst/>
          </a:prstGeom>
          <a:solidFill>
            <a:schemeClr val="bg1"/>
          </a:solidFill>
          <a:ln w="38100">
            <a:solidFill>
              <a:srgbClr val="202020"/>
            </a:solidFill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sz="2400">
                <a:solidFill>
                  <a:schemeClr val="tx1"/>
                </a:solidFill>
              </a:rPr>
              <a:t>筛选感兴趣基筛选因</a:t>
            </a:r>
            <a:endParaRPr lang="zh-CN" sz="2400">
              <a:solidFill>
                <a:schemeClr val="tx1"/>
              </a:solidFill>
            </a:endParaRPr>
          </a:p>
        </p:txBody>
      </p:sp>
      <p:sp>
        <p:nvSpPr>
          <p:cNvPr id="2" name="左大括号 1"/>
          <p:cNvSpPr/>
          <p:nvPr/>
        </p:nvSpPr>
        <p:spPr>
          <a:xfrm rot="16200000">
            <a:off x="9110980" y="4787265"/>
            <a:ext cx="394335" cy="9433560"/>
          </a:xfrm>
          <a:prstGeom prst="leftBrac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4" name="直接连接符 3"/>
          <p:cNvCxnSpPr/>
          <p:nvPr/>
        </p:nvCxnSpPr>
        <p:spPr>
          <a:xfrm>
            <a:off x="7837170" y="6189980"/>
            <a:ext cx="12700" cy="13320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连接符 4"/>
          <p:cNvCxnSpPr/>
          <p:nvPr/>
        </p:nvCxnSpPr>
        <p:spPr>
          <a:xfrm>
            <a:off x="5636260" y="6270625"/>
            <a:ext cx="12700" cy="49320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接箭头连接符 46"/>
          <p:cNvCxnSpPr/>
          <p:nvPr/>
        </p:nvCxnSpPr>
        <p:spPr>
          <a:xfrm flipV="1">
            <a:off x="5608320" y="6767830"/>
            <a:ext cx="8027670" cy="4445"/>
          </a:xfrm>
          <a:prstGeom prst="straightConnector1">
            <a:avLst/>
          </a:prstGeom>
          <a:ln w="38100">
            <a:solidFill>
              <a:srgbClr val="20202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接箭头连接符 51"/>
          <p:cNvCxnSpPr/>
          <p:nvPr/>
        </p:nvCxnSpPr>
        <p:spPr>
          <a:xfrm>
            <a:off x="7849235" y="6329680"/>
            <a:ext cx="5805170" cy="18415"/>
          </a:xfrm>
          <a:prstGeom prst="straightConnector1">
            <a:avLst/>
          </a:prstGeom>
          <a:ln w="38100">
            <a:solidFill>
              <a:srgbClr val="20202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接箭头连接符 52"/>
          <p:cNvCxnSpPr/>
          <p:nvPr/>
        </p:nvCxnSpPr>
        <p:spPr>
          <a:xfrm>
            <a:off x="7761605" y="1692910"/>
            <a:ext cx="14605" cy="56515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TAG_VERSION" val="1.0"/>
  <p:tag name="KSO_WM_TEMPLATE_CATEGORY" val="custom"/>
  <p:tag name="KSO_WM_TEMPLATE_INDEX" val="20187308"/>
</p:tagLst>
</file>

<file path=ppt/tags/tag2.xml><?xml version="1.0" encoding="utf-8"?>
<p:tagLst xmlns:p="http://schemas.openxmlformats.org/presentationml/2006/main">
  <p:tag name="KSO_WM_TAG_VERSION" val="1.0"/>
  <p:tag name="KSO_WM_TEMPLATE_CATEGORY" val="custom"/>
  <p:tag name="KSO_WM_TEMPLATE_INDEX" val="20187308"/>
</p:tagLst>
</file>

<file path=ppt/tags/tag3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20187308"/>
  <p:tag name="KSO_WM_TEMPLATE_THUMBS_INDEX" val="1、2、3、6、8、10、11、12、15"/>
</p:tagLst>
</file>

<file path=ppt/tags/tag4.xml><?xml version="1.0" encoding="utf-8"?>
<p:tagLst xmlns:p="http://schemas.openxmlformats.org/presentationml/2006/main">
  <p:tag name="KSO_WM_SLIDE_ID" val="custom20187308_1"/>
  <p:tag name="KSO_WM_SLIDE_TYPE" val="title"/>
  <p:tag name="KSO_WM_SLIDE_SUBTYPE" val="pureTxt"/>
  <p:tag name="KSO_WM_SLIDE_ITEM_CNT" val="2"/>
  <p:tag name="KSO_WM_SLIDE_INDEX" val="1"/>
  <p:tag name="KSO_WM_TAG_VERSION" val="1.0"/>
  <p:tag name="KSO_WM_BEAUTIFY_FLAG" val="#wm#"/>
  <p:tag name="KSO_WM_TEMPLATE_CATEGORY" val="custom"/>
  <p:tag name="KSO_WM_TEMPLATE_INDEX" val="20187308"/>
  <p:tag name="KSO_WM_SLIDE_LAYOUT" val="a_b"/>
  <p:tag name="KSO_WM_SLIDE_LAYOUT_CNT" val="1_1"/>
  <p:tag name="KSO_WM_TEMPLATE_THUMBS_INDEX" val="1、2、3、6、8、10、11、12、15"/>
</p:tagLst>
</file>

<file path=ppt/theme/theme1.xml><?xml version="1.0" encoding="utf-8"?>
<a:theme xmlns:a="http://schemas.openxmlformats.org/drawingml/2006/main" name="Office 主题​​">
  <a:themeElements>
    <a:clrScheme name="2019空白演示文档">
      <a:dk1>
        <a:srgbClr val="000000"/>
      </a:dk1>
      <a:lt1>
        <a:srgbClr val="FFFFFF"/>
      </a:lt1>
      <a:dk2>
        <a:srgbClr val="E6E4E4"/>
      </a:dk2>
      <a:lt2>
        <a:srgbClr val="FFFFFF"/>
      </a:lt2>
      <a:accent1>
        <a:srgbClr val="477DEA"/>
      </a:accent1>
      <a:accent2>
        <a:srgbClr val="9B9B9B"/>
      </a:accent2>
      <a:accent3>
        <a:srgbClr val="F3B745"/>
      </a:accent3>
      <a:accent4>
        <a:srgbClr val="477EE7"/>
      </a:accent4>
      <a:accent5>
        <a:srgbClr val="4BA151"/>
      </a:accent5>
      <a:accent6>
        <a:srgbClr val="E9403C"/>
      </a:accent6>
      <a:hlink>
        <a:srgbClr val="0563C1"/>
      </a:hlink>
      <a:folHlink>
        <a:srgbClr val="954D72"/>
      </a:folHlink>
    </a:clrScheme>
    <a:fontScheme name="2019空白演示文档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233</Words>
  <Application>WPS 演示</Application>
  <PresentationFormat>宽屏</PresentationFormat>
  <Paragraphs>40</Paragraphs>
  <Slides>1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宋体</vt:lpstr>
      <vt:lpstr>Wingdings</vt:lpstr>
      <vt:lpstr>微软雅黑</vt:lpstr>
      <vt:lpstr>Arial Unicode MS</vt:lpstr>
      <vt:lpstr>等线</vt:lpstr>
      <vt:lpstr>Calibri</vt:lpstr>
      <vt:lpstr>Office 主题​​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kingsoft</dc:creator>
  <cp:lastModifiedBy>111</cp:lastModifiedBy>
  <cp:revision>395</cp:revision>
  <dcterms:created xsi:type="dcterms:W3CDTF">2017-08-03T09:01:00Z</dcterms:created>
  <dcterms:modified xsi:type="dcterms:W3CDTF">2021-03-15T06:02:24Z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2052-11.1.0.10314</vt:lpwstr>
  </property>
</Properties>
</file>