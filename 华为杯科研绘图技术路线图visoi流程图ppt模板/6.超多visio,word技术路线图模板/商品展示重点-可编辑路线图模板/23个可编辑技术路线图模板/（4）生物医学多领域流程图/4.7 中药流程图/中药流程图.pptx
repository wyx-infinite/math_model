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21599525" cy="1079944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3658"/>
        <p:guide pos="677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8425" y="1279525"/>
            <a:ext cx="69088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00003" y="2083512"/>
            <a:ext cx="16200015" cy="3444273"/>
          </a:xfrm>
        </p:spPr>
        <p:txBody>
          <a:bodyPr anchor="b">
            <a:normAutofit/>
          </a:bodyPr>
          <a:lstStyle>
            <a:lvl1pPr algn="ctr">
              <a:defRPr sz="94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00003" y="5672791"/>
            <a:ext cx="16200015" cy="2607633"/>
          </a:xfrm>
        </p:spPr>
        <p:txBody>
          <a:bodyPr>
            <a:normAutofit/>
          </a:bodyPr>
          <a:lstStyle>
            <a:lvl1pPr marL="0" indent="0" algn="ctr">
              <a:buNone/>
              <a:defRPr sz="283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720090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60270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599815" indent="0" algn="ctr">
              <a:buNone/>
              <a:defRPr sz="2520"/>
            </a:lvl6pPr>
            <a:lvl7pPr marL="4319905" indent="0" algn="ctr">
              <a:buNone/>
              <a:defRPr sz="2520"/>
            </a:lvl7pPr>
            <a:lvl8pPr marL="5039995" indent="0" algn="ctr">
              <a:buNone/>
              <a:defRPr sz="2520"/>
            </a:lvl8pPr>
            <a:lvl9pPr marL="5760085" indent="0" algn="ctr">
              <a:buNone/>
              <a:defRPr sz="252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01" y="407021"/>
            <a:ext cx="18630017" cy="2087608"/>
          </a:xfrm>
        </p:spPr>
        <p:txBody>
          <a:bodyPr anchor="ctr" anchorCtr="0">
            <a:normAutofit/>
          </a:bodyPr>
          <a:lstStyle>
            <a:lvl1pPr>
              <a:defRPr sz="378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7501" y="2875148"/>
            <a:ext cx="18630017" cy="6852852"/>
          </a:xfrm>
        </p:spPr>
        <p:txBody>
          <a:bodyPr>
            <a:normAutofit/>
          </a:bodyPr>
          <a:lstStyle>
            <a:lvl1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3751" y="5907574"/>
            <a:ext cx="12971262" cy="1277793"/>
          </a:xfrm>
        </p:spPr>
        <p:txBody>
          <a:bodyPr anchor="b">
            <a:normAutofit/>
          </a:bodyPr>
          <a:lstStyle>
            <a:lvl1pPr>
              <a:defRPr sz="6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73751" y="7260259"/>
            <a:ext cx="12971262" cy="1019824"/>
          </a:xfrm>
        </p:spPr>
        <p:txBody>
          <a:bodyPr>
            <a:normAutofit/>
          </a:bodyPr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72009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6027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81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0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08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01" y="407021"/>
            <a:ext cx="18630017" cy="2087608"/>
          </a:xfrm>
        </p:spPr>
        <p:txBody>
          <a:bodyPr>
            <a:normAutofit/>
          </a:bodyPr>
          <a:lstStyle>
            <a:lvl1pPr>
              <a:defRPr sz="378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7501" y="2875148"/>
            <a:ext cx="9180009" cy="685285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97510" y="2875148"/>
            <a:ext cx="9180009" cy="685285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28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52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815" y="575030"/>
            <a:ext cx="18630017" cy="20876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7815" y="2748111"/>
            <a:ext cx="9137820" cy="1297566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19905" indent="0">
              <a:buNone/>
              <a:defRPr sz="2520" b="1"/>
            </a:lvl7pPr>
            <a:lvl8pPr marL="5039995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487815" y="4119280"/>
            <a:ext cx="9137820" cy="56287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935010" y="2748111"/>
            <a:ext cx="9182822" cy="1297566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20090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60270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19905" indent="0">
              <a:buNone/>
              <a:defRPr sz="2520" b="1"/>
            </a:lvl7pPr>
            <a:lvl8pPr marL="5039995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0935010" y="4119280"/>
            <a:ext cx="9182822" cy="56287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5001" y="4356474"/>
            <a:ext cx="18630017" cy="2087608"/>
          </a:xfrm>
        </p:spPr>
        <p:txBody>
          <a:bodyPr>
            <a:normAutofit/>
          </a:bodyPr>
          <a:lstStyle>
            <a:lvl1pPr algn="ctr">
              <a:defRPr sz="756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45813" y="200010"/>
            <a:ext cx="7379298" cy="2520129"/>
          </a:xfrm>
        </p:spPr>
        <p:txBody>
          <a:bodyPr anchor="ctr" anchorCtr="0">
            <a:normAutofit/>
          </a:bodyPr>
          <a:lstStyle>
            <a:lvl1pPr>
              <a:defRPr sz="378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9184261" y="1206919"/>
            <a:ext cx="10306383" cy="8023161"/>
          </a:xfrm>
        </p:spPr>
        <p:txBody>
          <a:bodyPr/>
          <a:lstStyle>
            <a:lvl1pPr marL="0" indent="0">
              <a:buNone/>
              <a:defRPr sz="5040"/>
            </a:lvl1pPr>
            <a:lvl2pPr marL="720090" indent="0">
              <a:buNone/>
              <a:defRPr sz="4410"/>
            </a:lvl2pPr>
            <a:lvl3pPr marL="1440180" indent="0">
              <a:buNone/>
              <a:defRPr sz="3780"/>
            </a:lvl3pPr>
            <a:lvl4pPr marL="2160270" indent="0">
              <a:buNone/>
              <a:defRPr sz="3150"/>
            </a:lvl4pPr>
            <a:lvl5pPr marL="2879725" indent="0">
              <a:buNone/>
              <a:defRPr sz="3150"/>
            </a:lvl5pPr>
            <a:lvl6pPr marL="3599815" indent="0">
              <a:buNone/>
              <a:defRPr sz="3150"/>
            </a:lvl6pPr>
            <a:lvl7pPr marL="4319905" indent="0">
              <a:buNone/>
              <a:defRPr sz="3150"/>
            </a:lvl7pPr>
            <a:lvl8pPr marL="5039995" indent="0">
              <a:buNone/>
              <a:defRPr sz="3150"/>
            </a:lvl8pPr>
            <a:lvl9pPr marL="5760085" indent="0">
              <a:buNone/>
              <a:defRPr sz="315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813" y="3240166"/>
            <a:ext cx="7379298" cy="600280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520"/>
            </a:lvl1pPr>
            <a:lvl2pPr marL="720090" indent="0">
              <a:buNone/>
              <a:defRPr sz="2205"/>
            </a:lvl2pPr>
            <a:lvl3pPr marL="1440180" indent="0">
              <a:buNone/>
              <a:defRPr sz="1890"/>
            </a:lvl3pPr>
            <a:lvl4pPr marL="2160270" indent="0">
              <a:buNone/>
              <a:defRPr sz="1575"/>
            </a:lvl4pPr>
            <a:lvl5pPr marL="2879725" indent="0">
              <a:buNone/>
              <a:defRPr sz="1575"/>
            </a:lvl5pPr>
            <a:lvl6pPr marL="3599815" indent="0">
              <a:buNone/>
              <a:defRPr sz="1575"/>
            </a:lvl6pPr>
            <a:lvl7pPr marL="4319905" indent="0">
              <a:buNone/>
              <a:defRPr sz="1575"/>
            </a:lvl7pPr>
            <a:lvl8pPr marL="5039995" indent="0">
              <a:buNone/>
              <a:defRPr sz="1575"/>
            </a:lvl8pPr>
            <a:lvl9pPr marL="5760085" indent="0">
              <a:buNone/>
              <a:defRPr sz="157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1316251" y="684035"/>
            <a:ext cx="0" cy="219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7405598" y="575030"/>
            <a:ext cx="2709421" cy="9152970"/>
          </a:xfrm>
        </p:spPr>
        <p:txBody>
          <a:bodyPr vert="eaVert">
            <a:normAutofit/>
          </a:bodyPr>
          <a:lstStyle>
            <a:lvl1pPr>
              <a:defRPr sz="567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5001" y="575030"/>
            <a:ext cx="15732224" cy="9152970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485001" y="868617"/>
            <a:ext cx="18630017" cy="875473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1485001" y="575030"/>
            <a:ext cx="18630017" cy="2087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1485001" y="2875148"/>
            <a:ext cx="18630017" cy="6852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85001" y="10010513"/>
            <a:ext cx="4860005" cy="575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55007" y="10010513"/>
            <a:ext cx="7290007" cy="575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5255014" y="10010513"/>
            <a:ext cx="4860005" cy="5750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144018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52031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77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86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5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004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13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81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0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08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2175747" y="2336442"/>
            <a:ext cx="14590395" cy="4627880"/>
          </a:xfrm>
          <a:prstGeom prst="rect">
            <a:avLst/>
          </a:prstGeom>
          <a:noFill/>
          <a:ln w="28575"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599417" y="232687"/>
            <a:ext cx="5293360" cy="119570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对象药物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758677" y="2441217"/>
            <a:ext cx="4059555" cy="17907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过氧化氢造成葡萄滩消耗降低，能量生成减少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663792" y="54252"/>
            <a:ext cx="8693785" cy="69786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有效组分</a:t>
            </a:r>
            <a:r>
              <a:rPr lang="en-US" altLang="zh-CN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成分的制备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663157" y="1428392"/>
            <a:ext cx="8695055" cy="63563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有效中药的化学成分分析分离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59257" y="4242077"/>
            <a:ext cx="7755255" cy="80835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正常脑神经细胞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59312" y="5947052"/>
            <a:ext cx="5850890" cy="74866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比较药物对葡萄糖消耗的影响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145507" y="5947052"/>
            <a:ext cx="7393305" cy="74866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比较药物对</a:t>
            </a:r>
            <a:r>
              <a:rPr lang="en-US" altLang="zh-CN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ROS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、抗氧化酶活力的影响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235687" y="7805062"/>
            <a:ext cx="11428095" cy="6591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分析中药以</a:t>
            </a:r>
            <a:r>
              <a:rPr lang="en-US" altLang="zh-CN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PGC-1a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依赖的途径为核心的相关基因表达的影响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859257" y="9036327"/>
            <a:ext cx="7755255" cy="6591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分析中药对以上途径相关蛋白表达的影响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759947" y="10343792"/>
            <a:ext cx="15805150" cy="65913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揭示中药影响</a:t>
            </a:r>
            <a:r>
              <a:rPr lang="en-US" altLang="zh-CN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ROS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和葡萄糖</a:t>
            </a:r>
            <a:r>
              <a:rPr lang="en-US" altLang="zh-CN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/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能量代谢调节平衡的作用物质、靶点和调控网络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659370" y="1517015"/>
            <a:ext cx="6985" cy="27247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3"/>
          </p:cNvCxnSpPr>
          <p:nvPr/>
        </p:nvCxnSpPr>
        <p:spPr>
          <a:xfrm flipV="1">
            <a:off x="6818232" y="3309262"/>
            <a:ext cx="885190" cy="19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17784047" y="752117"/>
            <a:ext cx="22860" cy="630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7635477" y="4965977"/>
            <a:ext cx="635" cy="93154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9145507" y="8464192"/>
            <a:ext cx="9525" cy="5549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9134475" y="9707245"/>
            <a:ext cx="20320" cy="59436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651500" y="6753225"/>
            <a:ext cx="21590" cy="3460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14129385" y="6695440"/>
            <a:ext cx="21590" cy="3860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5682217" y="7098942"/>
            <a:ext cx="8468995" cy="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8" idx="1"/>
          </p:cNvCxnSpPr>
          <p:nvPr/>
        </p:nvCxnSpPr>
        <p:spPr>
          <a:xfrm rot="10800000" flipV="1">
            <a:off x="10197067" y="378102"/>
            <a:ext cx="466725" cy="1892935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29" idx="3"/>
          </p:cNvCxnSpPr>
          <p:nvPr/>
        </p:nvCxnSpPr>
        <p:spPr>
          <a:xfrm flipV="1">
            <a:off x="16766142" y="2079902"/>
            <a:ext cx="1040765" cy="254508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9629140" y="5363210"/>
            <a:ext cx="181610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质谱检测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4811375" y="5363210"/>
            <a:ext cx="3313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流式细胞检测仪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3481685" y="751840"/>
            <a:ext cx="3313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半制备液相色谱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806670" y="3308985"/>
            <a:ext cx="24707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仿宋" panose="02010609060101010101" charset="-122"/>
                <a:ea typeface="仿宋" panose="02010609060101010101" charset="-122"/>
              </a:rPr>
              <a:t>HPLC-MS</a:t>
            </a:r>
            <a:endParaRPr lang="en-US" altLang="zh-CN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9135982" y="7130057"/>
            <a:ext cx="6350" cy="7131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1210290" y="7129780"/>
            <a:ext cx="2503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仿宋" panose="02010609060101010101" charset="-122"/>
                <a:ea typeface="仿宋" panose="02010609060101010101" charset="-122"/>
              </a:rPr>
              <a:t>microarray</a:t>
            </a:r>
            <a:endParaRPr lang="en-US" altLang="zh-CN" sz="3200" b="1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210925" y="8435340"/>
            <a:ext cx="3600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二维电泳</a:t>
            </a:r>
            <a:r>
              <a:rPr lang="en-US" altLang="zh-CN" sz="3200" b="1"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3200" b="1">
                <a:latin typeface="仿宋" panose="02010609060101010101" charset="-122"/>
                <a:ea typeface="仿宋" panose="02010609060101010101" charset="-122"/>
              </a:rPr>
              <a:t>质谱</a:t>
            </a:r>
            <a:endParaRPr lang="zh-CN" altLang="en-US" sz="3200" b="1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>宽屏</PresentationFormat>
  <Paragraphs>32</Paragraphs>
  <Slides>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仿宋</vt:lpstr>
      <vt:lpstr>微软雅黑</vt:lpstr>
      <vt:lpstr>Arial Unicode MS</vt:lpstr>
      <vt:lpstr>等线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111</cp:lastModifiedBy>
  <cp:revision>395</cp:revision>
  <dcterms:created xsi:type="dcterms:W3CDTF">2017-08-03T09:01:00Z</dcterms:created>
  <dcterms:modified xsi:type="dcterms:W3CDTF">2021-03-15T06:21:37Z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