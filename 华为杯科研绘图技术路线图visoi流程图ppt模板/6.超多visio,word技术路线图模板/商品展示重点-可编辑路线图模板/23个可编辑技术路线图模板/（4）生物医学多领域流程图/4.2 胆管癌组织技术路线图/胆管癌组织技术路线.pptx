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27719655" cy="19799935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905750" y="3241333"/>
            <a:ext cx="23908502" cy="6893334"/>
          </a:xfrm>
        </p:spPr>
        <p:txBody>
          <a:bodyPr anchor="b"/>
          <a:lstStyle>
            <a:lvl1pPr algn="ctr">
              <a:defRPr sz="1732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905750" y="10400500"/>
            <a:ext cx="23908502" cy="4779500"/>
          </a:xfrm>
        </p:spPr>
        <p:txBody>
          <a:bodyPr/>
          <a:lstStyle>
            <a:lvl1pPr marL="0" indent="0" algn="ctr">
              <a:buNone/>
              <a:defRPr sz="693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320165" indent="0" algn="ctr">
              <a:buNone/>
              <a:defRPr sz="5775"/>
            </a:lvl2pPr>
            <a:lvl3pPr marL="2639695" indent="0" algn="ctr">
              <a:buNone/>
              <a:defRPr sz="5195"/>
            </a:lvl3pPr>
            <a:lvl4pPr marL="3959860" indent="0" algn="ctr">
              <a:buNone/>
              <a:defRPr sz="4620"/>
            </a:lvl4pPr>
            <a:lvl5pPr marL="5280025" indent="0" algn="ctr">
              <a:buNone/>
              <a:defRPr sz="4620"/>
            </a:lvl5pPr>
            <a:lvl6pPr marL="6600190" indent="0" algn="ctr">
              <a:buNone/>
              <a:defRPr sz="4620"/>
            </a:lvl6pPr>
            <a:lvl7pPr marL="7919720" indent="0" algn="ctr">
              <a:buNone/>
              <a:defRPr sz="4620"/>
            </a:lvl7pPr>
            <a:lvl8pPr marL="9239885" indent="0" algn="ctr">
              <a:buNone/>
              <a:defRPr sz="4620"/>
            </a:lvl8pPr>
            <a:lvl9pPr marL="10560050" indent="0" algn="ctr">
              <a:buNone/>
              <a:defRPr sz="46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750" y="570167"/>
            <a:ext cx="23908502" cy="3827085"/>
          </a:xfrm>
        </p:spPr>
        <p:txBody>
          <a:bodyPr anchor="b" anchorCtr="0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750" y="4915167"/>
            <a:ext cx="23908502" cy="12919500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750" y="8543334"/>
            <a:ext cx="23908502" cy="8030000"/>
          </a:xfrm>
        </p:spPr>
        <p:txBody>
          <a:bodyPr anchor="t" anchorCtr="0"/>
          <a:lstStyle>
            <a:lvl1pPr>
              <a:defRPr sz="1386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05750" y="4972000"/>
            <a:ext cx="23908502" cy="3184500"/>
          </a:xfrm>
        </p:spPr>
        <p:txBody>
          <a:bodyPr lIns="144145" anchor="b" anchorCtr="0"/>
          <a:lstStyle>
            <a:lvl1pPr marL="0" indent="0">
              <a:buNone/>
              <a:defRPr sz="693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320165" indent="0">
              <a:buNone/>
              <a:defRPr sz="5775">
                <a:solidFill>
                  <a:schemeClr val="tx1">
                    <a:tint val="75000"/>
                  </a:schemeClr>
                </a:solidFill>
              </a:defRPr>
            </a:lvl2pPr>
            <a:lvl3pPr marL="2639695" indent="0">
              <a:buNone/>
              <a:defRPr sz="5195">
                <a:solidFill>
                  <a:schemeClr val="tx1">
                    <a:tint val="75000"/>
                  </a:schemeClr>
                </a:solidFill>
              </a:defRPr>
            </a:lvl3pPr>
            <a:lvl4pPr marL="3959860" indent="0">
              <a:buNone/>
              <a:defRPr sz="4620">
                <a:solidFill>
                  <a:schemeClr val="tx1">
                    <a:tint val="75000"/>
                  </a:schemeClr>
                </a:solidFill>
              </a:defRPr>
            </a:lvl4pPr>
            <a:lvl5pPr marL="5280025" indent="0">
              <a:buNone/>
              <a:defRPr sz="4620">
                <a:solidFill>
                  <a:schemeClr val="tx1">
                    <a:tint val="75000"/>
                  </a:schemeClr>
                </a:solidFill>
              </a:defRPr>
            </a:lvl5pPr>
            <a:lvl6pPr marL="6600190" indent="0">
              <a:buNone/>
              <a:defRPr sz="4620">
                <a:solidFill>
                  <a:schemeClr val="tx1">
                    <a:tint val="75000"/>
                  </a:schemeClr>
                </a:solidFill>
              </a:defRPr>
            </a:lvl6pPr>
            <a:lvl7pPr marL="7919720" indent="0">
              <a:buNone/>
              <a:defRPr sz="4620">
                <a:solidFill>
                  <a:schemeClr val="tx1">
                    <a:tint val="75000"/>
                  </a:schemeClr>
                </a:solidFill>
              </a:defRPr>
            </a:lvl7pPr>
            <a:lvl8pPr marL="9239885" indent="0">
              <a:buNone/>
              <a:defRPr sz="4620">
                <a:solidFill>
                  <a:schemeClr val="tx1">
                    <a:tint val="75000"/>
                  </a:schemeClr>
                </a:solidFill>
              </a:defRPr>
            </a:lvl8pPr>
            <a:lvl9pPr marL="10560050" indent="0">
              <a:buNone/>
              <a:defRPr sz="46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05750" y="5270834"/>
            <a:ext cx="11781001" cy="1256291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4033251" y="5270834"/>
            <a:ext cx="11781001" cy="1256291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10081" y="1054167"/>
            <a:ext cx="23908502" cy="2310000"/>
          </a:xfrm>
        </p:spPr>
        <p:txBody>
          <a:bodyPr anchor="ctr" anchorCtr="0"/>
          <a:lstStyle>
            <a:lvl1pPr algn="ctr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08638" y="4279000"/>
            <a:ext cx="11870513" cy="2377833"/>
          </a:xfrm>
        </p:spPr>
        <p:txBody>
          <a:bodyPr anchor="ctr" anchorCtr="0"/>
          <a:lstStyle>
            <a:lvl1pPr marL="0" indent="0">
              <a:buNone/>
              <a:defRPr sz="9240">
                <a:solidFill>
                  <a:srgbClr val="0070C0"/>
                </a:solidFill>
              </a:defRPr>
            </a:lvl1pPr>
            <a:lvl2pPr marL="1320165" indent="0">
              <a:buNone/>
              <a:defRPr sz="6930"/>
            </a:lvl2pPr>
            <a:lvl3pPr marL="2639695" indent="0">
              <a:buNone/>
              <a:defRPr sz="5775"/>
            </a:lvl3pPr>
            <a:lvl4pPr marL="3959860" indent="0">
              <a:buNone/>
              <a:defRPr sz="5195"/>
            </a:lvl4pPr>
            <a:lvl5pPr marL="5280025" indent="0">
              <a:buNone/>
              <a:defRPr sz="5195"/>
            </a:lvl5pPr>
            <a:lvl6pPr marL="6600190" indent="0">
              <a:buNone/>
              <a:defRPr sz="5195"/>
            </a:lvl6pPr>
            <a:lvl7pPr marL="7919720" indent="0">
              <a:buNone/>
              <a:defRPr sz="5195"/>
            </a:lvl7pPr>
            <a:lvl8pPr marL="9239885" indent="0">
              <a:buNone/>
              <a:defRPr sz="5195"/>
            </a:lvl8pPr>
            <a:lvl9pPr marL="10560050" indent="0">
              <a:buNone/>
              <a:defRPr sz="51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905750" y="6838334"/>
            <a:ext cx="11873401" cy="11031167"/>
          </a:xfrm>
        </p:spPr>
        <p:txBody>
          <a:bodyPr/>
          <a:lstStyle>
            <a:lvl1pPr>
              <a:defRPr sz="808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14225270" y="4279000"/>
            <a:ext cx="11588982" cy="2377833"/>
          </a:xfrm>
        </p:spPr>
        <p:txBody>
          <a:bodyPr anchor="ctr" anchorCtr="0"/>
          <a:lstStyle>
            <a:lvl1pPr marL="0" indent="0">
              <a:buNone/>
              <a:defRPr sz="9240">
                <a:solidFill>
                  <a:srgbClr val="0070C0"/>
                </a:solidFill>
              </a:defRPr>
            </a:lvl1pPr>
            <a:lvl2pPr marL="1320165" indent="0">
              <a:buNone/>
              <a:defRPr sz="6930"/>
            </a:lvl2pPr>
            <a:lvl3pPr marL="2639695" indent="0">
              <a:buNone/>
              <a:defRPr sz="5775"/>
            </a:lvl3pPr>
            <a:lvl4pPr marL="3959860" indent="0">
              <a:buNone/>
              <a:defRPr sz="5195"/>
            </a:lvl4pPr>
            <a:lvl5pPr marL="5280025" indent="0">
              <a:buNone/>
              <a:defRPr sz="5195"/>
            </a:lvl5pPr>
            <a:lvl6pPr marL="6600190" indent="0">
              <a:buNone/>
              <a:defRPr sz="5195"/>
            </a:lvl6pPr>
            <a:lvl7pPr marL="7919720" indent="0">
              <a:buNone/>
              <a:defRPr sz="5195"/>
            </a:lvl7pPr>
            <a:lvl8pPr marL="9239885" indent="0">
              <a:buNone/>
              <a:defRPr sz="5195"/>
            </a:lvl8pPr>
            <a:lvl9pPr marL="10560050" indent="0">
              <a:buNone/>
              <a:defRPr sz="519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14225270" y="6838334"/>
            <a:ext cx="11588982" cy="11031167"/>
          </a:xfrm>
        </p:spPr>
        <p:txBody>
          <a:bodyPr/>
          <a:lstStyle>
            <a:lvl1pPr>
              <a:defRPr sz="8085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05750" y="570167"/>
            <a:ext cx="23908502" cy="3827085"/>
          </a:xfrm>
        </p:spPr>
        <p:txBody>
          <a:bodyPr anchor="b" anchorCtr="0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 + 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-28875" y="-5500"/>
            <a:ext cx="15954883" cy="19811001"/>
          </a:xfrm>
          <a:noFill/>
        </p:spPr>
        <p:txBody>
          <a:bodyPr lIns="252095" tIns="144145"/>
          <a:lstStyle>
            <a:lvl1pPr marL="0" indent="0" algn="ctr">
              <a:buNone/>
              <a:defRPr sz="519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320165" indent="0">
              <a:buNone/>
              <a:defRPr sz="8085"/>
            </a:lvl2pPr>
            <a:lvl3pPr marL="2639695" indent="0">
              <a:buNone/>
              <a:defRPr sz="6930"/>
            </a:lvl3pPr>
            <a:lvl4pPr marL="3959860" indent="0">
              <a:buNone/>
              <a:defRPr sz="5775"/>
            </a:lvl4pPr>
            <a:lvl5pPr marL="5280025" indent="0">
              <a:buNone/>
              <a:defRPr sz="5775"/>
            </a:lvl5pPr>
            <a:lvl6pPr marL="6600190" indent="0">
              <a:buNone/>
              <a:defRPr sz="5775"/>
            </a:lvl6pPr>
            <a:lvl7pPr marL="7919720" indent="0">
              <a:buNone/>
              <a:defRPr sz="5775"/>
            </a:lvl7pPr>
            <a:lvl8pPr marL="9239885" indent="0">
              <a:buNone/>
              <a:defRPr sz="5775"/>
            </a:lvl8pPr>
            <a:lvl9pPr marL="10560050" indent="0">
              <a:buNone/>
              <a:defRPr sz="5775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711408" y="1320000"/>
            <a:ext cx="9986420" cy="3047000"/>
          </a:xfrm>
        </p:spPr>
        <p:txBody>
          <a:bodyPr anchor="b" anchorCtr="0"/>
          <a:lstStyle>
            <a:lvl1pPr>
              <a:defRPr sz="92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6709964" y="4891334"/>
            <a:ext cx="9989307" cy="12936000"/>
          </a:xfrm>
        </p:spPr>
        <p:txBody>
          <a:bodyPr/>
          <a:lstStyle>
            <a:lvl1pPr marL="0" indent="0">
              <a:buNone/>
              <a:defRPr sz="8085">
                <a:solidFill>
                  <a:schemeClr val="tx1"/>
                </a:solidFill>
              </a:defRPr>
            </a:lvl1pPr>
            <a:lvl2pPr marL="1320165" indent="0">
              <a:buNone/>
              <a:defRPr sz="5195"/>
            </a:lvl2pPr>
            <a:lvl3pPr marL="2639695" indent="0">
              <a:buNone/>
              <a:defRPr sz="4620"/>
            </a:lvl3pPr>
            <a:lvl4pPr marL="3959860" indent="0">
              <a:buNone/>
              <a:defRPr sz="4040"/>
            </a:lvl4pPr>
            <a:lvl5pPr marL="5280025" indent="0">
              <a:buNone/>
              <a:defRPr sz="4040"/>
            </a:lvl5pPr>
            <a:lvl6pPr marL="6600190" indent="0">
              <a:buNone/>
              <a:defRPr sz="4040"/>
            </a:lvl6pPr>
            <a:lvl7pPr marL="7919720" indent="0">
              <a:buNone/>
              <a:defRPr sz="4040"/>
            </a:lvl7pPr>
            <a:lvl8pPr marL="9239885" indent="0">
              <a:buNone/>
              <a:defRPr sz="4040"/>
            </a:lvl8pPr>
            <a:lvl9pPr marL="10560050" indent="0">
              <a:buNone/>
              <a:defRPr sz="40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文本 + 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1785332" y="-22000"/>
            <a:ext cx="15954883" cy="19811001"/>
          </a:xfrm>
          <a:noFill/>
        </p:spPr>
        <p:txBody>
          <a:bodyPr lIns="252095" tIns="144145"/>
          <a:lstStyle>
            <a:lvl1pPr marL="0" indent="0" algn="ctr">
              <a:buNone/>
              <a:defRPr sz="5195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1320165" indent="0">
              <a:buNone/>
              <a:defRPr sz="8085"/>
            </a:lvl2pPr>
            <a:lvl3pPr marL="2639695" indent="0">
              <a:buNone/>
              <a:defRPr sz="6930"/>
            </a:lvl3pPr>
            <a:lvl4pPr marL="3959860" indent="0">
              <a:buNone/>
              <a:defRPr sz="5775"/>
            </a:lvl4pPr>
            <a:lvl5pPr marL="5280025" indent="0">
              <a:buNone/>
              <a:defRPr sz="5775"/>
            </a:lvl5pPr>
            <a:lvl6pPr marL="6600190" indent="0">
              <a:buNone/>
              <a:defRPr sz="5775"/>
            </a:lvl6pPr>
            <a:lvl7pPr marL="7919720" indent="0">
              <a:buNone/>
              <a:defRPr sz="5775"/>
            </a:lvl7pPr>
            <a:lvl8pPr marL="9239885" indent="0">
              <a:buNone/>
              <a:defRPr sz="5775"/>
            </a:lvl8pPr>
            <a:lvl9pPr marL="10560050" indent="0">
              <a:buNone/>
              <a:defRPr sz="5775"/>
            </a:lvl9pPr>
          </a:lstStyle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219" y="1320000"/>
            <a:ext cx="9730876" cy="3047000"/>
          </a:xfrm>
        </p:spPr>
        <p:txBody>
          <a:bodyPr anchor="t" anchorCtr="0"/>
          <a:lstStyle>
            <a:lvl1pPr>
              <a:defRPr sz="92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31219" y="4891334"/>
            <a:ext cx="9732320" cy="12936000"/>
          </a:xfrm>
        </p:spPr>
        <p:txBody>
          <a:bodyPr/>
          <a:lstStyle>
            <a:lvl1pPr marL="0" indent="0">
              <a:buNone/>
              <a:defRPr sz="8085">
                <a:solidFill>
                  <a:schemeClr val="tx1"/>
                </a:solidFill>
              </a:defRPr>
            </a:lvl1pPr>
            <a:lvl2pPr marL="1320165" indent="0">
              <a:buNone/>
              <a:defRPr sz="5195"/>
            </a:lvl2pPr>
            <a:lvl3pPr marL="2639695" indent="0">
              <a:buNone/>
              <a:defRPr sz="4620"/>
            </a:lvl3pPr>
            <a:lvl4pPr marL="3959860" indent="0">
              <a:buNone/>
              <a:defRPr sz="4040"/>
            </a:lvl4pPr>
            <a:lvl5pPr marL="5280025" indent="0">
              <a:buNone/>
              <a:defRPr sz="4040"/>
            </a:lvl5pPr>
            <a:lvl6pPr marL="6600190" indent="0">
              <a:buNone/>
              <a:defRPr sz="4040"/>
            </a:lvl6pPr>
            <a:lvl7pPr marL="7919720" indent="0">
              <a:buNone/>
              <a:defRPr sz="4040"/>
            </a:lvl7pPr>
            <a:lvl8pPr marL="9239885" indent="0">
              <a:buNone/>
              <a:defRPr sz="4040"/>
            </a:lvl8pPr>
            <a:lvl9pPr marL="10560050" indent="0">
              <a:buNone/>
              <a:defRPr sz="404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  <p:sp>
        <p:nvSpPr>
          <p:cNvPr id="3" name="竖排标题 1"/>
          <p:cNvSpPr>
            <a:spLocks noGrp="1"/>
          </p:cNvSpPr>
          <p:nvPr>
            <p:ph type="title" orient="vert"/>
          </p:nvPr>
        </p:nvSpPr>
        <p:spPr>
          <a:xfrm>
            <a:off x="19837127" y="1054167"/>
            <a:ext cx="5977125" cy="16779585"/>
          </a:xfrm>
        </p:spPr>
        <p:txBody>
          <a:bodyPr vert="eaVert"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7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905750" y="1054167"/>
            <a:ext cx="17584876" cy="16779585"/>
          </a:xfrm>
        </p:spPr>
        <p:txBody>
          <a:bodyPr vert="eaVert"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750" y="944167"/>
            <a:ext cx="23908502" cy="16890501"/>
          </a:xfrm>
        </p:spPr>
        <p:txBody>
          <a:bodyPr/>
          <a:lstStyle>
            <a:lvl2pPr>
              <a:defRPr/>
            </a:lvl2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905750" y="1054167"/>
            <a:ext cx="23908502" cy="38270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05750" y="5270834"/>
            <a:ext cx="23908502" cy="12562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905750" y="18351667"/>
            <a:ext cx="6237001" cy="105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D9C70D-B7C8-466D-B87C-22D855EF72C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9182251" y="18351667"/>
            <a:ext cx="9355501" cy="105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9577252" y="18351667"/>
            <a:ext cx="6237001" cy="10541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46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9045BA-9AC9-4435-A9A0-D822685BA71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2639695" rtl="0" eaLnBrk="1" latinLnBrk="0" hangingPunct="1">
        <a:lnSpc>
          <a:spcPct val="90000"/>
        </a:lnSpc>
        <a:spcBef>
          <a:spcPct val="0"/>
        </a:spcBef>
        <a:buNone/>
        <a:defRPr sz="1270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659765" indent="-659765" algn="l" defTabSz="2639695" rtl="0" eaLnBrk="1" latinLnBrk="0" hangingPunct="1">
        <a:lnSpc>
          <a:spcPct val="90000"/>
        </a:lnSpc>
        <a:spcBef>
          <a:spcPts val="2890"/>
        </a:spcBef>
        <a:buFont typeface="Arial" panose="020B0604020202020204" pitchFamily="34" charset="0"/>
        <a:buChar char="•"/>
        <a:defRPr sz="8085" kern="1200">
          <a:solidFill>
            <a:schemeClr val="tx1"/>
          </a:solidFill>
          <a:latin typeface="+mn-lt"/>
          <a:ea typeface="+mn-ea"/>
          <a:cs typeface="+mn-cs"/>
        </a:defRPr>
      </a:lvl1pPr>
      <a:lvl2pPr marL="1979930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6930" kern="1200">
          <a:solidFill>
            <a:schemeClr val="tx1"/>
          </a:solidFill>
          <a:latin typeface="+mn-lt"/>
          <a:ea typeface="+mn-ea"/>
          <a:cs typeface="+mn-cs"/>
        </a:defRPr>
      </a:lvl2pPr>
      <a:lvl3pPr marL="3300095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5775" kern="1200">
          <a:solidFill>
            <a:schemeClr val="tx1"/>
          </a:solidFill>
          <a:latin typeface="+mn-lt"/>
          <a:ea typeface="+mn-ea"/>
          <a:cs typeface="+mn-cs"/>
        </a:defRPr>
      </a:lvl3pPr>
      <a:lvl4pPr marL="4620260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5195" kern="1200">
          <a:solidFill>
            <a:schemeClr val="tx1"/>
          </a:solidFill>
          <a:latin typeface="+mn-lt"/>
          <a:ea typeface="+mn-ea"/>
          <a:cs typeface="+mn-cs"/>
        </a:defRPr>
      </a:lvl4pPr>
      <a:lvl5pPr marL="5939790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5195" kern="1200">
          <a:solidFill>
            <a:schemeClr val="tx1"/>
          </a:solidFill>
          <a:latin typeface="+mn-lt"/>
          <a:ea typeface="+mn-ea"/>
          <a:cs typeface="+mn-cs"/>
        </a:defRPr>
      </a:lvl5pPr>
      <a:lvl6pPr marL="7259955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5195" kern="1200">
          <a:solidFill>
            <a:schemeClr val="tx1"/>
          </a:solidFill>
          <a:latin typeface="+mn-lt"/>
          <a:ea typeface="+mn-ea"/>
          <a:cs typeface="+mn-cs"/>
        </a:defRPr>
      </a:lvl6pPr>
      <a:lvl7pPr marL="8580120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5195" kern="1200">
          <a:solidFill>
            <a:schemeClr val="tx1"/>
          </a:solidFill>
          <a:latin typeface="+mn-lt"/>
          <a:ea typeface="+mn-ea"/>
          <a:cs typeface="+mn-cs"/>
        </a:defRPr>
      </a:lvl7pPr>
      <a:lvl8pPr marL="9900285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5195" kern="1200">
          <a:solidFill>
            <a:schemeClr val="tx1"/>
          </a:solidFill>
          <a:latin typeface="+mn-lt"/>
          <a:ea typeface="+mn-ea"/>
          <a:cs typeface="+mn-cs"/>
        </a:defRPr>
      </a:lvl8pPr>
      <a:lvl9pPr marL="11219815" indent="-659765" algn="l" defTabSz="2639695" rtl="0" eaLnBrk="1" latinLnBrk="0" hangingPunct="1">
        <a:lnSpc>
          <a:spcPct val="90000"/>
        </a:lnSpc>
        <a:spcBef>
          <a:spcPct val="290000"/>
        </a:spcBef>
        <a:buFont typeface="Arial" panose="020B0604020202020204" pitchFamily="34" charset="0"/>
        <a:buChar char="•"/>
        <a:defRPr sz="51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1pPr>
      <a:lvl2pPr marL="1320165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2pPr>
      <a:lvl3pPr marL="2639695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3pPr>
      <a:lvl4pPr marL="3959860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4pPr>
      <a:lvl5pPr marL="5280025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5pPr>
      <a:lvl6pPr marL="6600190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6pPr>
      <a:lvl7pPr marL="7919720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7pPr>
      <a:lvl8pPr marL="9239885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8pPr>
      <a:lvl9pPr marL="10560050" algn="l" defTabSz="2639695" rtl="0" eaLnBrk="1" latinLnBrk="0" hangingPunct="1">
        <a:defRPr sz="51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0718021" y="5753450"/>
            <a:ext cx="1095375" cy="5626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胆管癌继组织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730095" y="5749925"/>
            <a:ext cx="673100" cy="56261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癌旁组织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953500" y="7505700"/>
            <a:ext cx="1767205" cy="7937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免疫组化检测</a:t>
            </a:r>
            <a:r>
              <a:rPr lang="en-US" altLang="zh-CN"/>
              <a:t>LAMC2</a:t>
            </a:r>
            <a:r>
              <a:rPr lang="zh-CN" altLang="en-US"/>
              <a:t>蛋白阳性表达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852275" y="7505700"/>
            <a:ext cx="2794000" cy="79375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qRT-PCR</a:t>
            </a:r>
            <a:r>
              <a:rPr lang="zh-CN" altLang="en-US"/>
              <a:t>检测癌组织和癌旁组织</a:t>
            </a:r>
            <a:r>
              <a:rPr lang="en-US" altLang="zh-CN"/>
              <a:t>mRNA</a:t>
            </a:r>
            <a:r>
              <a:rPr lang="zh-CN" altLang="en-US"/>
              <a:t>表达水平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5638780" y="7482205"/>
            <a:ext cx="2656840" cy="74549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Western blot</a:t>
            </a:r>
            <a:r>
              <a:rPr lang="zh-CN" altLang="en-US"/>
              <a:t>检测癌组织和癌旁组织蛋白表达水平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2561570" y="8967470"/>
            <a:ext cx="1184910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细胞培养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646275" y="8967470"/>
            <a:ext cx="2624455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人胆管癌细胞株</a:t>
            </a:r>
            <a:r>
              <a:rPr lang="en-US" altLang="zh-CN"/>
              <a:t>RBE</a:t>
            </a:r>
            <a:r>
              <a:rPr lang="zh-CN" altLang="en-US"/>
              <a:t>、</a:t>
            </a:r>
            <a:r>
              <a:rPr lang="en-US" altLang="zh-CN"/>
              <a:t>QBC939,HCCC-9810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12214225" y="10003790"/>
            <a:ext cx="2221865" cy="65278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质粒构建和构建稳定沉数</a:t>
            </a:r>
            <a:r>
              <a:rPr lang="en-US" altLang="zh-CN"/>
              <a:t>lamc2</a:t>
            </a:r>
            <a:r>
              <a:rPr lang="zh-CN" altLang="en-US"/>
              <a:t>细胞株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2214860" y="10934700"/>
            <a:ext cx="2221865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细胞分组和转染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8499475" y="12192000"/>
            <a:ext cx="1255395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Blank</a:t>
            </a:r>
            <a:r>
              <a:rPr lang="zh-CN" altLang="en-US"/>
              <a:t>组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10475451" y="12191715"/>
            <a:ext cx="1095375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NC</a:t>
            </a:r>
            <a:r>
              <a:rPr lang="zh-CN" altLang="en-US"/>
              <a:t>组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12561570" y="12192000"/>
            <a:ext cx="1449070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siRNA-LAMC2</a:t>
            </a:r>
            <a:r>
              <a:rPr lang="zh-CN" altLang="en-US"/>
              <a:t>组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14987270" y="12179300"/>
            <a:ext cx="1712595" cy="71691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siRNA-LAMC2+SGF</a:t>
            </a:r>
            <a:r>
              <a:rPr lang="zh-CN" altLang="en-US">
                <a:sym typeface="+mn-ea"/>
              </a:rPr>
              <a:t>组</a:t>
            </a:r>
            <a:endParaRPr lang="zh-CN" altLang="en-US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7382490" y="12192000"/>
            <a:ext cx="1449705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AG1478</a:t>
            </a:r>
            <a:r>
              <a:rPr lang="zh-CN" altLang="en-US"/>
              <a:t>组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7437755" y="14019530"/>
            <a:ext cx="1692910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细胞形态学观察</a:t>
            </a:r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867900" y="14019530"/>
            <a:ext cx="1703070" cy="7975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免疫荧光检测</a:t>
            </a:r>
            <a:r>
              <a:rPr lang="en-US" altLang="zh-CN"/>
              <a:t>E-Cadherin</a:t>
            </a:r>
            <a:r>
              <a:rPr lang="zh-CN" altLang="en-US"/>
              <a:t>，</a:t>
            </a:r>
            <a:r>
              <a:rPr lang="en-US" altLang="zh-CN"/>
              <a:t>Vimentin</a:t>
            </a:r>
            <a:r>
              <a:rPr lang="zh-CN" altLang="en-US"/>
              <a:t>表达</a:t>
            </a:r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12077700" y="14019530"/>
            <a:ext cx="2342515" cy="7975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Transwell</a:t>
            </a:r>
            <a:r>
              <a:rPr lang="zh-CN" altLang="en-US"/>
              <a:t>法检测细胞侵袭情况</a:t>
            </a:r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4987270" y="14019530"/>
            <a:ext cx="2099945" cy="79756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划痕实验检测细胞迁移情况</a:t>
            </a:r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17567275" y="14019530"/>
            <a:ext cx="2273300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/>
              <a:t>裸鼠成功实验观察淋巴结转移情况</a:t>
            </a:r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7567275" y="15257780"/>
            <a:ext cx="2273300" cy="60388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HE</a:t>
            </a:r>
            <a:r>
              <a:rPr lang="zh-CN" altLang="en-US"/>
              <a:t>染色</a:t>
            </a:r>
            <a:endParaRPr lang="zh-CN" altLang="en-US"/>
          </a:p>
        </p:txBody>
      </p:sp>
      <p:cxnSp>
        <p:nvCxnSpPr>
          <p:cNvPr id="24" name="直接箭头连接符 23"/>
          <p:cNvCxnSpPr>
            <a:stCxn id="22" idx="2"/>
          </p:cNvCxnSpPr>
          <p:nvPr/>
        </p:nvCxnSpPr>
        <p:spPr>
          <a:xfrm flipH="1">
            <a:off x="18699480" y="14636750"/>
            <a:ext cx="4445" cy="63436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13325475" y="11474450"/>
            <a:ext cx="0" cy="71755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9116695" y="11823700"/>
            <a:ext cx="6985" cy="3022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13310235" y="13212445"/>
            <a:ext cx="0" cy="80708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13" idx="2"/>
          </p:cNvCxnSpPr>
          <p:nvPr/>
        </p:nvCxnSpPr>
        <p:spPr>
          <a:xfrm flipH="1">
            <a:off x="9112885" y="12809220"/>
            <a:ext cx="14605" cy="416560"/>
          </a:xfrm>
          <a:prstGeom prst="line">
            <a:avLst/>
          </a:prstGeom>
          <a:ln w="381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 flipH="1">
            <a:off x="18124805" y="12795885"/>
            <a:ext cx="635" cy="418465"/>
          </a:xfrm>
          <a:prstGeom prst="line">
            <a:avLst/>
          </a:prstGeom>
          <a:ln w="38100">
            <a:solidFill>
              <a:srgbClr val="2020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连接符 32"/>
          <p:cNvCxnSpPr/>
          <p:nvPr/>
        </p:nvCxnSpPr>
        <p:spPr>
          <a:xfrm>
            <a:off x="9128760" y="13212445"/>
            <a:ext cx="9024620" cy="323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/>
          <p:cNvCxnSpPr/>
          <p:nvPr/>
        </p:nvCxnSpPr>
        <p:spPr>
          <a:xfrm>
            <a:off x="7905750" y="13514070"/>
            <a:ext cx="10586720" cy="508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>
            <a:off x="15893415" y="13519150"/>
            <a:ext cx="2540" cy="5003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18491835" y="13535025"/>
            <a:ext cx="2540" cy="5003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10718165" y="13502640"/>
            <a:ext cx="2540" cy="5003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>
            <a:off x="7934325" y="13535025"/>
            <a:ext cx="2540" cy="5003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/>
          <p:cNvCxnSpPr/>
          <p:nvPr/>
        </p:nvCxnSpPr>
        <p:spPr>
          <a:xfrm>
            <a:off x="9112885" y="11823700"/>
            <a:ext cx="8970645" cy="31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/>
          <p:cNvCxnSpPr/>
          <p:nvPr/>
        </p:nvCxnSpPr>
        <p:spPr>
          <a:xfrm flipV="1">
            <a:off x="9738995" y="8630920"/>
            <a:ext cx="7219950" cy="6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3171805" y="8615680"/>
            <a:ext cx="8890" cy="35052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13210540" y="9571355"/>
            <a:ext cx="6985" cy="4324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13217525" y="10502265"/>
            <a:ext cx="6985" cy="4324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9" idx="3"/>
            <a:endCxn id="10" idx="1"/>
          </p:cNvCxnSpPr>
          <p:nvPr/>
        </p:nvCxnSpPr>
        <p:spPr>
          <a:xfrm>
            <a:off x="13746480" y="9283065"/>
            <a:ext cx="89979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9728835" y="8307070"/>
            <a:ext cx="10160" cy="30797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H="1">
            <a:off x="16954500" y="8227695"/>
            <a:ext cx="4445" cy="39243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 flipH="1">
            <a:off x="11252835" y="6316345"/>
            <a:ext cx="5080" cy="3314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11253470" y="6661150"/>
            <a:ext cx="385064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13157835" y="6701155"/>
            <a:ext cx="13335" cy="80518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连接符 50"/>
          <p:cNvCxnSpPr/>
          <p:nvPr/>
        </p:nvCxnSpPr>
        <p:spPr>
          <a:xfrm flipV="1">
            <a:off x="9700260" y="7098030"/>
            <a:ext cx="7219950" cy="698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>
            <a:off x="9715500" y="7136765"/>
            <a:ext cx="13335" cy="32639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>
            <a:off x="16913225" y="7123430"/>
            <a:ext cx="6985" cy="36893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H="1">
            <a:off x="11019790" y="11823700"/>
            <a:ext cx="6985" cy="3022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接箭头连接符 2"/>
          <p:cNvCxnSpPr/>
          <p:nvPr/>
        </p:nvCxnSpPr>
        <p:spPr>
          <a:xfrm flipH="1">
            <a:off x="15895955" y="11826875"/>
            <a:ext cx="6985" cy="3022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 flipH="1">
            <a:off x="18076545" y="11823700"/>
            <a:ext cx="6985" cy="30226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H="1">
            <a:off x="15088235" y="6329680"/>
            <a:ext cx="5080" cy="33147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ajorFont>
      <a:minorFont>
        <a:latin typeface="Franklin Gothic Medium"/>
        <a:ea typeface=""/>
        <a:cs typeface=""/>
        <a:font script="Jpan" typeface="HG創英角ｺﾞｼｯｸUB"/>
        <a:font script="Hang" typeface="HY견고딕"/>
        <a:font script="Hans" typeface="微软雅黑"/>
        <a:font script="Hant" typeface="微軟正黑體"/>
        <a:font script="Arab" typeface="Arial Bold"/>
        <a:font script="Hebr" typeface="Arial Bold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 Bold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40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微软雅黑</vt:lpstr>
      <vt:lpstr>Franklin Gothic Medium</vt:lpstr>
      <vt:lpstr>Arial Unicode MS</vt:lpstr>
      <vt:lpstr>Calibri</vt:lpstr>
      <vt:lpstr>Office 主题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void</dc:creator>
  <cp:lastModifiedBy>111</cp:lastModifiedBy>
  <cp:revision>124</cp:revision>
  <dcterms:created xsi:type="dcterms:W3CDTF">2017-08-03T09:01:00Z</dcterms:created>
  <dcterms:modified xsi:type="dcterms:W3CDTF">2021-03-15T06:06:10Z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2052-11.1.0.10314</vt:lpwstr>
  </property>
</Properties>
</file>