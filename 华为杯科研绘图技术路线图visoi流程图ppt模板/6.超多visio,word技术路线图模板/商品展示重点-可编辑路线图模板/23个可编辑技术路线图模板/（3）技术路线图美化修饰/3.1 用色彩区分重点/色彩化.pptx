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2599670" cy="107994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howGuides="1">
      <p:cViewPr varScale="1">
        <p:scale>
          <a:sx n="99" d="100"/>
          <a:sy n="99" d="100"/>
        </p:scale>
        <p:origin x="84" y="582"/>
      </p:cViewPr>
      <p:guideLst>
        <p:guide orient="horz" pos="3608"/>
        <p:guide pos="70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28775" y="1143000"/>
            <a:ext cx="3600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239129" y="1440289"/>
            <a:ext cx="10128859" cy="404868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2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239129" y="5608053"/>
            <a:ext cx="10128859" cy="231920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310" spc="200">
                <a:uFillTx/>
              </a:defRPr>
            </a:lvl1pPr>
            <a:lvl2pPr marL="629920" indent="0" algn="ctr">
              <a:buNone/>
              <a:defRPr sz="2750"/>
            </a:lvl2pPr>
            <a:lvl3pPr marL="1260475" indent="0" algn="ctr">
              <a:buNone/>
              <a:defRPr sz="2480"/>
            </a:lvl3pPr>
            <a:lvl4pPr marL="1889760" indent="0" algn="ctr">
              <a:buNone/>
              <a:defRPr sz="2205"/>
            </a:lvl4pPr>
            <a:lvl5pPr marL="2519680" indent="0" algn="ctr">
              <a:buNone/>
              <a:defRPr sz="2205"/>
            </a:lvl5pPr>
            <a:lvl6pPr marL="3150235" indent="0" algn="ctr">
              <a:buNone/>
              <a:defRPr sz="2205"/>
            </a:lvl6pPr>
            <a:lvl7pPr marL="3780790" indent="0" algn="ctr">
              <a:buNone/>
              <a:defRPr sz="2205"/>
            </a:lvl7pPr>
            <a:lvl8pPr marL="4410710" indent="0" algn="ctr">
              <a:buNone/>
              <a:defRPr sz="2205"/>
            </a:lvl8pPr>
            <a:lvl9pPr marL="5040630" indent="0" algn="ctr">
              <a:buNone/>
              <a:defRPr sz="220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28867" y="2347557"/>
            <a:ext cx="11338219" cy="749630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057773" y="6061688"/>
            <a:ext cx="8030152" cy="12078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06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057773" y="7269488"/>
            <a:ext cx="8030152" cy="136657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8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2992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26047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3pPr>
            <a:lvl4pPr marL="188976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1968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23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7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71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6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867" y="2364568"/>
            <a:ext cx="5350954" cy="747929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27295" y="2364568"/>
            <a:ext cx="5350954" cy="747929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28867" y="2251160"/>
            <a:ext cx="5522126" cy="60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7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29920" indent="0">
              <a:buNone/>
              <a:defRPr sz="2750" b="1"/>
            </a:lvl2pPr>
            <a:lvl3pPr marL="1260475" indent="0">
              <a:buNone/>
              <a:defRPr sz="2480" b="1"/>
            </a:lvl3pPr>
            <a:lvl4pPr marL="1889760" indent="0">
              <a:buNone/>
              <a:defRPr sz="2205" b="1"/>
            </a:lvl4pPr>
            <a:lvl5pPr marL="2519680" indent="0">
              <a:buNone/>
              <a:defRPr sz="2205" b="1"/>
            </a:lvl5pPr>
            <a:lvl6pPr marL="3150235" indent="0">
              <a:buNone/>
              <a:defRPr sz="2205" b="1"/>
            </a:lvl6pPr>
            <a:lvl7pPr marL="3780790" indent="0">
              <a:buNone/>
              <a:defRPr sz="2205" b="1"/>
            </a:lvl7pPr>
            <a:lvl8pPr marL="4410710" indent="0">
              <a:buNone/>
              <a:defRPr sz="2205" b="1"/>
            </a:lvl8pPr>
            <a:lvl9pPr marL="5040630" indent="0">
              <a:buNone/>
              <a:defRPr sz="220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8867" y="2920270"/>
            <a:ext cx="5522126" cy="692359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445529" y="2239392"/>
            <a:ext cx="5522126" cy="60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7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29920" indent="0">
              <a:buNone/>
              <a:defRPr sz="2750" b="1"/>
            </a:lvl2pPr>
            <a:lvl3pPr marL="1260475" indent="0">
              <a:buNone/>
              <a:defRPr sz="2480" b="1"/>
            </a:lvl3pPr>
            <a:lvl4pPr marL="1889760" indent="0">
              <a:buNone/>
              <a:defRPr sz="2205" b="1"/>
            </a:lvl4pPr>
            <a:lvl5pPr marL="2519680" indent="0">
              <a:buNone/>
              <a:defRPr sz="2205" b="1"/>
            </a:lvl5pPr>
            <a:lvl6pPr marL="3150235" indent="0">
              <a:buNone/>
              <a:defRPr sz="2205" b="1"/>
            </a:lvl6pPr>
            <a:lvl7pPr marL="3780790" indent="0">
              <a:buNone/>
              <a:defRPr sz="2205" b="1"/>
            </a:lvl7pPr>
            <a:lvl8pPr marL="4410710" indent="0">
              <a:buNone/>
              <a:defRPr sz="2205" b="1"/>
            </a:lvl8pPr>
            <a:lvl9pPr marL="5040630" indent="0">
              <a:buNone/>
              <a:defRPr sz="220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45529" y="2920270"/>
            <a:ext cx="5522126" cy="692359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28795" y="2449490"/>
            <a:ext cx="5409081" cy="725845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05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564036" y="2449625"/>
            <a:ext cx="5403050" cy="725814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05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579113" y="1440289"/>
            <a:ext cx="1079122" cy="792158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86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45162" y="1440289"/>
            <a:ext cx="9477665" cy="7921587"/>
          </a:xfrm>
        </p:spPr>
        <p:txBody>
          <a:bodyPr vert="eaVert" lIns="46800" tIns="46800" rIns="46800" bIns="46800"/>
          <a:lstStyle>
            <a:lvl1pPr marL="314960" indent="-314960">
              <a:spcAft>
                <a:spcPts val="1000"/>
              </a:spcAft>
              <a:defRPr spc="300"/>
            </a:lvl1pPr>
            <a:lvl2pPr marL="944880" indent="-314960">
              <a:defRPr spc="300"/>
            </a:lvl2pPr>
            <a:lvl3pPr marL="1575435" indent="-314960">
              <a:defRPr spc="300"/>
            </a:lvl3pPr>
            <a:lvl4pPr marL="2205355" indent="-314960">
              <a:defRPr spc="300"/>
            </a:lvl4pPr>
            <a:lvl5pPr marL="2834640" indent="-31496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8867" y="1219142"/>
            <a:ext cx="11341939" cy="863606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39129" y="3912595"/>
            <a:ext cx="10128859" cy="160473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27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239129" y="5608053"/>
            <a:ext cx="10128859" cy="74282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31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867" y="958302"/>
            <a:ext cx="11338219" cy="111140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867" y="2347557"/>
            <a:ext cx="11338219" cy="74963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32588" y="9945930"/>
            <a:ext cx="2790832" cy="4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254467" y="9945930"/>
            <a:ext cx="4093219" cy="4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176255" y="9945930"/>
            <a:ext cx="2790832" cy="4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60475" rtl="0" eaLnBrk="1" fontAlgn="auto" latinLnBrk="0" hangingPunct="1">
        <a:lnSpc>
          <a:spcPct val="100000"/>
        </a:lnSpc>
        <a:spcBef>
          <a:spcPct val="0"/>
        </a:spcBef>
        <a:buNone/>
        <a:defRPr sz="496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14960" indent="-314960" algn="l" defTabSz="126047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4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944880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218055" algn="l"/>
          <a:tab pos="2218055" algn="l"/>
          <a:tab pos="2218055" algn="l"/>
          <a:tab pos="2218055" algn="l"/>
        </a:tabLst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575435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205355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19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834640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19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3465830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6385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6305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590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2992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8976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1968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235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79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71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63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99820" y="1626235"/>
            <a:ext cx="3553460" cy="559435"/>
          </a:xfrm>
          <a:prstGeom prst="rect">
            <a:avLst/>
          </a:prstGeom>
          <a:solidFill>
            <a:srgbClr val="FFC000"/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HPV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致病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DNA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正向示踪分析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876714" y="218536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5" name="直接连接符 94"/>
          <p:cNvCxnSpPr/>
          <p:nvPr/>
        </p:nvCxnSpPr>
        <p:spPr>
          <a:xfrm flipV="1">
            <a:off x="4182745" y="1151890"/>
            <a:ext cx="821055" cy="47434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" name="圆角矩形 5"/>
          <p:cNvSpPr/>
          <p:nvPr/>
        </p:nvSpPr>
        <p:spPr>
          <a:xfrm>
            <a:off x="4533900" y="557530"/>
            <a:ext cx="2987675" cy="559435"/>
          </a:xfrm>
          <a:prstGeom prst="roundRect">
            <a:avLst/>
          </a:prstGeom>
          <a:solidFill>
            <a:schemeClr val="accent4"/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Papner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筛查宫颈癌变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264400" y="1626235"/>
            <a:ext cx="3553460" cy="559435"/>
          </a:xfrm>
          <a:prstGeom prst="rect">
            <a:avLst/>
          </a:prstGeom>
          <a:solidFill>
            <a:srgbClr val="FFC000"/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HPV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致病</a:t>
            </a:r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蛋白逆向求源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分析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 flipV="1">
            <a:off x="6955790" y="1116965"/>
            <a:ext cx="896620" cy="50355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6" name="矩形 25"/>
          <p:cNvSpPr/>
          <p:nvPr/>
        </p:nvSpPr>
        <p:spPr>
          <a:xfrm>
            <a:off x="1442085" y="2802255"/>
            <a:ext cx="27330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分离克隆宫颈癌细胞的表达差异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DNA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442085" y="4067175"/>
            <a:ext cx="27330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核酸印迹杂交分析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筛查致病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DNA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42085" y="5243195"/>
            <a:ext cx="27330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合成相应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mRNA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生物探针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442085" y="6419215"/>
            <a:ext cx="27330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表达谱基因芯片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杂交分析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442085" y="7564755"/>
            <a:ext cx="27330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鉴定相应蛋白的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差异表达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100695" y="2827655"/>
            <a:ext cx="2530475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致癌相关蛋白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一级分析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100060" y="4078605"/>
            <a:ext cx="25298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致癌相关蛋白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二维显示分析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100695" y="5243195"/>
            <a:ext cx="25298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共价离子蛋白芯片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计算机矩阵分析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100695" y="6419215"/>
            <a:ext cx="2529840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芯片原位蛋白分解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矩阵分析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100060" y="7564755"/>
            <a:ext cx="2530475" cy="55943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析译致病基因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DNA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核苷酸序列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03520" y="4638040"/>
            <a:ext cx="1633855" cy="5594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HLA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系统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03520" y="5638165"/>
            <a:ext cx="1633855" cy="5594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P53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Rb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E2F-1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315585" y="6637655"/>
            <a:ext cx="1668780" cy="5594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端粒体系统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315585" y="7636510"/>
            <a:ext cx="1696720" cy="5594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细胞素、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活化因子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3" name="左右箭头标注 42"/>
          <p:cNvSpPr/>
          <p:nvPr/>
        </p:nvSpPr>
        <p:spPr>
          <a:xfrm>
            <a:off x="4220845" y="3190875"/>
            <a:ext cx="3799205" cy="1008380"/>
          </a:xfrm>
          <a:prstGeom prst="leftRightArrow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病毒致癌分子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>
              <a:buClrTx/>
              <a:buSzTx/>
              <a:buFontTx/>
            </a:pP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调控机理分析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2876714" y="338678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2876714" y="4609159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9314344" y="345028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9295929" y="221076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9314344" y="462630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876714" y="580232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2876714" y="694786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9314344" y="575152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9314344" y="6945324"/>
            <a:ext cx="0" cy="616692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4" name="圆角矩形标注 53"/>
          <p:cNvSpPr/>
          <p:nvPr/>
        </p:nvSpPr>
        <p:spPr>
          <a:xfrm>
            <a:off x="1638935" y="906145"/>
            <a:ext cx="2016125" cy="51562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DNA→蛋白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5" name="圆角矩形标注 54"/>
          <p:cNvSpPr/>
          <p:nvPr/>
        </p:nvSpPr>
        <p:spPr>
          <a:xfrm flipH="1">
            <a:off x="8288020" y="905510"/>
            <a:ext cx="2016125" cy="516255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蛋白→</a:t>
            </a:r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DNA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4220845" y="8661400"/>
            <a:ext cx="4159250" cy="559435"/>
          </a:xfrm>
          <a:prstGeom prst="roundRect">
            <a:avLst/>
          </a:prstGeom>
          <a:solidFill>
            <a:schemeClr val="accent4"/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病毒致癌蛋白分子生物特性分析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7" name="图文框 56"/>
          <p:cNvSpPr/>
          <p:nvPr/>
        </p:nvSpPr>
        <p:spPr>
          <a:xfrm>
            <a:off x="3747770" y="9852025"/>
            <a:ext cx="5240020" cy="575945"/>
          </a:xfrm>
          <a:prstGeom prst="fram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提出干预阻断宫颈癌发生方案及策略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下箭头 57"/>
          <p:cNvSpPr/>
          <p:nvPr/>
        </p:nvSpPr>
        <p:spPr>
          <a:xfrm>
            <a:off x="5939155" y="1296035"/>
            <a:ext cx="215900" cy="1799590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上下箭头 58"/>
          <p:cNvSpPr/>
          <p:nvPr/>
        </p:nvSpPr>
        <p:spPr>
          <a:xfrm>
            <a:off x="6010910" y="4199255"/>
            <a:ext cx="215900" cy="431800"/>
          </a:xfrm>
          <a:prstGeom prst="up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上下箭头 60"/>
          <p:cNvSpPr/>
          <p:nvPr/>
        </p:nvSpPr>
        <p:spPr>
          <a:xfrm>
            <a:off x="6010910" y="5183505"/>
            <a:ext cx="215900" cy="431800"/>
          </a:xfrm>
          <a:prstGeom prst="up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上下箭头 61"/>
          <p:cNvSpPr/>
          <p:nvPr/>
        </p:nvSpPr>
        <p:spPr>
          <a:xfrm>
            <a:off x="6012815" y="6197600"/>
            <a:ext cx="215900" cy="431800"/>
          </a:xfrm>
          <a:prstGeom prst="up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上下箭头 62"/>
          <p:cNvSpPr/>
          <p:nvPr/>
        </p:nvSpPr>
        <p:spPr>
          <a:xfrm>
            <a:off x="6055995" y="7197090"/>
            <a:ext cx="215900" cy="431800"/>
          </a:xfrm>
          <a:prstGeom prst="up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左弧形箭头 63"/>
          <p:cNvSpPr/>
          <p:nvPr/>
        </p:nvSpPr>
        <p:spPr>
          <a:xfrm>
            <a:off x="7235825" y="4751705"/>
            <a:ext cx="647700" cy="1800225"/>
          </a:xfrm>
          <a:prstGeom prst="curvedRightArrow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5" name="左弧形箭头 64"/>
          <p:cNvSpPr/>
          <p:nvPr/>
        </p:nvSpPr>
        <p:spPr>
          <a:xfrm flipH="1">
            <a:off x="4356100" y="4829175"/>
            <a:ext cx="647700" cy="1800225"/>
          </a:xfrm>
          <a:prstGeom prst="curvedRightArrow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圆角右箭头 65"/>
          <p:cNvSpPr/>
          <p:nvPr/>
        </p:nvSpPr>
        <p:spPr>
          <a:xfrm rot="5400000">
            <a:off x="4238625" y="7781290"/>
            <a:ext cx="823595" cy="935990"/>
          </a:xfrm>
          <a:prstGeom prst="ben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圆角右箭头 66"/>
          <p:cNvSpPr/>
          <p:nvPr/>
        </p:nvSpPr>
        <p:spPr>
          <a:xfrm rot="16200000" flipH="1">
            <a:off x="7219950" y="7781290"/>
            <a:ext cx="823595" cy="935990"/>
          </a:xfrm>
          <a:prstGeom prst="ben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下箭头 68"/>
          <p:cNvSpPr/>
          <p:nvPr/>
        </p:nvSpPr>
        <p:spPr>
          <a:xfrm>
            <a:off x="6011545" y="9288145"/>
            <a:ext cx="431800" cy="575945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WPS 演示</Application>
  <PresentationFormat>宽屏</PresentationFormat>
  <Paragraphs>55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186</cp:revision>
  <dcterms:created xsi:type="dcterms:W3CDTF">2019-06-19T02:08:00Z</dcterms:created>
  <dcterms:modified xsi:type="dcterms:W3CDTF">2021-03-13T08:57:57Z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