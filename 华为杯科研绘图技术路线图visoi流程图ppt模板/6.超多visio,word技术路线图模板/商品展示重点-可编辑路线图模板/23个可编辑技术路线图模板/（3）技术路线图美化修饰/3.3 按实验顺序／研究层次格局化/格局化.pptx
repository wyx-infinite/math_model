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09" r:id="rId3"/>
  </p:sldIdLst>
  <p:sldSz cx="14399895" cy="179997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>
      <p:cViewPr varScale="1">
        <p:scale>
          <a:sx n="99" d="100"/>
          <a:sy n="99" d="100"/>
        </p:scale>
        <p:origin x="84" y="582"/>
      </p:cViewPr>
      <p:guideLst>
        <p:guide orient="horz" pos="6073"/>
        <p:guide pos="462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94560" y="1143000"/>
            <a:ext cx="246888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416147" y="2400481"/>
            <a:ext cx="11575839" cy="674781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945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416147" y="9346755"/>
            <a:ext cx="11575839" cy="3865341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780" spc="200">
                <a:uFillTx/>
              </a:defRPr>
            </a:lvl1pPr>
            <a:lvl2pPr marL="720090" indent="0" algn="ctr">
              <a:buNone/>
              <a:defRPr sz="3140"/>
            </a:lvl2pPr>
            <a:lvl3pPr marL="1440180" indent="0" algn="ctr">
              <a:buNone/>
              <a:defRPr sz="2835"/>
            </a:lvl3pPr>
            <a:lvl4pPr marL="2159635" indent="0" algn="ctr">
              <a:buNone/>
              <a:defRPr sz="2520"/>
            </a:lvl4pPr>
            <a:lvl5pPr marL="2879725" indent="0" algn="ctr">
              <a:buNone/>
              <a:defRPr sz="2520"/>
            </a:lvl5pPr>
            <a:lvl6pPr marL="3600450" indent="0" algn="ctr">
              <a:buNone/>
              <a:defRPr sz="2520"/>
            </a:lvl6pPr>
            <a:lvl7pPr marL="4320540" indent="0" algn="ctr">
              <a:buNone/>
              <a:defRPr sz="2520"/>
            </a:lvl7pPr>
            <a:lvl8pPr marL="5040630" indent="0" algn="ctr">
              <a:buNone/>
              <a:defRPr sz="2520"/>
            </a:lvl8pPr>
            <a:lvl9pPr marL="5760720" indent="0" algn="ctr">
              <a:buNone/>
              <a:defRPr sz="252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5" y="1597170"/>
            <a:ext cx="12957965" cy="185234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18705" y="3912595"/>
            <a:ext cx="12957965" cy="1249384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351741" y="10102813"/>
            <a:ext cx="9177317" cy="201300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92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2351741" y="12115815"/>
            <a:ext cx="9177317" cy="227762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83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200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44018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215963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72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60045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2054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4063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6072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5" y="1597170"/>
            <a:ext cx="12957965" cy="185234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18705" y="3940948"/>
            <a:ext cx="6115377" cy="1246548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574051" y="3940948"/>
            <a:ext cx="6115377" cy="1246548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5" y="1597170"/>
            <a:ext cx="12957965" cy="185234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18705" y="3751934"/>
            <a:ext cx="6311001" cy="100177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4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40" b="1"/>
            </a:lvl2pPr>
            <a:lvl3pPr marL="1440180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18705" y="4867118"/>
            <a:ext cx="6311001" cy="1153932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66319" y="3732321"/>
            <a:ext cx="6311001" cy="100177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314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20090" indent="0">
              <a:buNone/>
              <a:defRPr sz="3140" b="1"/>
            </a:lvl2pPr>
            <a:lvl3pPr marL="1440180" indent="0">
              <a:buNone/>
              <a:defRPr sz="2835" b="1"/>
            </a:lvl3pPr>
            <a:lvl4pPr marL="2159635" indent="0">
              <a:buNone/>
              <a:defRPr sz="2520" b="1"/>
            </a:lvl4pPr>
            <a:lvl5pPr marL="2879725" indent="0">
              <a:buNone/>
              <a:defRPr sz="2520" b="1"/>
            </a:lvl5pPr>
            <a:lvl6pPr marL="3600450" indent="0">
              <a:buNone/>
              <a:defRPr sz="2520" b="1"/>
            </a:lvl6pPr>
            <a:lvl7pPr marL="4320540" indent="0">
              <a:buNone/>
              <a:defRPr sz="2520" b="1"/>
            </a:lvl7pPr>
            <a:lvl8pPr marL="5040630" indent="0">
              <a:buNone/>
              <a:defRPr sz="2520" b="1"/>
            </a:lvl8pPr>
            <a:lvl9pPr marL="5760720" indent="0">
              <a:buNone/>
              <a:defRPr sz="252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66319" y="4867118"/>
            <a:ext cx="6311001" cy="11539321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8705" y="1597170"/>
            <a:ext cx="12957965" cy="185234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718623" y="4082484"/>
            <a:ext cx="6181807" cy="1209742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7501756" y="4082708"/>
            <a:ext cx="6174914" cy="1209691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52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2090416" y="2400481"/>
            <a:ext cx="1233282" cy="1320264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441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1080185" y="2400481"/>
            <a:ext cx="10831617" cy="13202646"/>
          </a:xfrm>
        </p:spPr>
        <p:txBody>
          <a:bodyPr vert="eaVert" lIns="46800" tIns="46800" rIns="46800" bIns="46800"/>
          <a:lstStyle>
            <a:lvl1pPr marL="360045" indent="-360045">
              <a:spcAft>
                <a:spcPts val="1000"/>
              </a:spcAft>
              <a:defRPr spc="300"/>
            </a:lvl1pPr>
            <a:lvl2pPr marL="1080135" indent="-360045">
              <a:defRPr spc="300"/>
            </a:lvl2pPr>
            <a:lvl3pPr marL="1800225" indent="-360045">
              <a:defRPr spc="300"/>
            </a:lvl3pPr>
            <a:lvl4pPr marL="2520315" indent="-360045">
              <a:defRPr spc="300"/>
            </a:lvl4pPr>
            <a:lvl5pPr marL="3239770" indent="-36004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18705" y="2031903"/>
            <a:ext cx="12962217" cy="1439343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416147" y="6520992"/>
            <a:ext cx="11575839" cy="267455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9455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416147" y="9346755"/>
            <a:ext cx="11575839" cy="123804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78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718705" y="1597170"/>
            <a:ext cx="12957965" cy="185234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718705" y="3912595"/>
            <a:ext cx="12957965" cy="1249384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722958" y="16576551"/>
            <a:ext cx="3189522" cy="831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5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862249" y="16576551"/>
            <a:ext cx="4677965" cy="831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5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10487149" y="16576551"/>
            <a:ext cx="3189522" cy="8316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58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440180" rtl="0" eaLnBrk="1" fontAlgn="auto" latinLnBrk="0" hangingPunct="1">
        <a:lnSpc>
          <a:spcPct val="100000"/>
        </a:lnSpc>
        <a:spcBef>
          <a:spcPct val="0"/>
        </a:spcBef>
        <a:buNone/>
        <a:defRPr sz="567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60045" indent="-360045" algn="l" defTabSz="1440180" rtl="0" eaLnBrk="1" fontAlgn="auto" latinLnBrk="0" hangingPunct="1">
        <a:lnSpc>
          <a:spcPct val="130000"/>
        </a:lnSpc>
        <a:spcBef>
          <a:spcPct val="1000"/>
        </a:spcBef>
        <a:spcAft>
          <a:spcPts val="1000"/>
        </a:spcAft>
        <a:buFont typeface="Arial" panose="020B0604020202020204" pitchFamily="34" charset="0"/>
        <a:buChar char="●"/>
        <a:defRPr sz="28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1080135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tabLst>
          <a:tab pos="2534920" algn="l"/>
          <a:tab pos="2534920" algn="l"/>
          <a:tab pos="2534920" algn="l"/>
          <a:tab pos="2534920" algn="l"/>
        </a:tabLst>
        <a:defRPr sz="25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800225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600"/>
        </a:spcAft>
        <a:buFont typeface="Arial" panose="020B0604020202020204" pitchFamily="34" charset="0"/>
        <a:buChar char="●"/>
        <a:defRPr sz="252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2520315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Wingdings" panose="05000000000000000000" charset="0"/>
        <a:buChar char="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3239770" indent="-360045" algn="l" defTabSz="1440180" rtl="0" eaLnBrk="1" fontAlgn="auto" latinLnBrk="0" hangingPunct="1">
        <a:lnSpc>
          <a:spcPct val="120000"/>
        </a:lnSpc>
        <a:spcBef>
          <a:spcPct val="1000"/>
        </a:spcBef>
        <a:spcAft>
          <a:spcPts val="300"/>
        </a:spcAft>
        <a:buFont typeface="Arial" panose="020B0604020202020204" pitchFamily="34" charset="0"/>
        <a:buChar char="•"/>
        <a:defRPr sz="2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396113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8122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401310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20765" indent="-360045" algn="l" defTabSz="1440180" rtl="0" eaLnBrk="1" latinLnBrk="0" hangingPunct="1">
        <a:lnSpc>
          <a:spcPct val="90000"/>
        </a:lnSpc>
        <a:spcBef>
          <a:spcPct val="158000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63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725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60045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2054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4063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60720" algn="l" defTabSz="1440180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3615714" y="1945109"/>
            <a:ext cx="6383067" cy="6521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基因芯片鉴定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在肠癌肝转移组织中特异性高表达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891941" y="2975722"/>
            <a:ext cx="884561" cy="349888"/>
          </a:xfrm>
          <a:prstGeom prst="round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感染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5110515" y="2597259"/>
            <a:ext cx="0" cy="1080143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12168039" y="8067209"/>
            <a:ext cx="0" cy="1213494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4618698" y="3150166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" name="圆角矩形 13"/>
          <p:cNvSpPr/>
          <p:nvPr/>
        </p:nvSpPr>
        <p:spPr>
          <a:xfrm>
            <a:off x="2548271" y="3677402"/>
            <a:ext cx="3674772" cy="8102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沉默后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SW1116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细胞增殖能力显著降低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95" name="直接连接符 94"/>
          <p:cNvCxnSpPr/>
          <p:nvPr/>
        </p:nvCxnSpPr>
        <p:spPr>
          <a:xfrm>
            <a:off x="1942465" y="8058785"/>
            <a:ext cx="2385695" cy="825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1" name="直接箭头连接符 100"/>
          <p:cNvCxnSpPr/>
          <p:nvPr/>
        </p:nvCxnSpPr>
        <p:spPr>
          <a:xfrm>
            <a:off x="5111040" y="8644834"/>
            <a:ext cx="7820" cy="303351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2" name="直接箭头连接符 101"/>
          <p:cNvCxnSpPr/>
          <p:nvPr/>
        </p:nvCxnSpPr>
        <p:spPr>
          <a:xfrm>
            <a:off x="8818942" y="8626654"/>
            <a:ext cx="7820" cy="322022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6" name="圆角矩形 105"/>
          <p:cNvSpPr/>
          <p:nvPr/>
        </p:nvSpPr>
        <p:spPr>
          <a:xfrm>
            <a:off x="3977640" y="8948420"/>
            <a:ext cx="2574925" cy="94361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基因芯片筛选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沉默后下游分子变化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346842" y="2872851"/>
            <a:ext cx="2504458" cy="5562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基因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RNAi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慢病毒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3852571" y="3150983"/>
            <a:ext cx="252002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圆角矩形 19"/>
          <p:cNvSpPr/>
          <p:nvPr/>
        </p:nvSpPr>
        <p:spPr>
          <a:xfrm>
            <a:off x="2548271" y="5666872"/>
            <a:ext cx="3675407" cy="8102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沉默后，过表达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，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SW1116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细胞增殖有稍许增强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875431" y="4896611"/>
            <a:ext cx="884561" cy="349888"/>
          </a:xfrm>
          <a:prstGeom prst="round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感染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5094005" y="4518148"/>
            <a:ext cx="0" cy="1080143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4602188" y="5071055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9" name="圆角矩形 28"/>
          <p:cNvSpPr/>
          <p:nvPr/>
        </p:nvSpPr>
        <p:spPr>
          <a:xfrm>
            <a:off x="1330332" y="4793740"/>
            <a:ext cx="2504458" cy="5562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基因过表达慢病毒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836060" y="5071872"/>
            <a:ext cx="252002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8756711" y="2597259"/>
            <a:ext cx="0" cy="1080143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4" name="圆角矩形 33"/>
          <p:cNvSpPr/>
          <p:nvPr/>
        </p:nvSpPr>
        <p:spPr>
          <a:xfrm flipH="1">
            <a:off x="9114854" y="3007472"/>
            <a:ext cx="884561" cy="349888"/>
          </a:xfrm>
          <a:prstGeom prst="round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感染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8753848" y="3181917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6" name="圆角矩形 35"/>
          <p:cNvSpPr/>
          <p:nvPr/>
        </p:nvSpPr>
        <p:spPr>
          <a:xfrm flipH="1">
            <a:off x="10173407" y="2975722"/>
            <a:ext cx="2504458" cy="5562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基因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RNAi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慢病毒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H="1">
            <a:off x="9855270" y="3206229"/>
            <a:ext cx="252002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8" name="圆角矩形 37"/>
          <p:cNvSpPr/>
          <p:nvPr/>
        </p:nvSpPr>
        <p:spPr>
          <a:xfrm>
            <a:off x="7863895" y="3677402"/>
            <a:ext cx="3516656" cy="8102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沉默后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SW1116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细胞增殖被抑制，迁移能力显著降低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7863895" y="5666872"/>
            <a:ext cx="3516656" cy="81026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沉默后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，过表达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SW1116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、迁移无显著影响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40" name="直接箭头连接符 39"/>
          <p:cNvCxnSpPr/>
          <p:nvPr/>
        </p:nvCxnSpPr>
        <p:spPr>
          <a:xfrm>
            <a:off x="8740201" y="4518148"/>
            <a:ext cx="0" cy="1080143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1" name="圆角矩形 40"/>
          <p:cNvSpPr/>
          <p:nvPr/>
        </p:nvSpPr>
        <p:spPr>
          <a:xfrm flipH="1">
            <a:off x="9098344" y="4928361"/>
            <a:ext cx="884561" cy="349888"/>
          </a:xfrm>
          <a:prstGeom prst="round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感染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 flipH="1">
            <a:off x="8737338" y="5102806"/>
            <a:ext cx="492749" cy="0"/>
          </a:xfrm>
          <a:prstGeom prst="straightConnector1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3" name="圆角矩形 42"/>
          <p:cNvSpPr/>
          <p:nvPr/>
        </p:nvSpPr>
        <p:spPr>
          <a:xfrm flipH="1">
            <a:off x="10156897" y="4896611"/>
            <a:ext cx="2504458" cy="55626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基因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sym typeface="+mn-ea"/>
              </a:rPr>
              <a:t>过表达慢病毒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sym typeface="+mn-ea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9838759" y="5127118"/>
            <a:ext cx="252002" cy="0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5085115" y="6525398"/>
            <a:ext cx="0" cy="504194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8782747" y="6485393"/>
            <a:ext cx="5715" cy="567694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064125" y="7029450"/>
            <a:ext cx="3719830" cy="20955"/>
          </a:xfrm>
          <a:prstGeom prst="line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6957743" y="7053087"/>
            <a:ext cx="13970" cy="669295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0" name="圆角矩形 49"/>
          <p:cNvSpPr/>
          <p:nvPr/>
        </p:nvSpPr>
        <p:spPr>
          <a:xfrm>
            <a:off x="4309774" y="7740797"/>
            <a:ext cx="5233073" cy="652150"/>
          </a:xfrm>
          <a:prstGeom prst="roundRect">
            <a:avLst/>
          </a:prstGeom>
          <a:ln w="1905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X-Y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轴可能调控大肠癌肝转移的发生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9542780" y="8058785"/>
            <a:ext cx="2625090" cy="8255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6971713" y="8392947"/>
            <a:ext cx="0" cy="252002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5111150" y="8645044"/>
            <a:ext cx="3708027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4" name="圆角矩形 53"/>
          <p:cNvSpPr/>
          <p:nvPr/>
        </p:nvSpPr>
        <p:spPr>
          <a:xfrm>
            <a:off x="7501307" y="8987947"/>
            <a:ext cx="2574944" cy="904882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EMSA/Co-IP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实验炎症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X-Y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的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RNA/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蛋白相互作用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>
            <a:off x="1942465" y="8058785"/>
            <a:ext cx="635" cy="2869565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6" name="圆角矩形 55"/>
          <p:cNvSpPr/>
          <p:nvPr/>
        </p:nvSpPr>
        <p:spPr>
          <a:xfrm>
            <a:off x="436880" y="10928350"/>
            <a:ext cx="2891790" cy="52133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ln>
                  <a:noFill/>
                </a:ln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裸鼠肠癌肝癌转移模型</a:t>
            </a:r>
            <a:endParaRPr lang="zh-CN" sz="2000" b="1">
              <a:ln>
                <a:noFill/>
              </a:ln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>
            <a:off x="5118660" y="9897689"/>
            <a:ext cx="7820" cy="303351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8" name="圆角矩形 57"/>
          <p:cNvSpPr/>
          <p:nvPr/>
        </p:nvSpPr>
        <p:spPr>
          <a:xfrm>
            <a:off x="3980815" y="10205085"/>
            <a:ext cx="2574925" cy="94361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半乳糖基转移酶可能是</a:t>
            </a:r>
            <a:endParaRPr lang="zh-CN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8826425" y="9891974"/>
            <a:ext cx="7820" cy="303351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1" name="圆角矩形 60"/>
          <p:cNvSpPr/>
          <p:nvPr/>
        </p:nvSpPr>
        <p:spPr>
          <a:xfrm>
            <a:off x="7202170" y="10195560"/>
            <a:ext cx="3256915" cy="105410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对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的序列进行分段，分别构建载体，用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Co-IP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的方法检测与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结合的区域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5126280" y="11146099"/>
            <a:ext cx="7820" cy="303351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3" name="圆角矩形 62"/>
          <p:cNvSpPr/>
          <p:nvPr/>
        </p:nvSpPr>
        <p:spPr>
          <a:xfrm>
            <a:off x="3891915" y="11449685"/>
            <a:ext cx="2968625" cy="94361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qPCR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WB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验证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对半乳糖基转移酶的调控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3875405" y="12696825"/>
            <a:ext cx="2968625" cy="94361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半乳糖基转移酶抑制剂验证其在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介导肠癌细胞肝转移中的作用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5133900" y="12393239"/>
            <a:ext cx="7820" cy="303351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8834120" y="11249660"/>
            <a:ext cx="0" cy="72009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7" name="圆角矩形 66"/>
          <p:cNvSpPr/>
          <p:nvPr/>
        </p:nvSpPr>
        <p:spPr>
          <a:xfrm>
            <a:off x="7346315" y="11946255"/>
            <a:ext cx="2968625" cy="94361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对目标序列区域进行分析，设计点突变，验证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结合的位点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69" name="直接箭头连接符 68"/>
          <p:cNvCxnSpPr/>
          <p:nvPr/>
        </p:nvCxnSpPr>
        <p:spPr>
          <a:xfrm flipH="1">
            <a:off x="8834120" y="12889865"/>
            <a:ext cx="6350" cy="92837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0" name="圆角矩形 69"/>
          <p:cNvSpPr/>
          <p:nvPr/>
        </p:nvSpPr>
        <p:spPr>
          <a:xfrm>
            <a:off x="7346315" y="13855065"/>
            <a:ext cx="2968625" cy="94361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阐明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X-Y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在肠癌肝转移模式中的作用及机制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>
            <a:off x="1941830" y="11449685"/>
            <a:ext cx="1905" cy="1217295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2" name="圆角矩形 71"/>
          <p:cNvSpPr/>
          <p:nvPr/>
        </p:nvSpPr>
        <p:spPr>
          <a:xfrm>
            <a:off x="503555" y="12696825"/>
            <a:ext cx="2968625" cy="94361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in vivo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验证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X-Y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轴对长癌细胞体内成瘤能力以及肝转移能力的影响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73" name="直接箭头连接符 72"/>
          <p:cNvCxnSpPr/>
          <p:nvPr/>
        </p:nvCxnSpPr>
        <p:spPr>
          <a:xfrm flipH="1">
            <a:off x="3470648" y="13168576"/>
            <a:ext cx="432000" cy="0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1943735" y="14395450"/>
            <a:ext cx="5330190" cy="6350"/>
          </a:xfrm>
          <a:prstGeom prst="straightConnector1">
            <a:avLst/>
          </a:prstGeom>
          <a:ln w="19050"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1943735" y="13674725"/>
            <a:ext cx="0" cy="72009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78" name="圆角矩形 77"/>
          <p:cNvSpPr/>
          <p:nvPr/>
        </p:nvSpPr>
        <p:spPr>
          <a:xfrm>
            <a:off x="11057890" y="9280525"/>
            <a:ext cx="2305685" cy="90487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500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例肠癌组织和肝转移组织样本的收集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9" name="圆角矩形 78"/>
          <p:cNvSpPr/>
          <p:nvPr/>
        </p:nvSpPr>
        <p:spPr>
          <a:xfrm>
            <a:off x="11057890" y="10928350"/>
            <a:ext cx="2305685" cy="90487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免疫组化检测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蛋白表达和定位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>
            <a:off x="12167870" y="10208260"/>
            <a:ext cx="0" cy="72009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82" name="直接箭头连接符 81"/>
          <p:cNvCxnSpPr/>
          <p:nvPr/>
        </p:nvCxnSpPr>
        <p:spPr>
          <a:xfrm>
            <a:off x="12167870" y="11833225"/>
            <a:ext cx="0" cy="720090"/>
          </a:xfrm>
          <a:prstGeom prst="straightConnector1">
            <a:avLst/>
          </a:prstGeom>
          <a:ln w="19050"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3" name="圆角矩形 82"/>
          <p:cNvSpPr/>
          <p:nvPr/>
        </p:nvSpPr>
        <p:spPr>
          <a:xfrm>
            <a:off x="10915015" y="12553315"/>
            <a:ext cx="2686050" cy="163385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4">
                    <a:lumMod val="40000"/>
                    <a:lumOff val="60000"/>
                  </a:schemeClr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根据临床的病理资料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/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预后和随访资料分析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Y</a:t>
            </a:r>
            <a:r>
              <a:rPr lang="zh-CN" altLang="en-US" sz="2000" b="1">
                <a:solidFill>
                  <a:schemeClr val="tx1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  <a:sym typeface="+mn-ea"/>
              </a:rPr>
              <a:t>表达对肠癌预后的临床意义</a:t>
            </a:r>
            <a:endParaRPr lang="zh-CN" altLang="en-US" sz="2000" b="1">
              <a:solidFill>
                <a:schemeClr val="tx1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WPS 演示</Application>
  <PresentationFormat>宽屏</PresentationFormat>
  <Paragraphs>54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Wingdings</vt:lpstr>
      <vt:lpstr>Times New Roman</vt:lpstr>
      <vt:lpstr>仿宋</vt:lpstr>
      <vt:lpstr>Arial Unicode MS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111</cp:lastModifiedBy>
  <cp:revision>184</cp:revision>
  <dcterms:created xsi:type="dcterms:W3CDTF">2019-06-19T02:08:00Z</dcterms:created>
  <dcterms:modified xsi:type="dcterms:W3CDTF">2021-03-13T11:35:36Z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