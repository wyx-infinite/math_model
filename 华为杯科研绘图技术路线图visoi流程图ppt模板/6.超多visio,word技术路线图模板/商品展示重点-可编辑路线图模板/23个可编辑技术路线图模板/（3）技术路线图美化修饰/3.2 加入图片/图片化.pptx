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9" r:id="rId3"/>
  </p:sldIdLst>
  <p:sldSz cx="14399895" cy="1079944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howGuides="1">
      <p:cViewPr varScale="1">
        <p:scale>
          <a:sx n="99" d="100"/>
          <a:sy n="99" d="100"/>
        </p:scale>
        <p:origin x="84" y="582"/>
      </p:cViewPr>
      <p:guideLst>
        <p:guide orient="horz" pos="3655"/>
        <p:guide pos="80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416185" y="1440363"/>
            <a:ext cx="11576142" cy="404889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45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416185" y="5608341"/>
            <a:ext cx="11576142" cy="2319324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785" spc="200">
                <a:uFillTx/>
              </a:defRPr>
            </a:lvl1pPr>
            <a:lvl2pPr marL="720090" indent="0" algn="ctr">
              <a:buNone/>
              <a:defRPr sz="3145"/>
            </a:lvl2pPr>
            <a:lvl3pPr marL="1440815" indent="0" algn="ctr">
              <a:buNone/>
              <a:defRPr sz="2835"/>
            </a:lvl3pPr>
            <a:lvl4pPr marL="2159635" indent="0" algn="ctr">
              <a:buNone/>
              <a:defRPr sz="2520"/>
            </a:lvl4pPr>
            <a:lvl5pPr marL="2879725" indent="0" algn="ctr">
              <a:buNone/>
              <a:defRPr sz="2520"/>
            </a:lvl5pPr>
            <a:lvl6pPr marL="3600450" indent="0" algn="ctr">
              <a:buNone/>
              <a:defRPr sz="2520"/>
            </a:lvl6pPr>
            <a:lvl7pPr marL="4321175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720" indent="0" algn="ctr">
              <a:buNone/>
              <a:defRPr sz="252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24" y="958351"/>
            <a:ext cx="12958304" cy="11114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18724" y="2347678"/>
            <a:ext cx="12958304" cy="749669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351802" y="6061999"/>
            <a:ext cx="9177557" cy="120786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92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351802" y="7269861"/>
            <a:ext cx="9177557" cy="136664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3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200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44081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215963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72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2117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72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24" y="958351"/>
            <a:ext cx="12958304" cy="11114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18724" y="2364689"/>
            <a:ext cx="6115536" cy="747967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574250" y="2364689"/>
            <a:ext cx="6115536" cy="747967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24" y="958351"/>
            <a:ext cx="12958304" cy="11114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18724" y="2251276"/>
            <a:ext cx="6311167" cy="60109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4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45" b="1"/>
            </a:lvl2pPr>
            <a:lvl3pPr marL="1440815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1175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18724" y="2920420"/>
            <a:ext cx="6311167" cy="6923947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66512" y="2239507"/>
            <a:ext cx="6311167" cy="60109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4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45" b="1"/>
            </a:lvl2pPr>
            <a:lvl3pPr marL="1440815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1175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66512" y="2920420"/>
            <a:ext cx="6311167" cy="6923947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24" y="958351"/>
            <a:ext cx="12958304" cy="111146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718642" y="2449616"/>
            <a:ext cx="6181969" cy="725882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7501952" y="2449751"/>
            <a:ext cx="6175076" cy="725852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2090732" y="1440363"/>
            <a:ext cx="1233315" cy="7921994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41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080213" y="1440363"/>
            <a:ext cx="10831901" cy="7921994"/>
          </a:xfrm>
        </p:spPr>
        <p:txBody>
          <a:bodyPr vert="eaVert" lIns="46800" tIns="46800" rIns="46800" bIns="46800"/>
          <a:lstStyle>
            <a:lvl1pPr marL="360045" indent="-360045">
              <a:spcAft>
                <a:spcPts val="1000"/>
              </a:spcAft>
              <a:defRPr spc="300"/>
            </a:lvl1pPr>
            <a:lvl2pPr marL="1080135" indent="-360045">
              <a:defRPr spc="300"/>
            </a:lvl2pPr>
            <a:lvl3pPr marL="1800860" indent="-360045">
              <a:defRPr spc="300"/>
            </a:lvl3pPr>
            <a:lvl4pPr marL="2520315" indent="-360045">
              <a:defRPr spc="300"/>
            </a:lvl4pPr>
            <a:lvl5pPr marL="3239770" indent="-36004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18724" y="1219205"/>
            <a:ext cx="12962556" cy="8636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16185" y="3912796"/>
            <a:ext cx="11576142" cy="160481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45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416185" y="5608341"/>
            <a:ext cx="11576142" cy="74286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7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718724" y="958351"/>
            <a:ext cx="12958304" cy="1111461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718724" y="2347678"/>
            <a:ext cx="12958304" cy="74966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722977" y="9946441"/>
            <a:ext cx="3189606" cy="499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862375" y="9946441"/>
            <a:ext cx="4678087" cy="499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0487424" y="9946441"/>
            <a:ext cx="3189606" cy="499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8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440815" rtl="0" eaLnBrk="1" fontAlgn="auto" latinLnBrk="0" hangingPunct="1">
        <a:lnSpc>
          <a:spcPct val="100000"/>
        </a:lnSpc>
        <a:spcBef>
          <a:spcPct val="0"/>
        </a:spcBef>
        <a:buNone/>
        <a:defRPr sz="567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60045" indent="-360045" algn="l" defTabSz="1440815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28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1080135" indent="-360045" algn="l" defTabSz="144081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534920" algn="l"/>
          <a:tab pos="2534920" algn="l"/>
          <a:tab pos="2534920" algn="l"/>
          <a:tab pos="2534920" algn="l"/>
        </a:tabLst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800860" indent="-360045" algn="l" defTabSz="1440815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2520315" indent="-360045" algn="l" defTabSz="144081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3239770" indent="-360045" algn="l" defTabSz="1440815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3961130" indent="-360045" algn="l" defTabSz="1440815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81855" indent="-360045" algn="l" defTabSz="1440815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1945" indent="-360045" algn="l" defTabSz="1440815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765" indent="-360045" algn="l" defTabSz="1440815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815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635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1175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815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/>
          <p:cNvCxnSpPr/>
          <p:nvPr/>
        </p:nvCxnSpPr>
        <p:spPr>
          <a:xfrm>
            <a:off x="4082176" y="3408468"/>
            <a:ext cx="0" cy="616724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5" name="直接连接符 94"/>
          <p:cNvCxnSpPr/>
          <p:nvPr/>
        </p:nvCxnSpPr>
        <p:spPr>
          <a:xfrm flipV="1">
            <a:off x="1986280" y="4514215"/>
            <a:ext cx="549910" cy="6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6" name="矩形 25"/>
          <p:cNvSpPr/>
          <p:nvPr/>
        </p:nvSpPr>
        <p:spPr>
          <a:xfrm>
            <a:off x="2536300" y="4025409"/>
            <a:ext cx="3091974" cy="979220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外周血、脾分离单个核细胞，尼龙毛分选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44525" y="6116320"/>
            <a:ext cx="2733040" cy="1098550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流式细胞仪分析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CD8</a:t>
            </a:r>
            <a:r>
              <a:rPr lang="en-US" altLang="zh-CN" sz="2000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+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CD28</a:t>
            </a:r>
            <a:r>
              <a:rPr lang="en-US" altLang="zh-CN" sz="2000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-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和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CD4</a:t>
            </a:r>
            <a:r>
              <a:rPr lang="en-US" altLang="zh-CN" sz="2000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+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CD25Tr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表达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01750" y="8455025"/>
            <a:ext cx="2013585" cy="107632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流式细胞仪分析亚表型表达</a:t>
            </a:r>
            <a:endParaRPr lang="zh-CN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408805" y="8455025"/>
            <a:ext cx="2733040" cy="107632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RT-PCR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分析细胞因子表达情况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4999355" y="5004435"/>
            <a:ext cx="0" cy="1080135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5627717" y="6598216"/>
            <a:ext cx="0" cy="616724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0" name="直接箭头连接符 49"/>
          <p:cNvCxnSpPr>
            <a:endCxn id="29" idx="0"/>
          </p:cNvCxnSpPr>
          <p:nvPr/>
        </p:nvCxnSpPr>
        <p:spPr>
          <a:xfrm flipH="1">
            <a:off x="2308860" y="7266305"/>
            <a:ext cx="2011045" cy="1260475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7070090" y="6598285"/>
            <a:ext cx="5220000" cy="0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840" y="2273339"/>
            <a:ext cx="1541224" cy="10636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61" y="2387645"/>
            <a:ext cx="1409772" cy="949374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2843064" y="2928693"/>
            <a:ext cx="575975" cy="0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0678" y="2345094"/>
            <a:ext cx="1541224" cy="10636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414" y="2459400"/>
            <a:ext cx="1409772" cy="949374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11426762" y="3000448"/>
            <a:ext cx="575975" cy="0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703" y="2454324"/>
            <a:ext cx="1409772" cy="9493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759" y="2454324"/>
            <a:ext cx="1409772" cy="949374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7142014" y="2928693"/>
            <a:ext cx="575975" cy="0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6" name="矩形 15"/>
          <p:cNvSpPr/>
          <p:nvPr/>
        </p:nvSpPr>
        <p:spPr>
          <a:xfrm>
            <a:off x="4337050" y="6116320"/>
            <a:ext cx="2733040" cy="1098550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磁珠分选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CD8</a:t>
            </a:r>
            <a:r>
              <a:rPr lang="en-US" altLang="zh-CN" sz="2000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+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CD28</a:t>
            </a:r>
            <a:r>
              <a:rPr lang="en-US" altLang="zh-CN" sz="2000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-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Tr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 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CD4</a:t>
            </a:r>
            <a:r>
              <a:rPr lang="en-US" altLang="zh-CN" sz="2000" baseline="30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+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CD25 Tr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2011045" y="4530725"/>
            <a:ext cx="4445" cy="1585595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999355" y="7214870"/>
            <a:ext cx="1905" cy="1207135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496935" y="3418840"/>
            <a:ext cx="3175" cy="60642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762230" y="3408680"/>
            <a:ext cx="3175" cy="60642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496935" y="4015105"/>
            <a:ext cx="4284000" cy="1143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2278995" y="4015105"/>
            <a:ext cx="33020" cy="447548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5" name="矩形 24"/>
          <p:cNvSpPr/>
          <p:nvPr/>
        </p:nvSpPr>
        <p:spPr>
          <a:xfrm>
            <a:off x="10348595" y="8455025"/>
            <a:ext cx="2733040" cy="1076325"/>
          </a:xfrm>
          <a:prstGeom prst="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RT-PCR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分析细胞因子表达情况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695450" y="1475105"/>
            <a:ext cx="3091815" cy="610235"/>
          </a:xfrm>
          <a:prstGeom prst="rect">
            <a:avLst/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BN→Lewis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免疫耐受模型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628005" y="1475105"/>
            <a:ext cx="3091815" cy="610235"/>
          </a:xfrm>
          <a:prstGeom prst="rect">
            <a:avLst/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DV→L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e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wis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急性排异模型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989820" y="1475105"/>
            <a:ext cx="3091815" cy="610235"/>
          </a:xfrm>
          <a:prstGeom prst="rect">
            <a:avLst/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L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e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wis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→BN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急性排异模型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84555" y="551815"/>
            <a:ext cx="3902710" cy="610235"/>
          </a:xfrm>
          <a:prstGeom prst="rect">
            <a:avLst/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4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实验基本流程及技术路线</a:t>
            </a:r>
            <a:endParaRPr lang="zh-CN" sz="24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426960" y="5775325"/>
            <a:ext cx="3091815" cy="610235"/>
          </a:xfrm>
          <a:prstGeom prst="rect">
            <a:avLst/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在移植后不同阶段输注（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Ud 3d 7d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64820" y="3418840"/>
            <a:ext cx="2071370" cy="610235"/>
          </a:xfrm>
          <a:prstGeom prst="rect">
            <a:avLst/>
          </a:prstGeom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成活＞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100d</a:t>
            </a:r>
            <a:endParaRPr lang="en-US" alt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Times New Roman</vt:lpstr>
      <vt:lpstr>仿宋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111</cp:lastModifiedBy>
  <cp:revision>189</cp:revision>
  <dcterms:created xsi:type="dcterms:W3CDTF">2019-06-19T02:08:00Z</dcterms:created>
  <dcterms:modified xsi:type="dcterms:W3CDTF">2021-03-13T09:45:25Z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