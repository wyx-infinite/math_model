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6"/>
  </p:handoutMasterIdLst>
  <p:sldIdLst>
    <p:sldId id="256" r:id="rId3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DCDC"/>
    <a:srgbClr val="F0F0F0"/>
    <a:srgbClr val="E6E6E6"/>
    <a:srgbClr val="C8C8C8"/>
    <a:srgbClr val="FFFFFF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78" d="100"/>
          <a:sy n="78" d="100"/>
        </p:scale>
        <p:origin x="654" y="54"/>
      </p:cViewPr>
      <p:guideLst>
        <p:guide orient="horz" pos="2213"/>
        <p:guide pos="3815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1AC49D05-6128-4D0D-A32A-06A5E73B38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5849F42C-2DAE-424C-A4B8-3140182C3E9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669882" y="25882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669882" y="3566160"/>
            <a:ext cx="10852237" cy="950984"/>
          </a:xfrm>
        </p:spPr>
        <p:txBody>
          <a:bodyPr lIns="101600" tIns="38100" rIns="76200" bIns="3810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82" y="1296000"/>
            <a:ext cx="10852237" cy="504135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30" y="3808730"/>
            <a:ext cx="10852237" cy="624845"/>
          </a:xfrm>
        </p:spPr>
        <p:txBody>
          <a:bodyPr lIns="101600" tIns="38100" rIns="63500" bIns="38100" anchor="t" anchorCtr="0">
            <a:noAutofit/>
          </a:bodyPr>
          <a:lstStyle>
            <a:lvl1pPr>
              <a:defRPr sz="3600" b="0" u="none" strike="noStrike" kern="1200" cap="none" spc="300" normalizeH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69925" y="4511675"/>
            <a:ext cx="10852237" cy="1077985"/>
          </a:xfrm>
        </p:spPr>
        <p:txBody>
          <a:bodyPr lIns="101600" tIns="38100" rIns="76200" bIns="38100">
            <a:noAutofit/>
          </a:bodyPr>
          <a:lstStyle>
            <a:lvl1pPr marL="0" indent="0" eaLnBrk="1" fontAlgn="auto" latinLnBrk="0" hangingPunct="1">
              <a:buNone/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9930" y="1296000"/>
            <a:ext cx="5283242" cy="50400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7" y="1296000"/>
            <a:ext cx="5283242" cy="5040000"/>
          </a:xfrm>
        </p:spPr>
        <p:txBody>
          <a:bodyPr>
            <a:noAutofit/>
          </a:bodyPr>
          <a:lstStyle>
            <a:lvl1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69930" y="1296000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925" y="1789043"/>
            <a:ext cx="5283200" cy="4552234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296000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789043"/>
            <a:ext cx="5283242" cy="4552234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69930" y="1296000"/>
            <a:ext cx="5283242" cy="5040000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238925" y="1296000"/>
            <a:ext cx="5283242" cy="50400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69930" y="952508"/>
            <a:ext cx="10852237" cy="5040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69882" y="2588281"/>
            <a:ext cx="10852237" cy="899167"/>
          </a:xfrm>
        </p:spPr>
        <p:txBody>
          <a:bodyPr vert="horz" lIns="101600" tIns="38100" rIns="25400" bIns="38100" rtlCol="0" anchor="t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5400" b="0" i="0" u="none" strike="noStrike" kern="1200" cap="none" spc="600" normalizeH="0" baseline="0" noProof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tags" Target="../tags/tag56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DCDCDC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69882" y="1296000"/>
            <a:ext cx="10852237" cy="504000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05435" y="60325"/>
            <a:ext cx="2070735" cy="1019810"/>
          </a:xfrm>
          <a:prstGeom prst="rect">
            <a:avLst/>
          </a:prstGeom>
          <a:ln w="28575">
            <a:solidFill>
              <a:schemeClr val="tx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B6/GId</a:t>
            </a:r>
            <a:endParaRPr lang="en-US" altLang="zh-CN" sz="2000" b="1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algn="ctr"/>
            <a:r>
              <a:rPr lang="zh-CN" altLang="en-US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小鼠</a:t>
            </a:r>
            <a:endParaRPr lang="zh-CN" altLang="en-US" sz="2000" b="1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cxnSp>
        <p:nvCxnSpPr>
          <p:cNvPr id="7" name="直接箭头连接符 6"/>
          <p:cNvCxnSpPr>
            <a:stCxn id="4" idx="2"/>
          </p:cNvCxnSpPr>
          <p:nvPr/>
        </p:nvCxnSpPr>
        <p:spPr>
          <a:xfrm>
            <a:off x="1341120" y="1080135"/>
            <a:ext cx="1905" cy="449580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305435" y="1529715"/>
            <a:ext cx="2070735" cy="488950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20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</a:rPr>
              <a:t>+</a:t>
            </a:r>
            <a:r>
              <a:rPr lang="en-US" altLang="zh-CN" sz="20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/</a:t>
            </a:r>
            <a:r>
              <a:rPr lang="en-US" altLang="zh-CN" sz="20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</a:rPr>
              <a:t>-MCA0</a:t>
            </a:r>
            <a:endParaRPr lang="en-US" altLang="zh-CN" sz="2000" b="1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16865" y="3598545"/>
            <a:ext cx="1170940" cy="800100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</a:rPr>
              <a:t>免疫</a:t>
            </a:r>
            <a:endParaRPr lang="zh-CN" altLang="en-US" sz="2000" b="1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</a:endParaRPr>
          </a:p>
          <a:p>
            <a:pPr algn="ctr"/>
            <a:r>
              <a:rPr lang="zh-CN" altLang="en-US" sz="20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</a:rPr>
              <a:t>荧光</a:t>
            </a:r>
            <a:endParaRPr lang="zh-CN" altLang="en-US" sz="2000" b="1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7310755" y="60325"/>
            <a:ext cx="3856355" cy="790575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小胶质细胞</a:t>
            </a:r>
            <a:r>
              <a:rPr lang="en-US" altLang="zh-CN" sz="20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/</a:t>
            </a:r>
            <a:endParaRPr lang="en-US" altLang="zh-CN" sz="2000" b="1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algn="ctr"/>
            <a:r>
              <a:rPr lang="en-US" altLang="zh-CN" sz="20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GD4+T</a:t>
            </a:r>
            <a:r>
              <a:rPr lang="zh-CN" altLang="en-US" sz="20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细胞共培养</a:t>
            </a:r>
            <a:endParaRPr lang="zh-CN" altLang="en-US" sz="2000" b="1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cxnSp>
        <p:nvCxnSpPr>
          <p:cNvPr id="13" name="直接箭头连接符 12"/>
          <p:cNvCxnSpPr/>
          <p:nvPr/>
        </p:nvCxnSpPr>
        <p:spPr>
          <a:xfrm>
            <a:off x="2349500" y="500380"/>
            <a:ext cx="4961255" cy="12700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肘形连接符 13"/>
          <p:cNvCxnSpPr>
            <a:stCxn id="8" idx="2"/>
            <a:endCxn id="10" idx="0"/>
          </p:cNvCxnSpPr>
          <p:nvPr/>
        </p:nvCxnSpPr>
        <p:spPr>
          <a:xfrm rot="5400000">
            <a:off x="331788" y="2589213"/>
            <a:ext cx="1579880" cy="438785"/>
          </a:xfrm>
          <a:prstGeom prst="bentConnector3">
            <a:avLst>
              <a:gd name="adj1" fmla="val 49980"/>
            </a:avLst>
          </a:prstGeom>
          <a:ln>
            <a:headEnd type="arrow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305435" y="5301615"/>
            <a:ext cx="2072005" cy="1553845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小胶质细胞</a:t>
            </a:r>
            <a:r>
              <a:rPr lang="en-US" altLang="zh-CN" sz="20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T</a:t>
            </a:r>
            <a:r>
              <a:rPr lang="zh-CN" altLang="en-US" sz="20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细胞与</a:t>
            </a:r>
            <a:r>
              <a:rPr lang="en-US" altLang="zh-CN" sz="20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STAT3/5</a:t>
            </a:r>
            <a:r>
              <a:rPr lang="zh-CN" altLang="en-US" sz="20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共表达</a:t>
            </a:r>
            <a:endParaRPr lang="zh-CN" altLang="en-US" sz="2000" b="1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45435" y="2520315"/>
            <a:ext cx="2463800" cy="666750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2000" b="1">
                <a:latin typeface="仿宋" panose="02010609060101010101" charset="-122"/>
                <a:ea typeface="仿宋" panose="02010609060101010101" charset="-122"/>
                <a:sym typeface="+mn-ea"/>
              </a:rPr>
              <a:t>western</a:t>
            </a:r>
            <a:endParaRPr lang="zh-CN" altLang="en-US" sz="2000" b="1">
              <a:latin typeface="仿宋" panose="02010609060101010101" charset="-122"/>
              <a:ea typeface="仿宋" panose="02010609060101010101" charset="-122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zh-CN" altLang="en-US" sz="2000" b="1">
                <a:latin typeface="仿宋" panose="02010609060101010101" charset="-122"/>
                <a:ea typeface="仿宋" panose="02010609060101010101" charset="-122"/>
                <a:sym typeface="+mn-ea"/>
              </a:rPr>
              <a:t>BIot</a:t>
            </a:r>
            <a:endParaRPr lang="zh-CN" altLang="en-US" sz="2000" b="1">
              <a:latin typeface="仿宋" panose="02010609060101010101" charset="-122"/>
              <a:ea typeface="仿宋" panose="02010609060101010101" charset="-122"/>
              <a:sym typeface="+mn-ea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2756535" y="3838575"/>
            <a:ext cx="2553335" cy="1094740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NF-KB</a:t>
            </a:r>
            <a:r>
              <a:rPr lang="zh-CN" altLang="en-US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、</a:t>
            </a:r>
            <a:r>
              <a:rPr lang="en-US" altLang="zh-CN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AKT</a:t>
            </a:r>
            <a:endParaRPr lang="en-US" altLang="zh-CN" sz="2000" b="1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algn="ctr"/>
            <a:r>
              <a:rPr lang="en-US" altLang="zh-CN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MAPK/PPARY</a:t>
            </a:r>
            <a:endParaRPr lang="en-US" altLang="zh-CN" sz="2000" b="1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algn="ctr"/>
            <a:r>
              <a:rPr lang="en-US" altLang="zh-CN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STAT3/STAT5</a:t>
            </a:r>
            <a:endParaRPr lang="en-US" altLang="zh-CN" sz="2000" b="1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307715" y="5217160"/>
            <a:ext cx="1362075" cy="452755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</a:rPr>
              <a:t>磷酸化</a:t>
            </a:r>
            <a:endParaRPr lang="zh-CN" altLang="en-US" sz="2000" b="1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2756535" y="6008370"/>
            <a:ext cx="2552700" cy="847090"/>
          </a:xfrm>
          <a:prstGeom prst="rect">
            <a:avLst/>
          </a:prstGeom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证明</a:t>
            </a:r>
            <a:r>
              <a:rPr lang="en-US" altLang="zh-CN" sz="20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FasL</a:t>
            </a:r>
            <a:endParaRPr lang="en-US" altLang="zh-CN" sz="2000" b="1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algn="ctr"/>
            <a:r>
              <a:rPr lang="zh-CN" altLang="en-US" sz="20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通过哪条途径</a:t>
            </a:r>
            <a:endParaRPr lang="zh-CN" altLang="en-US" sz="2000" b="1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8077835" y="1158240"/>
            <a:ext cx="2321560" cy="371475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2000" b="1">
                <a:latin typeface="仿宋" panose="02010609060101010101" charset="-122"/>
                <a:ea typeface="仿宋" panose="02010609060101010101" charset="-122"/>
              </a:rPr>
              <a:t>+</a:t>
            </a:r>
            <a:r>
              <a:rPr lang="zh-CN" altLang="en-US" sz="2000" b="1">
                <a:latin typeface="仿宋" panose="02010609060101010101" charset="-122"/>
                <a:ea typeface="仿宋" panose="02010609060101010101" charset="-122"/>
              </a:rPr>
              <a:t>/</a:t>
            </a:r>
            <a:r>
              <a:rPr lang="en-US" altLang="zh-CN" sz="2000" b="1">
                <a:latin typeface="仿宋" panose="02010609060101010101" charset="-122"/>
                <a:ea typeface="仿宋" panose="02010609060101010101" charset="-122"/>
              </a:rPr>
              <a:t>-0GD</a:t>
            </a:r>
            <a:endParaRPr lang="en-US" altLang="zh-CN" sz="2000" b="1"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6521450" y="1894840"/>
            <a:ext cx="1892935" cy="327660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000" b="1">
                <a:latin typeface="仿宋" panose="02010609060101010101" charset="-122"/>
                <a:ea typeface="仿宋" panose="02010609060101010101" charset="-122"/>
                <a:sym typeface="+mn-ea"/>
              </a:rPr>
              <a:t>小胶质细胞</a:t>
            </a:r>
            <a:endParaRPr lang="zh-CN" altLang="en-US" sz="2000" b="1">
              <a:latin typeface="仿宋" panose="02010609060101010101" charset="-122"/>
              <a:ea typeface="仿宋" panose="02010609060101010101" charset="-122"/>
              <a:sym typeface="+mn-ea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8844915" y="1894840"/>
            <a:ext cx="2229485" cy="327660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T淋巴细胞</a:t>
            </a:r>
            <a:endParaRPr lang="en-US" altLang="zh-CN" sz="2000" b="1"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7656195" y="2381885"/>
            <a:ext cx="1437005" cy="327660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2000" b="1">
                <a:latin typeface="仿宋" panose="02010609060101010101" charset="-122"/>
                <a:ea typeface="仿宋" panose="02010609060101010101" charset="-122"/>
              </a:rPr>
              <a:t>Th17</a:t>
            </a:r>
            <a:endParaRPr lang="en-US" altLang="zh-CN" sz="2000" b="1"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9763760" y="2362200"/>
            <a:ext cx="1403350" cy="327660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2000" b="1">
                <a:latin typeface="仿宋" panose="02010609060101010101" charset="-122"/>
                <a:ea typeface="仿宋" panose="02010609060101010101" charset="-122"/>
                <a:sym typeface="+mn-ea"/>
              </a:rPr>
              <a:t>Treg</a:t>
            </a:r>
            <a:endParaRPr lang="en-US" altLang="zh-CN" sz="2000" b="1">
              <a:latin typeface="仿宋" panose="02010609060101010101" charset="-122"/>
              <a:ea typeface="仿宋" panose="02010609060101010101" charset="-122"/>
              <a:sym typeface="+mn-ea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8605520" y="2859405"/>
            <a:ext cx="1704340" cy="327660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20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+/-</a:t>
            </a:r>
            <a:r>
              <a:rPr lang="zh-CN" altLang="en-US" sz="20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拮抗剂</a:t>
            </a:r>
            <a:endParaRPr lang="zh-CN" altLang="en-US" sz="2000" b="1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7110730" y="3510915"/>
            <a:ext cx="3902710" cy="549910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lvl="0" algn="ctr">
              <a:buClrTx/>
              <a:buSzTx/>
              <a:buFontTx/>
            </a:pPr>
            <a:r>
              <a:rPr lang="zh-CN" altLang="en-US" sz="20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western  BIot</a:t>
            </a:r>
            <a:endParaRPr lang="zh-CN" altLang="en-US" sz="2000" b="1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en-US" altLang="zh-CN" sz="20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STAT3/5</a:t>
            </a:r>
            <a:r>
              <a:rPr lang="zh-CN" altLang="en-US" sz="20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磷酸化位点</a:t>
            </a:r>
            <a:endParaRPr lang="zh-CN" altLang="en-US" sz="2000" b="1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6066155" y="4266565"/>
            <a:ext cx="1471930" cy="666115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</a:rPr>
              <a:t>报告</a:t>
            </a:r>
            <a:endParaRPr lang="zh-CN" altLang="en-US" sz="2000" b="1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</a:endParaRPr>
          </a:p>
          <a:p>
            <a:pPr algn="ctr"/>
            <a:r>
              <a:rPr lang="zh-CN" altLang="en-US" sz="20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</a:rPr>
              <a:t>基因</a:t>
            </a:r>
            <a:endParaRPr lang="zh-CN" altLang="en-US" sz="2000" b="1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7759700" y="4266565"/>
            <a:ext cx="2207895" cy="666750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磷酸化位点</a:t>
            </a:r>
            <a:endParaRPr lang="zh-CN" altLang="en-US" sz="2000" b="1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sym typeface="+mn-ea"/>
            </a:endParaRPr>
          </a:p>
          <a:p>
            <a:pPr algn="ctr"/>
            <a:r>
              <a:rPr lang="zh-CN" altLang="en-US" sz="20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</a:rPr>
              <a:t>突变</a:t>
            </a:r>
            <a:endParaRPr lang="zh-CN" altLang="en-US" sz="2000" b="1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10071100" y="4266565"/>
            <a:ext cx="2101850" cy="666115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质谱法检测</a:t>
            </a:r>
            <a:endParaRPr lang="zh-CN" altLang="en-US" sz="2000" b="1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algn="ctr"/>
            <a:r>
              <a:rPr lang="en-US" altLang="zh-CN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STAT3/5</a:t>
            </a:r>
            <a:r>
              <a:rPr lang="zh-CN" altLang="en-US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新位点</a:t>
            </a:r>
            <a:endParaRPr lang="zh-CN" altLang="en-US" sz="2000" b="1"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6727825" y="5300980"/>
            <a:ext cx="1877060" cy="457200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+/-</a:t>
            </a:r>
            <a:r>
              <a:rPr lang="zh-CN" altLang="en-US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点突变</a:t>
            </a:r>
            <a:endParaRPr lang="zh-CN" altLang="en-US" sz="2000" b="1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9683115" y="5300980"/>
            <a:ext cx="1818640" cy="457200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20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+/-</a:t>
            </a:r>
            <a:r>
              <a:rPr lang="zh-CN" altLang="en-US" sz="20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抑制剂</a:t>
            </a:r>
            <a:endParaRPr lang="zh-CN" altLang="en-US" sz="2000" b="1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6056630" y="6290945"/>
            <a:ext cx="1491615" cy="564515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小胶质细胞</a:t>
            </a:r>
            <a:endParaRPr lang="zh-CN" altLang="en-US" sz="2000" b="1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  <a:p>
            <a:pPr algn="ctr"/>
            <a:r>
              <a:rPr lang="zh-CN" altLang="en-US" sz="2000" b="1">
                <a:latin typeface="仿宋" panose="02010609060101010101" charset="-122"/>
                <a:ea typeface="仿宋" panose="02010609060101010101" charset="-122"/>
              </a:rPr>
              <a:t>功能</a:t>
            </a:r>
            <a:endParaRPr lang="zh-CN" altLang="en-US" sz="2000" b="1"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7656195" y="6290945"/>
            <a:ext cx="1186815" cy="564515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000" b="1">
                <a:latin typeface="仿宋" panose="02010609060101010101" charset="-122"/>
                <a:ea typeface="仿宋" panose="02010609060101010101" charset="-122"/>
              </a:rPr>
              <a:t>淋巴细胞功能</a:t>
            </a:r>
            <a:endParaRPr lang="zh-CN" altLang="en-US" sz="2000" b="1"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9196705" y="6290945"/>
            <a:ext cx="1113790" cy="564515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000" b="1">
                <a:latin typeface="仿宋" panose="02010609060101010101" charset="-122"/>
                <a:ea typeface="仿宋" panose="02010609060101010101" charset="-122"/>
              </a:rPr>
              <a:t>神经血管单位</a:t>
            </a:r>
            <a:endParaRPr lang="zh-CN" altLang="en-US" sz="2000" b="1"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10723245" y="6293485"/>
            <a:ext cx="1343660" cy="564515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000" b="1">
                <a:latin typeface="仿宋" panose="02010609060101010101" charset="-122"/>
                <a:ea typeface="仿宋" panose="02010609060101010101" charset="-122"/>
              </a:rPr>
              <a:t>脑组织损伤</a:t>
            </a:r>
            <a:endParaRPr lang="zh-CN" altLang="en-US" sz="2000" b="1">
              <a:latin typeface="仿宋" panose="02010609060101010101" charset="-122"/>
              <a:ea typeface="仿宋" panose="02010609060101010101" charset="-122"/>
            </a:endParaRPr>
          </a:p>
        </p:txBody>
      </p:sp>
      <p:cxnSp>
        <p:nvCxnSpPr>
          <p:cNvPr id="40" name="直接箭头连接符 39"/>
          <p:cNvCxnSpPr>
            <a:stCxn id="10" idx="2"/>
          </p:cNvCxnSpPr>
          <p:nvPr/>
        </p:nvCxnSpPr>
        <p:spPr>
          <a:xfrm>
            <a:off x="902335" y="4398645"/>
            <a:ext cx="21590" cy="902335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>
            <a:stCxn id="18" idx="2"/>
          </p:cNvCxnSpPr>
          <p:nvPr/>
        </p:nvCxnSpPr>
        <p:spPr>
          <a:xfrm>
            <a:off x="4077335" y="3187065"/>
            <a:ext cx="6985" cy="651510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直接箭头连接符 41"/>
          <p:cNvCxnSpPr/>
          <p:nvPr/>
        </p:nvCxnSpPr>
        <p:spPr>
          <a:xfrm flipH="1">
            <a:off x="3971290" y="4839970"/>
            <a:ext cx="8255" cy="377190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直接箭头连接符 42"/>
          <p:cNvCxnSpPr/>
          <p:nvPr/>
        </p:nvCxnSpPr>
        <p:spPr>
          <a:xfrm>
            <a:off x="3987800" y="5618480"/>
            <a:ext cx="1905" cy="449580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肘形连接符 43"/>
          <p:cNvCxnSpPr>
            <a:endCxn id="18" idx="0"/>
          </p:cNvCxnSpPr>
          <p:nvPr/>
        </p:nvCxnSpPr>
        <p:spPr>
          <a:xfrm>
            <a:off x="1325880" y="2348230"/>
            <a:ext cx="2751455" cy="172085"/>
          </a:xfrm>
          <a:prstGeom prst="bentConnector2">
            <a:avLst/>
          </a:prstGeom>
          <a:ln>
            <a:headEnd type="arrow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>
            <a:stCxn id="11" idx="2"/>
            <a:endCxn id="24" idx="0"/>
          </p:cNvCxnSpPr>
          <p:nvPr/>
        </p:nvCxnSpPr>
        <p:spPr>
          <a:xfrm flipH="1">
            <a:off x="9238615" y="850900"/>
            <a:ext cx="635" cy="307340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肘形连接符 45"/>
          <p:cNvCxnSpPr>
            <a:stCxn id="24" idx="2"/>
            <a:endCxn id="25" idx="0"/>
          </p:cNvCxnSpPr>
          <p:nvPr/>
        </p:nvCxnSpPr>
        <p:spPr>
          <a:xfrm rot="5400000">
            <a:off x="8170863" y="827088"/>
            <a:ext cx="365125" cy="1770380"/>
          </a:xfrm>
          <a:prstGeom prst="bentConnector3">
            <a:avLst>
              <a:gd name="adj1" fmla="val 50000"/>
            </a:avLst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直接箭头连接符 50"/>
          <p:cNvCxnSpPr>
            <a:stCxn id="29" idx="1"/>
          </p:cNvCxnSpPr>
          <p:nvPr/>
        </p:nvCxnSpPr>
        <p:spPr>
          <a:xfrm flipH="1">
            <a:off x="8167370" y="3023235"/>
            <a:ext cx="438150" cy="1079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/>
          <p:nvPr/>
        </p:nvCxnSpPr>
        <p:spPr>
          <a:xfrm>
            <a:off x="10327640" y="3023235"/>
            <a:ext cx="685165" cy="1079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肘形连接符 52"/>
          <p:cNvCxnSpPr/>
          <p:nvPr/>
        </p:nvCxnSpPr>
        <p:spPr>
          <a:xfrm rot="5400000" flipV="1">
            <a:off x="8023225" y="2833370"/>
            <a:ext cx="875030" cy="587375"/>
          </a:xfrm>
          <a:prstGeom prst="bentConnector3">
            <a:avLst>
              <a:gd name="adj1" fmla="val 70428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肘形连接符 54"/>
          <p:cNvCxnSpPr/>
          <p:nvPr/>
        </p:nvCxnSpPr>
        <p:spPr>
          <a:xfrm rot="10800000" flipV="1">
            <a:off x="8729980" y="2709545"/>
            <a:ext cx="2223135" cy="596265"/>
          </a:xfrm>
          <a:prstGeom prst="bentConnector3">
            <a:avLst>
              <a:gd name="adj1" fmla="val -257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肘形连接符 55"/>
          <p:cNvCxnSpPr/>
          <p:nvPr/>
        </p:nvCxnSpPr>
        <p:spPr>
          <a:xfrm>
            <a:off x="6623050" y="2240280"/>
            <a:ext cx="1587500" cy="1054100"/>
          </a:xfrm>
          <a:prstGeom prst="bentConnector3">
            <a:avLst>
              <a:gd name="adj1" fmla="val 5004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/>
          <p:cNvCxnSpPr>
            <a:stCxn id="34" idx="3"/>
          </p:cNvCxnSpPr>
          <p:nvPr/>
        </p:nvCxnSpPr>
        <p:spPr>
          <a:xfrm flipV="1">
            <a:off x="8604885" y="5516880"/>
            <a:ext cx="367665" cy="12700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直接箭头连接符 57"/>
          <p:cNvCxnSpPr>
            <a:stCxn id="35" idx="1"/>
          </p:cNvCxnSpPr>
          <p:nvPr/>
        </p:nvCxnSpPr>
        <p:spPr>
          <a:xfrm flipH="1" flipV="1">
            <a:off x="8997950" y="5516880"/>
            <a:ext cx="685165" cy="127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箭头连接符 61"/>
          <p:cNvCxnSpPr/>
          <p:nvPr/>
        </p:nvCxnSpPr>
        <p:spPr>
          <a:xfrm>
            <a:off x="8147050" y="5935980"/>
            <a:ext cx="20320" cy="357505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直接连接符 62"/>
          <p:cNvCxnSpPr/>
          <p:nvPr/>
        </p:nvCxnSpPr>
        <p:spPr>
          <a:xfrm>
            <a:off x="8972550" y="5085080"/>
            <a:ext cx="12700" cy="8128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直接连接符 63"/>
          <p:cNvCxnSpPr/>
          <p:nvPr/>
        </p:nvCxnSpPr>
        <p:spPr>
          <a:xfrm flipV="1">
            <a:off x="6851650" y="5935980"/>
            <a:ext cx="4267200" cy="127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直接箭头连接符 65"/>
          <p:cNvCxnSpPr/>
          <p:nvPr/>
        </p:nvCxnSpPr>
        <p:spPr>
          <a:xfrm flipH="1">
            <a:off x="6851650" y="5910580"/>
            <a:ext cx="12700" cy="455295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直接箭头连接符 66"/>
          <p:cNvCxnSpPr>
            <a:endCxn id="38" idx="0"/>
          </p:cNvCxnSpPr>
          <p:nvPr/>
        </p:nvCxnSpPr>
        <p:spPr>
          <a:xfrm>
            <a:off x="9734550" y="5910580"/>
            <a:ext cx="19050" cy="380365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直接箭头连接符 67"/>
          <p:cNvCxnSpPr/>
          <p:nvPr/>
        </p:nvCxnSpPr>
        <p:spPr>
          <a:xfrm>
            <a:off x="11111865" y="5948680"/>
            <a:ext cx="20320" cy="357505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直接连接符 68"/>
          <p:cNvCxnSpPr/>
          <p:nvPr/>
        </p:nvCxnSpPr>
        <p:spPr>
          <a:xfrm>
            <a:off x="6729730" y="5123180"/>
            <a:ext cx="436372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直接箭头连接符 69"/>
          <p:cNvCxnSpPr/>
          <p:nvPr/>
        </p:nvCxnSpPr>
        <p:spPr>
          <a:xfrm flipH="1">
            <a:off x="6727825" y="4872990"/>
            <a:ext cx="15875" cy="310515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直接箭头连接符 71"/>
          <p:cNvCxnSpPr/>
          <p:nvPr/>
        </p:nvCxnSpPr>
        <p:spPr>
          <a:xfrm flipH="1">
            <a:off x="11116310" y="4872990"/>
            <a:ext cx="15875" cy="310515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肘形连接符 72"/>
          <p:cNvCxnSpPr>
            <a:endCxn id="31" idx="0"/>
          </p:cNvCxnSpPr>
          <p:nvPr/>
        </p:nvCxnSpPr>
        <p:spPr>
          <a:xfrm rot="10800000" flipV="1">
            <a:off x="6802120" y="4171315"/>
            <a:ext cx="2068830" cy="95250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箭头连接符 73"/>
          <p:cNvCxnSpPr/>
          <p:nvPr/>
        </p:nvCxnSpPr>
        <p:spPr>
          <a:xfrm>
            <a:off x="9062085" y="4060825"/>
            <a:ext cx="0" cy="76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肘形连接符 75"/>
          <p:cNvCxnSpPr>
            <a:endCxn id="33" idx="0"/>
          </p:cNvCxnSpPr>
          <p:nvPr/>
        </p:nvCxnSpPr>
        <p:spPr>
          <a:xfrm>
            <a:off x="9112250" y="4132580"/>
            <a:ext cx="2009775" cy="133985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肘形连接符 76"/>
          <p:cNvCxnSpPr>
            <a:endCxn id="26" idx="0"/>
          </p:cNvCxnSpPr>
          <p:nvPr/>
        </p:nvCxnSpPr>
        <p:spPr>
          <a:xfrm>
            <a:off x="9226550" y="1592580"/>
            <a:ext cx="733425" cy="302260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箭头连接符 77"/>
          <p:cNvCxnSpPr>
            <a:stCxn id="27" idx="0"/>
            <a:endCxn id="27" idx="0"/>
          </p:cNvCxnSpPr>
          <p:nvPr/>
        </p:nvCxnSpPr>
        <p:spPr>
          <a:xfrm>
            <a:off x="8375015" y="2381885"/>
            <a:ext cx="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连接符 78"/>
          <p:cNvCxnSpPr/>
          <p:nvPr/>
        </p:nvCxnSpPr>
        <p:spPr>
          <a:xfrm flipV="1">
            <a:off x="8299450" y="2278380"/>
            <a:ext cx="2032000" cy="127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箭头连接符 79"/>
          <p:cNvCxnSpPr/>
          <p:nvPr/>
        </p:nvCxnSpPr>
        <p:spPr>
          <a:xfrm flipH="1">
            <a:off x="10344150" y="2265680"/>
            <a:ext cx="12700" cy="1143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箭头连接符 80"/>
          <p:cNvCxnSpPr/>
          <p:nvPr/>
        </p:nvCxnSpPr>
        <p:spPr>
          <a:xfrm>
            <a:off x="8299450" y="2265680"/>
            <a:ext cx="0" cy="1397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7308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7308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TEMPLATE_THUMBS_INDEX" val="1"/>
  <p:tag name="KSO_WM_TEMPLATE_SUBCATEGORY" val="0"/>
  <p:tag name="KSO_WM_TAG_VERSION" val="1.0"/>
  <p:tag name="KSO_WM_BEAUTIFY_FLAG" val="#wm#"/>
  <p:tag name="KSO_WM_TEMPLATE_CATEGORY" val="custom"/>
  <p:tag name="KSO_WM_TEMPLATE_INDEX" val="20187308"/>
</p:tagLst>
</file>

<file path=ppt/tags/tag62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63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227</Words>
  <Application>WPS 演示</Application>
  <PresentationFormat>宽屏</PresentationFormat>
  <Paragraphs>62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Arial</vt:lpstr>
      <vt:lpstr>宋体</vt:lpstr>
      <vt:lpstr>Wingdings</vt:lpstr>
      <vt:lpstr>微软雅黑</vt:lpstr>
      <vt:lpstr>Arial Unicode MS</vt:lpstr>
      <vt:lpstr>仿宋</vt:lpstr>
      <vt:lpstr>Office 主题​​</vt:lpstr>
      <vt:lpstr>空白演示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Summer</cp:lastModifiedBy>
  <cp:revision>26</cp:revision>
  <dcterms:created xsi:type="dcterms:W3CDTF">2019-06-19T02:08:00Z</dcterms:created>
  <dcterms:modified xsi:type="dcterms:W3CDTF">2021-03-11T08:56:48Z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2052-11.1.0.8976</vt:lpwstr>
  </property>
</Properties>
</file>