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4399895" cy="125996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>
      <p:cViewPr varScale="1">
        <p:scale>
          <a:sx n="99" d="100"/>
          <a:sy n="99" d="100"/>
        </p:scale>
        <p:origin x="84" y="582"/>
      </p:cViewPr>
      <p:guideLst>
        <p:guide orient="horz" pos="4251"/>
        <p:guide pos="462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65514" y="1143000"/>
            <a:ext cx="352697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416137" y="1680293"/>
            <a:ext cx="11575754" cy="472334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45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416137" y="6542557"/>
            <a:ext cx="11575754" cy="270566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780" spc="200">
                <a:uFillTx/>
              </a:defRPr>
            </a:lvl1pPr>
            <a:lvl2pPr marL="720090" indent="0" algn="ctr">
              <a:buNone/>
              <a:defRPr sz="3140"/>
            </a:lvl2pPr>
            <a:lvl3pPr marL="1440180" indent="0" algn="ctr">
              <a:buNone/>
              <a:defRPr sz="2835"/>
            </a:lvl3pPr>
            <a:lvl4pPr marL="2159635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18700" y="2738745"/>
            <a:ext cx="12957870" cy="874546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351724" y="7071784"/>
            <a:ext cx="9177250" cy="140906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92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351724" y="8480848"/>
            <a:ext cx="9177250" cy="159429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200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215963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18700" y="2758591"/>
            <a:ext cx="6115332" cy="872561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573996" y="2758591"/>
            <a:ext cx="6115332" cy="872561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18700" y="2626285"/>
            <a:ext cx="6310955" cy="70122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18700" y="3406893"/>
            <a:ext cx="6310955" cy="807731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66265" y="2612556"/>
            <a:ext cx="6310955" cy="70122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66265" y="3406893"/>
            <a:ext cx="6310955" cy="807731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0" y="1117990"/>
            <a:ext cx="12957870" cy="12966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718618" y="2857664"/>
            <a:ext cx="6181762" cy="846797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7501701" y="2857821"/>
            <a:ext cx="6174869" cy="846761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2090327" y="1680293"/>
            <a:ext cx="1233273" cy="924161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41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80177" y="1680293"/>
            <a:ext cx="10831538" cy="9241610"/>
          </a:xfrm>
        </p:spPr>
        <p:txBody>
          <a:bodyPr vert="eaVert" lIns="46800" tIns="46800" rIns="46800" bIns="46800"/>
          <a:lstStyle>
            <a:lvl1pPr marL="360045" indent="-360045">
              <a:spcAft>
                <a:spcPts val="1000"/>
              </a:spcAft>
              <a:defRPr spc="300"/>
            </a:lvl1pPr>
            <a:lvl2pPr marL="1080135" indent="-360045">
              <a:defRPr spc="300"/>
            </a:lvl2pPr>
            <a:lvl3pPr marL="1800225" indent="-360045">
              <a:defRPr spc="300"/>
            </a:lvl3pPr>
            <a:lvl4pPr marL="2520315" indent="-360045">
              <a:defRPr spc="300"/>
            </a:lvl4pPr>
            <a:lvl5pPr marL="3239770" indent="-36004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18700" y="1422295"/>
            <a:ext cx="12962122" cy="100751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16137" y="4564575"/>
            <a:ext cx="11575754" cy="187213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45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416137" y="6542557"/>
            <a:ext cx="11575754" cy="86660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78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718700" y="1117990"/>
            <a:ext cx="12957870" cy="129660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718700" y="2738745"/>
            <a:ext cx="12957870" cy="874546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722953" y="11603282"/>
            <a:ext cx="3189499" cy="582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862213" y="11603282"/>
            <a:ext cx="4677931" cy="582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0487072" y="11603282"/>
            <a:ext cx="3189499" cy="582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40180" rtl="0" eaLnBrk="1" fontAlgn="auto" latinLnBrk="0" hangingPunct="1">
        <a:lnSpc>
          <a:spcPct val="100000"/>
        </a:lnSpc>
        <a:spcBef>
          <a:spcPct val="0"/>
        </a:spcBef>
        <a:buNone/>
        <a:defRPr sz="567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60045" indent="-360045" algn="l" defTabSz="144018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08013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534920" algn="l"/>
          <a:tab pos="2534920" algn="l"/>
          <a:tab pos="2534920" algn="l"/>
          <a:tab pos="2534920" algn="l"/>
        </a:tabLst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80022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52031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3239770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396113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122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131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63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814570" y="453390"/>
            <a:ext cx="4753610" cy="65214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肾功能衰竭大鼠模型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>
            <a:off x="4627880" y="4385310"/>
            <a:ext cx="1421130" cy="8343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6" name="直接箭头连接符 95"/>
          <p:cNvCxnSpPr>
            <a:stCxn id="4" idx="2"/>
            <a:endCxn id="6" idx="0"/>
          </p:cNvCxnSpPr>
          <p:nvPr/>
        </p:nvCxnSpPr>
        <p:spPr>
          <a:xfrm flipH="1">
            <a:off x="4623435" y="1105535"/>
            <a:ext cx="2567940" cy="84201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" name="圆角矩形 5"/>
          <p:cNvSpPr/>
          <p:nvPr/>
        </p:nvSpPr>
        <p:spPr>
          <a:xfrm>
            <a:off x="4331335" y="1947545"/>
            <a:ext cx="583565" cy="243776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地塞米松组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491480" y="1947545"/>
            <a:ext cx="583565" cy="243776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阴性对照组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681470" y="1947545"/>
            <a:ext cx="583565" cy="243776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生理盐水组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891145" y="1947545"/>
            <a:ext cx="583565" cy="243776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中药大剂量组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145905" y="1947545"/>
            <a:ext cx="583565" cy="243776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中药中剂量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组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0283190" y="1947545"/>
            <a:ext cx="583565" cy="243776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中药小剂量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组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29" name="直接箭头连接符 28"/>
          <p:cNvCxnSpPr>
            <a:stCxn id="4" idx="2"/>
            <a:endCxn id="18" idx="0"/>
          </p:cNvCxnSpPr>
          <p:nvPr/>
        </p:nvCxnSpPr>
        <p:spPr>
          <a:xfrm flipH="1">
            <a:off x="5855335" y="1105535"/>
            <a:ext cx="1407795" cy="84201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直接箭头连接符 31"/>
          <p:cNvCxnSpPr>
            <a:stCxn id="4" idx="2"/>
            <a:endCxn id="20" idx="0"/>
          </p:cNvCxnSpPr>
          <p:nvPr/>
        </p:nvCxnSpPr>
        <p:spPr>
          <a:xfrm flipH="1">
            <a:off x="7045325" y="1105535"/>
            <a:ext cx="217805" cy="84201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" name="直接箭头连接符 32"/>
          <p:cNvCxnSpPr>
            <a:endCxn id="26" idx="0"/>
          </p:cNvCxnSpPr>
          <p:nvPr/>
        </p:nvCxnSpPr>
        <p:spPr>
          <a:xfrm>
            <a:off x="7128510" y="1115695"/>
            <a:ext cx="1126490" cy="83185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4" name="直接箭头连接符 33"/>
          <p:cNvCxnSpPr>
            <a:endCxn id="27" idx="0"/>
          </p:cNvCxnSpPr>
          <p:nvPr/>
        </p:nvCxnSpPr>
        <p:spPr>
          <a:xfrm>
            <a:off x="7128510" y="1115695"/>
            <a:ext cx="2381250" cy="83185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直接箭头连接符 34"/>
          <p:cNvCxnSpPr>
            <a:endCxn id="28" idx="0"/>
          </p:cNvCxnSpPr>
          <p:nvPr/>
        </p:nvCxnSpPr>
        <p:spPr>
          <a:xfrm>
            <a:off x="7200900" y="1115695"/>
            <a:ext cx="3446145" cy="83185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6" name="椭圆 35"/>
          <p:cNvSpPr/>
          <p:nvPr/>
        </p:nvSpPr>
        <p:spPr>
          <a:xfrm>
            <a:off x="4244340" y="5246370"/>
            <a:ext cx="6480175" cy="90233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实验周期为6周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5783580" y="4385310"/>
            <a:ext cx="841375" cy="8343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8" name="直接箭头连接符 37"/>
          <p:cNvCxnSpPr>
            <a:stCxn id="26" idx="2"/>
          </p:cNvCxnSpPr>
          <p:nvPr/>
        </p:nvCxnSpPr>
        <p:spPr>
          <a:xfrm flipH="1">
            <a:off x="7776845" y="4385310"/>
            <a:ext cx="478155" cy="8343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直接箭头连接符 38"/>
          <p:cNvCxnSpPr>
            <a:stCxn id="28" idx="2"/>
          </p:cNvCxnSpPr>
          <p:nvPr/>
        </p:nvCxnSpPr>
        <p:spPr>
          <a:xfrm flipH="1">
            <a:off x="9000490" y="4385310"/>
            <a:ext cx="1646555" cy="90678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8209280" y="4385310"/>
            <a:ext cx="1131570" cy="8343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直接箭头连接符 40"/>
          <p:cNvCxnSpPr>
            <a:stCxn id="20" idx="2"/>
          </p:cNvCxnSpPr>
          <p:nvPr/>
        </p:nvCxnSpPr>
        <p:spPr>
          <a:xfrm>
            <a:off x="7045325" y="4385310"/>
            <a:ext cx="155575" cy="8343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7484745" y="6148705"/>
            <a:ext cx="0" cy="7200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圆角矩形 42"/>
          <p:cNvSpPr/>
          <p:nvPr/>
        </p:nvSpPr>
        <p:spPr>
          <a:xfrm>
            <a:off x="4587240" y="6868795"/>
            <a:ext cx="4753610" cy="65214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第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周末测体重，并处死标本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392295" y="8208010"/>
            <a:ext cx="1791970" cy="65214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取肾组织标本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331335" y="9404350"/>
            <a:ext cx="1852930" cy="108013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光镜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HE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染色肾组织中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IgG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沉着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7200900" y="8208010"/>
            <a:ext cx="2541905" cy="90233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取外周血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7353935" y="9832340"/>
            <a:ext cx="2213610" cy="65214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CBA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技术检测细胞因子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0086975" y="8538845"/>
            <a:ext cx="1280160" cy="1186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dsDNA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，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ANA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抗体检测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6834505" y="11411585"/>
            <a:ext cx="3252470" cy="65214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数据处理，结果分析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1146155" y="6748780"/>
            <a:ext cx="3096895" cy="132270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实验第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周末，留取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24h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尿液，蛋白定量用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coommssie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亮蓝法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52" name="直接箭头连接符 51"/>
          <p:cNvCxnSpPr>
            <a:stCxn id="51" idx="2"/>
          </p:cNvCxnSpPr>
          <p:nvPr/>
        </p:nvCxnSpPr>
        <p:spPr>
          <a:xfrm flipH="1">
            <a:off x="10008235" y="8071485"/>
            <a:ext cx="2686685" cy="334010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5276850" y="7523480"/>
            <a:ext cx="699135" cy="68453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4" name="直接箭头连接符 53"/>
          <p:cNvCxnSpPr>
            <a:endCxn id="47" idx="0"/>
          </p:cNvCxnSpPr>
          <p:nvPr/>
        </p:nvCxnSpPr>
        <p:spPr>
          <a:xfrm>
            <a:off x="7891145" y="7529195"/>
            <a:ext cx="581025" cy="67881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5" name="直接箭头连接符 54"/>
          <p:cNvCxnSpPr>
            <a:stCxn id="44" idx="2"/>
          </p:cNvCxnSpPr>
          <p:nvPr/>
        </p:nvCxnSpPr>
        <p:spPr>
          <a:xfrm flipH="1">
            <a:off x="5276850" y="8860155"/>
            <a:ext cx="11430" cy="54419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8460740" y="9112250"/>
            <a:ext cx="0" cy="72009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7" name="直接箭头连接符 56"/>
          <p:cNvCxnSpPr>
            <a:stCxn id="45" idx="2"/>
          </p:cNvCxnSpPr>
          <p:nvPr/>
        </p:nvCxnSpPr>
        <p:spPr>
          <a:xfrm>
            <a:off x="5257800" y="10484485"/>
            <a:ext cx="1582420" cy="92710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8" name="直接箭头连接符 57"/>
          <p:cNvCxnSpPr>
            <a:endCxn id="50" idx="0"/>
          </p:cNvCxnSpPr>
          <p:nvPr/>
        </p:nvCxnSpPr>
        <p:spPr>
          <a:xfrm flipH="1">
            <a:off x="8460740" y="10484485"/>
            <a:ext cx="13970" cy="92710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7487920" y="6155690"/>
            <a:ext cx="4248150" cy="575945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9432290" y="8954770"/>
            <a:ext cx="575945" cy="35560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182</cp:revision>
  <dcterms:created xsi:type="dcterms:W3CDTF">2019-06-19T02:08:00Z</dcterms:created>
  <dcterms:modified xsi:type="dcterms:W3CDTF">2021-03-12T02:22:09Z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