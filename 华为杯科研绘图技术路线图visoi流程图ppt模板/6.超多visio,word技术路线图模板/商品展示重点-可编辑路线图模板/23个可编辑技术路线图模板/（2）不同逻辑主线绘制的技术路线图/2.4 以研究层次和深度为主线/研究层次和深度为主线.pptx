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409" r:id="rId3"/>
  </p:sldIdLst>
  <p:sldSz cx="16199485" cy="2339975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4F4F4"/>
    <a:srgbClr val="D9D9D9"/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>
      <p:cViewPr varScale="1">
        <p:scale>
          <a:sx n="99" d="100"/>
          <a:sy n="99" d="100"/>
        </p:scale>
        <p:origin x="84" y="582"/>
      </p:cViewPr>
      <p:guideLst>
        <p:guide orient="horz" pos="7370"/>
        <p:guide pos="525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0" cy="72000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2360735" y="1143000"/>
            <a:ext cx="2136531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2"/>
            </p:custDataLst>
          </p:nvPr>
        </p:nvSpPr>
        <p:spPr>
          <a:xfrm>
            <a:off x="1593228" y="3120763"/>
            <a:ext cx="13023329" cy="8772537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10635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3"/>
            </p:custDataLst>
          </p:nvPr>
        </p:nvSpPr>
        <p:spPr>
          <a:xfrm>
            <a:off x="1593228" y="12151315"/>
            <a:ext cx="13023329" cy="5025164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4255" spc="200">
                <a:uFillTx/>
              </a:defRPr>
            </a:lvl1pPr>
            <a:lvl2pPr marL="810260" indent="0" algn="ctr">
              <a:buNone/>
              <a:defRPr sz="3535"/>
            </a:lvl2pPr>
            <a:lvl3pPr marL="1620520" indent="0" algn="ctr">
              <a:buNone/>
              <a:defRPr sz="3190"/>
            </a:lvl3pPr>
            <a:lvl4pPr marL="2429510" indent="0" algn="ctr">
              <a:buNone/>
              <a:defRPr sz="2835"/>
            </a:lvl4pPr>
            <a:lvl5pPr marL="3239770" indent="0" algn="ctr">
              <a:buNone/>
              <a:defRPr sz="2835"/>
            </a:lvl5pPr>
            <a:lvl6pPr marL="4050665" indent="0" algn="ctr">
              <a:buNone/>
              <a:defRPr sz="2835"/>
            </a:lvl6pPr>
            <a:lvl7pPr marL="4860925" indent="0" algn="ctr">
              <a:buNone/>
              <a:defRPr sz="2835"/>
            </a:lvl7pPr>
            <a:lvl8pPr marL="5670550" indent="0" algn="ctr">
              <a:buNone/>
              <a:defRPr sz="2835"/>
            </a:lvl8pPr>
            <a:lvl9pPr marL="6480810" indent="0" algn="ctr">
              <a:buNone/>
              <a:defRPr sz="2835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808575" y="2076413"/>
            <a:ext cx="14578282" cy="2408148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808575" y="5086597"/>
            <a:ext cx="14578282" cy="16242709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2645813" y="13134234"/>
            <a:ext cx="10324887" cy="2617017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779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2645813" y="15751250"/>
            <a:ext cx="10324887" cy="2961037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319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810260" indent="0">
              <a:buNone/>
              <a:defRPr sz="2835">
                <a:solidFill>
                  <a:schemeClr val="tx1">
                    <a:tint val="75000"/>
                  </a:schemeClr>
                </a:solidFill>
              </a:defRPr>
            </a:lvl2pPr>
            <a:lvl3pPr marL="1620520" indent="0">
              <a:buNone/>
              <a:defRPr sz="2835">
                <a:solidFill>
                  <a:schemeClr val="tx1">
                    <a:tint val="75000"/>
                  </a:schemeClr>
                </a:solidFill>
              </a:defRPr>
            </a:lvl3pPr>
            <a:lvl4pPr marL="2429510" indent="0">
              <a:buNone/>
              <a:defRPr sz="2835">
                <a:solidFill>
                  <a:schemeClr val="tx1">
                    <a:tint val="75000"/>
                  </a:schemeClr>
                </a:solidFill>
              </a:defRPr>
            </a:lvl4pPr>
            <a:lvl5pPr marL="3239770" indent="0">
              <a:buNone/>
              <a:defRPr sz="2835">
                <a:solidFill>
                  <a:schemeClr val="tx1">
                    <a:tint val="75000"/>
                  </a:schemeClr>
                </a:solidFill>
              </a:defRPr>
            </a:lvl5pPr>
            <a:lvl6pPr marL="4050665" indent="0">
              <a:buNone/>
              <a:defRPr sz="2835">
                <a:solidFill>
                  <a:schemeClr val="tx1">
                    <a:tint val="75000"/>
                  </a:schemeClr>
                </a:solidFill>
              </a:defRPr>
            </a:lvl6pPr>
            <a:lvl7pPr marL="4860925" indent="0">
              <a:buNone/>
              <a:defRPr sz="2835">
                <a:solidFill>
                  <a:schemeClr val="tx1">
                    <a:tint val="75000"/>
                  </a:schemeClr>
                </a:solidFill>
              </a:defRPr>
            </a:lvl7pPr>
            <a:lvl8pPr marL="5670550" indent="0">
              <a:buNone/>
              <a:defRPr sz="2835">
                <a:solidFill>
                  <a:schemeClr val="tx1">
                    <a:tint val="75000"/>
                  </a:schemeClr>
                </a:solidFill>
              </a:defRPr>
            </a:lvl8pPr>
            <a:lvl9pPr marL="6480810" indent="0">
              <a:buNone/>
              <a:defRPr sz="283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808575" y="2076413"/>
            <a:ext cx="14578282" cy="2408148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808575" y="5123457"/>
            <a:ext cx="6880069" cy="16205847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8521142" y="5123457"/>
            <a:ext cx="6880069" cy="16205847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808575" y="2076413"/>
            <a:ext cx="14578282" cy="2408148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808575" y="4877728"/>
            <a:ext cx="7100155" cy="1302366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3535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810260" indent="0">
              <a:buNone/>
              <a:defRPr sz="3535" b="1"/>
            </a:lvl2pPr>
            <a:lvl3pPr marL="1620520" indent="0">
              <a:buNone/>
              <a:defRPr sz="3190" b="1"/>
            </a:lvl3pPr>
            <a:lvl4pPr marL="2429510" indent="0">
              <a:buNone/>
              <a:defRPr sz="2835" b="1"/>
            </a:lvl4pPr>
            <a:lvl5pPr marL="3239770" indent="0">
              <a:buNone/>
              <a:defRPr sz="2835" b="1"/>
            </a:lvl5pPr>
            <a:lvl6pPr marL="4050665" indent="0">
              <a:buNone/>
              <a:defRPr sz="2835" b="1"/>
            </a:lvl6pPr>
            <a:lvl7pPr marL="4860925" indent="0">
              <a:buNone/>
              <a:defRPr sz="2835" b="1"/>
            </a:lvl7pPr>
            <a:lvl8pPr marL="5670550" indent="0">
              <a:buNone/>
              <a:defRPr sz="2835" b="1"/>
            </a:lvl8pPr>
            <a:lvl9pPr marL="6480810" indent="0">
              <a:buNone/>
              <a:defRPr sz="2835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808575" y="6327530"/>
            <a:ext cx="7100155" cy="15001775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8287434" y="4852230"/>
            <a:ext cx="7100155" cy="1302366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3535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810260" indent="0">
              <a:buNone/>
              <a:defRPr sz="3535" b="1"/>
            </a:lvl2pPr>
            <a:lvl3pPr marL="1620520" indent="0">
              <a:buNone/>
              <a:defRPr sz="3190" b="1"/>
            </a:lvl3pPr>
            <a:lvl4pPr marL="2429510" indent="0">
              <a:buNone/>
              <a:defRPr sz="2835" b="1"/>
            </a:lvl4pPr>
            <a:lvl5pPr marL="3239770" indent="0">
              <a:buNone/>
              <a:defRPr sz="2835" b="1"/>
            </a:lvl5pPr>
            <a:lvl6pPr marL="4050665" indent="0">
              <a:buNone/>
              <a:defRPr sz="2835" b="1"/>
            </a:lvl6pPr>
            <a:lvl7pPr marL="4860925" indent="0">
              <a:buNone/>
              <a:defRPr sz="2835" b="1"/>
            </a:lvl7pPr>
            <a:lvl8pPr marL="5670550" indent="0">
              <a:buNone/>
              <a:defRPr sz="2835" b="1"/>
            </a:lvl8pPr>
            <a:lvl9pPr marL="6480810" indent="0">
              <a:buNone/>
              <a:defRPr sz="2835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  <a:endParaRPr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8287434" y="6327530"/>
            <a:ext cx="7100155" cy="15001775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808575" y="2076413"/>
            <a:ext cx="14578282" cy="2408148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808483" y="5307462"/>
            <a:ext cx="6954806" cy="15727341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2835"/>
            </a:lvl1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8439806" y="5307754"/>
            <a:ext cx="6947051" cy="15726677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2835"/>
            </a:lvl1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3602251" y="3120763"/>
            <a:ext cx="1387497" cy="17164193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4960"/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1215256" y="3120763"/>
            <a:ext cx="12186047" cy="17164193"/>
          </a:xfrm>
        </p:spPr>
        <p:txBody>
          <a:bodyPr vert="eaVert" lIns="46800" tIns="46800" rIns="46800" bIns="46800"/>
          <a:lstStyle>
            <a:lvl1pPr marL="405130" indent="-405130">
              <a:spcAft>
                <a:spcPts val="1000"/>
              </a:spcAft>
              <a:defRPr spc="300"/>
            </a:lvl1pPr>
            <a:lvl2pPr marL="1215390" indent="-405130">
              <a:defRPr spc="300"/>
            </a:lvl2pPr>
            <a:lvl3pPr marL="2025015" indent="-405130">
              <a:defRPr spc="300"/>
            </a:lvl3pPr>
            <a:lvl4pPr marL="2835275" indent="-405130">
              <a:defRPr spc="300"/>
            </a:lvl4pPr>
            <a:lvl5pPr marL="3644900" indent="-40513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808575" y="2641590"/>
            <a:ext cx="14583066" cy="18712287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593228" y="8477662"/>
            <a:ext cx="13023329" cy="347707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10635"/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  <a:endParaRPr>
              <a:sym typeface="+mn-ea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593228" y="12151315"/>
            <a:ext cx="13023329" cy="1609528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4255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FFFF"/>
            </a:gs>
            <a:gs pos="100000">
              <a:srgbClr val="D9D9D9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808575" y="2076413"/>
            <a:ext cx="14578282" cy="2408148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808575" y="5086597"/>
            <a:ext cx="14578282" cy="16242709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813360" y="21550463"/>
            <a:ext cx="3588353" cy="108121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78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5470244" y="21550463"/>
            <a:ext cx="5262917" cy="108121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78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11798505" y="21550463"/>
            <a:ext cx="3588353" cy="108121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78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1620520" rtl="0" eaLnBrk="1" fontAlgn="auto" latinLnBrk="0" hangingPunct="1">
        <a:lnSpc>
          <a:spcPct val="100000"/>
        </a:lnSpc>
        <a:spcBef>
          <a:spcPct val="0"/>
        </a:spcBef>
        <a:buNone/>
        <a:defRPr sz="638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j-cs"/>
        </a:defRPr>
      </a:lvl1pPr>
    </p:titleStyle>
    <p:bodyStyle>
      <a:lvl1pPr marL="405130" indent="-405130" algn="l" defTabSz="162052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●"/>
        <a:defRPr sz="319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1pPr>
      <a:lvl2pPr marL="1215390" indent="-405130" algn="l" defTabSz="1620520" rtl="0" eaLnBrk="1" fontAlgn="auto" latinLnBrk="0" hangingPunct="1">
        <a:lnSpc>
          <a:spcPct val="120000"/>
        </a:lnSpc>
        <a:spcBef>
          <a:spcPct val="1000"/>
        </a:spcBef>
        <a:spcAft>
          <a:spcPts val="600"/>
        </a:spcAft>
        <a:buFont typeface="Arial" panose="020B0604020202020204" pitchFamily="34" charset="0"/>
        <a:buChar char="●"/>
        <a:tabLst>
          <a:tab pos="2851785" algn="l"/>
          <a:tab pos="2851785" algn="l"/>
          <a:tab pos="2851785" algn="l"/>
          <a:tab pos="2851785" algn="l"/>
        </a:tabLst>
        <a:defRPr sz="2835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2pPr>
      <a:lvl3pPr marL="2025015" indent="-405130" algn="l" defTabSz="1620520" rtl="0" eaLnBrk="1" fontAlgn="auto" latinLnBrk="0" hangingPunct="1">
        <a:lnSpc>
          <a:spcPct val="120000"/>
        </a:lnSpc>
        <a:spcBef>
          <a:spcPct val="1000"/>
        </a:spcBef>
        <a:spcAft>
          <a:spcPts val="600"/>
        </a:spcAft>
        <a:buFont typeface="Arial" panose="020B0604020202020204" pitchFamily="34" charset="0"/>
        <a:buChar char="●"/>
        <a:defRPr sz="2835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3pPr>
      <a:lvl4pPr marL="2835275" indent="-405130" algn="l" defTabSz="1620520" rtl="0" eaLnBrk="1" fontAlgn="auto" latinLnBrk="0" hangingPunct="1">
        <a:lnSpc>
          <a:spcPct val="120000"/>
        </a:lnSpc>
        <a:spcBef>
          <a:spcPct val="1000"/>
        </a:spcBef>
        <a:spcAft>
          <a:spcPts val="300"/>
        </a:spcAft>
        <a:buFont typeface="Wingdings" panose="05000000000000000000" charset="0"/>
        <a:buChar char=""/>
        <a:defRPr sz="248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4pPr>
      <a:lvl5pPr marL="3644900" indent="-405130" algn="l" defTabSz="1620520" rtl="0" eaLnBrk="1" fontAlgn="auto" latinLnBrk="0" hangingPunct="1">
        <a:lnSpc>
          <a:spcPct val="120000"/>
        </a:lnSpc>
        <a:spcBef>
          <a:spcPct val="1000"/>
        </a:spcBef>
        <a:spcAft>
          <a:spcPts val="300"/>
        </a:spcAft>
        <a:buFont typeface="Arial" panose="020B0604020202020204" pitchFamily="34" charset="0"/>
        <a:buChar char="•"/>
        <a:defRPr sz="248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5pPr>
      <a:lvl6pPr marL="4456430" indent="-405130" algn="l" defTabSz="1620520" rtl="0" eaLnBrk="1" latinLnBrk="0" hangingPunct="1">
        <a:lnSpc>
          <a:spcPct val="90000"/>
        </a:lnSpc>
        <a:spcBef>
          <a:spcPts val="885"/>
        </a:spcBef>
        <a:buFont typeface="Arial" panose="020B0604020202020204" pitchFamily="34" charset="0"/>
        <a:buChar char="•"/>
        <a:defRPr sz="3190" kern="1200">
          <a:solidFill>
            <a:schemeClr val="tx1"/>
          </a:solidFill>
          <a:latin typeface="+mn-lt"/>
          <a:ea typeface="+mn-ea"/>
          <a:cs typeface="+mn-cs"/>
        </a:defRPr>
      </a:lvl6pPr>
      <a:lvl7pPr marL="5266690" indent="-405130" algn="l" defTabSz="1620520" rtl="0" eaLnBrk="1" latinLnBrk="0" hangingPunct="1">
        <a:lnSpc>
          <a:spcPct val="90000"/>
        </a:lnSpc>
        <a:spcBef>
          <a:spcPts val="885"/>
        </a:spcBef>
        <a:buFont typeface="Arial" panose="020B0604020202020204" pitchFamily="34" charset="0"/>
        <a:buChar char="•"/>
        <a:defRPr sz="3190" kern="1200">
          <a:solidFill>
            <a:schemeClr val="tx1"/>
          </a:solidFill>
          <a:latin typeface="+mn-lt"/>
          <a:ea typeface="+mn-ea"/>
          <a:cs typeface="+mn-cs"/>
        </a:defRPr>
      </a:lvl7pPr>
      <a:lvl8pPr marL="6076315" indent="-405130" algn="l" defTabSz="1620520" rtl="0" eaLnBrk="1" latinLnBrk="0" hangingPunct="1">
        <a:lnSpc>
          <a:spcPct val="90000"/>
        </a:lnSpc>
        <a:spcBef>
          <a:spcPts val="885"/>
        </a:spcBef>
        <a:buFont typeface="Arial" panose="020B0604020202020204" pitchFamily="34" charset="0"/>
        <a:buChar char="•"/>
        <a:defRPr sz="3190" kern="1200">
          <a:solidFill>
            <a:schemeClr val="tx1"/>
          </a:solidFill>
          <a:latin typeface="+mn-lt"/>
          <a:ea typeface="+mn-ea"/>
          <a:cs typeface="+mn-cs"/>
        </a:defRPr>
      </a:lvl8pPr>
      <a:lvl9pPr marL="6885940" indent="-405130" algn="l" defTabSz="1620520" rtl="0" eaLnBrk="1" latinLnBrk="0" hangingPunct="1">
        <a:lnSpc>
          <a:spcPct val="90000"/>
        </a:lnSpc>
        <a:spcBef>
          <a:spcPts val="885"/>
        </a:spcBef>
        <a:buFont typeface="Arial" panose="020B0604020202020204" pitchFamily="34" charset="0"/>
        <a:buChar char="•"/>
        <a:defRPr sz="319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620520" rtl="0" eaLnBrk="1" latinLnBrk="0" hangingPunct="1">
        <a:defRPr sz="3190" kern="1200">
          <a:solidFill>
            <a:schemeClr val="tx1"/>
          </a:solidFill>
          <a:latin typeface="+mn-lt"/>
          <a:ea typeface="+mn-ea"/>
          <a:cs typeface="+mn-cs"/>
        </a:defRPr>
      </a:lvl1pPr>
      <a:lvl2pPr marL="810260" algn="l" defTabSz="1620520" rtl="0" eaLnBrk="1" latinLnBrk="0" hangingPunct="1">
        <a:defRPr sz="3190" kern="1200">
          <a:solidFill>
            <a:schemeClr val="tx1"/>
          </a:solidFill>
          <a:latin typeface="+mn-lt"/>
          <a:ea typeface="+mn-ea"/>
          <a:cs typeface="+mn-cs"/>
        </a:defRPr>
      </a:lvl2pPr>
      <a:lvl3pPr marL="1620520" algn="l" defTabSz="1620520" rtl="0" eaLnBrk="1" latinLnBrk="0" hangingPunct="1">
        <a:defRPr sz="3190" kern="1200">
          <a:solidFill>
            <a:schemeClr val="tx1"/>
          </a:solidFill>
          <a:latin typeface="+mn-lt"/>
          <a:ea typeface="+mn-ea"/>
          <a:cs typeface="+mn-cs"/>
        </a:defRPr>
      </a:lvl3pPr>
      <a:lvl4pPr marL="2429510" algn="l" defTabSz="1620520" rtl="0" eaLnBrk="1" latinLnBrk="0" hangingPunct="1">
        <a:defRPr sz="3190" kern="1200">
          <a:solidFill>
            <a:schemeClr val="tx1"/>
          </a:solidFill>
          <a:latin typeface="+mn-lt"/>
          <a:ea typeface="+mn-ea"/>
          <a:cs typeface="+mn-cs"/>
        </a:defRPr>
      </a:lvl4pPr>
      <a:lvl5pPr marL="3239770" algn="l" defTabSz="1620520" rtl="0" eaLnBrk="1" latinLnBrk="0" hangingPunct="1">
        <a:defRPr sz="3190" kern="1200">
          <a:solidFill>
            <a:schemeClr val="tx1"/>
          </a:solidFill>
          <a:latin typeface="+mn-lt"/>
          <a:ea typeface="+mn-ea"/>
          <a:cs typeface="+mn-cs"/>
        </a:defRPr>
      </a:lvl5pPr>
      <a:lvl6pPr marL="4050665" algn="l" defTabSz="1620520" rtl="0" eaLnBrk="1" latinLnBrk="0" hangingPunct="1">
        <a:defRPr sz="3190" kern="1200">
          <a:solidFill>
            <a:schemeClr val="tx1"/>
          </a:solidFill>
          <a:latin typeface="+mn-lt"/>
          <a:ea typeface="+mn-ea"/>
          <a:cs typeface="+mn-cs"/>
        </a:defRPr>
      </a:lvl6pPr>
      <a:lvl7pPr marL="4860925" algn="l" defTabSz="1620520" rtl="0" eaLnBrk="1" latinLnBrk="0" hangingPunct="1">
        <a:defRPr sz="3190" kern="1200">
          <a:solidFill>
            <a:schemeClr val="tx1"/>
          </a:solidFill>
          <a:latin typeface="+mn-lt"/>
          <a:ea typeface="+mn-ea"/>
          <a:cs typeface="+mn-cs"/>
        </a:defRPr>
      </a:lvl7pPr>
      <a:lvl8pPr marL="5670550" algn="l" defTabSz="1620520" rtl="0" eaLnBrk="1" latinLnBrk="0" hangingPunct="1">
        <a:defRPr sz="3190" kern="1200">
          <a:solidFill>
            <a:schemeClr val="tx1"/>
          </a:solidFill>
          <a:latin typeface="+mn-lt"/>
          <a:ea typeface="+mn-ea"/>
          <a:cs typeface="+mn-cs"/>
        </a:defRPr>
      </a:lvl8pPr>
      <a:lvl9pPr marL="6480810" algn="l" defTabSz="1620520" rtl="0" eaLnBrk="1" latinLnBrk="0" hangingPunct="1">
        <a:defRPr sz="319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6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圆角矩形 3"/>
          <p:cNvSpPr/>
          <p:nvPr/>
        </p:nvSpPr>
        <p:spPr>
          <a:xfrm>
            <a:off x="4997215" y="1117590"/>
            <a:ext cx="4753900" cy="652185"/>
          </a:xfrm>
          <a:prstGeom prst="roundRect">
            <a:avLst/>
          </a:prstGeom>
          <a:ln w="19050"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altLang="zh-CN" sz="2000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</a:rPr>
              <a:t>Jurkat</a:t>
            </a:r>
            <a:r>
              <a:rPr lang="zh-CN" altLang="en-US" sz="2000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</a:rPr>
              <a:t>细胞</a:t>
            </a:r>
            <a:br>
              <a:rPr lang="zh-CN" altLang="en-US" sz="2000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</a:rPr>
            </a:br>
            <a:r>
              <a:rPr lang="en-US" altLang="zh-CN" sz="2000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</a:rPr>
              <a:t>HL60</a:t>
            </a:r>
            <a:r>
              <a:rPr lang="zh-CN" altLang="en-US" sz="2000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</a:rPr>
              <a:t>、</a:t>
            </a:r>
            <a:r>
              <a:rPr lang="en-US" altLang="zh-CN" sz="2000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</a:rPr>
              <a:t>K562</a:t>
            </a:r>
            <a:r>
              <a:rPr lang="zh-CN" altLang="en-US" sz="2000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</a:rPr>
              <a:t>和</a:t>
            </a:r>
            <a:r>
              <a:rPr lang="en-US" altLang="zh-CN" sz="2000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</a:rPr>
              <a:t>U937</a:t>
            </a:r>
            <a:r>
              <a:rPr lang="zh-CN" altLang="en-US" sz="2000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</a:rPr>
              <a:t>细胞</a:t>
            </a:r>
            <a:endParaRPr lang="zh-CN" altLang="en-US" sz="2000" b="1">
              <a:solidFill>
                <a:schemeClr val="tx1"/>
              </a:solidFill>
              <a:latin typeface="Times New Roman" panose="02020603050405020304" charset="0"/>
              <a:ea typeface="仿宋" panose="02010609060101010101" charset="-122"/>
              <a:cs typeface="Times New Roman" panose="02020603050405020304" charset="0"/>
            </a:endParaRPr>
          </a:p>
        </p:txBody>
      </p:sp>
      <p:cxnSp>
        <p:nvCxnSpPr>
          <p:cNvPr id="35" name="直接箭头连接符 34"/>
          <p:cNvCxnSpPr/>
          <p:nvPr/>
        </p:nvCxnSpPr>
        <p:spPr>
          <a:xfrm flipH="1">
            <a:off x="7383056" y="1779936"/>
            <a:ext cx="635" cy="360067"/>
          </a:xfrm>
          <a:prstGeom prst="straightConnector1">
            <a:avLst/>
          </a:prstGeom>
          <a:ln w="28575">
            <a:tailEnd type="arrow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sp>
        <p:nvSpPr>
          <p:cNvPr id="43" name="圆角矩形 42"/>
          <p:cNvSpPr/>
          <p:nvPr/>
        </p:nvSpPr>
        <p:spPr>
          <a:xfrm>
            <a:off x="2752988" y="2560398"/>
            <a:ext cx="2840529" cy="652185"/>
          </a:xfrm>
          <a:prstGeom prst="roundRect">
            <a:avLst/>
          </a:prstGeom>
          <a:ln w="19050"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zh-CN" altLang="en-US" sz="2000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</a:rPr>
              <a:t>异硫氰酸苄酯（</a:t>
            </a:r>
            <a:r>
              <a:rPr lang="en-US" altLang="zh-CN" sz="2000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</a:rPr>
              <a:t>BITC</a:t>
            </a:r>
            <a:r>
              <a:rPr lang="zh-CN" altLang="en-US" sz="2000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</a:rPr>
              <a:t>）处理</a:t>
            </a:r>
            <a:endParaRPr lang="zh-CN" altLang="en-US" sz="2000" b="1">
              <a:solidFill>
                <a:schemeClr val="tx1"/>
              </a:solidFill>
              <a:latin typeface="Times New Roman" panose="02020603050405020304" charset="0"/>
              <a:ea typeface="仿宋" panose="02010609060101010101" charset="-122"/>
              <a:cs typeface="Times New Roman" panose="02020603050405020304" charset="0"/>
            </a:endParaRPr>
          </a:p>
        </p:txBody>
      </p:sp>
      <p:cxnSp>
        <p:nvCxnSpPr>
          <p:cNvPr id="53" name="直接箭头连接符 52"/>
          <p:cNvCxnSpPr/>
          <p:nvPr/>
        </p:nvCxnSpPr>
        <p:spPr>
          <a:xfrm>
            <a:off x="4173570" y="3212582"/>
            <a:ext cx="8256" cy="1504848"/>
          </a:xfrm>
          <a:prstGeom prst="straightConnector1">
            <a:avLst/>
          </a:prstGeom>
          <a:ln w="28575">
            <a:tailEnd type="arrow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sp>
        <p:nvSpPr>
          <p:cNvPr id="2" name="圆角矩形 1"/>
          <p:cNvSpPr/>
          <p:nvPr/>
        </p:nvSpPr>
        <p:spPr>
          <a:xfrm>
            <a:off x="7858700" y="2560398"/>
            <a:ext cx="2313446" cy="652185"/>
          </a:xfrm>
          <a:prstGeom prst="roundRect">
            <a:avLst/>
          </a:prstGeom>
          <a:ln w="19050"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zh-CN" sz="2000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</a:rPr>
              <a:t>给予细胞凋亡酶抑制剂</a:t>
            </a:r>
            <a:r>
              <a:rPr lang="en-US" altLang="zh-CN" sz="2000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</a:rPr>
              <a:t>Z-VAD</a:t>
            </a:r>
            <a:endParaRPr lang="en-US" altLang="zh-CN" sz="2000" b="1">
              <a:solidFill>
                <a:schemeClr val="tx1"/>
              </a:solidFill>
              <a:latin typeface="Times New Roman" panose="02020603050405020304" charset="0"/>
              <a:ea typeface="仿宋" panose="02010609060101010101" charset="-122"/>
              <a:cs typeface="Times New Roman" panose="02020603050405020304" charset="0"/>
            </a:endParaRPr>
          </a:p>
        </p:txBody>
      </p:sp>
      <p:sp>
        <p:nvSpPr>
          <p:cNvPr id="3" name="圆角矩形 2"/>
          <p:cNvSpPr/>
          <p:nvPr/>
        </p:nvSpPr>
        <p:spPr>
          <a:xfrm>
            <a:off x="11124704" y="2560398"/>
            <a:ext cx="2313446" cy="652185"/>
          </a:xfrm>
          <a:prstGeom prst="roundRect">
            <a:avLst/>
          </a:prstGeom>
          <a:ln w="19050"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zh-CN" sz="2000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</a:rPr>
              <a:t>给予细胞凋亡酶抑制剂</a:t>
            </a:r>
            <a:r>
              <a:rPr lang="en-US" altLang="zh-CN" sz="2000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</a:rPr>
              <a:t>Z-VAD</a:t>
            </a:r>
            <a:endParaRPr lang="en-US" altLang="zh-CN" sz="2000" b="1">
              <a:solidFill>
                <a:schemeClr val="tx1"/>
              </a:solidFill>
              <a:latin typeface="Times New Roman" panose="02020603050405020304" charset="0"/>
              <a:ea typeface="仿宋" panose="02010609060101010101" charset="-122"/>
              <a:cs typeface="Times New Roman" panose="02020603050405020304" charset="0"/>
            </a:endParaRPr>
          </a:p>
        </p:txBody>
      </p:sp>
      <p:cxnSp>
        <p:nvCxnSpPr>
          <p:cNvPr id="8" name="直接连接符 7"/>
          <p:cNvCxnSpPr/>
          <p:nvPr/>
        </p:nvCxnSpPr>
        <p:spPr>
          <a:xfrm>
            <a:off x="4142453" y="2140003"/>
            <a:ext cx="8136752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直接箭头连接符 8"/>
          <p:cNvCxnSpPr/>
          <p:nvPr/>
        </p:nvCxnSpPr>
        <p:spPr>
          <a:xfrm flipH="1">
            <a:off x="4164044" y="2140003"/>
            <a:ext cx="635" cy="360067"/>
          </a:xfrm>
          <a:prstGeom prst="straightConnector1">
            <a:avLst/>
          </a:prstGeom>
          <a:ln w="28575">
            <a:tailEnd type="arrow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6" name="直接箭头连接符 5"/>
          <p:cNvCxnSpPr/>
          <p:nvPr/>
        </p:nvCxnSpPr>
        <p:spPr>
          <a:xfrm flipH="1">
            <a:off x="9039237" y="3248145"/>
            <a:ext cx="3810" cy="619798"/>
          </a:xfrm>
          <a:prstGeom prst="straightConnector1">
            <a:avLst/>
          </a:prstGeom>
          <a:ln w="28575">
            <a:tailEnd type="arrow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10" name="直接箭头连接符 9"/>
          <p:cNvCxnSpPr/>
          <p:nvPr/>
        </p:nvCxnSpPr>
        <p:spPr>
          <a:xfrm flipH="1">
            <a:off x="9042412" y="2164134"/>
            <a:ext cx="635" cy="396024"/>
          </a:xfrm>
          <a:prstGeom prst="straightConnector1">
            <a:avLst/>
          </a:prstGeom>
          <a:ln w="28575">
            <a:tailEnd type="arrow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11" name="直接箭头连接符 10"/>
          <p:cNvCxnSpPr/>
          <p:nvPr/>
        </p:nvCxnSpPr>
        <p:spPr>
          <a:xfrm flipH="1">
            <a:off x="12260154" y="2121587"/>
            <a:ext cx="635" cy="396024"/>
          </a:xfrm>
          <a:prstGeom prst="straightConnector1">
            <a:avLst/>
          </a:prstGeom>
          <a:ln w="28575">
            <a:tailEnd type="arrow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13" name="直接连接符 12"/>
          <p:cNvCxnSpPr/>
          <p:nvPr/>
        </p:nvCxnSpPr>
        <p:spPr>
          <a:xfrm flipV="1">
            <a:off x="1694378" y="4226740"/>
            <a:ext cx="4680236" cy="127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直接箭头连接符 13"/>
          <p:cNvCxnSpPr/>
          <p:nvPr/>
        </p:nvCxnSpPr>
        <p:spPr>
          <a:xfrm flipH="1">
            <a:off x="1691838" y="4226740"/>
            <a:ext cx="1270" cy="504221"/>
          </a:xfrm>
          <a:prstGeom prst="straightConnector1">
            <a:avLst/>
          </a:prstGeom>
          <a:ln w="28575">
            <a:tailEnd type="arrow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15" name="直接箭头连接符 14"/>
          <p:cNvCxnSpPr/>
          <p:nvPr/>
        </p:nvCxnSpPr>
        <p:spPr>
          <a:xfrm>
            <a:off x="6366994" y="4205149"/>
            <a:ext cx="17781" cy="525812"/>
          </a:xfrm>
          <a:prstGeom prst="straightConnector1">
            <a:avLst/>
          </a:prstGeom>
          <a:ln w="28575">
            <a:tailEnd type="arrow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sp>
        <p:nvSpPr>
          <p:cNvPr id="16" name="圆角矩形 15"/>
          <p:cNvSpPr/>
          <p:nvPr/>
        </p:nvSpPr>
        <p:spPr>
          <a:xfrm>
            <a:off x="731659" y="4730961"/>
            <a:ext cx="2035299" cy="916361"/>
          </a:xfrm>
          <a:prstGeom prst="roundRect">
            <a:avLst/>
          </a:prstGeom>
          <a:ln w="19050"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zh-CN" sz="2000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</a:rPr>
              <a:t>流式细胞仪检测细胞凋亡</a:t>
            </a:r>
            <a:br>
              <a:rPr lang="zh-CN" sz="2000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</a:rPr>
            </a:br>
            <a:r>
              <a:rPr lang="zh-CN" sz="2000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</a:rPr>
              <a:t>检测细胞周期</a:t>
            </a:r>
            <a:endParaRPr lang="zh-CN" sz="2000" b="1">
              <a:solidFill>
                <a:schemeClr val="tx1"/>
              </a:solidFill>
              <a:latin typeface="Times New Roman" panose="02020603050405020304" charset="0"/>
              <a:ea typeface="仿宋" panose="02010609060101010101" charset="-122"/>
              <a:cs typeface="Times New Roman" panose="02020603050405020304" charset="0"/>
            </a:endParaRPr>
          </a:p>
        </p:txBody>
      </p:sp>
      <p:sp>
        <p:nvSpPr>
          <p:cNvPr id="17" name="圆角矩形 16"/>
          <p:cNvSpPr/>
          <p:nvPr/>
        </p:nvSpPr>
        <p:spPr>
          <a:xfrm>
            <a:off x="3111785" y="4730961"/>
            <a:ext cx="2194059" cy="916361"/>
          </a:xfrm>
          <a:prstGeom prst="roundRect">
            <a:avLst/>
          </a:prstGeom>
          <a:ln w="19050"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zh-CN" sz="2000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</a:rPr>
              <a:t>检测细胞凋亡</a:t>
            </a:r>
            <a:r>
              <a:rPr lang="en-US" altLang="zh-CN" sz="2000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</a:rPr>
              <a:t>Mcl-1L</a:t>
            </a:r>
            <a:r>
              <a:rPr lang="zh-CN" altLang="en-US" sz="2000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</a:rPr>
              <a:t>、</a:t>
            </a:r>
            <a:r>
              <a:rPr lang="en-US" altLang="zh-CN" sz="2000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  <a:sym typeface="+mn-ea"/>
              </a:rPr>
              <a:t>Mcl-1a</a:t>
            </a:r>
            <a:r>
              <a:rPr lang="zh-CN" altLang="en-US" sz="2000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  <a:sym typeface="+mn-ea"/>
              </a:rPr>
              <a:t>等凋亡相关蛋白</a:t>
            </a:r>
            <a:endParaRPr lang="zh-CN" sz="2000" b="1">
              <a:solidFill>
                <a:schemeClr val="tx1"/>
              </a:solidFill>
              <a:latin typeface="Times New Roman" panose="02020603050405020304" charset="0"/>
              <a:ea typeface="仿宋" panose="02010609060101010101" charset="-122"/>
              <a:cs typeface="Times New Roman" panose="02020603050405020304" charset="0"/>
            </a:endParaRPr>
          </a:p>
        </p:txBody>
      </p:sp>
      <p:sp>
        <p:nvSpPr>
          <p:cNvPr id="18" name="圆角矩形 17"/>
          <p:cNvSpPr/>
          <p:nvPr/>
        </p:nvSpPr>
        <p:spPr>
          <a:xfrm>
            <a:off x="5593516" y="4730961"/>
            <a:ext cx="1943219" cy="916361"/>
          </a:xfrm>
          <a:prstGeom prst="roundRect">
            <a:avLst/>
          </a:prstGeom>
          <a:ln w="19050"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zh-CN" sz="2000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</a:rPr>
              <a:t>检测细胞周期素、细胞周期激酶活性</a:t>
            </a:r>
            <a:endParaRPr lang="zh-CN" sz="2000" b="1">
              <a:solidFill>
                <a:schemeClr val="tx1"/>
              </a:solidFill>
              <a:latin typeface="Times New Roman" panose="02020603050405020304" charset="0"/>
              <a:ea typeface="仿宋" panose="02010609060101010101" charset="-122"/>
              <a:cs typeface="Times New Roman" panose="02020603050405020304" charset="0"/>
            </a:endParaRPr>
          </a:p>
        </p:txBody>
      </p:sp>
      <p:sp>
        <p:nvSpPr>
          <p:cNvPr id="19" name="圆角矩形 18"/>
          <p:cNvSpPr/>
          <p:nvPr/>
        </p:nvSpPr>
        <p:spPr>
          <a:xfrm>
            <a:off x="7859335" y="3867943"/>
            <a:ext cx="2384571" cy="916361"/>
          </a:xfrm>
          <a:prstGeom prst="roundRect">
            <a:avLst/>
          </a:prstGeom>
          <a:ln w="19050"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zh-CN" sz="2000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</a:rPr>
              <a:t>异硫氰酸苄酯（</a:t>
            </a:r>
            <a:r>
              <a:rPr lang="en-US" altLang="zh-CN" sz="2000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</a:rPr>
              <a:t>BITC</a:t>
            </a:r>
            <a:r>
              <a:rPr lang="zh-CN" altLang="en-US" sz="2000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</a:rPr>
              <a:t>）处理</a:t>
            </a:r>
            <a:endParaRPr lang="zh-CN" altLang="en-US" sz="2000" b="1">
              <a:solidFill>
                <a:schemeClr val="tx1"/>
              </a:solidFill>
              <a:latin typeface="Times New Roman" panose="02020603050405020304" charset="0"/>
              <a:ea typeface="仿宋" panose="02010609060101010101" charset="-122"/>
              <a:cs typeface="Times New Roman" panose="02020603050405020304" charset="0"/>
            </a:endParaRPr>
          </a:p>
        </p:txBody>
      </p:sp>
      <p:sp>
        <p:nvSpPr>
          <p:cNvPr id="20" name="圆角矩形 19"/>
          <p:cNvSpPr/>
          <p:nvPr/>
        </p:nvSpPr>
        <p:spPr>
          <a:xfrm>
            <a:off x="11124704" y="3867943"/>
            <a:ext cx="2313446" cy="916361"/>
          </a:xfrm>
          <a:prstGeom prst="roundRect">
            <a:avLst/>
          </a:prstGeom>
          <a:ln w="19050"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zh-CN" sz="2000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</a:rPr>
              <a:t>异硫氰酸苄酯（</a:t>
            </a:r>
            <a:r>
              <a:rPr lang="en-US" altLang="zh-CN" sz="2000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</a:rPr>
              <a:t>BITC</a:t>
            </a:r>
            <a:r>
              <a:rPr lang="zh-CN" altLang="en-US" sz="2000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</a:rPr>
              <a:t>）处理</a:t>
            </a:r>
            <a:endParaRPr lang="zh-CN" altLang="en-US" sz="2000" b="1">
              <a:solidFill>
                <a:schemeClr val="tx1"/>
              </a:solidFill>
              <a:latin typeface="Times New Roman" panose="02020603050405020304" charset="0"/>
              <a:ea typeface="仿宋" panose="02010609060101010101" charset="-122"/>
              <a:cs typeface="Times New Roman" panose="02020603050405020304" charset="0"/>
            </a:endParaRPr>
          </a:p>
        </p:txBody>
      </p:sp>
      <p:cxnSp>
        <p:nvCxnSpPr>
          <p:cNvPr id="21" name="直接箭头连接符 20"/>
          <p:cNvCxnSpPr/>
          <p:nvPr/>
        </p:nvCxnSpPr>
        <p:spPr>
          <a:xfrm flipH="1">
            <a:off x="12260789" y="3248145"/>
            <a:ext cx="3810" cy="619798"/>
          </a:xfrm>
          <a:prstGeom prst="straightConnector1">
            <a:avLst/>
          </a:prstGeom>
          <a:ln w="28575">
            <a:tailEnd type="arrow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22" name="直接箭头连接符 21"/>
          <p:cNvCxnSpPr/>
          <p:nvPr/>
        </p:nvCxnSpPr>
        <p:spPr>
          <a:xfrm flipH="1">
            <a:off x="9035427" y="4784304"/>
            <a:ext cx="3810" cy="619798"/>
          </a:xfrm>
          <a:prstGeom prst="straightConnector1">
            <a:avLst/>
          </a:prstGeom>
          <a:ln w="28575">
            <a:tailEnd type="arrow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23" name="直接箭头连接符 22"/>
          <p:cNvCxnSpPr/>
          <p:nvPr/>
        </p:nvCxnSpPr>
        <p:spPr>
          <a:xfrm flipH="1">
            <a:off x="12256344" y="4802718"/>
            <a:ext cx="3810" cy="619798"/>
          </a:xfrm>
          <a:prstGeom prst="straightConnector1">
            <a:avLst/>
          </a:prstGeom>
          <a:ln w="28575">
            <a:tailEnd type="arrow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sp>
        <p:nvSpPr>
          <p:cNvPr id="24" name="圆角矩形 23"/>
          <p:cNvSpPr/>
          <p:nvPr/>
        </p:nvSpPr>
        <p:spPr>
          <a:xfrm>
            <a:off x="7858700" y="5404102"/>
            <a:ext cx="2385206" cy="916361"/>
          </a:xfrm>
          <a:prstGeom prst="roundRect">
            <a:avLst/>
          </a:prstGeom>
          <a:ln w="19050"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zh-CN" sz="2000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  <a:sym typeface="+mn-ea"/>
              </a:rPr>
              <a:t>检测细胞凋亡</a:t>
            </a:r>
            <a:r>
              <a:rPr lang="en-US" altLang="zh-CN" sz="2000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  <a:sym typeface="+mn-ea"/>
              </a:rPr>
              <a:t>Mcl-1L</a:t>
            </a:r>
            <a:r>
              <a:rPr lang="zh-CN" altLang="en-US" sz="2000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  <a:sym typeface="+mn-ea"/>
              </a:rPr>
              <a:t>、</a:t>
            </a:r>
            <a:r>
              <a:rPr lang="en-US" altLang="zh-CN" sz="2000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  <a:sym typeface="+mn-ea"/>
              </a:rPr>
              <a:t>Mcl-1a</a:t>
            </a:r>
            <a:r>
              <a:rPr lang="zh-CN" altLang="en-US" sz="2000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  <a:sym typeface="+mn-ea"/>
              </a:rPr>
              <a:t>等凋亡相关蛋白</a:t>
            </a:r>
            <a:endParaRPr lang="en-US" altLang="zh-CN" sz="2000" b="1">
              <a:solidFill>
                <a:schemeClr val="tx1"/>
              </a:solidFill>
              <a:latin typeface="Times New Roman" panose="02020603050405020304" charset="0"/>
              <a:ea typeface="仿宋" panose="02010609060101010101" charset="-122"/>
              <a:cs typeface="Times New Roman" panose="02020603050405020304" charset="0"/>
            </a:endParaRPr>
          </a:p>
        </p:txBody>
      </p:sp>
      <p:sp>
        <p:nvSpPr>
          <p:cNvPr id="25" name="圆角矩形 24"/>
          <p:cNvSpPr/>
          <p:nvPr/>
        </p:nvSpPr>
        <p:spPr>
          <a:xfrm>
            <a:off x="11124704" y="5404102"/>
            <a:ext cx="2385206" cy="916361"/>
          </a:xfrm>
          <a:prstGeom prst="roundRect">
            <a:avLst/>
          </a:prstGeom>
          <a:ln w="19050"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zh-CN" sz="2000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  <a:sym typeface="+mn-ea"/>
              </a:rPr>
              <a:t>检测细胞凋亡</a:t>
            </a:r>
            <a:r>
              <a:rPr lang="en-US" altLang="zh-CN" sz="2000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  <a:sym typeface="+mn-ea"/>
              </a:rPr>
              <a:t>Mcl-1L</a:t>
            </a:r>
            <a:r>
              <a:rPr lang="zh-CN" altLang="en-US" sz="2000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  <a:sym typeface="+mn-ea"/>
              </a:rPr>
              <a:t>、</a:t>
            </a:r>
            <a:r>
              <a:rPr lang="en-US" altLang="zh-CN" sz="2000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  <a:sym typeface="+mn-ea"/>
              </a:rPr>
              <a:t>Mcl-1a</a:t>
            </a:r>
            <a:r>
              <a:rPr lang="zh-CN" altLang="en-US" sz="2000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  <a:sym typeface="+mn-ea"/>
              </a:rPr>
              <a:t>等凋亡相关蛋白</a:t>
            </a:r>
            <a:endParaRPr lang="en-US" altLang="zh-CN" sz="2000" b="1">
              <a:solidFill>
                <a:schemeClr val="tx1"/>
              </a:solidFill>
              <a:latin typeface="Times New Roman" panose="02020603050405020304" charset="0"/>
              <a:ea typeface="仿宋" panose="02010609060101010101" charset="-122"/>
              <a:cs typeface="Times New Roman" panose="02020603050405020304" charset="0"/>
            </a:endParaRPr>
          </a:p>
        </p:txBody>
      </p:sp>
      <p:cxnSp>
        <p:nvCxnSpPr>
          <p:cNvPr id="26" name="直接连接符 25"/>
          <p:cNvCxnSpPr/>
          <p:nvPr/>
        </p:nvCxnSpPr>
        <p:spPr>
          <a:xfrm>
            <a:off x="4214818" y="8676525"/>
            <a:ext cx="6552282" cy="15241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7" name="下箭头 26"/>
          <p:cNvSpPr/>
          <p:nvPr/>
        </p:nvSpPr>
        <p:spPr>
          <a:xfrm>
            <a:off x="7167778" y="6676720"/>
            <a:ext cx="431826" cy="575980"/>
          </a:xfrm>
          <a:prstGeom prst="downArrow">
            <a:avLst/>
          </a:prstGeom>
          <a:solidFill>
            <a:schemeClr val="accent3">
              <a:lumMod val="50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28" name="直接连接符 27"/>
          <p:cNvCxnSpPr/>
          <p:nvPr/>
        </p:nvCxnSpPr>
        <p:spPr>
          <a:xfrm flipH="1">
            <a:off x="4181825" y="8184937"/>
            <a:ext cx="5080" cy="504221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直接连接符 28"/>
          <p:cNvCxnSpPr/>
          <p:nvPr/>
        </p:nvCxnSpPr>
        <p:spPr>
          <a:xfrm flipH="1">
            <a:off x="10762097" y="8187477"/>
            <a:ext cx="5080" cy="504221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直接箭头连接符 29"/>
          <p:cNvCxnSpPr/>
          <p:nvPr/>
        </p:nvCxnSpPr>
        <p:spPr>
          <a:xfrm flipH="1">
            <a:off x="7383056" y="8689158"/>
            <a:ext cx="1270" cy="723309"/>
          </a:xfrm>
          <a:prstGeom prst="straightConnector1">
            <a:avLst/>
          </a:prstGeom>
          <a:ln w="28575">
            <a:tailEnd type="arrow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sp>
        <p:nvSpPr>
          <p:cNvPr id="31" name="圆角矩形 30"/>
          <p:cNvSpPr/>
          <p:nvPr/>
        </p:nvSpPr>
        <p:spPr>
          <a:xfrm>
            <a:off x="3016529" y="7268576"/>
            <a:ext cx="2385206" cy="916361"/>
          </a:xfrm>
          <a:prstGeom prst="roundRect">
            <a:avLst/>
          </a:prstGeom>
          <a:ln w="19050"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zh-CN" sz="2000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  <a:sym typeface="+mn-ea"/>
              </a:rPr>
              <a:t>构建高表达</a:t>
            </a:r>
            <a:r>
              <a:rPr lang="en-US" altLang="zh-CN" sz="2000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  <a:sym typeface="+mn-ea"/>
              </a:rPr>
              <a:t>Mcl-1</a:t>
            </a:r>
            <a:r>
              <a:rPr lang="zh-CN" sz="2000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  <a:sym typeface="+mn-ea"/>
              </a:rPr>
              <a:t>细胞株</a:t>
            </a:r>
            <a:endParaRPr lang="zh-CN" sz="2000" b="1">
              <a:solidFill>
                <a:schemeClr val="tx1"/>
              </a:solidFill>
              <a:latin typeface="Times New Roman" panose="02020603050405020304" charset="0"/>
              <a:ea typeface="仿宋" panose="02010609060101010101" charset="-122"/>
              <a:cs typeface="Times New Roman" panose="02020603050405020304" charset="0"/>
            </a:endParaRPr>
          </a:p>
        </p:txBody>
      </p:sp>
      <p:sp>
        <p:nvSpPr>
          <p:cNvPr id="32" name="圆角矩形 31"/>
          <p:cNvSpPr/>
          <p:nvPr/>
        </p:nvSpPr>
        <p:spPr>
          <a:xfrm>
            <a:off x="9500910" y="7252700"/>
            <a:ext cx="2528089" cy="916361"/>
          </a:xfrm>
          <a:prstGeom prst="roundRect">
            <a:avLst/>
          </a:prstGeom>
          <a:ln w="19050"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zh-CN" sz="2000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  <a:sym typeface="+mn-ea"/>
              </a:rPr>
              <a:t>用</a:t>
            </a:r>
            <a:r>
              <a:rPr lang="en-US" altLang="zh-CN" sz="2000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  <a:sym typeface="+mn-ea"/>
              </a:rPr>
              <a:t>siRNA</a:t>
            </a:r>
            <a:r>
              <a:rPr lang="zh-CN" altLang="en-US" sz="2000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  <a:sym typeface="+mn-ea"/>
              </a:rPr>
              <a:t>干扰方法获得</a:t>
            </a:r>
            <a:r>
              <a:rPr lang="en-US" altLang="zh-CN" sz="2000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  <a:sym typeface="+mn-ea"/>
              </a:rPr>
              <a:t>Mcl-1</a:t>
            </a:r>
            <a:r>
              <a:rPr lang="zh-CN" altLang="en-US" sz="2000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  <a:sym typeface="+mn-ea"/>
              </a:rPr>
              <a:t>低表达细胞</a:t>
            </a:r>
            <a:endParaRPr lang="zh-CN" altLang="en-US" sz="2000" b="1">
              <a:solidFill>
                <a:schemeClr val="tx1"/>
              </a:solidFill>
              <a:latin typeface="Times New Roman" panose="02020603050405020304" charset="0"/>
              <a:ea typeface="仿宋" panose="02010609060101010101" charset="-122"/>
              <a:cs typeface="Times New Roman" panose="02020603050405020304" charset="0"/>
              <a:sym typeface="+mn-ea"/>
            </a:endParaRPr>
          </a:p>
        </p:txBody>
      </p:sp>
      <p:sp>
        <p:nvSpPr>
          <p:cNvPr id="33" name="圆角矩形 32"/>
          <p:cNvSpPr/>
          <p:nvPr/>
        </p:nvSpPr>
        <p:spPr>
          <a:xfrm>
            <a:off x="7365910" y="8762822"/>
            <a:ext cx="2135635" cy="575980"/>
          </a:xfrm>
          <a:prstGeom prst="roundRect">
            <a:avLst/>
          </a:prstGeom>
          <a:noFill/>
          <a:ln w="1905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lt1"/>
                </a:solidFill>
              </a14:hiddenFill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zh-CN" sz="2000" b="1" i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  <a:sym typeface="+mn-ea"/>
              </a:rPr>
              <a:t>给予</a:t>
            </a:r>
            <a:r>
              <a:rPr lang="en-US" altLang="zh-CN" sz="2000" b="1" i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  <a:sym typeface="+mn-ea"/>
              </a:rPr>
              <a:t>BITC</a:t>
            </a:r>
            <a:r>
              <a:rPr lang="zh-CN" altLang="en-US" sz="2000" b="1" i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  <a:sym typeface="+mn-ea"/>
              </a:rPr>
              <a:t>处理</a:t>
            </a:r>
            <a:endParaRPr lang="zh-CN" altLang="en-US" sz="2000" b="1" i="1">
              <a:solidFill>
                <a:schemeClr val="tx1"/>
              </a:solidFill>
              <a:latin typeface="Times New Roman" panose="02020603050405020304" charset="0"/>
              <a:ea typeface="仿宋" panose="02010609060101010101" charset="-122"/>
              <a:cs typeface="Times New Roman" panose="02020603050405020304" charset="0"/>
              <a:sym typeface="+mn-ea"/>
            </a:endParaRPr>
          </a:p>
        </p:txBody>
      </p:sp>
      <p:sp>
        <p:nvSpPr>
          <p:cNvPr id="34" name="圆角矩形 33"/>
          <p:cNvSpPr/>
          <p:nvPr/>
        </p:nvSpPr>
        <p:spPr>
          <a:xfrm>
            <a:off x="3022879" y="9928754"/>
            <a:ext cx="2385206" cy="916361"/>
          </a:xfrm>
          <a:prstGeom prst="roundRect">
            <a:avLst/>
          </a:prstGeom>
          <a:ln w="19050"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zh-CN" sz="2000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  <a:sym typeface="+mn-ea"/>
              </a:rPr>
              <a:t>流式细胞仪检测细胞凋亡、细胞周期</a:t>
            </a:r>
            <a:endParaRPr lang="zh-CN" sz="2000" b="1">
              <a:solidFill>
                <a:schemeClr val="tx1"/>
              </a:solidFill>
              <a:latin typeface="Times New Roman" panose="02020603050405020304" charset="0"/>
              <a:ea typeface="仿宋" panose="02010609060101010101" charset="-122"/>
              <a:cs typeface="Times New Roman" panose="02020603050405020304" charset="0"/>
            </a:endParaRPr>
          </a:p>
        </p:txBody>
      </p:sp>
      <p:cxnSp>
        <p:nvCxnSpPr>
          <p:cNvPr id="36" name="直接连接符 35"/>
          <p:cNvCxnSpPr/>
          <p:nvPr/>
        </p:nvCxnSpPr>
        <p:spPr>
          <a:xfrm>
            <a:off x="4214847" y="9412467"/>
            <a:ext cx="6552330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" name="直接箭头连接符 36"/>
          <p:cNvCxnSpPr/>
          <p:nvPr/>
        </p:nvCxnSpPr>
        <p:spPr>
          <a:xfrm flipH="1">
            <a:off x="4214847" y="9424533"/>
            <a:ext cx="1270" cy="504221"/>
          </a:xfrm>
          <a:prstGeom prst="straightConnector1">
            <a:avLst/>
          </a:prstGeom>
          <a:ln w="28575">
            <a:tailEnd type="arrow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sp>
        <p:nvSpPr>
          <p:cNvPr id="38" name="圆角矩形 37"/>
          <p:cNvSpPr/>
          <p:nvPr/>
        </p:nvSpPr>
        <p:spPr>
          <a:xfrm>
            <a:off x="9643794" y="9928754"/>
            <a:ext cx="2385206" cy="916361"/>
          </a:xfrm>
          <a:prstGeom prst="roundRect">
            <a:avLst/>
          </a:prstGeom>
          <a:ln w="19050"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sz="2000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  <a:sym typeface="+mn-ea"/>
              </a:rPr>
              <a:t>Western Blot</a:t>
            </a:r>
            <a:r>
              <a:rPr lang="zh-CN" altLang="en-US" sz="2000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  <a:sym typeface="+mn-ea"/>
              </a:rPr>
              <a:t>检测细胞凋亡与细胞周期相关蛋白表达</a:t>
            </a:r>
            <a:endParaRPr lang="zh-CN" altLang="en-US" sz="2000" b="1">
              <a:solidFill>
                <a:schemeClr val="tx1"/>
              </a:solidFill>
              <a:latin typeface="Times New Roman" panose="02020603050405020304" charset="0"/>
              <a:ea typeface="仿宋" panose="02010609060101010101" charset="-122"/>
              <a:cs typeface="Times New Roman" panose="02020603050405020304" charset="0"/>
              <a:sym typeface="+mn-ea"/>
            </a:endParaRPr>
          </a:p>
        </p:txBody>
      </p:sp>
      <p:cxnSp>
        <p:nvCxnSpPr>
          <p:cNvPr id="39" name="直接箭头连接符 38"/>
          <p:cNvCxnSpPr/>
          <p:nvPr/>
        </p:nvCxnSpPr>
        <p:spPr>
          <a:xfrm flipH="1">
            <a:off x="10760827" y="9424533"/>
            <a:ext cx="1270" cy="504221"/>
          </a:xfrm>
          <a:prstGeom prst="straightConnector1">
            <a:avLst/>
          </a:prstGeom>
          <a:ln w="28575">
            <a:tailEnd type="arrow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40" name="直接连接符 39"/>
          <p:cNvCxnSpPr/>
          <p:nvPr/>
        </p:nvCxnSpPr>
        <p:spPr>
          <a:xfrm flipV="1">
            <a:off x="614065" y="11267869"/>
            <a:ext cx="14686113" cy="635"/>
          </a:xfrm>
          <a:prstGeom prst="line">
            <a:avLst/>
          </a:prstGeom>
          <a:ln w="28575"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1" name="下箭头 40"/>
          <p:cNvSpPr/>
          <p:nvPr/>
        </p:nvSpPr>
        <p:spPr>
          <a:xfrm>
            <a:off x="7166507" y="10980981"/>
            <a:ext cx="431826" cy="575980"/>
          </a:xfrm>
          <a:prstGeom prst="downArrow">
            <a:avLst/>
          </a:prstGeom>
          <a:solidFill>
            <a:schemeClr val="accent3">
              <a:lumMod val="50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6" name="圆角矩形 45"/>
          <p:cNvSpPr/>
          <p:nvPr/>
        </p:nvSpPr>
        <p:spPr>
          <a:xfrm>
            <a:off x="5006740" y="11857923"/>
            <a:ext cx="4753901" cy="652185"/>
          </a:xfrm>
          <a:prstGeom prst="roundRect">
            <a:avLst/>
          </a:prstGeom>
          <a:ln w="19050"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altLang="zh-CN" sz="2000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</a:rPr>
              <a:t>Jurkat</a:t>
            </a:r>
            <a:r>
              <a:rPr lang="zh-CN" altLang="en-US" sz="2000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</a:rPr>
              <a:t>细胞</a:t>
            </a:r>
            <a:br>
              <a:rPr lang="zh-CN" altLang="en-US" sz="2000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</a:rPr>
            </a:br>
            <a:r>
              <a:rPr lang="en-US" altLang="zh-CN" sz="2000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</a:rPr>
              <a:t>HL60</a:t>
            </a:r>
            <a:r>
              <a:rPr lang="zh-CN" altLang="en-US" sz="2000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</a:rPr>
              <a:t>、</a:t>
            </a:r>
            <a:r>
              <a:rPr lang="en-US" altLang="zh-CN" sz="2000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</a:rPr>
              <a:t>K562</a:t>
            </a:r>
            <a:r>
              <a:rPr lang="zh-CN" altLang="en-US" sz="2000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</a:rPr>
              <a:t>和</a:t>
            </a:r>
            <a:r>
              <a:rPr lang="en-US" altLang="zh-CN" sz="2000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</a:rPr>
              <a:t>U937</a:t>
            </a:r>
            <a:r>
              <a:rPr lang="zh-CN" altLang="en-US" sz="2000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</a:rPr>
              <a:t>细胞</a:t>
            </a:r>
            <a:endParaRPr lang="zh-CN" altLang="en-US" sz="2000" b="1">
              <a:solidFill>
                <a:schemeClr val="tx1"/>
              </a:solidFill>
              <a:latin typeface="Times New Roman" panose="02020603050405020304" charset="0"/>
              <a:ea typeface="仿宋" panose="02010609060101010101" charset="-122"/>
              <a:cs typeface="Times New Roman" panose="02020603050405020304" charset="0"/>
            </a:endParaRPr>
          </a:p>
        </p:txBody>
      </p:sp>
      <p:cxnSp>
        <p:nvCxnSpPr>
          <p:cNvPr id="60" name="直接箭头连接符 59"/>
          <p:cNvCxnSpPr/>
          <p:nvPr/>
        </p:nvCxnSpPr>
        <p:spPr>
          <a:xfrm flipH="1">
            <a:off x="7384326" y="12535509"/>
            <a:ext cx="635" cy="360067"/>
          </a:xfrm>
          <a:prstGeom prst="straightConnector1">
            <a:avLst/>
          </a:prstGeom>
          <a:ln w="28575">
            <a:tailEnd type="arrow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62" name="直接连接符 61"/>
          <p:cNvCxnSpPr/>
          <p:nvPr/>
        </p:nvCxnSpPr>
        <p:spPr>
          <a:xfrm flipV="1">
            <a:off x="3782359" y="12895692"/>
            <a:ext cx="8576136" cy="29212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3" name="直接箭头连接符 62"/>
          <p:cNvCxnSpPr/>
          <p:nvPr/>
        </p:nvCxnSpPr>
        <p:spPr>
          <a:xfrm flipH="1">
            <a:off x="3813529" y="12895573"/>
            <a:ext cx="635" cy="360067"/>
          </a:xfrm>
          <a:prstGeom prst="straightConnector1">
            <a:avLst/>
          </a:prstGeom>
          <a:ln w="28575">
            <a:tailEnd type="arrow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64" name="直接箭头连接符 63"/>
          <p:cNvCxnSpPr/>
          <p:nvPr/>
        </p:nvCxnSpPr>
        <p:spPr>
          <a:xfrm flipH="1">
            <a:off x="9643778" y="12895573"/>
            <a:ext cx="635" cy="360067"/>
          </a:xfrm>
          <a:prstGeom prst="straightConnector1">
            <a:avLst/>
          </a:prstGeom>
          <a:ln w="28575">
            <a:tailEnd type="arrow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sp>
        <p:nvSpPr>
          <p:cNvPr id="65" name="圆角矩形 64"/>
          <p:cNvSpPr/>
          <p:nvPr/>
        </p:nvSpPr>
        <p:spPr>
          <a:xfrm>
            <a:off x="2860925" y="13255756"/>
            <a:ext cx="1913993" cy="652180"/>
          </a:xfrm>
          <a:prstGeom prst="roundRect">
            <a:avLst/>
          </a:prstGeom>
          <a:ln w="19050"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zh-CN" altLang="en-US" sz="2000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</a:rPr>
              <a:t>异硫氰酸苄酯</a:t>
            </a:r>
            <a:endParaRPr lang="zh-CN" altLang="en-US" sz="2000" b="1">
              <a:solidFill>
                <a:schemeClr val="tx1"/>
              </a:solidFill>
              <a:latin typeface="Times New Roman" panose="02020603050405020304" charset="0"/>
              <a:ea typeface="仿宋" panose="02010609060101010101" charset="-122"/>
              <a:cs typeface="Times New Roman" panose="02020603050405020304" charset="0"/>
            </a:endParaRPr>
          </a:p>
          <a:p>
            <a:pPr algn="ctr"/>
            <a:r>
              <a:rPr lang="zh-CN" altLang="en-US" sz="2000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</a:rPr>
              <a:t>（</a:t>
            </a:r>
            <a:r>
              <a:rPr lang="en-US" altLang="zh-CN" sz="2000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</a:rPr>
              <a:t>BITC</a:t>
            </a:r>
            <a:r>
              <a:rPr lang="zh-CN" altLang="en-US" sz="2000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</a:rPr>
              <a:t>）</a:t>
            </a:r>
            <a:endParaRPr lang="zh-CN" altLang="en-US" sz="2000" b="1">
              <a:solidFill>
                <a:schemeClr val="tx1"/>
              </a:solidFill>
              <a:latin typeface="Times New Roman" panose="02020603050405020304" charset="0"/>
              <a:ea typeface="仿宋" panose="02010609060101010101" charset="-122"/>
              <a:cs typeface="Times New Roman" panose="02020603050405020304" charset="0"/>
            </a:endParaRPr>
          </a:p>
        </p:txBody>
      </p:sp>
      <p:sp>
        <p:nvSpPr>
          <p:cNvPr id="66" name="圆角矩形 65"/>
          <p:cNvSpPr/>
          <p:nvPr/>
        </p:nvSpPr>
        <p:spPr>
          <a:xfrm>
            <a:off x="8687363" y="13255756"/>
            <a:ext cx="1913993" cy="652180"/>
          </a:xfrm>
          <a:prstGeom prst="roundRect">
            <a:avLst/>
          </a:prstGeom>
          <a:ln w="19050"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zh-CN" altLang="en-US" sz="2000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</a:rPr>
              <a:t>给予蛋白翻译抑制剂干预</a:t>
            </a:r>
            <a:endParaRPr lang="zh-CN" altLang="en-US" sz="2000" b="1">
              <a:solidFill>
                <a:schemeClr val="tx1"/>
              </a:solidFill>
              <a:latin typeface="Times New Roman" panose="02020603050405020304" charset="0"/>
              <a:ea typeface="仿宋" panose="02010609060101010101" charset="-122"/>
              <a:cs typeface="Times New Roman" panose="02020603050405020304" charset="0"/>
            </a:endParaRPr>
          </a:p>
        </p:txBody>
      </p:sp>
      <p:sp>
        <p:nvSpPr>
          <p:cNvPr id="67" name="圆角矩形 66"/>
          <p:cNvSpPr/>
          <p:nvPr/>
        </p:nvSpPr>
        <p:spPr>
          <a:xfrm>
            <a:off x="11397689" y="13255756"/>
            <a:ext cx="1913993" cy="652180"/>
          </a:xfrm>
          <a:prstGeom prst="roundRect">
            <a:avLst/>
          </a:prstGeom>
          <a:ln w="19050"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zh-CN" altLang="en-US" sz="2000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</a:rPr>
              <a:t>给予蛋白酶抑制剂</a:t>
            </a:r>
            <a:r>
              <a:rPr lang="en-US" altLang="zh-CN" sz="2000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</a:rPr>
              <a:t>MG132</a:t>
            </a:r>
            <a:endParaRPr lang="en-US" altLang="zh-CN" sz="2000" b="1">
              <a:solidFill>
                <a:schemeClr val="tx1"/>
              </a:solidFill>
              <a:latin typeface="Times New Roman" panose="02020603050405020304" charset="0"/>
              <a:ea typeface="仿宋" panose="02010609060101010101" charset="-122"/>
              <a:cs typeface="Times New Roman" panose="02020603050405020304" charset="0"/>
            </a:endParaRPr>
          </a:p>
        </p:txBody>
      </p:sp>
      <p:cxnSp>
        <p:nvCxnSpPr>
          <p:cNvPr id="68" name="直接箭头连接符 67"/>
          <p:cNvCxnSpPr/>
          <p:nvPr/>
        </p:nvCxnSpPr>
        <p:spPr>
          <a:xfrm flipH="1">
            <a:off x="12358549" y="12895573"/>
            <a:ext cx="635" cy="360067"/>
          </a:xfrm>
          <a:prstGeom prst="straightConnector1">
            <a:avLst/>
          </a:prstGeom>
          <a:ln w="28575">
            <a:tailEnd type="arrow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70" name="直接箭头连接符 69"/>
          <p:cNvCxnSpPr/>
          <p:nvPr/>
        </p:nvCxnSpPr>
        <p:spPr>
          <a:xfrm flipH="1">
            <a:off x="9644413" y="13907818"/>
            <a:ext cx="635" cy="360067"/>
          </a:xfrm>
          <a:prstGeom prst="straightConnector1">
            <a:avLst/>
          </a:prstGeom>
          <a:ln w="28575">
            <a:tailEnd type="arrow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71" name="直接箭头连接符 70"/>
          <p:cNvCxnSpPr/>
          <p:nvPr/>
        </p:nvCxnSpPr>
        <p:spPr>
          <a:xfrm>
            <a:off x="3814140" y="13907829"/>
            <a:ext cx="8255" cy="1518378"/>
          </a:xfrm>
          <a:prstGeom prst="straightConnector1">
            <a:avLst/>
          </a:prstGeom>
          <a:ln w="28575">
            <a:tailEnd type="arrow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72" name="直接连接符 71"/>
          <p:cNvCxnSpPr/>
          <p:nvPr/>
        </p:nvCxnSpPr>
        <p:spPr>
          <a:xfrm>
            <a:off x="1190150" y="14941137"/>
            <a:ext cx="5256813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4" name="直接箭头连接符 73"/>
          <p:cNvCxnSpPr/>
          <p:nvPr/>
        </p:nvCxnSpPr>
        <p:spPr>
          <a:xfrm flipH="1">
            <a:off x="6439977" y="14941137"/>
            <a:ext cx="6350" cy="537239"/>
          </a:xfrm>
          <a:prstGeom prst="straightConnector1">
            <a:avLst/>
          </a:prstGeom>
          <a:ln w="28575">
            <a:tailEnd type="arrow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76" name="直接箭头连接符 75"/>
          <p:cNvCxnSpPr/>
          <p:nvPr/>
        </p:nvCxnSpPr>
        <p:spPr>
          <a:xfrm flipH="1">
            <a:off x="1188891" y="14902299"/>
            <a:ext cx="1270" cy="504221"/>
          </a:xfrm>
          <a:prstGeom prst="straightConnector1">
            <a:avLst/>
          </a:prstGeom>
          <a:ln w="28575">
            <a:tailEnd type="arrow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sp>
        <p:nvSpPr>
          <p:cNvPr id="78" name="圆角矩形 77"/>
          <p:cNvSpPr/>
          <p:nvPr/>
        </p:nvSpPr>
        <p:spPr>
          <a:xfrm>
            <a:off x="439540" y="15478376"/>
            <a:ext cx="1946380" cy="1438987"/>
          </a:xfrm>
          <a:prstGeom prst="roundRect">
            <a:avLst/>
          </a:prstGeom>
          <a:ln w="19050"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zh-CN" sz="2000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</a:rPr>
              <a:t>实时</a:t>
            </a:r>
            <a:r>
              <a:rPr lang="en-US" altLang="zh-CN" sz="2000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</a:rPr>
              <a:t>PCR</a:t>
            </a:r>
            <a:r>
              <a:rPr lang="zh-CN" altLang="en-US" sz="2000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</a:rPr>
              <a:t>检测</a:t>
            </a:r>
            <a:r>
              <a:rPr lang="en-US" altLang="zh-CN" sz="2000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  <a:sym typeface="+mn-ea"/>
              </a:rPr>
              <a:t>Mcl-1 mRNA</a:t>
            </a:r>
            <a:br>
              <a:rPr lang="en-US" altLang="zh-CN" sz="2000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  <a:sym typeface="+mn-ea"/>
              </a:rPr>
            </a:br>
            <a:r>
              <a:rPr lang="en-US" altLang="zh-CN" sz="2000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  <a:sym typeface="+mn-ea"/>
              </a:rPr>
              <a:t>Mcl-1 </a:t>
            </a:r>
            <a:r>
              <a:rPr lang="zh-CN" altLang="en-US" sz="2000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  <a:sym typeface="+mn-ea"/>
              </a:rPr>
              <a:t>启动子活性测定</a:t>
            </a:r>
            <a:endParaRPr lang="zh-CN" altLang="en-US" sz="2000" b="1">
              <a:solidFill>
                <a:schemeClr val="tx1"/>
              </a:solidFill>
              <a:latin typeface="Times New Roman" panose="02020603050405020304" charset="0"/>
              <a:ea typeface="仿宋" panose="02010609060101010101" charset="-122"/>
              <a:cs typeface="Times New Roman" panose="02020603050405020304" charset="0"/>
              <a:sym typeface="+mn-ea"/>
            </a:endParaRPr>
          </a:p>
        </p:txBody>
      </p:sp>
      <p:sp>
        <p:nvSpPr>
          <p:cNvPr id="79" name="圆角矩形 78"/>
          <p:cNvSpPr/>
          <p:nvPr/>
        </p:nvSpPr>
        <p:spPr>
          <a:xfrm>
            <a:off x="2544043" y="15498062"/>
            <a:ext cx="2539502" cy="1439622"/>
          </a:xfrm>
          <a:prstGeom prst="roundRect">
            <a:avLst/>
          </a:prstGeom>
          <a:ln w="19050"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sz="2000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</a:rPr>
              <a:t>eIF4E</a:t>
            </a:r>
            <a:r>
              <a:rPr lang="zh-CN" altLang="en-US" sz="2000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</a:rPr>
              <a:t>等翻译启动因子磷酸化水平测定，</a:t>
            </a:r>
            <a:r>
              <a:rPr lang="zh-CN" altLang="en-US" sz="2000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  <a:sym typeface="+mn-ea"/>
              </a:rPr>
              <a:t>检测</a:t>
            </a:r>
            <a:r>
              <a:rPr lang="en-US" altLang="zh-CN" sz="2000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  <a:sym typeface="+mn-ea"/>
              </a:rPr>
              <a:t>Mcl-1</a:t>
            </a:r>
            <a:r>
              <a:rPr lang="zh-CN" altLang="en-US" sz="2000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  <a:sym typeface="+mn-ea"/>
              </a:rPr>
              <a:t>蛋白水平</a:t>
            </a:r>
            <a:endParaRPr lang="zh-CN" sz="2000" b="1">
              <a:solidFill>
                <a:schemeClr val="tx1"/>
              </a:solidFill>
              <a:latin typeface="Times New Roman" panose="02020603050405020304" charset="0"/>
              <a:ea typeface="仿宋" panose="02010609060101010101" charset="-122"/>
              <a:cs typeface="Times New Roman" panose="02020603050405020304" charset="0"/>
            </a:endParaRPr>
          </a:p>
        </p:txBody>
      </p:sp>
      <p:sp>
        <p:nvSpPr>
          <p:cNvPr id="80" name="圆角矩形 79"/>
          <p:cNvSpPr/>
          <p:nvPr/>
        </p:nvSpPr>
        <p:spPr>
          <a:xfrm>
            <a:off x="5234048" y="15478376"/>
            <a:ext cx="2847493" cy="1439622"/>
          </a:xfrm>
          <a:prstGeom prst="roundRect">
            <a:avLst/>
          </a:prstGeom>
          <a:ln w="19050"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zh-CN" altLang="en-US" sz="2000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  <a:sym typeface="+mn-ea"/>
              </a:rPr>
              <a:t>检测</a:t>
            </a:r>
            <a:r>
              <a:rPr lang="en-US" altLang="zh-CN" sz="2000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  <a:sym typeface="+mn-ea"/>
              </a:rPr>
              <a:t>Mcl-1</a:t>
            </a:r>
            <a:r>
              <a:rPr lang="zh-CN" altLang="en-US" sz="2000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  <a:sym typeface="+mn-ea"/>
              </a:rPr>
              <a:t>蛋白半衰期</a:t>
            </a:r>
            <a:endParaRPr lang="zh-CN" altLang="en-US" sz="2000" b="1">
              <a:solidFill>
                <a:schemeClr val="tx1"/>
              </a:solidFill>
              <a:latin typeface="Times New Roman" panose="02020603050405020304" charset="0"/>
              <a:ea typeface="仿宋" panose="02010609060101010101" charset="-122"/>
              <a:cs typeface="Times New Roman" panose="02020603050405020304" charset="0"/>
              <a:sym typeface="+mn-ea"/>
            </a:endParaRPr>
          </a:p>
          <a:p>
            <a:pPr algn="ctr"/>
            <a:r>
              <a:rPr lang="zh-CN" sz="2000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</a:rPr>
              <a:t>泛素</a:t>
            </a:r>
            <a:r>
              <a:rPr lang="en-US" altLang="zh-CN" sz="2000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</a:rPr>
              <a:t>E3</a:t>
            </a:r>
            <a:r>
              <a:rPr lang="zh-CN" altLang="en-US" sz="2000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</a:rPr>
              <a:t>连接酶活性</a:t>
            </a:r>
            <a:endParaRPr lang="zh-CN" altLang="en-US" sz="2000" b="1">
              <a:solidFill>
                <a:schemeClr val="tx1"/>
              </a:solidFill>
              <a:latin typeface="Times New Roman" panose="02020603050405020304" charset="0"/>
              <a:ea typeface="仿宋" panose="02010609060101010101" charset="-122"/>
              <a:cs typeface="Times New Roman" panose="02020603050405020304" charset="0"/>
            </a:endParaRPr>
          </a:p>
          <a:p>
            <a:pPr algn="ctr"/>
            <a:r>
              <a:rPr lang="zh-CN" altLang="en-US" sz="2000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</a:rPr>
              <a:t>检测</a:t>
            </a:r>
            <a:r>
              <a:rPr lang="en-US" altLang="zh-CN" sz="2000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  <a:sym typeface="+mn-ea"/>
              </a:rPr>
              <a:t>Mcl-1</a:t>
            </a:r>
            <a:r>
              <a:rPr lang="zh-CN" altLang="en-US" sz="2000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  <a:sym typeface="+mn-ea"/>
              </a:rPr>
              <a:t>蛋白水平</a:t>
            </a:r>
            <a:endParaRPr lang="zh-CN" altLang="en-US" sz="2000" b="1">
              <a:solidFill>
                <a:schemeClr val="tx1"/>
              </a:solidFill>
              <a:latin typeface="Times New Roman" panose="02020603050405020304" charset="0"/>
              <a:ea typeface="仿宋" panose="02010609060101010101" charset="-122"/>
              <a:cs typeface="Times New Roman" panose="02020603050405020304" charset="0"/>
            </a:endParaRPr>
          </a:p>
        </p:txBody>
      </p:sp>
      <p:sp>
        <p:nvSpPr>
          <p:cNvPr id="81" name="圆角矩形 80"/>
          <p:cNvSpPr/>
          <p:nvPr/>
        </p:nvSpPr>
        <p:spPr>
          <a:xfrm>
            <a:off x="8687998" y="14341030"/>
            <a:ext cx="1913993" cy="652180"/>
          </a:xfrm>
          <a:prstGeom prst="roundRect">
            <a:avLst/>
          </a:prstGeom>
          <a:ln w="19050"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zh-CN" altLang="en-US" sz="2000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</a:rPr>
              <a:t>异硫氰酸苄酯</a:t>
            </a:r>
            <a:endParaRPr lang="zh-CN" altLang="en-US" sz="2000" b="1">
              <a:solidFill>
                <a:schemeClr val="tx1"/>
              </a:solidFill>
              <a:latin typeface="Times New Roman" panose="02020603050405020304" charset="0"/>
              <a:ea typeface="仿宋" panose="02010609060101010101" charset="-122"/>
              <a:cs typeface="Times New Roman" panose="02020603050405020304" charset="0"/>
            </a:endParaRPr>
          </a:p>
          <a:p>
            <a:pPr algn="ctr"/>
            <a:r>
              <a:rPr lang="zh-CN" altLang="en-US" sz="2000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</a:rPr>
              <a:t>（</a:t>
            </a:r>
            <a:r>
              <a:rPr lang="en-US" altLang="zh-CN" sz="2000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</a:rPr>
              <a:t>BITC</a:t>
            </a:r>
            <a:r>
              <a:rPr lang="zh-CN" altLang="en-US" sz="2000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</a:rPr>
              <a:t>）处理</a:t>
            </a:r>
            <a:endParaRPr lang="zh-CN" altLang="en-US" sz="2000" b="1">
              <a:solidFill>
                <a:schemeClr val="tx1"/>
              </a:solidFill>
              <a:latin typeface="Times New Roman" panose="02020603050405020304" charset="0"/>
              <a:ea typeface="仿宋" panose="02010609060101010101" charset="-122"/>
              <a:cs typeface="Times New Roman" panose="02020603050405020304" charset="0"/>
            </a:endParaRPr>
          </a:p>
        </p:txBody>
      </p:sp>
      <p:cxnSp>
        <p:nvCxnSpPr>
          <p:cNvPr id="82" name="直接箭头连接符 81"/>
          <p:cNvCxnSpPr/>
          <p:nvPr/>
        </p:nvCxnSpPr>
        <p:spPr>
          <a:xfrm>
            <a:off x="9644995" y="14993210"/>
            <a:ext cx="0" cy="575976"/>
          </a:xfrm>
          <a:prstGeom prst="straightConnector1">
            <a:avLst/>
          </a:prstGeom>
          <a:ln w="28575">
            <a:tailEnd type="arrow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83" name="直接箭头连接符 82"/>
          <p:cNvCxnSpPr/>
          <p:nvPr/>
        </p:nvCxnSpPr>
        <p:spPr>
          <a:xfrm flipH="1">
            <a:off x="12354738" y="13891307"/>
            <a:ext cx="635" cy="360067"/>
          </a:xfrm>
          <a:prstGeom prst="straightConnector1">
            <a:avLst/>
          </a:prstGeom>
          <a:ln w="28575">
            <a:tailEnd type="arrow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sp>
        <p:nvSpPr>
          <p:cNvPr id="84" name="圆角矩形 83"/>
          <p:cNvSpPr/>
          <p:nvPr/>
        </p:nvSpPr>
        <p:spPr>
          <a:xfrm>
            <a:off x="11402134" y="14341030"/>
            <a:ext cx="1913993" cy="652180"/>
          </a:xfrm>
          <a:prstGeom prst="roundRect">
            <a:avLst/>
          </a:prstGeom>
          <a:ln w="19050"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zh-CN" altLang="en-US" sz="2000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</a:rPr>
              <a:t>异硫氰酸苄酯</a:t>
            </a:r>
            <a:endParaRPr lang="zh-CN" altLang="en-US" sz="2000" b="1">
              <a:solidFill>
                <a:schemeClr val="tx1"/>
              </a:solidFill>
              <a:latin typeface="Times New Roman" panose="02020603050405020304" charset="0"/>
              <a:ea typeface="仿宋" panose="02010609060101010101" charset="-122"/>
              <a:cs typeface="Times New Roman" panose="02020603050405020304" charset="0"/>
            </a:endParaRPr>
          </a:p>
          <a:p>
            <a:pPr algn="ctr"/>
            <a:r>
              <a:rPr lang="zh-CN" altLang="en-US" sz="2000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</a:rPr>
              <a:t>（</a:t>
            </a:r>
            <a:r>
              <a:rPr lang="en-US" altLang="zh-CN" sz="2000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</a:rPr>
              <a:t>BITC</a:t>
            </a:r>
            <a:r>
              <a:rPr lang="zh-CN" altLang="en-US" sz="2000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</a:rPr>
              <a:t>）处理</a:t>
            </a:r>
            <a:endParaRPr lang="zh-CN" altLang="en-US" sz="2000" b="1">
              <a:solidFill>
                <a:schemeClr val="tx1"/>
              </a:solidFill>
              <a:latin typeface="Times New Roman" panose="02020603050405020304" charset="0"/>
              <a:ea typeface="仿宋" panose="02010609060101010101" charset="-122"/>
              <a:cs typeface="Times New Roman" panose="02020603050405020304" charset="0"/>
            </a:endParaRPr>
          </a:p>
        </p:txBody>
      </p:sp>
      <p:cxnSp>
        <p:nvCxnSpPr>
          <p:cNvPr id="85" name="直接箭头连接符 84"/>
          <p:cNvCxnSpPr/>
          <p:nvPr/>
        </p:nvCxnSpPr>
        <p:spPr>
          <a:xfrm>
            <a:off x="12355321" y="14976699"/>
            <a:ext cx="0" cy="575976"/>
          </a:xfrm>
          <a:prstGeom prst="straightConnector1">
            <a:avLst/>
          </a:prstGeom>
          <a:ln w="28575">
            <a:tailEnd type="arrow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sp>
        <p:nvSpPr>
          <p:cNvPr id="87" name="圆角矩形 86"/>
          <p:cNvSpPr/>
          <p:nvPr/>
        </p:nvSpPr>
        <p:spPr>
          <a:xfrm>
            <a:off x="8480977" y="15600938"/>
            <a:ext cx="2539502" cy="1439622"/>
          </a:xfrm>
          <a:prstGeom prst="roundRect">
            <a:avLst/>
          </a:prstGeom>
          <a:ln w="19050"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sz="2000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</a:rPr>
              <a:t>eIF4E</a:t>
            </a:r>
            <a:r>
              <a:rPr lang="zh-CN" altLang="en-US" sz="2000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</a:rPr>
              <a:t>等翻译启动因子磷酸化水平测定，</a:t>
            </a:r>
            <a:r>
              <a:rPr lang="zh-CN" altLang="en-US" sz="2000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  <a:sym typeface="+mn-ea"/>
              </a:rPr>
              <a:t>检测</a:t>
            </a:r>
            <a:r>
              <a:rPr lang="en-US" altLang="zh-CN" sz="2000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  <a:sym typeface="+mn-ea"/>
              </a:rPr>
              <a:t>Mcl-1</a:t>
            </a:r>
            <a:r>
              <a:rPr lang="zh-CN" altLang="en-US" sz="2000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  <a:sym typeface="+mn-ea"/>
              </a:rPr>
              <a:t>蛋白水平</a:t>
            </a:r>
            <a:endParaRPr lang="zh-CN" sz="2000" b="1">
              <a:solidFill>
                <a:schemeClr val="tx1"/>
              </a:solidFill>
              <a:latin typeface="Times New Roman" panose="02020603050405020304" charset="0"/>
              <a:ea typeface="仿宋" panose="02010609060101010101" charset="-122"/>
              <a:cs typeface="Times New Roman" panose="02020603050405020304" charset="0"/>
            </a:endParaRPr>
          </a:p>
        </p:txBody>
      </p:sp>
      <p:sp>
        <p:nvSpPr>
          <p:cNvPr id="89" name="圆角矩形 88"/>
          <p:cNvSpPr/>
          <p:nvPr/>
        </p:nvSpPr>
        <p:spPr>
          <a:xfrm>
            <a:off x="11124624" y="15600938"/>
            <a:ext cx="2847493" cy="1439622"/>
          </a:xfrm>
          <a:prstGeom prst="roundRect">
            <a:avLst/>
          </a:prstGeom>
          <a:ln w="19050"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zh-CN" altLang="en-US" sz="2000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  <a:sym typeface="+mn-ea"/>
              </a:rPr>
              <a:t>检测</a:t>
            </a:r>
            <a:r>
              <a:rPr lang="en-US" altLang="zh-CN" sz="2000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  <a:sym typeface="+mn-ea"/>
              </a:rPr>
              <a:t>Mcl-1</a:t>
            </a:r>
            <a:r>
              <a:rPr lang="zh-CN" altLang="en-US" sz="2000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  <a:sym typeface="+mn-ea"/>
              </a:rPr>
              <a:t>蛋白半衰期</a:t>
            </a:r>
            <a:endParaRPr lang="zh-CN" altLang="en-US" sz="2000" b="1">
              <a:solidFill>
                <a:schemeClr val="tx1"/>
              </a:solidFill>
              <a:latin typeface="Times New Roman" panose="02020603050405020304" charset="0"/>
              <a:ea typeface="仿宋" panose="02010609060101010101" charset="-122"/>
              <a:cs typeface="Times New Roman" panose="02020603050405020304" charset="0"/>
              <a:sym typeface="+mn-ea"/>
            </a:endParaRPr>
          </a:p>
          <a:p>
            <a:pPr algn="ctr"/>
            <a:r>
              <a:rPr lang="zh-CN" sz="2000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</a:rPr>
              <a:t>泛素</a:t>
            </a:r>
            <a:r>
              <a:rPr lang="en-US" altLang="zh-CN" sz="2000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</a:rPr>
              <a:t>E3</a:t>
            </a:r>
            <a:r>
              <a:rPr lang="zh-CN" altLang="en-US" sz="2000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</a:rPr>
              <a:t>连接酶活性</a:t>
            </a:r>
            <a:endParaRPr lang="zh-CN" altLang="en-US" sz="2000" b="1">
              <a:solidFill>
                <a:schemeClr val="tx1"/>
              </a:solidFill>
              <a:latin typeface="Times New Roman" panose="02020603050405020304" charset="0"/>
              <a:ea typeface="仿宋" panose="02010609060101010101" charset="-122"/>
              <a:cs typeface="Times New Roman" panose="02020603050405020304" charset="0"/>
            </a:endParaRPr>
          </a:p>
          <a:p>
            <a:pPr algn="ctr"/>
            <a:r>
              <a:rPr lang="zh-CN" altLang="en-US" sz="2000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</a:rPr>
              <a:t>检测</a:t>
            </a:r>
            <a:r>
              <a:rPr lang="en-US" altLang="zh-CN" sz="2000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  <a:sym typeface="+mn-ea"/>
              </a:rPr>
              <a:t>Mcl-1</a:t>
            </a:r>
            <a:r>
              <a:rPr lang="zh-CN" altLang="en-US" sz="2000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  <a:sym typeface="+mn-ea"/>
              </a:rPr>
              <a:t>蛋白水平</a:t>
            </a:r>
            <a:endParaRPr lang="zh-CN" altLang="en-US" sz="2000" b="1">
              <a:solidFill>
                <a:schemeClr val="tx1"/>
              </a:solidFill>
              <a:latin typeface="Times New Roman" panose="02020603050405020304" charset="0"/>
              <a:ea typeface="仿宋" panose="02010609060101010101" charset="-122"/>
              <a:cs typeface="Times New Roman" panose="02020603050405020304" charset="0"/>
            </a:endParaRPr>
          </a:p>
        </p:txBody>
      </p:sp>
      <p:cxnSp>
        <p:nvCxnSpPr>
          <p:cNvPr id="90" name="直接连接符 89"/>
          <p:cNvCxnSpPr/>
          <p:nvPr/>
        </p:nvCxnSpPr>
        <p:spPr>
          <a:xfrm flipV="1">
            <a:off x="564533" y="17892400"/>
            <a:ext cx="14591495" cy="13335"/>
          </a:xfrm>
          <a:prstGeom prst="line">
            <a:avLst/>
          </a:prstGeom>
          <a:ln w="28575"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1" name="下箭头 90"/>
          <p:cNvSpPr/>
          <p:nvPr/>
        </p:nvSpPr>
        <p:spPr>
          <a:xfrm>
            <a:off x="7426871" y="17505957"/>
            <a:ext cx="431826" cy="575980"/>
          </a:xfrm>
          <a:prstGeom prst="downArrow">
            <a:avLst/>
          </a:prstGeom>
          <a:solidFill>
            <a:schemeClr val="accent3">
              <a:lumMod val="50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2" name="圆角矩形 91"/>
          <p:cNvSpPr/>
          <p:nvPr/>
        </p:nvSpPr>
        <p:spPr>
          <a:xfrm>
            <a:off x="4997215" y="18437512"/>
            <a:ext cx="4753901" cy="652185"/>
          </a:xfrm>
          <a:prstGeom prst="roundRect">
            <a:avLst/>
          </a:prstGeom>
          <a:ln w="19050"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zh-CN" sz="2000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</a:rPr>
              <a:t>临床分离纯化白血病病人骨髓细胞</a:t>
            </a:r>
            <a:endParaRPr lang="zh-CN" sz="2000" b="1">
              <a:solidFill>
                <a:schemeClr val="tx1"/>
              </a:solidFill>
              <a:latin typeface="Times New Roman" panose="02020603050405020304" charset="0"/>
              <a:ea typeface="仿宋" panose="02010609060101010101" charset="-122"/>
              <a:cs typeface="Times New Roman" panose="02020603050405020304" charset="0"/>
            </a:endParaRPr>
          </a:p>
        </p:txBody>
      </p:sp>
      <p:cxnSp>
        <p:nvCxnSpPr>
          <p:cNvPr id="93" name="直接箭头连接符 92"/>
          <p:cNvCxnSpPr/>
          <p:nvPr/>
        </p:nvCxnSpPr>
        <p:spPr>
          <a:xfrm flipH="1">
            <a:off x="7654851" y="19120813"/>
            <a:ext cx="635" cy="360067"/>
          </a:xfrm>
          <a:prstGeom prst="straightConnector1">
            <a:avLst/>
          </a:prstGeom>
          <a:ln w="28575">
            <a:tailEnd type="arrow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94" name="直接连接符 93"/>
          <p:cNvCxnSpPr/>
          <p:nvPr/>
        </p:nvCxnSpPr>
        <p:spPr>
          <a:xfrm>
            <a:off x="4142424" y="19477821"/>
            <a:ext cx="7109207" cy="3175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5" name="直接箭头连接符 94"/>
          <p:cNvCxnSpPr/>
          <p:nvPr/>
        </p:nvCxnSpPr>
        <p:spPr>
          <a:xfrm flipH="1">
            <a:off x="4155813" y="19480877"/>
            <a:ext cx="635" cy="360067"/>
          </a:xfrm>
          <a:prstGeom prst="straightConnector1">
            <a:avLst/>
          </a:prstGeom>
          <a:ln w="28575">
            <a:tailEnd type="arrow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96" name="直接箭头连接符 95"/>
          <p:cNvCxnSpPr/>
          <p:nvPr/>
        </p:nvCxnSpPr>
        <p:spPr>
          <a:xfrm flipH="1">
            <a:off x="11251049" y="19480877"/>
            <a:ext cx="635" cy="360067"/>
          </a:xfrm>
          <a:prstGeom prst="straightConnector1">
            <a:avLst/>
          </a:prstGeom>
          <a:ln w="28575">
            <a:tailEnd type="arrow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sp>
        <p:nvSpPr>
          <p:cNvPr id="98" name="圆角矩形 97"/>
          <p:cNvSpPr/>
          <p:nvPr/>
        </p:nvSpPr>
        <p:spPr>
          <a:xfrm>
            <a:off x="2968246" y="19841061"/>
            <a:ext cx="2253736" cy="652180"/>
          </a:xfrm>
          <a:prstGeom prst="roundRect">
            <a:avLst/>
          </a:prstGeom>
          <a:ln w="19050"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zh-CN" sz="2000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  <a:sym typeface="+mn-ea"/>
              </a:rPr>
              <a:t>检测细胞凋亡与细胞周期变化</a:t>
            </a:r>
            <a:endParaRPr lang="zh-CN" altLang="en-US" sz="2000" b="1">
              <a:solidFill>
                <a:schemeClr val="tx1"/>
              </a:solidFill>
              <a:latin typeface="Times New Roman" panose="02020603050405020304" charset="0"/>
              <a:ea typeface="仿宋" panose="02010609060101010101" charset="-122"/>
              <a:cs typeface="Times New Roman" panose="02020603050405020304" charset="0"/>
            </a:endParaRPr>
          </a:p>
        </p:txBody>
      </p:sp>
      <p:sp>
        <p:nvSpPr>
          <p:cNvPr id="99" name="圆角矩形 98"/>
          <p:cNvSpPr/>
          <p:nvPr/>
        </p:nvSpPr>
        <p:spPr>
          <a:xfrm>
            <a:off x="2881246" y="21179078"/>
            <a:ext cx="2655078" cy="1031930"/>
          </a:xfrm>
          <a:prstGeom prst="roundRect">
            <a:avLst/>
          </a:prstGeom>
          <a:ln w="19050"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zh-CN" sz="2000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  <a:sym typeface="+mn-ea"/>
              </a:rPr>
              <a:t>检测</a:t>
            </a:r>
            <a:r>
              <a:rPr lang="en-US" altLang="zh-CN" sz="2000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  <a:sym typeface="+mn-ea"/>
              </a:rPr>
              <a:t>Mcl-1L</a:t>
            </a:r>
            <a:r>
              <a:rPr lang="zh-CN" altLang="en-US" sz="2000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  <a:sym typeface="+mn-ea"/>
              </a:rPr>
              <a:t>、</a:t>
            </a:r>
            <a:r>
              <a:rPr lang="en-US" altLang="zh-CN" sz="2000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  <a:sym typeface="+mn-ea"/>
              </a:rPr>
              <a:t>Mcl-1a</a:t>
            </a:r>
            <a:r>
              <a:rPr lang="zh-CN" altLang="en-US" sz="2000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  <a:sym typeface="+mn-ea"/>
              </a:rPr>
              <a:t>蛋白表达</a:t>
            </a:r>
            <a:endParaRPr lang="zh-CN" altLang="en-US" sz="2000" b="1">
              <a:solidFill>
                <a:schemeClr val="tx1"/>
              </a:solidFill>
              <a:latin typeface="Times New Roman" panose="02020603050405020304" charset="0"/>
              <a:ea typeface="仿宋" panose="02010609060101010101" charset="-122"/>
              <a:cs typeface="Times New Roman" panose="02020603050405020304" charset="0"/>
              <a:sym typeface="+mn-ea"/>
            </a:endParaRPr>
          </a:p>
          <a:p>
            <a:pPr algn="ctr"/>
            <a:r>
              <a:rPr lang="zh-CN" altLang="en-US" sz="2000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  <a:sym typeface="+mn-ea"/>
              </a:rPr>
              <a:t>其他凋亡相关蛋白</a:t>
            </a:r>
            <a:endParaRPr lang="zh-CN" altLang="en-US" sz="2000" b="1">
              <a:solidFill>
                <a:schemeClr val="tx1"/>
              </a:solidFill>
              <a:latin typeface="Times New Roman" panose="02020603050405020304" charset="0"/>
              <a:ea typeface="仿宋" panose="02010609060101010101" charset="-122"/>
              <a:cs typeface="Times New Roman" panose="02020603050405020304" charset="0"/>
            </a:endParaRPr>
          </a:p>
        </p:txBody>
      </p:sp>
      <p:cxnSp>
        <p:nvCxnSpPr>
          <p:cNvPr id="100" name="直接箭头连接符 99"/>
          <p:cNvCxnSpPr/>
          <p:nvPr/>
        </p:nvCxnSpPr>
        <p:spPr>
          <a:xfrm>
            <a:off x="4142424" y="20530708"/>
            <a:ext cx="0" cy="648370"/>
          </a:xfrm>
          <a:prstGeom prst="straightConnector1">
            <a:avLst/>
          </a:prstGeom>
          <a:ln w="28575">
            <a:tailEnd type="arrow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sp>
        <p:nvSpPr>
          <p:cNvPr id="101" name="圆角矩形 100"/>
          <p:cNvSpPr/>
          <p:nvPr/>
        </p:nvSpPr>
        <p:spPr>
          <a:xfrm>
            <a:off x="9862811" y="19841061"/>
            <a:ext cx="2777004" cy="969062"/>
          </a:xfrm>
          <a:prstGeom prst="roundRect">
            <a:avLst/>
          </a:prstGeom>
          <a:ln w="19050"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zh-CN" sz="2000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  <a:sym typeface="+mn-ea"/>
              </a:rPr>
              <a:t>分离的细胞用细胞周期抑制剂</a:t>
            </a:r>
            <a:r>
              <a:rPr lang="en-US" altLang="zh-CN" sz="2000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  <a:sym typeface="+mn-ea"/>
              </a:rPr>
              <a:t>Nocodazole</a:t>
            </a:r>
            <a:r>
              <a:rPr lang="zh-CN" altLang="en-US" sz="2000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  <a:sym typeface="+mn-ea"/>
              </a:rPr>
              <a:t>调整到</a:t>
            </a:r>
            <a:r>
              <a:rPr lang="en-US" altLang="zh-CN" sz="2000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  <a:sym typeface="+mn-ea"/>
              </a:rPr>
              <a:t>02/M</a:t>
            </a:r>
            <a:r>
              <a:rPr lang="zh-CN" altLang="en-US" sz="2000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  <a:sym typeface="+mn-ea"/>
              </a:rPr>
              <a:t>期</a:t>
            </a:r>
            <a:endParaRPr lang="zh-CN" altLang="en-US" sz="2000" b="1">
              <a:solidFill>
                <a:schemeClr val="tx1"/>
              </a:solidFill>
              <a:latin typeface="Times New Roman" panose="02020603050405020304" charset="0"/>
              <a:ea typeface="仿宋" panose="02010609060101010101" charset="-122"/>
              <a:cs typeface="Times New Roman" panose="02020603050405020304" charset="0"/>
              <a:sym typeface="+mn-ea"/>
            </a:endParaRPr>
          </a:p>
        </p:txBody>
      </p:sp>
      <p:cxnSp>
        <p:nvCxnSpPr>
          <p:cNvPr id="103" name="直接箭头连接符 102"/>
          <p:cNvCxnSpPr/>
          <p:nvPr/>
        </p:nvCxnSpPr>
        <p:spPr>
          <a:xfrm>
            <a:off x="11251631" y="20810123"/>
            <a:ext cx="0" cy="431823"/>
          </a:xfrm>
          <a:prstGeom prst="straightConnector1">
            <a:avLst/>
          </a:prstGeom>
          <a:ln w="28575">
            <a:tailEnd type="arrow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sp>
        <p:nvSpPr>
          <p:cNvPr id="104" name="圆角矩形 103"/>
          <p:cNvSpPr/>
          <p:nvPr/>
        </p:nvSpPr>
        <p:spPr>
          <a:xfrm>
            <a:off x="9863447" y="21241946"/>
            <a:ext cx="2777004" cy="969062"/>
          </a:xfrm>
          <a:prstGeom prst="roundRect">
            <a:avLst/>
          </a:prstGeom>
          <a:ln w="19050"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zh-CN" sz="2000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  <a:sym typeface="+mn-ea"/>
              </a:rPr>
              <a:t>检测细胞凋亡</a:t>
            </a:r>
            <a:r>
              <a:rPr lang="en-US" altLang="zh-CN" sz="2000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  <a:sym typeface="+mn-ea"/>
              </a:rPr>
              <a:t>Mcl-1L</a:t>
            </a:r>
            <a:r>
              <a:rPr lang="zh-CN" altLang="en-US" sz="2000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  <a:sym typeface="+mn-ea"/>
              </a:rPr>
              <a:t>和</a:t>
            </a:r>
            <a:r>
              <a:rPr lang="en-US" altLang="zh-CN" sz="2000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  <a:sym typeface="+mn-ea"/>
              </a:rPr>
              <a:t>Mcl-1a</a:t>
            </a:r>
            <a:r>
              <a:rPr lang="zh-CN" altLang="en-US" sz="2000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  <a:sym typeface="+mn-ea"/>
              </a:rPr>
              <a:t>蛋白表达</a:t>
            </a:r>
            <a:endParaRPr lang="zh-CN" altLang="en-US" sz="2000" b="1">
              <a:solidFill>
                <a:schemeClr val="tx1"/>
              </a:solidFill>
              <a:latin typeface="Times New Roman" panose="02020603050405020304" charset="0"/>
              <a:ea typeface="仿宋" panose="02010609060101010101" charset="-122"/>
              <a:cs typeface="Times New Roman" panose="02020603050405020304" charset="0"/>
              <a:sym typeface="+mn-ea"/>
            </a:endParaRPr>
          </a:p>
          <a:p>
            <a:pPr algn="ctr"/>
            <a:r>
              <a:rPr lang="zh-CN" altLang="en-US" sz="2000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  <a:sym typeface="+mn-ea"/>
              </a:rPr>
              <a:t>其他凋亡相关蛋白</a:t>
            </a:r>
            <a:endParaRPr lang="zh-CN" altLang="en-US" sz="2000" b="1">
              <a:solidFill>
                <a:schemeClr val="tx1"/>
              </a:solidFill>
              <a:latin typeface="Times New Roman" panose="02020603050405020304" charset="0"/>
              <a:ea typeface="仿宋" panose="02010609060101010101" charset="-122"/>
              <a:cs typeface="Times New Roman" panose="02020603050405020304" charset="0"/>
              <a:sym typeface="+mn-ea"/>
            </a:endParaRPr>
          </a:p>
        </p:txBody>
      </p:sp>
      <p:sp>
        <p:nvSpPr>
          <p:cNvPr id="105" name="圆角矩形 104"/>
          <p:cNvSpPr/>
          <p:nvPr/>
        </p:nvSpPr>
        <p:spPr>
          <a:xfrm>
            <a:off x="14841693" y="1755901"/>
            <a:ext cx="314335" cy="8212082"/>
          </a:xfrm>
          <a:prstGeom prst="roundRect">
            <a:avLst/>
          </a:prstGeom>
          <a:ln w="1905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sz="2000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</a:rPr>
              <a:t>BITC</a:t>
            </a:r>
            <a:r>
              <a:rPr lang="zh-CN" altLang="en-US" sz="2000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</a:rPr>
              <a:t>诱导人败血型细胞凋亡和细胞周期阻滞效应研究</a:t>
            </a:r>
            <a:endParaRPr lang="zh-CN" altLang="en-US" sz="2000" b="1">
              <a:solidFill>
                <a:schemeClr val="tx1"/>
              </a:solidFill>
              <a:latin typeface="Times New Roman" panose="02020603050405020304" charset="0"/>
              <a:ea typeface="仿宋" panose="02010609060101010101" charset="-122"/>
              <a:cs typeface="Times New Roman" panose="02020603050405020304" charset="0"/>
            </a:endParaRPr>
          </a:p>
        </p:txBody>
      </p:sp>
      <p:sp>
        <p:nvSpPr>
          <p:cNvPr id="106" name="圆角矩形 105"/>
          <p:cNvSpPr/>
          <p:nvPr/>
        </p:nvSpPr>
        <p:spPr>
          <a:xfrm>
            <a:off x="14841058" y="11716193"/>
            <a:ext cx="314970" cy="5541821"/>
          </a:xfrm>
          <a:prstGeom prst="roundRect">
            <a:avLst>
              <a:gd name="adj" fmla="val 16767"/>
            </a:avLst>
          </a:prstGeom>
          <a:ln w="1905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sz="2000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</a:rPr>
              <a:t>BITC</a:t>
            </a:r>
            <a:r>
              <a:rPr lang="zh-CN" altLang="en-US" sz="2000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</a:rPr>
              <a:t>影响</a:t>
            </a:r>
            <a:r>
              <a:rPr lang="en-US" altLang="zh-CN" sz="2000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</a:rPr>
              <a:t>Md-1</a:t>
            </a:r>
            <a:r>
              <a:rPr lang="zh-CN" altLang="en-US" sz="2000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</a:rPr>
              <a:t>基因表达研究</a:t>
            </a:r>
            <a:endParaRPr lang="zh-CN" altLang="en-US" sz="2000" b="1">
              <a:solidFill>
                <a:schemeClr val="tx1"/>
              </a:solidFill>
              <a:latin typeface="Times New Roman" panose="02020603050405020304" charset="0"/>
              <a:ea typeface="仿宋" panose="02010609060101010101" charset="-122"/>
              <a:cs typeface="Times New Roman" panose="02020603050405020304" charset="0"/>
            </a:endParaRPr>
          </a:p>
        </p:txBody>
      </p:sp>
      <p:sp>
        <p:nvSpPr>
          <p:cNvPr id="107" name="圆角矩形 106"/>
          <p:cNvSpPr/>
          <p:nvPr/>
        </p:nvSpPr>
        <p:spPr>
          <a:xfrm>
            <a:off x="14702623" y="18152751"/>
            <a:ext cx="314970" cy="4776622"/>
          </a:xfrm>
          <a:prstGeom prst="roundRect">
            <a:avLst>
              <a:gd name="adj" fmla="val 16767"/>
            </a:avLst>
          </a:prstGeom>
          <a:ln w="1905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sz="2000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</a:rPr>
              <a:t>BITC</a:t>
            </a:r>
            <a:r>
              <a:rPr lang="zh-CN" sz="2000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</a:rPr>
              <a:t>对临床病人白血病细胞凋亡</a:t>
            </a:r>
            <a:endParaRPr lang="zh-CN" sz="2000" b="1">
              <a:solidFill>
                <a:schemeClr val="tx1"/>
              </a:solidFill>
              <a:latin typeface="Times New Roman" panose="02020603050405020304" charset="0"/>
              <a:ea typeface="仿宋" panose="02010609060101010101" charset="-122"/>
              <a:cs typeface="Times New Roman" panose="02020603050405020304" charset="0"/>
            </a:endParaRPr>
          </a:p>
        </p:txBody>
      </p:sp>
      <p:sp>
        <p:nvSpPr>
          <p:cNvPr id="108" name="圆角矩形 107"/>
          <p:cNvSpPr/>
          <p:nvPr/>
        </p:nvSpPr>
        <p:spPr>
          <a:xfrm>
            <a:off x="15017593" y="18440416"/>
            <a:ext cx="282584" cy="4327028"/>
          </a:xfrm>
          <a:prstGeom prst="roundRect">
            <a:avLst>
              <a:gd name="adj" fmla="val 16767"/>
            </a:avLst>
          </a:prstGeom>
          <a:ln w="1905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zh-CN" sz="2000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  <a:sym typeface="+mn-ea"/>
              </a:rPr>
              <a:t>凋亡</a:t>
            </a:r>
            <a:r>
              <a:rPr lang="zh-CN" sz="2000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</a:rPr>
              <a:t>和细胞周期效应研究</a:t>
            </a:r>
            <a:endParaRPr lang="zh-CN" sz="2000" b="1">
              <a:solidFill>
                <a:schemeClr val="tx1"/>
              </a:solidFill>
              <a:latin typeface="Times New Roman" panose="02020603050405020304" charset="0"/>
              <a:ea typeface="仿宋" panose="02010609060101010101" charset="-122"/>
              <a:cs typeface="Times New Roman" panose="02020603050405020304" charset="0"/>
            </a:endParaRPr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176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176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176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SLIDE_ID" val="custom20205176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176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heme/theme1.xml><?xml version="1.0" encoding="utf-8"?>
<a:theme xmlns:a="http://schemas.openxmlformats.org/drawingml/2006/main" name="Office 主题​​">
  <a:themeElements>
    <a:clrScheme name="新版空白演示配色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728</Words>
  <Application>WPS 演示</Application>
  <PresentationFormat>宽屏</PresentationFormat>
  <Paragraphs>81</Paragraphs>
  <Slides>1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1" baseType="lpstr">
      <vt:lpstr>Arial</vt:lpstr>
      <vt:lpstr>宋体</vt:lpstr>
      <vt:lpstr>Wingdings</vt:lpstr>
      <vt:lpstr>微软雅黑</vt:lpstr>
      <vt:lpstr>Wingdings</vt:lpstr>
      <vt:lpstr>Times New Roman</vt:lpstr>
      <vt:lpstr>仿宋</vt:lpstr>
      <vt:lpstr>Arial Unicode MS</vt:lpstr>
      <vt:lpstr>Calibri</vt:lpstr>
      <vt:lpstr>Office 主题​​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111</cp:lastModifiedBy>
  <cp:revision>186</cp:revision>
  <dcterms:created xsi:type="dcterms:W3CDTF">2019-06-19T02:08:00Z</dcterms:created>
  <dcterms:modified xsi:type="dcterms:W3CDTF">2021-03-13T07:36:53Z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2052-11.1.0.10314</vt:lpwstr>
  </property>
</Properties>
</file>