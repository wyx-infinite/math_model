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theme/themeOverride2.xml" ContentType="application/vnd.openxmlformats-officedocument.themeOverr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theme/themeOverride3.xml" ContentType="application/vnd.openxmlformats-officedocument.themeOverride+xml"/>
  <Override PartName="/ppt/charts/chart4.xml" ContentType="application/vnd.openxmlformats-officedocument.drawingml.chart+xml"/>
  <Override PartName="/ppt/theme/themeOverride4.xml" ContentType="application/vnd.openxmlformats-officedocument.themeOverr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theme/themeOverride5.xml" ContentType="application/vnd.openxmlformats-officedocument.themeOverr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theme/themeOverride6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rts/colors1.xml" ContentType="application/vnd.ms-office.chartcolorstyle+xml"/>
  <Override PartName="/ppt/charts/style1.xml" ContentType="application/vnd.ms-office.chartstyle+xml"/>
  <Override PartName="/ppt/charts/colors2.xml" ContentType="application/vnd.ms-office.chartcolorstyle+xml"/>
  <Override PartName="/ppt/charts/style2.xml" ContentType="application/vnd.ms-office.chartstyle+xml"/>
  <Override PartName="/ppt/charts/colors3.xml" ContentType="application/vnd.ms-office.chartcolorstyle+xml"/>
  <Override PartName="/ppt/charts/style3.xml" ContentType="application/vnd.ms-office.chartstyle+xml"/>
  <Override PartName="/ppt/charts/colors4.xml" ContentType="application/vnd.ms-office.chartcolorstyle+xml"/>
  <Override PartName="/ppt/charts/style4.xml" ContentType="application/vnd.ms-office.chartstyle+xml"/>
  <Override PartName="/ppt/charts/colors5.xml" ContentType="application/vnd.ms-office.chartcolorstyle+xml"/>
  <Override PartName="/ppt/charts/style5.xml" ContentType="application/vnd.ms-office.chartstyle+xml"/>
  <Override PartName="/ppt/charts/style6.xml" ContentType="application/vnd.ms-office.chartstyle+xml"/>
  <Override PartName="/ppt/charts/colors6.xml" ContentType="application/vnd.ms-office.chartcolorstyle+xml"/>
  <Override PartName="/ppt/charts/style7.xml" ContentType="application/vnd.ms-office.chartstyle+xml"/>
  <Override PartName="/ppt/charts/colors7.xml" ContentType="application/vnd.ms-office.chartcolorstyl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4" r:id="rId2"/>
    <p:sldId id="296" r:id="rId3"/>
    <p:sldId id="285" r:id="rId4"/>
    <p:sldId id="289" r:id="rId5"/>
    <p:sldId id="288" r:id="rId6"/>
    <p:sldId id="286" r:id="rId7"/>
    <p:sldId id="287" r:id="rId8"/>
  </p:sldIdLst>
  <p:sldSz cx="12192000" cy="6858000"/>
  <p:notesSz cx="6858000" cy="9144000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ministrator" initials="A" lastIdx="0" clrIdx="0">
    <p:extLst/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BB59"/>
    <a:srgbClr val="2B9AED"/>
    <a:srgbClr val="198CFF"/>
    <a:srgbClr val="C0392B"/>
    <a:srgbClr val="113753"/>
    <a:srgbClr val="071621"/>
    <a:srgbClr val="2980B9"/>
    <a:srgbClr val="1AB2FD"/>
    <a:srgbClr val="F39C1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02" autoAdjust="0"/>
    <p:restoredTop sz="94660"/>
  </p:normalViewPr>
  <p:slideViewPr>
    <p:cSldViewPr snapToGrid="0" showGuides="1">
      <p:cViewPr varScale="1">
        <p:scale>
          <a:sx n="68" d="100"/>
          <a:sy n="68" d="100"/>
        </p:scale>
        <p:origin x="-552" y="-6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openxmlformats.org/officeDocument/2006/relationships/package" Target="../embeddings/Microsoft_Excel_Worksheet1.xlsx"/><Relationship Id="rId1" Type="http://schemas.openxmlformats.org/officeDocument/2006/relationships/themeOverride" Target="../theme/themeOverride1.xml"/><Relationship Id="rId4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openxmlformats.org/officeDocument/2006/relationships/package" Target="../embeddings/Microsoft_Excel_Worksheet2.xlsx"/><Relationship Id="rId1" Type="http://schemas.openxmlformats.org/officeDocument/2006/relationships/themeOverride" Target="../theme/themeOverride2.xml"/><Relationship Id="rId4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microsoft.com/office/2011/relationships/chartColorStyle" Target="colors3.xml"/><Relationship Id="rId2" Type="http://schemas.openxmlformats.org/officeDocument/2006/relationships/package" Target="../embeddings/Microsoft_Excel_Worksheet3.xlsx"/><Relationship Id="rId1" Type="http://schemas.openxmlformats.org/officeDocument/2006/relationships/themeOverride" Target="../theme/themeOverride3.xml"/><Relationship Id="rId4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microsoft.com/office/2011/relationships/chartColorStyle" Target="colors4.xml"/><Relationship Id="rId2" Type="http://schemas.openxmlformats.org/officeDocument/2006/relationships/package" Target="../embeddings/Microsoft_Excel_Worksheet4.xlsx"/><Relationship Id="rId1" Type="http://schemas.openxmlformats.org/officeDocument/2006/relationships/themeOverride" Target="../theme/themeOverride4.xml"/><Relationship Id="rId4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microsoft.com/office/2011/relationships/chartColorStyle" Target="colors5.xml"/><Relationship Id="rId2" Type="http://schemas.openxmlformats.org/officeDocument/2006/relationships/package" Target="../embeddings/Microsoft_Excel_Worksheet5.xlsx"/><Relationship Id="rId1" Type="http://schemas.openxmlformats.org/officeDocument/2006/relationships/themeOverride" Target="../theme/themeOverride5.xml"/><Relationship Id="rId4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microsoft.com/office/2011/relationships/chartStyle" Target="style6.xml"/><Relationship Id="rId2" Type="http://schemas.microsoft.com/office/2011/relationships/chartColorStyle" Target="colors6.xml"/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
<Relationships xmlns="http://schemas.openxmlformats.org/package/2006/relationships"><Relationship Id="rId3" Type="http://schemas.microsoft.com/office/2011/relationships/chartStyle" Target="style7.xml"/><Relationship Id="rId2" Type="http://schemas.microsoft.com/office/2011/relationships/chartColorStyle" Target="colors7.xml"/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
<Relationships xmlns="http://schemas.openxmlformats.org/package/2006/relationships"><Relationship Id="rId2" Type="http://schemas.openxmlformats.org/officeDocument/2006/relationships/package" Target="../embeddings/Microsoft_Excel_Worksheet8.xlsx"/><Relationship Id="rId1" Type="http://schemas.openxmlformats.org/officeDocument/2006/relationships/themeOverride" Target="../theme/themeOverrid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altLang="en-US" sz="1400"/>
              <a:t>改善前柏拉图</a:t>
            </a:r>
            <a:endParaRPr lang="zh-CN" sz="1400"/>
          </a:p>
        </c:rich>
      </c:tx>
      <c:layout>
        <c:manualLayout>
          <c:xMode val="edge"/>
          <c:yMode val="edge"/>
          <c:x val="0.25919592380523682"/>
          <c:y val="5.990727618336677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8.3562523126602173E-2"/>
          <c:y val="0.19745345413684845"/>
          <c:w val="0.68638819456100464"/>
          <c:h val="0.487127572298049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改善前柏拉图!$B$1</c:f>
              <c:strCache>
                <c:ptCount val="1"/>
                <c:pt idx="0">
                  <c:v>频次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1"/>
          <c:dPt>
            <c:idx val="0"/>
            <c:invertIfNegative val="1"/>
            <c:bubble3D val="0"/>
            <c:spPr>
              <a:solidFill>
                <a:srgbClr val="2CAC3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CD7-46B4-A962-3104CACDF804}"/>
              </c:ext>
            </c:extLst>
          </c:dPt>
          <c:dPt>
            <c:idx val="1"/>
            <c:invertIfNegative val="1"/>
            <c:bubble3D val="0"/>
            <c:spPr>
              <a:solidFill>
                <a:srgbClr val="87CB0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CD7-46B4-A962-3104CACDF804}"/>
              </c:ext>
            </c:extLst>
          </c:dPt>
          <c:dPt>
            <c:idx val="2"/>
            <c:invertIfNegative val="1"/>
            <c:bubble3D val="0"/>
            <c:spPr>
              <a:solidFill>
                <a:srgbClr val="1684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CD7-46B4-A962-3104CACDF804}"/>
              </c:ext>
            </c:extLst>
          </c:dPt>
          <c:dPt>
            <c:idx val="3"/>
            <c:invertIfNegative val="1"/>
            <c:bubble3D val="0"/>
            <c:spPr>
              <a:solidFill>
                <a:srgbClr val="24A7D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CD7-46B4-A962-3104CACDF804}"/>
              </c:ext>
            </c:extLst>
          </c:dPt>
          <c:dPt>
            <c:idx val="4"/>
            <c:invertIfNegative val="1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CD7-46B4-A962-3104CACDF804}"/>
              </c:ext>
            </c:extLst>
          </c:dPt>
          <c:dPt>
            <c:idx val="5"/>
            <c:invertIfNegative val="1"/>
            <c:bubble3D val="0"/>
            <c:spPr>
              <a:solidFill>
                <a:srgbClr val="FF66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1CD7-46B4-A962-3104CACDF8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/>
          </c:dLbls>
          <c:cat>
            <c:strRef>
              <c:f>改善前柏拉图!$A$3:$A$8</c:f>
              <c:strCache>
                <c:ptCount val="6"/>
                <c:pt idx="0">
                  <c:v>未使用有糖透析液</c:v>
                </c:pt>
                <c:pt idx="1">
                  <c:v>透析前进食过早</c:v>
                </c:pt>
                <c:pt idx="2">
                  <c:v>药物因素</c:v>
                </c:pt>
                <c:pt idx="3">
                  <c:v>原发病是糖尿病</c:v>
                </c:pt>
                <c:pt idx="4">
                  <c:v>营养不良因素</c:v>
                </c:pt>
                <c:pt idx="5">
                  <c:v>老年患者</c:v>
                </c:pt>
              </c:strCache>
            </c:strRef>
          </c:cat>
          <c:val>
            <c:numRef>
              <c:f>改善前柏拉图!$B$3:$B$8</c:f>
              <c:numCache>
                <c:formatCode>General</c:formatCode>
                <c:ptCount val="6"/>
                <c:pt idx="0">
                  <c:v>124</c:v>
                </c:pt>
                <c:pt idx="1">
                  <c:v>80</c:v>
                </c:pt>
                <c:pt idx="2">
                  <c:v>27</c:v>
                </c:pt>
                <c:pt idx="3">
                  <c:v>26</c:v>
                </c:pt>
                <c:pt idx="4">
                  <c:v>14</c:v>
                </c:pt>
                <c:pt idx="5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CD7-46B4-A962-3104CACDF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54379776"/>
        <c:axId val="154381312"/>
      </c:barChart>
      <c:lineChart>
        <c:grouping val="standard"/>
        <c:varyColors val="0"/>
        <c:ser>
          <c:idx val="1"/>
          <c:order val="1"/>
          <c:tx>
            <c:strRef>
              <c:f>改善前柏拉图!$D$1</c:f>
              <c:strCache>
                <c:ptCount val="1"/>
                <c:pt idx="0">
                  <c:v>累计百分比</c:v>
                </c:pt>
              </c:strCache>
            </c:strRef>
          </c:tx>
          <c:spPr>
            <a:ln w="34925" cap="rnd">
              <a:solidFill>
                <a:srgbClr val="87CB06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8575">
                <a:solidFill>
                  <a:srgbClr val="87CB06"/>
                </a:solidFill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1.5852062031626701E-2"/>
                  <c:y val="-6.489417701959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CD7-46B4-A962-3104CACDF804}"/>
                </c:ext>
              </c:extLst>
            </c:dLbl>
            <c:dLbl>
              <c:idx val="2"/>
              <c:layout>
                <c:manualLayout>
                  <c:x val="-2.818136103451252E-2"/>
                  <c:y val="-4.93548735976219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CD7-46B4-A962-3104CACDF804}"/>
                </c:ext>
              </c:extLst>
            </c:dLbl>
            <c:dLbl>
              <c:idx val="3"/>
              <c:layout>
                <c:manualLayout>
                  <c:x val="-4.4473815709352493E-2"/>
                  <c:y val="-5.175682157278060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CD7-46B4-A962-3104CACDF804}"/>
                </c:ext>
              </c:extLst>
            </c:dLbl>
            <c:dLbl>
              <c:idx val="4"/>
              <c:layout>
                <c:manualLayout>
                  <c:x val="-4.6235077083110809E-2"/>
                  <c:y val="-3.63155864179134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1CD7-46B4-A962-3104CACDF804}"/>
                </c:ext>
              </c:extLst>
            </c:dLbl>
            <c:dLbl>
              <c:idx val="5"/>
              <c:layout>
                <c:manualLayout>
                  <c:x val="-4.2712457478046417E-2"/>
                  <c:y val="-2.68547087907791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CD7-46B4-A962-3104CACDF804}"/>
                </c:ext>
              </c:extLst>
            </c:dLbl>
            <c:dLbl>
              <c:idx val="6"/>
              <c:layout>
                <c:manualLayout>
                  <c:x val="-5.6362759321928024E-2"/>
                  <c:y val="-3.626655042171478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2-1CD7-46B4-A962-3104CACDF8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/>
          </c:dLbls>
          <c:cat>
            <c:strRef>
              <c:f>改善前柏拉图!$A$3:$A$8</c:f>
              <c:strCache>
                <c:ptCount val="6"/>
                <c:pt idx="0">
                  <c:v>未使用有糖透析液</c:v>
                </c:pt>
                <c:pt idx="1">
                  <c:v>透析前进食过早</c:v>
                </c:pt>
                <c:pt idx="2">
                  <c:v>药物因素</c:v>
                </c:pt>
                <c:pt idx="3">
                  <c:v>原发病是糖尿病</c:v>
                </c:pt>
                <c:pt idx="4">
                  <c:v>营养不良因素</c:v>
                </c:pt>
                <c:pt idx="5">
                  <c:v>老年患者</c:v>
                </c:pt>
              </c:strCache>
            </c:strRef>
          </c:cat>
          <c:val>
            <c:numRef>
              <c:f>改善前柏拉图!$D$2:$D$8</c:f>
              <c:numCache>
                <c:formatCode>0.00%</c:formatCode>
                <c:ptCount val="7"/>
                <c:pt idx="0" formatCode="General">
                  <c:v>0</c:v>
                </c:pt>
                <c:pt idx="1">
                  <c:v>0.43659999999999999</c:v>
                </c:pt>
                <c:pt idx="2">
                  <c:v>0.71830000000000005</c:v>
                </c:pt>
                <c:pt idx="3">
                  <c:v>0.81340000000000001</c:v>
                </c:pt>
                <c:pt idx="4">
                  <c:v>0.90490000000000004</c:v>
                </c:pt>
                <c:pt idx="5">
                  <c:v>0.95420000000000005</c:v>
                </c:pt>
                <c:pt idx="6" formatCode="0%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1CD7-46B4-A962-3104CACDF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65157120"/>
        <c:axId val="165155584"/>
      </c:lineChart>
      <c:catAx>
        <c:axId val="1543797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105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54381312"/>
        <c:crosses val="autoZero"/>
        <c:auto val="0"/>
        <c:lblAlgn val="ctr"/>
        <c:lblOffset val="100"/>
        <c:tickLblSkip val="1"/>
        <c:noMultiLvlLbl val="0"/>
      </c:catAx>
      <c:valAx>
        <c:axId val="154381312"/>
        <c:scaling>
          <c:orientation val="minMax"/>
          <c:max val="28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54379776"/>
        <c:crosses val="autoZero"/>
        <c:crossBetween val="between"/>
        <c:majorUnit val="30"/>
      </c:valAx>
      <c:valAx>
        <c:axId val="165155584"/>
        <c:scaling>
          <c:orientation val="minMax"/>
          <c:max val="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65157120"/>
        <c:crosses val="max"/>
        <c:crossBetween val="midCat"/>
      </c:valAx>
      <c:catAx>
        <c:axId val="165157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65155584"/>
        <c:crosses val="autoZero"/>
        <c:auto val="0"/>
        <c:lblAlgn val="ctr"/>
        <c:lblOffset val="100"/>
        <c:tickLblSkip val="1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ayout>
        <c:manualLayout>
          <c:xMode val="edge"/>
          <c:yMode val="edge"/>
          <c:x val="0.4895208477973938"/>
          <c:y val="0.83267062902450562"/>
          <c:w val="0.29364734888076782"/>
          <c:h val="0.101015388965606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 smtId="4294967295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2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1" i="0" u="none" strike="noStrike" kern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sz="1400">
                <a:solidFill>
                  <a:schemeClr val="tx1">
                    <a:lumMod val="75000"/>
                    <a:lumOff val="25000"/>
                  </a:schemeClr>
                </a:solidFill>
              </a:rPr>
              <a:t>改善后柏拉图</a:t>
            </a:r>
          </a:p>
        </c:rich>
      </c:tx>
      <c:layout>
        <c:manualLayout>
          <c:xMode val="edge"/>
          <c:yMode val="edge"/>
          <c:x val="0.24078263342380524"/>
          <c:y val="1.4186876825988293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6078690588474274E-2"/>
          <c:y val="0.1318514496088028"/>
          <c:w val="0.45398372411727905"/>
          <c:h val="0.57493090629577637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改善后柏拉图!$B$1</c:f>
              <c:strCache>
                <c:ptCount val="1"/>
                <c:pt idx="0">
                  <c:v>频次</c:v>
                </c:pt>
              </c:strCache>
            </c:strRef>
          </c:tx>
          <c:spPr>
            <a:solidFill>
              <a:srgbClr val="2CAC3E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0-0E48-4077-8706-F8B0B3955024}"/>
              </c:ext>
            </c:extLst>
          </c:dPt>
          <c:dPt>
            <c:idx val="1"/>
            <c:invertIfNegative val="0"/>
            <c:bubble3D val="0"/>
            <c:spPr>
              <a:solidFill>
                <a:srgbClr val="87CB0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0E48-4077-8706-F8B0B3955024}"/>
              </c:ext>
            </c:extLst>
          </c:dPt>
          <c:dPt>
            <c:idx val="2"/>
            <c:invertIfNegative val="0"/>
            <c:bubble3D val="0"/>
            <c:spPr>
              <a:solidFill>
                <a:srgbClr val="1684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0E48-4077-8706-F8B0B3955024}"/>
              </c:ext>
            </c:extLst>
          </c:dPt>
          <c:dPt>
            <c:idx val="3"/>
            <c:invertIfNegative val="0"/>
            <c:bubble3D val="0"/>
            <c:spPr>
              <a:solidFill>
                <a:srgbClr val="15A0E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6-0E48-4077-8706-F8B0B3955024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8-0E48-4077-8706-F8B0B3955024}"/>
              </c:ext>
            </c:extLst>
          </c:dPt>
          <c:dPt>
            <c:idx val="5"/>
            <c:invertIfNegative val="0"/>
            <c:bubble3D val="0"/>
            <c:spPr>
              <a:solidFill>
                <a:srgbClr val="FF66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A-0E48-4077-8706-F8B0B3955024}"/>
              </c:ext>
            </c:extLst>
          </c:dPt>
          <c:dLbls>
            <c:dLbl>
              <c:idx val="2"/>
              <c:layout>
                <c:manualLayout>
                  <c:x val="5.4127196781337261E-3"/>
                  <c:y val="2.1357743069529533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0E48-4077-8706-F8B0B3955024}"/>
                </c:ext>
              </c:extLst>
            </c:dLbl>
            <c:dLbl>
              <c:idx val="3"/>
              <c:layout>
                <c:manualLayout>
                  <c:x val="-3.6084798630326986E-3"/>
                  <c:y val="9.1533176600933075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0E48-4077-8706-F8B0B3955024}"/>
                </c:ext>
              </c:extLst>
            </c:dLbl>
            <c:dLbl>
              <c:idx val="4"/>
              <c:layout>
                <c:manualLayout>
                  <c:x val="0"/>
                  <c:y val="1.525553036481142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8-0E48-4077-8706-F8B0B3955024}"/>
                </c:ext>
              </c:extLst>
            </c:dLbl>
            <c:dLbl>
              <c:idx val="5"/>
              <c:layout>
                <c:manualLayout>
                  <c:x val="0"/>
                  <c:y val="1.8306635320186615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A-0E48-4077-8706-F8B0B395502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 smtId="4294967295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/>
          </c:dLbls>
          <c:cat>
            <c:strRef>
              <c:f>改善后柏拉图!$A$3:$A$8</c:f>
              <c:strCache>
                <c:ptCount val="6"/>
                <c:pt idx="0">
                  <c:v>原发病是糖尿病</c:v>
                </c:pt>
                <c:pt idx="1">
                  <c:v>透析前进食过早</c:v>
                </c:pt>
                <c:pt idx="2">
                  <c:v>未使用有糖透析液</c:v>
                </c:pt>
                <c:pt idx="3">
                  <c:v>老年患者</c:v>
                </c:pt>
                <c:pt idx="4">
                  <c:v>营养不良因素</c:v>
                </c:pt>
                <c:pt idx="5">
                  <c:v>药物因素</c:v>
                </c:pt>
              </c:strCache>
            </c:strRef>
          </c:cat>
          <c:val>
            <c:numRef>
              <c:f>改善后柏拉图!$B$3:$B$8</c:f>
              <c:numCache>
                <c:formatCode>General</c:formatCode>
                <c:ptCount val="6"/>
                <c:pt idx="0">
                  <c:v>12</c:v>
                </c:pt>
                <c:pt idx="1">
                  <c:v>10</c:v>
                </c:pt>
                <c:pt idx="2">
                  <c:v>7</c:v>
                </c:pt>
                <c:pt idx="3">
                  <c:v>5</c:v>
                </c:pt>
                <c:pt idx="4">
                  <c:v>4</c:v>
                </c:pt>
                <c:pt idx="5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0E48-4077-8706-F8B0B39550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194872832"/>
        <c:axId val="194874368"/>
      </c:barChart>
      <c:lineChart>
        <c:grouping val="standard"/>
        <c:varyColors val="0"/>
        <c:ser>
          <c:idx val="2"/>
          <c:order val="1"/>
          <c:tx>
            <c:strRef>
              <c:f>改善后柏拉图!$D$1</c:f>
              <c:strCache>
                <c:ptCount val="1"/>
                <c:pt idx="0">
                  <c:v>累计百分比</c:v>
                </c:pt>
              </c:strCache>
            </c:strRef>
          </c:tx>
          <c:spPr>
            <a:ln w="31750" cap="rnd">
              <a:solidFill>
                <a:srgbClr val="87CB06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2225">
                <a:solidFill>
                  <a:srgbClr val="87CB06"/>
                </a:solidFill>
                <a:round/>
              </a:ln>
              <a:effectLst/>
            </c:spPr>
          </c:marker>
          <c:dLbls>
            <c:dLbl>
              <c:idx val="4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anchor="ctr" anchorCtr="1"/>
                <a:lstStyle/>
                <a:p>
                  <a:pPr>
                    <a:defRPr sz="1000" b="0" i="0" u="none" strike="noStrike" kern="1200" baseline="0" smtId="4294967295">
                      <a:solidFill>
                        <a:schemeClr val="tx2"/>
                      </a:solidFill>
                      <a:latin typeface="微软雅黑" panose="020B0503020204020204" pitchFamily="34" charset="-122"/>
                      <a:ea typeface="微软雅黑" panose="020B0503020204020204" pitchFamily="34" charset="-122"/>
                      <a:cs typeface="+mn-cs"/>
                    </a:defRPr>
                  </a:pPr>
                  <a:endParaRPr lang="zh-CN"/>
                </a:p>
              </c:txPr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700" b="0" i="0" u="none" strike="noStrike" kern="1200" baseline="0" smtId="4294967295">
                    <a:solidFill>
                      <a:schemeClr val="tx2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/>
          </c:dLbls>
          <c:cat>
            <c:strRef>
              <c:f>改善后柏拉图!$A$3:$A$8</c:f>
              <c:strCache>
                <c:ptCount val="6"/>
                <c:pt idx="0">
                  <c:v>原发病是糖尿病</c:v>
                </c:pt>
                <c:pt idx="1">
                  <c:v>透析前进食过早</c:v>
                </c:pt>
                <c:pt idx="2">
                  <c:v>未使用有糖透析液</c:v>
                </c:pt>
                <c:pt idx="3">
                  <c:v>老年患者</c:v>
                </c:pt>
                <c:pt idx="4">
                  <c:v>营养不良因素</c:v>
                </c:pt>
                <c:pt idx="5">
                  <c:v>药物因素</c:v>
                </c:pt>
              </c:strCache>
            </c:strRef>
          </c:cat>
          <c:val>
            <c:numRef>
              <c:f>改善后柏拉图!$D$2:$D$8</c:f>
              <c:numCache>
                <c:formatCode>0.00%</c:formatCode>
                <c:ptCount val="7"/>
                <c:pt idx="0" formatCode="General">
                  <c:v>0</c:v>
                </c:pt>
                <c:pt idx="1">
                  <c:v>0.3</c:v>
                </c:pt>
                <c:pt idx="2">
                  <c:v>0.55000000000000004</c:v>
                </c:pt>
                <c:pt idx="3">
                  <c:v>0.72499999999999998</c:v>
                </c:pt>
                <c:pt idx="4">
                  <c:v>0.85</c:v>
                </c:pt>
                <c:pt idx="5">
                  <c:v>0.95</c:v>
                </c:pt>
                <c:pt idx="6" formatCode="0%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D-0E48-4077-8706-F8B0B39550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4889984"/>
        <c:axId val="194888448"/>
      </c:lineChart>
      <c:catAx>
        <c:axId val="1948728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1050" b="0" i="0" u="none" strike="noStrike" kern="1200" baseline="0" smtId="4294967295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94874368"/>
        <c:crosses val="autoZero"/>
        <c:auto val="0"/>
        <c:lblAlgn val="ctr"/>
        <c:lblOffset val="100"/>
        <c:tickLblSkip val="1"/>
        <c:noMultiLvlLbl val="0"/>
      </c:catAx>
      <c:valAx>
        <c:axId val="194874368"/>
        <c:scaling>
          <c:orientation val="minMax"/>
          <c:max val="285"/>
          <c:min val="0"/>
        </c:scaling>
        <c:delete val="0"/>
        <c:axPos val="l"/>
        <c:majorGridlines>
          <c:spPr>
            <a:ln w="9525" cap="flat" cmpd="sng" algn="ctr">
              <a:solidFill>
                <a:schemeClr val="tx2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94872832"/>
        <c:crosses val="autoZero"/>
        <c:crossBetween val="between"/>
        <c:majorUnit val="30"/>
      </c:valAx>
      <c:valAx>
        <c:axId val="194888448"/>
        <c:scaling>
          <c:orientation val="minMax"/>
          <c:max val="7.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94889984"/>
        <c:crosses val="max"/>
        <c:crossBetween val="midCat"/>
        <c:majorUnit val="1"/>
      </c:valAx>
      <c:catAx>
        <c:axId val="1948899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9525" cap="flat" cmpd="sng" algn="ctr">
            <a:solidFill>
              <a:schemeClr val="tx2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194888448"/>
        <c:crosses val="autoZero"/>
        <c:auto val="0"/>
        <c:lblAlgn val="ctr"/>
        <c:lblOffset val="100"/>
        <c:tickLblSkip val="1"/>
        <c:noMultiLvlLbl val="0"/>
      </c:catAx>
      <c:spPr>
        <a:noFill/>
        <a:ln>
          <a:noFill/>
        </a:ln>
        <a:effectLst/>
      </c:spPr>
    </c:plotArea>
    <c:legend>
      <c:legendPos val="r"/>
      <c:legendEntry>
        <c:idx val="0"/>
        <c:delete val="1"/>
      </c:legendEntry>
      <c:layout>
        <c:manualLayout>
          <c:xMode val="edge"/>
          <c:yMode val="edge"/>
          <c:x val="0.47661241888999939"/>
          <c:y val="0.83163619041442871"/>
          <c:w val="0.16562898457050323"/>
          <c:h val="4.407899826765060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 smtId="4294967295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 smtId="4294967295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2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altLang="en-US" sz="1800"/>
              <a:t>改善前柏拉图</a:t>
            </a:r>
            <a:endParaRPr lang="zh-CN" sz="1800"/>
          </a:p>
        </c:rich>
      </c:tx>
      <c:layout>
        <c:manualLayout>
          <c:xMode val="edge"/>
          <c:yMode val="edge"/>
          <c:x val="0.3120080828666687"/>
          <c:y val="5.990727618336677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8.3562523126602173E-2"/>
          <c:y val="0.19745345413684845"/>
          <c:w val="0.68638819456100464"/>
          <c:h val="0.487127572298049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改善前柏拉图!$B$1</c:f>
              <c:strCache>
                <c:ptCount val="1"/>
                <c:pt idx="0">
                  <c:v>频次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1"/>
          <c:dPt>
            <c:idx val="0"/>
            <c:invertIfNegative val="1"/>
            <c:bubble3D val="0"/>
            <c:spPr>
              <a:solidFill>
                <a:srgbClr val="2CAC3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1CD7-46B4-A962-3104CACDF804}"/>
              </c:ext>
            </c:extLst>
          </c:dPt>
          <c:dPt>
            <c:idx val="1"/>
            <c:invertIfNegative val="1"/>
            <c:bubble3D val="0"/>
            <c:spPr>
              <a:solidFill>
                <a:srgbClr val="87CB0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1CD7-46B4-A962-3104CACDF804}"/>
              </c:ext>
            </c:extLst>
          </c:dPt>
          <c:dPt>
            <c:idx val="2"/>
            <c:invertIfNegative val="1"/>
            <c:bubble3D val="0"/>
            <c:spPr>
              <a:solidFill>
                <a:srgbClr val="1684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1CD7-46B4-A962-3104CACDF804}"/>
              </c:ext>
            </c:extLst>
          </c:dPt>
          <c:dPt>
            <c:idx val="3"/>
            <c:invertIfNegative val="1"/>
            <c:bubble3D val="0"/>
            <c:spPr>
              <a:solidFill>
                <a:srgbClr val="24A7D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1CD7-46B4-A962-3104CACDF804}"/>
              </c:ext>
            </c:extLst>
          </c:dPt>
          <c:dPt>
            <c:idx val="4"/>
            <c:invertIfNegative val="1"/>
            <c:bubble3D val="0"/>
            <c:spPr>
              <a:solidFill>
                <a:srgbClr val="FFC000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1CD7-46B4-A962-3104CACDF804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/>
          </c:dLbls>
          <c:cat>
            <c:strRef>
              <c:f>改善前柏拉图!$A$3:$A$7</c:f>
              <c:strCache>
                <c:ptCount val="5"/>
                <c:pt idx="0">
                  <c:v>未使用有糖透析液</c:v>
                </c:pt>
                <c:pt idx="1">
                  <c:v>透析前进食过早</c:v>
                </c:pt>
                <c:pt idx="2">
                  <c:v>药物因素</c:v>
                </c:pt>
                <c:pt idx="3">
                  <c:v>原发病是糖尿病</c:v>
                </c:pt>
                <c:pt idx="4">
                  <c:v>营养不良因素</c:v>
                </c:pt>
              </c:strCache>
            </c:strRef>
          </c:cat>
          <c:val>
            <c:numRef>
              <c:f>改善前柏拉图!$B$3:$B$7</c:f>
              <c:numCache>
                <c:formatCode>General</c:formatCode>
                <c:ptCount val="5"/>
                <c:pt idx="0">
                  <c:v>124</c:v>
                </c:pt>
                <c:pt idx="1">
                  <c:v>80</c:v>
                </c:pt>
                <c:pt idx="2">
                  <c:v>35</c:v>
                </c:pt>
                <c:pt idx="3">
                  <c:v>30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CD7-46B4-A962-3104CACDF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7470976"/>
        <c:axId val="207472512"/>
      </c:barChart>
      <c:lineChart>
        <c:grouping val="standard"/>
        <c:varyColors val="0"/>
        <c:ser>
          <c:idx val="1"/>
          <c:order val="1"/>
          <c:tx>
            <c:strRef>
              <c:f>改善前柏拉图!$D$1</c:f>
              <c:strCache>
                <c:ptCount val="1"/>
                <c:pt idx="0">
                  <c:v>累计百分比</c:v>
                </c:pt>
              </c:strCache>
            </c:strRef>
          </c:tx>
          <c:spPr>
            <a:ln w="34925" cap="rnd">
              <a:solidFill>
                <a:srgbClr val="87CB06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8575">
                <a:solidFill>
                  <a:srgbClr val="87CB06"/>
                </a:solidFill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1.5852062031626701E-2"/>
                  <c:y val="-6.489417701959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1CD7-46B4-A962-3104CACDF804}"/>
                </c:ext>
              </c:extLst>
            </c:dLbl>
            <c:dLbl>
              <c:idx val="2"/>
              <c:layout>
                <c:manualLayout>
                  <c:x val="-2.818136103451252E-2"/>
                  <c:y val="-4.93548735976219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1CD7-46B4-A962-3104CACDF804}"/>
                </c:ext>
              </c:extLst>
            </c:dLbl>
            <c:dLbl>
              <c:idx val="3"/>
              <c:layout>
                <c:manualLayout>
                  <c:x val="-4.4473815709352493E-2"/>
                  <c:y val="-5.175682157278060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1CD7-46B4-A962-3104CACDF804}"/>
                </c:ext>
              </c:extLst>
            </c:dLbl>
            <c:dLbl>
              <c:idx val="4"/>
              <c:layout>
                <c:manualLayout>
                  <c:x val="-4.6235077083110809E-2"/>
                  <c:y val="-3.63155864179134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1CD7-46B4-A962-3104CACDF804}"/>
                </c:ext>
              </c:extLst>
            </c:dLbl>
            <c:dLbl>
              <c:idx val="5"/>
              <c:layout>
                <c:manualLayout>
                  <c:x val="-4.2712457478046417E-2"/>
                  <c:y val="-2.685470879077911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1-1CD7-46B4-A962-3104CACDF804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/>
          </c:dLbls>
          <c:cat>
            <c:strRef>
              <c:f>改善前柏拉图!$A$3:$A$7</c:f>
              <c:strCache>
                <c:ptCount val="5"/>
                <c:pt idx="0">
                  <c:v>未使用有糖透析液</c:v>
                </c:pt>
                <c:pt idx="1">
                  <c:v>透析前进食过早</c:v>
                </c:pt>
                <c:pt idx="2">
                  <c:v>药物因素</c:v>
                </c:pt>
                <c:pt idx="3">
                  <c:v>原发病是糖尿病</c:v>
                </c:pt>
                <c:pt idx="4">
                  <c:v>营养不良因素</c:v>
                </c:pt>
              </c:strCache>
            </c:strRef>
          </c:cat>
          <c:val>
            <c:numRef>
              <c:f>改善前柏拉图!$D$2:$D$7</c:f>
              <c:numCache>
                <c:formatCode>0.00%</c:formatCode>
                <c:ptCount val="6"/>
                <c:pt idx="0" formatCode="General">
                  <c:v>0</c:v>
                </c:pt>
                <c:pt idx="1">
                  <c:v>0.43659999999999999</c:v>
                </c:pt>
                <c:pt idx="2">
                  <c:v>0.71830000000000005</c:v>
                </c:pt>
                <c:pt idx="3">
                  <c:v>0.83230000000000004</c:v>
                </c:pt>
                <c:pt idx="4">
                  <c:v>0.9254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1CD7-46B4-A962-3104CACDF8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7898112"/>
        <c:axId val="207474048"/>
      </c:lineChart>
      <c:catAx>
        <c:axId val="2074709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105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07472512"/>
        <c:crosses val="autoZero"/>
        <c:auto val="0"/>
        <c:lblAlgn val="ctr"/>
        <c:lblOffset val="100"/>
        <c:tickLblSkip val="1"/>
        <c:noMultiLvlLbl val="0"/>
      </c:catAx>
      <c:valAx>
        <c:axId val="207472512"/>
        <c:scaling>
          <c:orientation val="minMax"/>
          <c:max val="28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07470976"/>
        <c:crosses val="autoZero"/>
        <c:crossBetween val="between"/>
        <c:majorUnit val="30"/>
      </c:valAx>
      <c:valAx>
        <c:axId val="207474048"/>
        <c:scaling>
          <c:orientation val="minMax"/>
          <c:max val="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377898112"/>
        <c:crosses val="max"/>
        <c:crossBetween val="midCat"/>
      </c:valAx>
      <c:catAx>
        <c:axId val="377898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207474048"/>
        <c:crosses val="autoZero"/>
        <c:auto val="0"/>
        <c:lblAlgn val="ctr"/>
        <c:lblOffset val="100"/>
        <c:tickLblSkip val="1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ayout>
        <c:manualLayout>
          <c:xMode val="edge"/>
          <c:yMode val="edge"/>
          <c:x val="0.4895208477973938"/>
          <c:y val="0.83267062902450562"/>
          <c:w val="0.29364734888076782"/>
          <c:h val="0.101015388965606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 smtId="4294967295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2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altLang="en-US" sz="1800"/>
              <a:t>改善前柏拉图</a:t>
            </a:r>
            <a:endParaRPr lang="zh-CN" sz="1800"/>
          </a:p>
        </c:rich>
      </c:tx>
      <c:layout>
        <c:manualLayout>
          <c:xMode val="edge"/>
          <c:yMode val="edge"/>
          <c:x val="0.3120080828666687"/>
          <c:y val="5.990727618336677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8.3562523126602173E-2"/>
          <c:y val="0.19745345413684845"/>
          <c:w val="0.68638819456100464"/>
          <c:h val="0.4871275722980499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改善前柏拉图!$B$1</c:f>
              <c:strCache>
                <c:ptCount val="1"/>
                <c:pt idx="0">
                  <c:v>频次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hade val="76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hade val="76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shade val="76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/>
          </c:spPr>
          <c:invertIfNegative val="1"/>
          <c:dPt>
            <c:idx val="0"/>
            <c:invertIfNegative val="1"/>
            <c:bubble3D val="0"/>
            <c:spPr>
              <a:solidFill>
                <a:srgbClr val="2CAC3E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306C-467C-A0CF-68A583C300A0}"/>
              </c:ext>
            </c:extLst>
          </c:dPt>
          <c:dPt>
            <c:idx val="1"/>
            <c:invertIfNegative val="1"/>
            <c:bubble3D val="0"/>
            <c:spPr>
              <a:solidFill>
                <a:srgbClr val="87CB0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306C-467C-A0CF-68A583C300A0}"/>
              </c:ext>
            </c:extLst>
          </c:dPt>
          <c:dPt>
            <c:idx val="2"/>
            <c:invertIfNegative val="1"/>
            <c:bubble3D val="0"/>
            <c:spPr>
              <a:solidFill>
                <a:srgbClr val="1684BF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306C-467C-A0CF-68A583C300A0}"/>
              </c:ext>
            </c:extLst>
          </c:dPt>
          <c:dPt>
            <c:idx val="3"/>
            <c:invertIfNegative val="1"/>
            <c:bubble3D val="0"/>
            <c:spPr>
              <a:solidFill>
                <a:srgbClr val="24A7DB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306C-467C-A0CF-68A583C300A0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/>
          </c:dLbls>
          <c:cat>
            <c:strRef>
              <c:f>改善前柏拉图!$A$3:$A$6</c:f>
              <c:strCache>
                <c:ptCount val="4"/>
                <c:pt idx="0">
                  <c:v>未使用有糖透析液</c:v>
                </c:pt>
                <c:pt idx="1">
                  <c:v>透析前进食过早</c:v>
                </c:pt>
                <c:pt idx="2">
                  <c:v>药物因素</c:v>
                </c:pt>
                <c:pt idx="3">
                  <c:v>原发病是糖尿病</c:v>
                </c:pt>
              </c:strCache>
            </c:strRef>
          </c:cat>
          <c:val>
            <c:numRef>
              <c:f>改善前柏拉图!$B$3:$B$6</c:f>
              <c:numCache>
                <c:formatCode>General</c:formatCode>
                <c:ptCount val="4"/>
                <c:pt idx="0">
                  <c:v>124</c:v>
                </c:pt>
                <c:pt idx="1">
                  <c:v>80</c:v>
                </c:pt>
                <c:pt idx="2">
                  <c:v>35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06C-467C-A0CF-68A583C300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377948800"/>
        <c:axId val="377958784"/>
      </c:barChart>
      <c:lineChart>
        <c:grouping val="standard"/>
        <c:varyColors val="0"/>
        <c:ser>
          <c:idx val="1"/>
          <c:order val="1"/>
          <c:tx>
            <c:strRef>
              <c:f>改善前柏拉图!$D$1</c:f>
              <c:strCache>
                <c:ptCount val="1"/>
                <c:pt idx="0">
                  <c:v>累计百分比</c:v>
                </c:pt>
              </c:strCache>
            </c:strRef>
          </c:tx>
          <c:spPr>
            <a:ln w="34925" cap="rnd">
              <a:solidFill>
                <a:srgbClr val="87CB06"/>
              </a:solidFill>
              <a:round/>
            </a:ln>
            <a:effectLst/>
          </c:spPr>
          <c:marker>
            <c:symbol val="circle"/>
            <c:size val="6"/>
            <c:spPr>
              <a:solidFill>
                <a:schemeClr val="bg1"/>
              </a:solidFill>
              <a:ln w="28575">
                <a:solidFill>
                  <a:srgbClr val="87CB06"/>
                </a:solidFill>
                <a:round/>
              </a:ln>
              <a:effectLst/>
            </c:spPr>
          </c:marker>
          <c:dLbls>
            <c:dLbl>
              <c:idx val="1"/>
              <c:layout>
                <c:manualLayout>
                  <c:x val="-1.5852062031626701E-2"/>
                  <c:y val="-6.48941770195961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D-306C-467C-A0CF-68A583C300A0}"/>
                </c:ext>
              </c:extLst>
            </c:dLbl>
            <c:dLbl>
              <c:idx val="2"/>
              <c:layout>
                <c:manualLayout>
                  <c:x val="-2.818136103451252E-2"/>
                  <c:y val="-4.935487359762191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E-306C-467C-A0CF-68A583C300A0}"/>
                </c:ext>
              </c:extLst>
            </c:dLbl>
            <c:dLbl>
              <c:idx val="3"/>
              <c:layout>
                <c:manualLayout>
                  <c:x val="-4.4473815709352493E-2"/>
                  <c:y val="-5.1756821572780609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F-306C-467C-A0CF-68A583C300A0}"/>
                </c:ext>
              </c:extLst>
            </c:dLbl>
            <c:dLbl>
              <c:idx val="4"/>
              <c:layout>
                <c:manualLayout>
                  <c:x val="-4.6235077083110809E-2"/>
                  <c:y val="-3.6315586417913437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10-306C-467C-A0CF-68A583C300A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dLblPos val="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/>
          </c:dLbls>
          <c:cat>
            <c:strRef>
              <c:f>改善前柏拉图!$A$3:$A$6</c:f>
              <c:strCache>
                <c:ptCount val="4"/>
                <c:pt idx="0">
                  <c:v>未使用有糖透析液</c:v>
                </c:pt>
                <c:pt idx="1">
                  <c:v>透析前进食过早</c:v>
                </c:pt>
                <c:pt idx="2">
                  <c:v>药物因素</c:v>
                </c:pt>
                <c:pt idx="3">
                  <c:v>原发病是糖尿病</c:v>
                </c:pt>
              </c:strCache>
            </c:strRef>
          </c:cat>
          <c:val>
            <c:numRef>
              <c:f>改善前柏拉图!$D$2:$D$6</c:f>
              <c:numCache>
                <c:formatCode>0.00%</c:formatCode>
                <c:ptCount val="5"/>
                <c:pt idx="0" formatCode="General">
                  <c:v>0</c:v>
                </c:pt>
                <c:pt idx="1">
                  <c:v>0.43659999999999999</c:v>
                </c:pt>
                <c:pt idx="2">
                  <c:v>0.71830000000000005</c:v>
                </c:pt>
                <c:pt idx="3">
                  <c:v>0.83230000000000004</c:v>
                </c:pt>
                <c:pt idx="4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13-306C-467C-A0CF-68A583C300A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377961856"/>
        <c:axId val="377960320"/>
      </c:lineChart>
      <c:catAx>
        <c:axId val="3779488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2700000" spcFirstLastPara="1" vertOverflow="ellipsis" wrap="square" anchor="ctr" anchorCtr="1"/>
          <a:lstStyle/>
          <a:p>
            <a:pPr>
              <a:defRPr sz="105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377958784"/>
        <c:crosses val="autoZero"/>
        <c:auto val="0"/>
        <c:lblAlgn val="ctr"/>
        <c:lblOffset val="100"/>
        <c:tickLblSkip val="1"/>
        <c:noMultiLvlLbl val="0"/>
      </c:catAx>
      <c:valAx>
        <c:axId val="377958784"/>
        <c:scaling>
          <c:orientation val="minMax"/>
          <c:max val="285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377948800"/>
        <c:crosses val="autoZero"/>
        <c:crossBetween val="between"/>
        <c:majorUnit val="30"/>
      </c:valAx>
      <c:valAx>
        <c:axId val="377960320"/>
        <c:scaling>
          <c:orientation val="minMax"/>
          <c:max val="1"/>
          <c:min val="0"/>
        </c:scaling>
        <c:delete val="0"/>
        <c:axPos val="r"/>
        <c:numFmt formatCode="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377961856"/>
        <c:crosses val="max"/>
        <c:crossBetween val="midCat"/>
      </c:valAx>
      <c:catAx>
        <c:axId val="3779618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one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377960320"/>
        <c:crosses val="autoZero"/>
        <c:auto val="0"/>
        <c:lblAlgn val="ctr"/>
        <c:lblOffset val="100"/>
        <c:tickLblSkip val="1"/>
        <c:noMultiLvlLbl val="0"/>
      </c:catAx>
      <c:spPr>
        <a:noFill/>
        <a:ln>
          <a:noFill/>
        </a:ln>
        <a:effectLst/>
      </c:spPr>
    </c:plotArea>
    <c:legend>
      <c:legendPos val="b"/>
      <c:legendEntry>
        <c:idx val="0"/>
        <c:delete val="1"/>
      </c:legendEntry>
      <c:layout>
        <c:manualLayout>
          <c:xMode val="edge"/>
          <c:yMode val="edge"/>
          <c:x val="0.4895208477973938"/>
          <c:y val="0.83267062902450562"/>
          <c:w val="0.29364734888076782"/>
          <c:h val="0.101015388965606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900" smtId="4294967295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2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cap="none" spc="20" baseline="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r>
              <a:rPr lang="zh-CN" sz="1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维持性血液透析患者低血糖发生率（</a:t>
            </a:r>
            <a:r>
              <a:rPr lang="en-US" sz="1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%</a:t>
            </a:r>
            <a:r>
              <a:rPr lang="zh-CN" sz="18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</a:p>
        </c:rich>
      </c:tx>
      <c:layout>
        <c:manualLayout>
          <c:xMode val="edge"/>
          <c:yMode val="edge"/>
          <c:x val="0.2813052237033844"/>
          <c:y val="2.407592348754406E-2"/>
        </c:manualLayout>
      </c:layout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4.2776007205247879E-2"/>
          <c:y val="0.22261269390583038"/>
          <c:w val="0.93381696939468384"/>
          <c:h val="0.5555872917175293"/>
        </c:manualLayout>
      </c:layout>
      <c:lineChart>
        <c:grouping val="standard"/>
        <c:varyColors val="0"/>
        <c:ser>
          <c:idx val="0"/>
          <c:order val="0"/>
          <c:tx>
            <c:v>维持性血液透析患者低血糖发生率（%）</c:v>
          </c:tx>
          <c:spPr>
            <a:ln w="28575" cap="rnd" cmpd="sng" algn="ctr">
              <a:solidFill>
                <a:srgbClr val="87CB06"/>
              </a:solidFill>
              <a:round/>
            </a:ln>
            <a:effectLst/>
          </c:spPr>
          <c:marker>
            <c:symbol val="circle"/>
            <c:size val="10"/>
            <c:spPr>
              <a:solidFill>
                <a:schemeClr val="bg1"/>
              </a:solidFill>
              <a:ln w="31750" cap="flat" cmpd="sng" algn="ctr">
                <a:solidFill>
                  <a:srgbClr val="87CB06"/>
                </a:solidFill>
                <a:round/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 smtId="4294967295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/>
          </c:dLbls>
          <c:cat>
            <c:strRef>
              <c:f>Sheet8!$A$2:$A$7</c:f>
              <c:strCache>
                <c:ptCount val="6"/>
                <c:pt idx="0">
                  <c:v>15年12月18日-16年1月17日</c:v>
                </c:pt>
                <c:pt idx="1">
                  <c:v>3月1日-3月27日</c:v>
                </c:pt>
                <c:pt idx="2">
                  <c:v>3月28日-4月17日</c:v>
                </c:pt>
                <c:pt idx="3">
                  <c:v>4月18日-5月8日</c:v>
                </c:pt>
                <c:pt idx="4">
                  <c:v>5月9日-5月29日</c:v>
                </c:pt>
                <c:pt idx="5">
                  <c:v>目标值</c:v>
                </c:pt>
              </c:strCache>
            </c:strRef>
          </c:cat>
          <c:val>
            <c:numRef>
              <c:f>Sheet8!$B$2:$B$7</c:f>
              <c:numCache>
                <c:formatCode>General</c:formatCode>
                <c:ptCount val="6"/>
                <c:pt idx="0">
                  <c:v>29.45</c:v>
                </c:pt>
                <c:pt idx="1">
                  <c:v>22.72</c:v>
                </c:pt>
                <c:pt idx="2">
                  <c:v>17.149999999999999</c:v>
                </c:pt>
                <c:pt idx="3">
                  <c:v>10.39</c:v>
                </c:pt>
                <c:pt idx="4">
                  <c:v>9.4600000000000009</c:v>
                </c:pt>
                <c:pt idx="5">
                  <c:v>11.32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B80-4CF0-8CF4-FFAF4C58579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marker val="1"/>
        <c:smooth val="0"/>
        <c:axId val="377753600"/>
        <c:axId val="377755136"/>
      </c:lineChart>
      <c:catAx>
        <c:axId val="377753600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wrap="square" anchor="ctr" anchorCtr="1"/>
          <a:lstStyle/>
          <a:p>
            <a:pPr>
              <a:defRPr sz="1197" b="0" i="0" u="none" strike="noStrike" kern="1200" spc="20" baseline="0" smtId="4294967295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377755136"/>
        <c:crosses val="autoZero"/>
        <c:auto val="0"/>
        <c:lblAlgn val="ctr"/>
        <c:lblOffset val="100"/>
        <c:noMultiLvlLbl val="0"/>
      </c:catAx>
      <c:valAx>
        <c:axId val="377755136"/>
        <c:scaling>
          <c:orientation val="minMax"/>
          <c:max val="30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 smtId="4294967295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CN"/>
          </a:p>
        </c:txPr>
        <c:crossAx val="377753600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legendEntry>
        <c:idx val="0"/>
        <c:txPr>
          <a:bodyPr rot="0" spcFirstLastPara="1" vertOverflow="ellipsis" vert="horz" wrap="square" anchor="ctr" anchorCtr="1"/>
          <a:lstStyle/>
          <a:p>
            <a:pPr>
              <a:defRPr sz="1400" b="0" i="0" u="none" strike="noStrike" kern="1200" baseline="0" smtId="4294967295">
                <a:solidFill>
                  <a:schemeClr val="dk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</c:legendEntry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 smtId="4294967295">
              <a:solidFill>
                <a:schemeClr val="dk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zh-CN"/>
    </a:p>
  </c:txPr>
  <c:externalData r:id="rId2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之前</c:v>
                </c:pt>
              </c:strCache>
            </c:strRef>
          </c:tx>
          <c:spPr>
            <a:ln w="28575" cap="rnd">
              <a:solidFill>
                <a:srgbClr val="1B6EB8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25400">
                <a:solidFill>
                  <a:schemeClr val="accent1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品管圈手法</c:v>
                </c:pt>
                <c:pt idx="1">
                  <c:v>团队合作能力</c:v>
                </c:pt>
                <c:pt idx="2">
                  <c:v>沟通能力</c:v>
                </c:pt>
                <c:pt idx="3">
                  <c:v>其他能力</c:v>
                </c:pt>
                <c:pt idx="4">
                  <c:v>沟通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3FA-4372-A513-D4763453E56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之后</c:v>
                </c:pt>
              </c:strCache>
            </c:strRef>
          </c:tx>
          <c:spPr>
            <a:ln w="28575" cap="rnd">
              <a:solidFill>
                <a:srgbClr val="65BB52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28575">
                <a:solidFill>
                  <a:srgbClr val="65BB52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 smtId="4294967295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品管圈手法</c:v>
                </c:pt>
                <c:pt idx="1">
                  <c:v>团队合作能力</c:v>
                </c:pt>
                <c:pt idx="2">
                  <c:v>沟通能力</c:v>
                </c:pt>
                <c:pt idx="3">
                  <c:v>其他能力</c:v>
                </c:pt>
                <c:pt idx="4">
                  <c:v>沟通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3FA-4372-A513-D4763453E56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7850496"/>
        <c:axId val="377864576"/>
      </c:radarChart>
      <c:catAx>
        <c:axId val="377850496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 smtId="4294967295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377864576"/>
        <c:crosses val="autoZero"/>
        <c:auto val="0"/>
        <c:lblAlgn val="ctr"/>
        <c:lblOffset val="100"/>
        <c:noMultiLvlLbl val="0"/>
      </c:catAx>
      <c:valAx>
        <c:axId val="377864576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37785049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 smtId="4294967295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400" smtId="4294967295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之前</c:v>
                </c:pt>
              </c:strCache>
            </c:strRef>
          </c:tx>
          <c:spPr>
            <a:ln w="28575" cap="rnd">
              <a:solidFill>
                <a:schemeClr val="accent1"/>
              </a:solidFill>
            </a:ln>
            <a:effectLst>
              <a:glow rad="76200">
                <a:schemeClr val="accent1">
                  <a:satMod val="175000"/>
                  <a:alpha val="34000"/>
                </a:schemeClr>
              </a:glow>
            </a:effectLst>
          </c:spPr>
          <c:marker>
            <c:symbol val="circle"/>
            <c:size val="4"/>
            <c:spPr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1">
                    <a:satMod val="175000"/>
                    <a:alpha val="25000"/>
                  </a:schemeClr>
                </a:glo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 smtId="4294967295">
                    <a:solidFill>
                      <a:schemeClr val="l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品管圈手法</c:v>
                </c:pt>
                <c:pt idx="1">
                  <c:v>团队合作能力</c:v>
                </c:pt>
                <c:pt idx="2">
                  <c:v>沟通能力</c:v>
                </c:pt>
                <c:pt idx="3">
                  <c:v>其他能力</c:v>
                </c:pt>
                <c:pt idx="4">
                  <c:v>沟通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80D-48DF-869C-AB8D59C32E3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之后</c:v>
                </c:pt>
              </c:strCache>
            </c:strRef>
          </c:tx>
          <c:spPr>
            <a:ln w="28575" cap="rnd">
              <a:solidFill>
                <a:schemeClr val="accent2"/>
              </a:solidFill>
            </a:ln>
            <a:effectLst>
              <a:glow rad="76200">
                <a:schemeClr val="accent2">
                  <a:satMod val="175000"/>
                  <a:alpha val="34000"/>
                </a:schemeClr>
              </a:glow>
            </a:effectLst>
          </c:spPr>
          <c:marker>
            <c:symbol val="circle"/>
            <c:size val="4"/>
            <c:spPr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  <a:effectLst>
                <a:glow rad="63500">
                  <a:schemeClr val="accent2">
                    <a:satMod val="175000"/>
                    <a:alpha val="25000"/>
                  </a:schemeClr>
                </a:glow>
              </a:effectLst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97" b="0" i="0" u="none" strike="noStrike" kern="1200" baseline="0" smtId="4294967295">
                    <a:solidFill>
                      <a:schemeClr val="lt1">
                        <a:lumMod val="75000"/>
                      </a:schemeClr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</a:defRPr>
                </a:pPr>
                <a:endParaRPr lang="zh-CN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50000"/>
                        </a:schemeClr>
                      </a:solidFill>
                      <a:round/>
                    </a:ln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品管圈手法</c:v>
                </c:pt>
                <c:pt idx="1">
                  <c:v>团队合作能力</c:v>
                </c:pt>
                <c:pt idx="2">
                  <c:v>沟通能力</c:v>
                </c:pt>
                <c:pt idx="3">
                  <c:v>其他能力</c:v>
                </c:pt>
                <c:pt idx="4">
                  <c:v>沟通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80D-48DF-869C-AB8D59C32E3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8387072"/>
        <c:axId val="378278272"/>
      </c:radarChart>
      <c:catAx>
        <c:axId val="37838707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0000"/>
                </a:schemeClr>
              </a:solidFill>
              <a:round/>
            </a:ln>
            <a:effectLst/>
          </c:spPr>
        </c:majorGridlines>
        <c:numFmt formatCode="m/d/yyyy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 smtId="4294967295">
                <a:solidFill>
                  <a:schemeClr val="l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378278272"/>
        <c:crosses val="autoZero"/>
        <c:auto val="0"/>
        <c:lblAlgn val="ctr"/>
        <c:lblOffset val="100"/>
        <c:noMultiLvlLbl val="0"/>
      </c:catAx>
      <c:valAx>
        <c:axId val="3782782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alpha val="2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 smtId="4294967295">
                <a:solidFill>
                  <a:schemeClr val="lt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pPr>
            <a:endParaRPr lang="zh-CN"/>
          </a:p>
        </c:txPr>
        <c:crossAx val="3783870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 smtId="4294967295">
              <a:solidFill>
                <a:schemeClr val="lt1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defRPr>
          </a:pPr>
          <a:endParaRPr lang="zh-CN"/>
        </a:p>
      </c:txPr>
    </c:legend>
    <c:plotVisOnly val="1"/>
    <c:dispBlanksAs val="gap"/>
    <c:showDLblsOverMax val="0"/>
  </c:chart>
  <c:spPr>
    <a:solidFill>
      <a:schemeClr val="dk1">
        <a:lumMod val="75000"/>
        <a:lumOff val="25000"/>
      </a:schemeClr>
    </a:soli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 smtId="4294967295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radarChart>
        <c:radarStyle val="marker"/>
        <c:varyColors val="0"/>
        <c:ser>
          <c:idx val="0"/>
          <c:order val="0"/>
          <c:tx>
            <c:strRef>
              <c:f>Sheet2!$C$1:$C$2</c:f>
              <c:strCache>
                <c:ptCount val="2"/>
                <c:pt idx="0">
                  <c:v>活动前 </c:v>
                </c:pt>
              </c:strCache>
            </c:strRef>
          </c:tx>
          <c:spPr>
            <a:ln>
              <a:solidFill>
                <a:srgbClr val="2CAC3E"/>
              </a:solidFill>
            </a:ln>
          </c:spPr>
          <c:marker>
            <c:symbol val="square"/>
            <c:size val="5"/>
            <c:spPr>
              <a:solidFill>
                <a:sysClr val="window" lastClr="FFFFFF"/>
              </a:solidFill>
              <a:ln w="22225">
                <a:solidFill>
                  <a:srgbClr val="2CAC3E"/>
                </a:solidFill>
              </a:ln>
            </c:spPr>
          </c:marker>
          <c:cat>
            <c:strRef>
              <c:f>Sheet2!$B$3:$B$10</c:f>
              <c:strCache>
                <c:ptCount val="8"/>
                <c:pt idx="0">
                  <c:v>解决问题能力 </c:v>
                </c:pt>
                <c:pt idx="1">
                  <c:v>责任心 </c:v>
                </c:pt>
                <c:pt idx="2">
                  <c:v>沟通协调 </c:v>
                </c:pt>
                <c:pt idx="3">
                  <c:v>自信心 </c:v>
                </c:pt>
                <c:pt idx="4">
                  <c:v>团队凝聚力 </c:v>
                </c:pt>
                <c:pt idx="5">
                  <c:v>积极性 </c:v>
                </c:pt>
                <c:pt idx="6">
                  <c:v>品管手法 </c:v>
                </c:pt>
                <c:pt idx="7">
                  <c:v>和谐度 </c:v>
                </c:pt>
              </c:strCache>
            </c:strRef>
          </c:cat>
          <c:val>
            <c:numRef>
              <c:f>Sheet2!$C$3:$C$10</c:f>
              <c:numCache>
                <c:formatCode>General</c:formatCode>
                <c:ptCount val="8"/>
                <c:pt idx="0">
                  <c:v>30</c:v>
                </c:pt>
                <c:pt idx="1">
                  <c:v>34</c:v>
                </c:pt>
                <c:pt idx="2">
                  <c:v>34</c:v>
                </c:pt>
                <c:pt idx="3">
                  <c:v>32</c:v>
                </c:pt>
                <c:pt idx="4">
                  <c:v>30</c:v>
                </c:pt>
                <c:pt idx="5">
                  <c:v>34</c:v>
                </c:pt>
                <c:pt idx="6">
                  <c:v>14</c:v>
                </c:pt>
                <c:pt idx="7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579-4036-98DF-3293CC57F772}"/>
            </c:ext>
          </c:extLst>
        </c:ser>
        <c:ser>
          <c:idx val="1"/>
          <c:order val="1"/>
          <c:tx>
            <c:strRef>
              <c:f>Sheet2!$E$1:$E$2</c:f>
              <c:strCache>
                <c:ptCount val="2"/>
                <c:pt idx="0">
                  <c:v>活动后 </c:v>
                </c:pt>
              </c:strCache>
            </c:strRef>
          </c:tx>
          <c:spPr>
            <a:ln>
              <a:solidFill>
                <a:srgbClr val="1684BF"/>
              </a:solidFill>
            </a:ln>
          </c:spPr>
          <c:marker>
            <c:symbol val="circle"/>
            <c:size val="5"/>
            <c:spPr>
              <a:solidFill>
                <a:sysClr val="window" lastClr="FFFFFF"/>
              </a:solidFill>
              <a:ln w="15875">
                <a:solidFill>
                  <a:srgbClr val="1684BF"/>
                </a:solidFill>
              </a:ln>
            </c:spPr>
          </c:marker>
          <c:cat>
            <c:strRef>
              <c:f>Sheet2!$B$3:$B$10</c:f>
              <c:strCache>
                <c:ptCount val="8"/>
                <c:pt idx="0">
                  <c:v>解决问题能力 </c:v>
                </c:pt>
                <c:pt idx="1">
                  <c:v>责任心 </c:v>
                </c:pt>
                <c:pt idx="2">
                  <c:v>沟通协调 </c:v>
                </c:pt>
                <c:pt idx="3">
                  <c:v>自信心 </c:v>
                </c:pt>
                <c:pt idx="4">
                  <c:v>团队凝聚力 </c:v>
                </c:pt>
                <c:pt idx="5">
                  <c:v>积极性 </c:v>
                </c:pt>
                <c:pt idx="6">
                  <c:v>品管手法 </c:v>
                </c:pt>
                <c:pt idx="7">
                  <c:v>和谐度 </c:v>
                </c:pt>
              </c:strCache>
            </c:strRef>
          </c:cat>
          <c:val>
            <c:numRef>
              <c:f>Sheet2!$E$3:$E$10</c:f>
              <c:numCache>
                <c:formatCode>General</c:formatCode>
                <c:ptCount val="8"/>
                <c:pt idx="0">
                  <c:v>44</c:v>
                </c:pt>
                <c:pt idx="1">
                  <c:v>50</c:v>
                </c:pt>
                <c:pt idx="2">
                  <c:v>46</c:v>
                </c:pt>
                <c:pt idx="3">
                  <c:v>48</c:v>
                </c:pt>
                <c:pt idx="4">
                  <c:v>50</c:v>
                </c:pt>
                <c:pt idx="5">
                  <c:v>50</c:v>
                </c:pt>
                <c:pt idx="6">
                  <c:v>32</c:v>
                </c:pt>
                <c:pt idx="7">
                  <c:v>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579-4036-98DF-3293CC57F7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378085376"/>
        <c:axId val="378086912"/>
      </c:radarChart>
      <c:catAx>
        <c:axId val="378085376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crossAx val="378086912"/>
        <c:crosses val="autoZero"/>
        <c:auto val="0"/>
        <c:lblAlgn val="ctr"/>
        <c:lblOffset val="100"/>
        <c:noMultiLvlLbl val="0"/>
      </c:catAx>
      <c:valAx>
        <c:axId val="378086912"/>
        <c:scaling>
          <c:orientation val="minMax"/>
        </c:scaling>
        <c:delete val="0"/>
        <c:axPos val="l"/>
        <c:numFmt formatCode="General" sourceLinked="1"/>
        <c:majorTickMark val="cross"/>
        <c:minorTickMark val="none"/>
        <c:tickLblPos val="nextTo"/>
        <c:crossAx val="378085376"/>
        <c:crosses val="autoZero"/>
        <c:crossBetween val="between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mtId="4294967295">
          <a:latin typeface="微软雅黑" panose="020B0503020204020204" pitchFamily="34" charset="-122"/>
          <a:ea typeface="微软雅黑" panose="020B0503020204020204" pitchFamily="34" charset="-122"/>
        </a:defRPr>
      </a:pPr>
      <a:endParaRPr lang="zh-CN"/>
    </a:p>
  </c:txPr>
  <c:externalData r:id="rId2">
    <c:autoUpdate val="0"/>
  </c:externalData>
</c:chartSpace>
</file>

<file path=ppt/charts/colors1.xml><?xml version="1.0" encoding="utf-8"?>
<cs:colorStyle xmlns:a="http://schemas.openxmlformats.org/drawingml/2006/main" xmlns:cs="http://schemas.microsoft.com/office/drawing/2012/chartStyle" meth="withinLinear" id="14">
  <a:schemeClr val="accent1"/>
</cs:colorStyle>
</file>

<file path=ppt/charts/colors2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a="http://schemas.openxmlformats.org/drawingml/2006/main" xmlns:cs="http://schemas.microsoft.com/office/drawing/2012/chartStyle" meth="withinLinear" id="14">
  <a:schemeClr val="accent1"/>
</cs:colorStyle>
</file>

<file path=ppt/charts/colors4.xml><?xml version="1.0" encoding="utf-8"?>
<cs:colorStyle xmlns:a="http://schemas.openxmlformats.org/drawingml/2006/main" xmlns:cs="http://schemas.microsoft.com/office/drawing/2012/chartStyle" meth="withinLinear" id="14">
  <a:schemeClr val="accent1"/>
</cs:colorStyle>
</file>

<file path=ppt/charts/colors5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a="http://schemas.openxmlformats.org/drawingml/2006/main" xmlns:cs="http://schemas.microsoft.com/office/drawing/2012/chartStyle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a="http://schemas.openxmlformats.org/drawingml/2006/main" xmlns:r="http://schemas.openxmlformats.org/officeDocument/2006/relationships" xmlns:cs="http://schemas.microsoft.com/office/drawing/2012/chartStyle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2.xml><?xml version="1.0" encoding="utf-8"?>
<cs:chartStyle xmlns:a="http://schemas.openxmlformats.org/drawingml/2006/main" xmlns:r="http://schemas.openxmlformats.org/officeDocument/2006/relationships" xmlns:cs="http://schemas.microsoft.com/office/drawing/2012/chartStyle" id="326">
  <cs:axisTitle>
    <cs:lnRef idx="0"/>
    <cs:fillRef idx="0"/>
    <cs:effectRef idx="0"/>
    <cs:fontRef idx="minor">
      <a:schemeClr val="tx2"/>
    </cs:fontRef>
    <cs:defRPr sz="1197" b="1" kern="1200"/>
  </cs:axisTitle>
  <cs:category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2"/>
    </cs:fontRef>
    <cs:defRPr sz="1197" kern="1200"/>
  </cs:dataLabel>
  <cs:dataLabelCallout>
    <cs:lnRef idx="0"/>
    <cs:fillRef idx="0"/>
    <cs:effectRef idx="0"/>
    <cs:fontRef idx="minor">
      <a:schemeClr val="dk2">
        <a:lumMod val="7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2"/>
    <cs:fontRef idx="minor">
      <a:schemeClr val="tx2"/>
    </cs:fontRef>
  </cs:dataPoint>
  <cs:dataPoint3D>
    <cs:lnRef idx="0"/>
    <cs:fillRef idx="3">
      <cs:styleClr val="auto"/>
    </cs:fillRef>
    <cs:effectRef idx="2"/>
    <cs:fontRef idx="minor">
      <a:schemeClr val="tx2"/>
    </cs:fontRef>
  </cs:dataPoint3D>
  <cs:dataPointLine>
    <cs:lnRef idx="0">
      <cs:styleClr val="auto"/>
    </cs:lnRef>
    <cs:fillRef idx="3"/>
    <cs:effectRef idx="2"/>
    <cs:fontRef idx="minor">
      <a:schemeClr val="tx2"/>
    </cs:fontRef>
    <cs:spPr>
      <a:ln w="31750" cap="rnd">
        <a:solidFill>
          <a:schemeClr val="phClr"/>
        </a:solidFill>
        <a:round/>
      </a:ln>
    </cs:spPr>
  </cs:dataPointLine>
  <cs:dataPointMarker>
    <cs:lnRef idx="0"/>
    <cs:fillRef idx="3">
      <cs:styleClr val="auto"/>
    </cs:fillRef>
    <cs:effectRef idx="2"/>
    <cs:fontRef idx="minor">
      <a:schemeClr val="tx2"/>
    </cs:fontRef>
    <cs:spPr>
      <a:ln w="12700">
        <a:solidFill>
          <a:schemeClr val="lt2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2"/>
    <cs:fontRef idx="minor">
      <a:schemeClr val="tx2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2"/>
    </cs:fontRef>
    <cs:spPr>
      <a:ln w="9525">
        <a:solidFill>
          <a:schemeClr val="tx2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2"/>
    </cs:fontRef>
    <cs:spPr>
      <a:ln w="9525">
        <a:solidFill>
          <a:schemeClr val="tx2">
            <a:lumMod val="75000"/>
          </a:schemeClr>
        </a:solidFill>
        <a:round/>
      </a:ln>
    </cs:spPr>
  </cs:errorBar>
  <cs:floor>
    <cs:lnRef idx="0"/>
    <cs:fillRef idx="0"/>
    <cs:effectRef idx="0"/>
    <cs:fontRef idx="minor">
      <a:schemeClr val="tx2"/>
    </cs:fontRef>
  </cs:floor>
  <cs:gridlineMajor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2"/>
    </cs:fontRef>
    <cs:spPr>
      <a:ln>
        <a:solidFill>
          <a:schemeClr val="tx2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tx2"/>
    </cs:fontRef>
    <cs:spPr>
      <a:ln w="9525">
        <a:solidFill>
          <a:schemeClr val="dk1">
            <a:lumMod val="75000"/>
            <a:lumOff val="25000"/>
          </a:schemeClr>
        </a:solidFill>
      </a:ln>
    </cs:spPr>
  </cs:hiLoLine>
  <cs:leader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2"/>
    </cs:fontRef>
    <cs:defRPr sz="1197" kern="1200"/>
  </cs:legend>
  <cs:plotArea>
    <cs:lnRef idx="0"/>
    <cs:fillRef idx="0"/>
    <cs:effectRef idx="0"/>
    <cs:fontRef idx="minor">
      <a:schemeClr val="tx2"/>
    </cs:fontRef>
  </cs:plotArea>
  <cs:plotArea3D>
    <cs:lnRef idx="0"/>
    <cs:fillRef idx="0"/>
    <cs:effectRef idx="0"/>
    <cs:fontRef idx="minor">
      <a:schemeClr val="tx2"/>
    </cs:fontRef>
  </cs:plotArea3D>
  <cs:seriesAxis>
    <cs:lnRef idx="0"/>
    <cs:fillRef idx="0"/>
    <cs:effectRef idx="0"/>
    <cs:fontRef idx="minor">
      <a:schemeClr val="tx2"/>
    </cs:fontRef>
    <cs:spPr>
      <a:ln w="9525" cap="flat" cmpd="sng" algn="ctr">
        <a:solidFill>
          <a:schemeClr val="tx2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2"/>
    </cs:fontRef>
    <cs:spPr>
      <a:ln w="9525">
        <a:solidFill>
          <a:schemeClr val="tx2">
            <a:lumMod val="60000"/>
            <a:lumOff val="4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tx2"/>
    </cs:fontRef>
    <cs:defRPr sz="2128" b="1" kern="1200"/>
  </cs:title>
  <cs:trendline>
    <cs:lnRef idx="0">
      <cs:styleClr val="auto"/>
    </cs:lnRef>
    <cs:fillRef idx="0"/>
    <cs:effectRef idx="0"/>
    <cs:fontRef idx="minor">
      <a:schemeClr val="tx2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2"/>
    </cs:fontRef>
    <cs:defRPr sz="1197" kern="1200"/>
  </cs:trendlineLabel>
  <cs:upBar>
    <cs:lnRef idx="0"/>
    <cs:fillRef idx="0"/>
    <cs:effectRef idx="0"/>
    <cs:fontRef idx="minor">
      <a:schemeClr val="tx2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2"/>
    </cs:fontRef>
    <cs:defRPr sz="1197" kern="1200"/>
  </cs:valueAxis>
  <cs:wall>
    <cs:lnRef idx="0"/>
    <cs:fillRef idx="0"/>
    <cs:effectRef idx="0"/>
    <cs:fontRef idx="minor">
      <a:schemeClr val="tx2"/>
    </cs:fontRef>
  </cs:wall>
</cs:chartStyle>
</file>

<file path=ppt/charts/style3.xml><?xml version="1.0" encoding="utf-8"?>
<cs:chartStyle xmlns:a="http://schemas.openxmlformats.org/drawingml/2006/main" xmlns:r="http://schemas.openxmlformats.org/officeDocument/2006/relationships" xmlns:cs="http://schemas.microsoft.com/office/drawing/2012/chartStyle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4.xml><?xml version="1.0" encoding="utf-8"?>
<cs:chartStyle xmlns:a="http://schemas.openxmlformats.org/drawingml/2006/main" xmlns:r="http://schemas.openxmlformats.org/officeDocument/2006/relationships" xmlns:cs="http://schemas.microsoft.com/office/drawing/2012/chartStyle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2128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lt1"/>
    </cs:fontRef>
  </cs:wall>
</cs:chartStyle>
</file>

<file path=ppt/charts/style5.xml><?xml version="1.0" encoding="utf-8"?>
<cs:chartStyle xmlns:a="http://schemas.openxmlformats.org/drawingml/2006/main" xmlns:r="http://schemas.openxmlformats.org/officeDocument/2006/relationships" xmlns:cs="http://schemas.microsoft.com/office/drawing/2012/chartStyle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  <a:effectLst/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a="http://schemas.openxmlformats.org/drawingml/2006/main" xmlns:r="http://schemas.openxmlformats.org/officeDocument/2006/relationships" xmlns:cs="http://schemas.microsoft.com/office/drawing/2012/chartStyle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a="http://schemas.openxmlformats.org/drawingml/2006/main" xmlns:r="http://schemas.openxmlformats.org/officeDocument/2006/relationships" xmlns:cs="http://schemas.microsoft.com/office/drawing/2012/chartStyle" id="320">
  <cs:axisTitle>
    <cs:lnRef idx="0"/>
    <cs:fillRef idx="0"/>
    <cs:effectRef idx="0"/>
    <cs:fontRef idx="minor">
      <a:schemeClr val="lt1">
        <a:lumMod val="75000"/>
      </a:schemeClr>
    </cs:fontRef>
    <cs:defRPr sz="1197" b="1" kern="1200"/>
  </cs:axisTitle>
  <cs:categoryAxis>
    <cs:lnRef idx="0"/>
    <cs:fillRef idx="0"/>
    <cs:effectRef idx="0"/>
    <cs:fontRef idx="minor">
      <a:schemeClr val="lt1">
        <a:lumMod val="75000"/>
      </a:schemeClr>
    </cs:fontRef>
    <cs:defRPr sz="1197" kern="1200"/>
  </cs:categoryAxis>
  <cs:chartArea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>
        <a:lumMod val="75000"/>
      </a:schemeClr>
    </cs:fontRef>
    <cs:defRPr sz="1197" kern="1200"/>
  </cs:dataLabel>
  <cs:dataLabelCallout>
    <cs:lnRef idx="0"/>
    <cs:fillRef idx="0"/>
    <cs:effectRef idx="0"/>
    <cs:fontRef idx="minor">
      <a:schemeClr val="lt1">
        <a:lumMod val="75000"/>
      </a:schemeClr>
    </cs:fontRef>
    <cs:spPr>
      <a:solidFill>
        <a:schemeClr val="dk1">
          <a:lumMod val="75000"/>
          <a:lumOff val="25000"/>
        </a:schemeClr>
      </a:solidFill>
      <a:ln>
        <a:solidFill>
          <a:schemeClr val="lt1">
            <a:lumMod val="75000"/>
          </a:schemeClr>
        </a:solidFill>
      </a:ln>
      <a:effectLst>
        <a:glow rad="63500">
          <a:schemeClr val="lt1">
            <a:lumMod val="75000"/>
            <a:alpha val="15000"/>
          </a:schemeClr>
        </a:glow>
      </a:effectLst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69804"/>
        </a:schemeClr>
      </a:solidFill>
      <a:ln w="9525" cap="flat" cmpd="sng" algn="ctr">
        <a:solidFill>
          <a:schemeClr val="phClr">
            <a:alpha val="69804"/>
          </a:schemeClr>
        </a:solidFill>
        <a:miter lim="800000"/>
      </a:ln>
      <a:effectLst>
        <a:glow rad="76200">
          <a:schemeClr val="phClr">
            <a:satMod val="175000"/>
            <a:alpha val="34000"/>
          </a:schemeClr>
        </a:glow>
      </a:effectLst>
    </cs:spPr>
  </cs:dataPoint>
  <cs:dataPoint3D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alpha val="69804"/>
        </a:schemeClr>
      </a:solidFill>
      <a:ln w="9525" cap="flat" cmpd="sng" algn="ctr">
        <a:solidFill>
          <a:schemeClr val="phClr">
            <a:alpha val="69804"/>
          </a:schemeClr>
        </a:solidFill>
        <a:miter lim="800000"/>
      </a:ln>
      <a:effectLst>
        <a:glow rad="76200">
          <a:schemeClr val="phClr">
            <a:satMod val="175000"/>
            <a:alpha val="34000"/>
          </a:schemeClr>
        </a:glow>
      </a:effectLst>
    </cs:spPr>
  </cs:dataPoint3D>
  <cs:dataPointLine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ln w="28575" cap="rnd">
        <a:solidFill>
          <a:schemeClr val="phClr"/>
        </a:solidFill>
      </a:ln>
      <a:effectLst>
        <a:glow rad="76200">
          <a:schemeClr val="phClr">
            <a:satMod val="175000"/>
            <a:alpha val="34000"/>
          </a:schemeClr>
        </a:glow>
      </a:effectLst>
    </cs:spPr>
  </cs:dataPointLine>
  <cs:dataPointMarker>
    <cs:lnRef idx="0">
      <cs:styleClr val="auto"/>
    </cs:lnRef>
    <cs:fillRef idx="0">
      <cs:styleClr val="auto"/>
    </cs:fillRef>
    <cs:effectRef idx="0">
      <cs:styleClr val="auto"/>
    </cs:effectRef>
    <cs:fontRef idx="minor">
      <a:schemeClr val="dk1"/>
    </cs:fontRef>
    <cs:spPr>
      <a:solidFill>
        <a:schemeClr val="phClr">
          <a:lumMod val="60000"/>
          <a:lumOff val="40000"/>
        </a:schemeClr>
      </a:solidFill>
      <a:effectLst>
        <a:glow rad="63500">
          <a:schemeClr val="phClr">
            <a:satMod val="175000"/>
            <a:alpha val="25000"/>
          </a:schemeClr>
        </a:glow>
      </a:effectLst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75000"/>
      </a:schemeClr>
    </cs:fontRef>
    <cs:spPr>
      <a:ln w="9525">
        <a:solidFill>
          <a:schemeClr val="dk1">
            <a:lumMod val="50000"/>
            <a:lumOff val="50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75000"/>
          </a:schemeClr>
        </a:solidFill>
        <a:round/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0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0000"/>
          </a:schemeClr>
        </a:solidFill>
        <a:round/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leaderLine>
  <cs:legend>
    <cs:lnRef idx="0"/>
    <cs:fillRef idx="0"/>
    <cs:effectRef idx="0"/>
    <cs:fontRef idx="minor">
      <a:schemeClr val="lt1">
        <a:lumMod val="75000"/>
      </a:schemeClr>
    </cs:fontRef>
    <cs:defRPr sz="1197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lt1">
        <a:lumMod val="75000"/>
      </a:schemeClr>
    </cs:fontRef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lt1">
            <a:lumMod val="50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85000"/>
      </a:schemeClr>
    </cs:fontRef>
    <cs:defRPr sz="1862" b="0" kern="1200" cap="none" spc="5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>
            <a:alpha val="50000"/>
          </a:schemeClr>
        </a:solidFill>
      </a:ln>
    </cs:spPr>
  </cs:trendline>
  <cs:trendlineLabel>
    <cs:lnRef idx="0"/>
    <cs:fillRef idx="0"/>
    <cs:effectRef idx="0"/>
    <cs:fontRef idx="minor">
      <a:schemeClr val="lt1">
        <a:lumMod val="7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85000"/>
        </a:schemeClr>
      </a:solidFill>
      <a:ln w="9525">
        <a:solidFill>
          <a:schemeClr val="dk1">
            <a:lumMod val="50000"/>
          </a:schemeClr>
        </a:solidFill>
        <a:round/>
      </a:ln>
    </cs:spPr>
  </cs:upBar>
  <cs:valueAxis>
    <cs:lnRef idx="0"/>
    <cs:fillRef idx="0"/>
    <cs:effectRef idx="0"/>
    <cs:fontRef idx="minor">
      <a:schemeClr val="lt1">
        <a:lumMod val="75000"/>
      </a:schemeClr>
    </cs:fontRef>
    <cs:defRPr sz="1197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55ABC0-1996-4F80-9158-DC6ADECBB410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DECD8-244A-4910-B187-CBC0FD45BE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18964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21634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32613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6244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0553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6479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06943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6ADECD8-244A-4910-B187-CBC0FD45BE1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388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5961651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38109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153983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6836525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5565239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41226"/>
          </a:xfrm>
          <a:prstGeom prst="rect">
            <a:avLst/>
          </a:prstGeom>
        </p:spPr>
      </p:pic>
      <p:sp>
        <p:nvSpPr>
          <p:cNvPr id="7" name="矩形 6"/>
          <p:cNvSpPr/>
          <p:nvPr userDrawn="1"/>
        </p:nvSpPr>
        <p:spPr>
          <a:xfrm>
            <a:off x="0" y="1"/>
            <a:ext cx="12192000" cy="6857999"/>
          </a:xfrm>
          <a:prstGeom prst="rect">
            <a:avLst/>
          </a:prstGeom>
          <a:solidFill>
            <a:srgbClr val="2B9AED">
              <a:alpha val="9098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4724646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1059372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064"/>
            <a:ext cx="12192000" cy="6824453"/>
          </a:xfrm>
          <a:prstGeom prst="rect">
            <a:avLst/>
          </a:prstGeom>
        </p:spPr>
      </p:pic>
      <p:sp>
        <p:nvSpPr>
          <p:cNvPr id="9" name="矩形 8"/>
          <p:cNvSpPr/>
          <p:nvPr userDrawn="1"/>
        </p:nvSpPr>
        <p:spPr>
          <a:xfrm>
            <a:off x="0" y="3596640"/>
            <a:ext cx="12192000" cy="32613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3586201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2268411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690737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197808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CE0F5B-6BF1-49F2-AE62-80A0200A198B}" type="datetimeFigureOut">
              <a:rPr lang="zh-CN" altLang="en-US" smtClean="0"/>
              <a:t>2022/3/23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5E3C945-1FDC-4A53-9735-EF326414CF9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25977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4" Type="http://schemas.openxmlformats.org/officeDocument/2006/relationships/chart" Target="../charts/char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5" Type="http://schemas.openxmlformats.org/officeDocument/2006/relationships/chart" Target="../charts/chart7.xml"/><Relationship Id="rId4" Type="http://schemas.openxmlformats.org/officeDocument/2006/relationships/chart" Target="../charts/char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4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2053868" y="2469756"/>
            <a:ext cx="8084264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柏拉图与雷达图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2316760" y="3916306"/>
            <a:ext cx="73410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图表的数字都是可以随意编辑使用的哦</a:t>
            </a:r>
          </a:p>
        </p:txBody>
      </p:sp>
      <p:sp>
        <p:nvSpPr>
          <p:cNvPr id="10" name="矩形 9"/>
          <p:cNvSpPr/>
          <p:nvPr/>
        </p:nvSpPr>
        <p:spPr>
          <a:xfrm>
            <a:off x="1811383" y="1741714"/>
            <a:ext cx="8482148" cy="3135086"/>
          </a:xfrm>
          <a:prstGeom prst="rect">
            <a:avLst/>
          </a:prstGeom>
          <a:noFill/>
          <a:ln w="63500" cap="sq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等腰三角形 10"/>
          <p:cNvSpPr/>
          <p:nvPr/>
        </p:nvSpPr>
        <p:spPr>
          <a:xfrm rot="16200000">
            <a:off x="9850835" y="1870623"/>
            <a:ext cx="353894" cy="305081"/>
          </a:xfrm>
          <a:prstGeom prst="triangle">
            <a:avLst>
              <a:gd name="adj" fmla="val 10000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3121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" presetID="56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平行四边形 8"/>
          <p:cNvSpPr/>
          <p:nvPr/>
        </p:nvSpPr>
        <p:spPr>
          <a:xfrm>
            <a:off x="2377440" y="5257464"/>
            <a:ext cx="3997235" cy="400110"/>
          </a:xfrm>
          <a:prstGeom prst="parallelogram">
            <a:avLst/>
          </a:prstGeom>
          <a:solidFill>
            <a:srgbClr val="2B9A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平行四边形 9"/>
          <p:cNvSpPr/>
          <p:nvPr/>
        </p:nvSpPr>
        <p:spPr>
          <a:xfrm>
            <a:off x="6339839" y="5257464"/>
            <a:ext cx="3317965" cy="400110"/>
          </a:xfrm>
          <a:prstGeom prst="parallelogram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1694795" y="4232366"/>
            <a:ext cx="88024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4800" b="1">
                <a:solidFill>
                  <a:srgbClr val="2B9AED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这页可以作为您品管圈的封面哦</a:t>
            </a:r>
          </a:p>
        </p:txBody>
      </p:sp>
      <p:sp>
        <p:nvSpPr>
          <p:cNvPr id="4" name="六边形 3"/>
          <p:cNvSpPr/>
          <p:nvPr/>
        </p:nvSpPr>
        <p:spPr>
          <a:xfrm>
            <a:off x="3910149" y="1733007"/>
            <a:ext cx="1602377" cy="1402080"/>
          </a:xfrm>
          <a:prstGeom prst="hexagon">
            <a:avLst>
              <a:gd name="adj" fmla="val 27484"/>
              <a:gd name="vf" fmla="val 115470"/>
            </a:avLst>
          </a:prstGeom>
          <a:solidFill>
            <a:schemeClr val="bg1"/>
          </a:solidFill>
          <a:ln>
            <a:solidFill>
              <a:srgbClr val="2B9AED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4272755" y="2110881"/>
            <a:ext cx="95410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圈徽加</a:t>
            </a:r>
            <a:endParaRPr lang="en-US" altLang="zh-CN" sz="200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这里哦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2563565" y="5257464"/>
            <a:ext cx="372409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汇报单位：空空</a:t>
            </a:r>
            <a:r>
              <a:rPr lang="en-US" altLang="zh-CN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设计工作室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6560800" y="5257464"/>
            <a:ext cx="30059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汇报小组：蓝色天使小组</a:t>
            </a:r>
          </a:p>
        </p:txBody>
      </p:sp>
      <p:sp>
        <p:nvSpPr>
          <p:cNvPr id="8" name="文本框 7"/>
          <p:cNvSpPr txBox="1"/>
          <p:nvPr/>
        </p:nvSpPr>
        <p:spPr>
          <a:xfrm>
            <a:off x="6096000" y="3838210"/>
            <a:ext cx="43300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zh-CN" altLang="en-US" sz="20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如果有副标题可以添加在这里哦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75593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:p15="http://schemas.microsoft.com/office/powerpoint/2012/main"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C -0.37517 0.88508 -0.02552 0.75279 0.0908 0.66613 C 0.20747 0.57948 0.21649 0.50394 0.23177 0.40825 C 0.24705 0.31256 0.22118 0.15964 0.18264 0.09152 C 0.1441 0.02341 0.03802 0 0 0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" grpId="0"/>
      <p:bldP spid="5" grpId="0"/>
      <p:bldP spid="8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2589474" y="305126"/>
            <a:ext cx="6986208" cy="919248"/>
            <a:chOff x="2589474" y="305126"/>
            <a:chExt cx="6986208" cy="919248"/>
          </a:xfrm>
        </p:grpSpPr>
        <p:sp>
          <p:nvSpPr>
            <p:cNvPr id="49" name="文本框 48"/>
            <p:cNvSpPr txBox="1"/>
            <p:nvPr/>
          </p:nvSpPr>
          <p:spPr>
            <a:xfrm>
              <a:off x="4385108" y="305126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柏拉图图表系列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  <p:graphicFrame>
        <p:nvGraphicFramePr>
          <p:cNvPr id="25" name="Chart 1"/>
          <p:cNvGraphicFramePr/>
          <p:nvPr>
            <p:extLst>
              <p:ext uri="{D42A27DB-BD31-4B8C-83A1-F6EECF244321}">
                <p14:modId xmlns:p14="http://schemas.microsoft.com/office/powerpoint/2010/main" val="531123665"/>
              </p:ext>
            </p:extLst>
          </p:nvPr>
        </p:nvGraphicFramePr>
        <p:xfrm>
          <a:off x="1081138" y="1605013"/>
          <a:ext cx="4809497" cy="5118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26" name="Chart 1"/>
          <p:cNvGraphicFramePr/>
          <p:nvPr>
            <p:extLst>
              <p:ext uri="{D42A27DB-BD31-4B8C-83A1-F6EECF244321}">
                <p14:modId xmlns:p14="http://schemas.microsoft.com/office/powerpoint/2010/main" val="1350150980"/>
              </p:ext>
            </p:extLst>
          </p:nvPr>
        </p:nvGraphicFramePr>
        <p:xfrm>
          <a:off x="6441195" y="1740665"/>
          <a:ext cx="5750805" cy="511733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95375729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5" grpId="0">
        <p:bldAsOne/>
      </p:bldGraphic>
      <p:bldGraphic spid="26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2589474" y="305126"/>
            <a:ext cx="6986208" cy="919248"/>
            <a:chOff x="2589474" y="305126"/>
            <a:chExt cx="6986208" cy="919248"/>
          </a:xfrm>
        </p:grpSpPr>
        <p:sp>
          <p:nvSpPr>
            <p:cNvPr id="49" name="文本框 48"/>
            <p:cNvSpPr txBox="1"/>
            <p:nvPr/>
          </p:nvSpPr>
          <p:spPr>
            <a:xfrm>
              <a:off x="4385108" y="305126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柏拉图图表系列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  <p:graphicFrame>
        <p:nvGraphicFramePr>
          <p:cNvPr id="25" name="Chart 1"/>
          <p:cNvGraphicFramePr/>
          <p:nvPr>
            <p:extLst>
              <p:ext uri="{D42A27DB-BD31-4B8C-83A1-F6EECF244321}">
                <p14:modId xmlns:p14="http://schemas.microsoft.com/office/powerpoint/2010/main" val="4251382129"/>
              </p:ext>
            </p:extLst>
          </p:nvPr>
        </p:nvGraphicFramePr>
        <p:xfrm>
          <a:off x="1273081" y="1613721"/>
          <a:ext cx="4809497" cy="5118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Chart 1"/>
          <p:cNvGraphicFramePr/>
          <p:nvPr>
            <p:extLst>
              <p:ext uri="{D42A27DB-BD31-4B8C-83A1-F6EECF244321}">
                <p14:modId xmlns:p14="http://schemas.microsoft.com/office/powerpoint/2010/main" val="2589168576"/>
              </p:ext>
            </p:extLst>
          </p:nvPr>
        </p:nvGraphicFramePr>
        <p:xfrm>
          <a:off x="6422212" y="1613721"/>
          <a:ext cx="4809497" cy="51188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52433922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5" grpId="0">
        <p:bldAsOne/>
      </p:bldGraphic>
      <p:bldGraphic spid="7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2589474" y="239489"/>
            <a:ext cx="6986208" cy="984885"/>
            <a:chOff x="2589474" y="239489"/>
            <a:chExt cx="6986208" cy="984885"/>
          </a:xfrm>
        </p:grpSpPr>
        <p:sp>
          <p:nvSpPr>
            <p:cNvPr id="49" name="文本框 48"/>
            <p:cNvSpPr txBox="1"/>
            <p:nvPr/>
          </p:nvSpPr>
          <p:spPr>
            <a:xfrm>
              <a:off x="3322662" y="239489"/>
              <a:ext cx="572464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效果验证持续追踪图表系列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1519988163"/>
              </p:ext>
            </p:extLst>
          </p:nvPr>
        </p:nvGraphicFramePr>
        <p:xfrm>
          <a:off x="870857" y="1624538"/>
          <a:ext cx="10450285" cy="461079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69761024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2589474" y="305126"/>
            <a:ext cx="6986208" cy="919248"/>
            <a:chOff x="2589474" y="305126"/>
            <a:chExt cx="6986208" cy="919248"/>
          </a:xfrm>
        </p:grpSpPr>
        <p:sp>
          <p:nvSpPr>
            <p:cNvPr id="49" name="文本框 48"/>
            <p:cNvSpPr txBox="1"/>
            <p:nvPr/>
          </p:nvSpPr>
          <p:spPr>
            <a:xfrm>
              <a:off x="4385108" y="305126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雷达图图表系列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  <p:graphicFrame>
        <p:nvGraphicFramePr>
          <p:cNvPr id="5" name="图表 4"/>
          <p:cNvGraphicFramePr/>
          <p:nvPr>
            <p:extLst>
              <p:ext uri="{D42A27DB-BD31-4B8C-83A1-F6EECF244321}">
                <p14:modId xmlns:p14="http://schemas.microsoft.com/office/powerpoint/2010/main" val="649173608"/>
              </p:ext>
            </p:extLst>
          </p:nvPr>
        </p:nvGraphicFramePr>
        <p:xfrm>
          <a:off x="-155103" y="1805068"/>
          <a:ext cx="6494943" cy="4329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图表 6"/>
          <p:cNvGraphicFramePr/>
          <p:nvPr>
            <p:extLst>
              <p:ext uri="{D42A27DB-BD31-4B8C-83A1-F6EECF244321}">
                <p14:modId xmlns:p14="http://schemas.microsoft.com/office/powerpoint/2010/main" val="3875252761"/>
              </p:ext>
            </p:extLst>
          </p:nvPr>
        </p:nvGraphicFramePr>
        <p:xfrm>
          <a:off x="6200502" y="1805068"/>
          <a:ext cx="5329647" cy="43299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52335315"/>
      </p:ext>
    </p:extLst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组合 47"/>
          <p:cNvGrpSpPr/>
          <p:nvPr/>
        </p:nvGrpSpPr>
        <p:grpSpPr>
          <a:xfrm>
            <a:off x="2589474" y="305126"/>
            <a:ext cx="6986208" cy="919248"/>
            <a:chOff x="2589474" y="305126"/>
            <a:chExt cx="6986208" cy="919248"/>
          </a:xfrm>
        </p:grpSpPr>
        <p:sp>
          <p:nvSpPr>
            <p:cNvPr id="49" name="文本框 48"/>
            <p:cNvSpPr txBox="1"/>
            <p:nvPr/>
          </p:nvSpPr>
          <p:spPr>
            <a:xfrm>
              <a:off x="4385108" y="305126"/>
              <a:ext cx="3416320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3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雷达图图表系列</a:t>
              </a:r>
            </a:p>
          </p:txBody>
        </p:sp>
        <p:sp>
          <p:nvSpPr>
            <p:cNvPr id="50" name="文本框 49"/>
            <p:cNvSpPr txBox="1"/>
            <p:nvPr/>
          </p:nvSpPr>
          <p:spPr>
            <a:xfrm>
              <a:off x="2589474" y="885820"/>
              <a:ext cx="698620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品管圈专业图表内含鱼骨图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甘特图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柏拉图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雷达图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冰山图</a:t>
              </a:r>
              <a:r>
                <a:rPr lang="en-US" altLang="zh-CN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/</a:t>
              </a:r>
              <a:r>
                <a:rPr lang="zh-CN" altLang="en-US" sz="1600">
                  <a:solidFill>
                    <a:schemeClr val="tx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目标对比预测等</a:t>
              </a:r>
            </a:p>
          </p:txBody>
        </p:sp>
      </p:grpSp>
      <p:graphicFrame>
        <p:nvGraphicFramePr>
          <p:cNvPr id="8" name="图表 7"/>
          <p:cNvGraphicFramePr/>
          <p:nvPr>
            <p:extLst>
              <p:ext uri="{D42A27DB-BD31-4B8C-83A1-F6EECF244321}">
                <p14:modId xmlns:p14="http://schemas.microsoft.com/office/powerpoint/2010/main" val="2697022953"/>
              </p:ext>
            </p:extLst>
          </p:nvPr>
        </p:nvGraphicFramePr>
        <p:xfrm>
          <a:off x="-243840" y="1989167"/>
          <a:ext cx="7019109" cy="44116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8218265"/>
              </p:ext>
            </p:extLst>
          </p:nvPr>
        </p:nvGraphicFramePr>
        <p:xfrm>
          <a:off x="6096000" y="2116183"/>
          <a:ext cx="5634445" cy="4119154"/>
        </p:xfrm>
        <a:graphic>
          <a:graphicData uri="http://schemas.openxmlformats.org/drawingml/2006/table">
            <a:tbl>
              <a:tblPr/>
              <a:tblGrid>
                <a:gridCol w="307333">
                  <a:extLst>
                    <a:ext uri="{9D8B030D-6E8A-4147-A177-3AD203B41FA5}">
                      <a16:colId xmlns="" xmlns:a16="http://schemas.microsoft.com/office/drawing/2014/main" xmlns:p15="http://schemas.microsoft.com/office/powerpoint/2012/main" xmlns:p14="http://schemas.microsoft.com/office/powerpoint/2010/main" val="20000"/>
                    </a:ext>
                  </a:extLst>
                </a:gridCol>
                <a:gridCol w="973222">
                  <a:extLst>
                    <a:ext uri="{9D8B030D-6E8A-4147-A177-3AD203B41FA5}">
                      <a16:colId xmlns="" xmlns:a16="http://schemas.microsoft.com/office/drawing/2014/main" xmlns:p15="http://schemas.microsoft.com/office/powerpoint/2012/main" xmlns:p14="http://schemas.microsoft.com/office/powerpoint/2010/main" val="20001"/>
                    </a:ext>
                  </a:extLst>
                </a:gridCol>
                <a:gridCol w="654506">
                  <a:extLst>
                    <a:ext uri="{9D8B030D-6E8A-4147-A177-3AD203B41FA5}">
                      <a16:colId xmlns="" xmlns:a16="http://schemas.microsoft.com/office/drawing/2014/main" xmlns:p15="http://schemas.microsoft.com/office/powerpoint/2012/main" xmlns:p14="http://schemas.microsoft.com/office/powerpoint/2010/main" val="20002"/>
                    </a:ext>
                  </a:extLst>
                </a:gridCol>
                <a:gridCol w="655644">
                  <a:extLst>
                    <a:ext uri="{9D8B030D-6E8A-4147-A177-3AD203B41FA5}">
                      <a16:colId xmlns="" xmlns:a16="http://schemas.microsoft.com/office/drawing/2014/main" xmlns:p15="http://schemas.microsoft.com/office/powerpoint/2012/main" xmlns:p14="http://schemas.microsoft.com/office/powerpoint/2010/main" val="20003"/>
                    </a:ext>
                  </a:extLst>
                </a:gridCol>
                <a:gridCol w="760366">
                  <a:extLst>
                    <a:ext uri="{9D8B030D-6E8A-4147-A177-3AD203B41FA5}">
                      <a16:colId xmlns="" xmlns:a16="http://schemas.microsoft.com/office/drawing/2014/main" xmlns:p15="http://schemas.microsoft.com/office/powerpoint/2012/main" xmlns:p14="http://schemas.microsoft.com/office/powerpoint/2010/main" val="20004"/>
                    </a:ext>
                  </a:extLst>
                </a:gridCol>
                <a:gridCol w="761504">
                  <a:extLst>
                    <a:ext uri="{9D8B030D-6E8A-4147-A177-3AD203B41FA5}">
                      <a16:colId xmlns="" xmlns:a16="http://schemas.microsoft.com/office/drawing/2014/main" xmlns:p15="http://schemas.microsoft.com/office/powerpoint/2012/main" xmlns:p14="http://schemas.microsoft.com/office/powerpoint/2010/main" val="20005"/>
                    </a:ext>
                  </a:extLst>
                </a:gridCol>
                <a:gridCol w="760366">
                  <a:extLst>
                    <a:ext uri="{9D8B030D-6E8A-4147-A177-3AD203B41FA5}">
                      <a16:colId xmlns="" xmlns:a16="http://schemas.microsoft.com/office/drawing/2014/main" xmlns:p15="http://schemas.microsoft.com/office/powerpoint/2012/main" xmlns:p14="http://schemas.microsoft.com/office/powerpoint/2010/main" val="20006"/>
                    </a:ext>
                  </a:extLst>
                </a:gridCol>
                <a:gridCol w="761504">
                  <a:extLst>
                    <a:ext uri="{9D8B030D-6E8A-4147-A177-3AD203B41FA5}">
                      <a16:colId xmlns="" xmlns:a16="http://schemas.microsoft.com/office/drawing/2014/main" xmlns:p15="http://schemas.microsoft.com/office/powerpoint/2012/main" xmlns:p14="http://schemas.microsoft.com/office/powerpoint/2010/main" val="20007"/>
                    </a:ext>
                  </a:extLst>
                </a:gridCol>
              </a:tblGrid>
              <a:tr h="378034">
                <a:tc rowSpan="2"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编号 　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AC3E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评价项目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AC3E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活动前　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AC3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2"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活动后　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AC3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活动成长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AC3E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正</a:t>
                      </a: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/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负向 　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AC3E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xmlns:p15="http://schemas.microsoft.com/office/powerpoint/2012/main" xmlns:p14="http://schemas.microsoft.com/office/powerpoint/2010/main" val="10000"/>
                  </a:ext>
                </a:extLst>
              </a:tr>
              <a:tr h="380833"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AC3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AC3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合计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AC3E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平均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2CAC3E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xmlns:p15="http://schemas.microsoft.com/office/powerpoint/2012/main" xmlns:p14="http://schemas.microsoft.com/office/powerpoint/2010/main" val="10001"/>
                  </a:ext>
                </a:extLst>
              </a:tr>
              <a:tr h="414435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解决问题能力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44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4.4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新宋体" panose="02010609030101010101" pitchFamily="49" charset="-122"/>
                          <a:ea typeface="新宋体" panose="02010609030101010101" pitchFamily="49" charset="-122"/>
                        </a:rPr>
                        <a:t>↑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xmlns:p15="http://schemas.microsoft.com/office/powerpoint/2012/main" xmlns:p14="http://schemas.microsoft.com/office/powerpoint/2010/main" val="10002"/>
                  </a:ext>
                </a:extLst>
              </a:tr>
              <a:tr h="414435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责任心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新宋体" panose="02010609030101010101" pitchFamily="49" charset="-122"/>
                          <a:ea typeface="新宋体" panose="02010609030101010101" pitchFamily="49" charset="-122"/>
                        </a:rPr>
                        <a:t>↑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xmlns:p15="http://schemas.microsoft.com/office/powerpoint/2012/main" xmlns:p14="http://schemas.microsoft.com/office/powerpoint/2010/main" val="10003"/>
                  </a:ext>
                </a:extLst>
              </a:tr>
              <a:tr h="414435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沟通协调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46</a:t>
                      </a:r>
                      <a:endParaRPr kumimoji="0" lang="zh-CN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4.6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新宋体" panose="02010609030101010101" pitchFamily="49" charset="-122"/>
                          <a:ea typeface="新宋体" panose="02010609030101010101" pitchFamily="49" charset="-122"/>
                        </a:rPr>
                        <a:t>↑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xmlns:p15="http://schemas.microsoft.com/office/powerpoint/2012/main" xmlns:p14="http://schemas.microsoft.com/office/powerpoint/2010/main" val="10004"/>
                  </a:ext>
                </a:extLst>
              </a:tr>
              <a:tr h="414435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自信心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48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4.8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新宋体" panose="02010609030101010101" pitchFamily="49" charset="-122"/>
                          <a:ea typeface="新宋体" panose="02010609030101010101" pitchFamily="49" charset="-122"/>
                        </a:rPr>
                        <a:t>↑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xmlns:p15="http://schemas.microsoft.com/office/powerpoint/2012/main" xmlns:p14="http://schemas.microsoft.com/office/powerpoint/2010/main" val="10005"/>
                  </a:ext>
                </a:extLst>
              </a:tr>
              <a:tr h="406036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团队凝聚力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2.0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新宋体" panose="02010609030101010101" pitchFamily="49" charset="-122"/>
                          <a:ea typeface="新宋体" panose="02010609030101010101" pitchFamily="49" charset="-122"/>
                        </a:rPr>
                        <a:t>↑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xmlns:p15="http://schemas.microsoft.com/office/powerpoint/2012/main" xmlns:p14="http://schemas.microsoft.com/office/powerpoint/2010/main" val="10006"/>
                  </a:ext>
                </a:extLst>
              </a:tr>
              <a:tr h="414435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积极性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50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5.0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1.6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新宋体" panose="02010609030101010101" pitchFamily="49" charset="-122"/>
                          <a:ea typeface="新宋体" panose="02010609030101010101" pitchFamily="49" charset="-122"/>
                        </a:rPr>
                        <a:t>↑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xmlns:p15="http://schemas.microsoft.com/office/powerpoint/2012/main" xmlns:p14="http://schemas.microsoft.com/office/powerpoint/2010/main" val="10007"/>
                  </a:ext>
                </a:extLst>
              </a:tr>
              <a:tr h="467641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品管手法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1.4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3.2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1.8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新宋体" panose="02010609030101010101" pitchFamily="49" charset="-122"/>
                          <a:ea typeface="新宋体" panose="02010609030101010101" pitchFamily="49" charset="-122"/>
                        </a:rPr>
                        <a:t>↑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xmlns:p15="http://schemas.microsoft.com/office/powerpoint/2012/main" xmlns:p14="http://schemas.microsoft.com/office/powerpoint/2010/main" val="10008"/>
                  </a:ext>
                </a:extLst>
              </a:tr>
              <a:tr h="414435"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 和谐度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1684B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30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3.0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42</a:t>
                      </a:r>
                      <a:endParaRPr kumimoji="0" lang="zh-CN" altLang="en-US" sz="1100" b="1" i="0" u="none" strike="noStrike" cap="none" normalizeH="0" baseline="0">
                        <a:ln>
                          <a:noFill/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4.2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en-US" altLang="zh-CN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1.2</a:t>
                      </a: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　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1pPr>
                      <a:lvl2pPr marL="742950" indent="-28575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4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2pPr>
                      <a:lvl3pPr marL="11430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20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3pPr>
                      <a:lvl4pPr marL="16002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4pPr>
                      <a:lvl5pPr marL="2057400" indent="-228600" algn="l" defTabSz="914400" rtl="0" eaLnBrk="0" latinLnBrk="0" hangingPunct="0">
                        <a:spcBef>
                          <a:spcPct val="20000"/>
                        </a:spcBef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5pPr>
                      <a:lvl6pPr marL="25146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6pPr>
                      <a:lvl7pPr marL="29718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7pPr>
                      <a:lvl8pPr marL="34290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8pPr>
                      <a:lvl9pPr marL="3886200" indent="-228600" algn="l" defTabSz="914400" rtl="0" eaLnBrk="0" fontAlgn="base" latinLnBrk="0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defRPr sz="1800" kern="1200">
                          <a:solidFill>
                            <a:srgbClr val="00206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Arial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11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effectLst/>
                          <a:latin typeface="新宋体" panose="02010609030101010101" pitchFamily="49" charset="-122"/>
                          <a:ea typeface="新宋体" panose="02010609030101010101" pitchFamily="49" charset="-122"/>
                        </a:rPr>
                        <a:t>↑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xmlns:p15="http://schemas.microsoft.com/office/powerpoint/2012/main" xmlns:p14="http://schemas.microsoft.com/office/powerpoint/2010/main" val="10009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4306440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42" presetClass="path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038 0.24375 L -0.05573 0.00394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33" y="-11991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18" presetClass="entr" presetSubtype="1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8" grpId="0">
        <p:bldAsOne/>
      </p:bldGraphic>
      <p:bldGraphic spid="8" grpId="1">
        <p:bldAsOne/>
      </p:bldGraphic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2.0.50727.5485"/>
  <p:tag name="AS_OS" val="Microsoft Windows NT 6.1.7601 Service Pack 1"/>
  <p:tag name="AS_RELEASE_DATE" val="2018.04.09"/>
  <p:tag name="AS_TITLE" val="Aspose.Slides for .NET 2.0"/>
  <p:tag name="AS_VERSION" val="18.4"/>
  <p:tag name="ISPRING_PLAYERS_CUSTOMIZATION" val="UEsDBBQAAgAIAFp1bkkVDq0oZAQAAAcRAAAdAAAAdW5pdmVyc2FsL2NvbW1vbl9tZXNzYWdlcy5sbmetWG1v2zYQ/l6g/4EQUGADtrQd0KIYEge0xNhEZMmV6DjZCwRGYmwilJjpxW32ab9mP2y/ZEfKTuK+QFISwDZMyvfc8e6eu6MPjz/nCm1EWUldHDlvD944SBSpzmSxOnIW7OTnDw6qal5kXOlCHDmFdtDx6OWLQ8WLVcNXAr6/fIHQYS6qCpbVyKzu10hmR858nLjhbI6Di8QPJ2EyphNn5Or8hhe3yNcr/Uf5wy/vP3x+++79j4evt5J9gOIZ9v19KGSR3r3pARSwKPQTQCN+EpBz5ozM5zC5cMF8GhBntP0yTHoekTNnZD475RZRRAKWxD71SELjJAiZ9YVPGPGc0YVu0JpvBKo12kjxCdVrAZGsZSlQpWRmH6QaNopGdCnzwhmmQRKRmEXUZTQMnFGsy/L2JwvLm3qtS1BXoUxW/FKJzOqEnLHPb0pRgWpeQ04heNVrCb/UOZfFQafqCC9pMElYGPpxQgJvt+OMSJEhr+RGzUCUCMckAoCSV6J8hGxis8yKI6zUMIQpnUx9eDNjwlSu1gre9VA75gRiMBdFlxTkCIkgu+J4GUaecRqoQhzd8Kr6pMtsLz8eBqoLmAZuCCnosgfgzGDsgCHGEipHWYq07gKbkTjGE5KMw3NIZOBdOEQiPAW6nQ6RuCAxUITEXTIBPqMTbBLeUGyX/zt+pdyks7pFPE1BzrhvI3VTwY5xKbDAMq06GKYmJh8XEDaK/e/QuEUF79rVSm4E2FFmouxUBJXFJZ7Joo8L+ltygqlPvATSyguXCbMlz2jM+S0qdI14tuFFKtClSHkDuX4LzzKZ2Wcmzlb/X438G/F6W1VebQtS4JHzV0Pt2ath3zCrqcCmuhb5Td2l2jhsa/5jrDA5/V0T+hz9cfpjlwQ4ouHzRKaSeaPaqvvk+NxZNjRGnUY80VP9o/XclsRtbR1TKFhjqftLEOimpn9AA1T9pWhwAormbYmGGk6LqwE6g3ALEGj0WIwzcNWeCWfgwgHySzKOKYPZaCkuK1l3jh2WjW2Avh3aFOY8JWpxT8ZLcaVhwlGCb9rpA7qQjXRnQB8MN3utglHmg8kBAK7a5AFIJXOwP+uBuZiRnQfaAr93kqVuVGbJq+S1LfLg2yYXX49NV6XO7a7i1S552yZz/BQr2sNFrdL5gPZ/x7/e8XlAv8dHKSY4cqeJiwOXmEHfcFX1FAIKGFf4LE58PDbiwIWc1+kamumVboqsJ1A7q3vkBAPY9syx4GW6/u+ff3tifGFJu4u2u78OAgFimypI7sB+D3Qtqj+7QBge78vZRR+p7d1mJ9fzqsMoZOGz3CF421pyncPWQbdeSPJt0DBj2J3OgAexTXvdlDC6DUGY4egUapmdwp3RjJfXUAiZ1moQinW1ScB6mPb762VTK1mIIbJPayXmwIzOE+x59q4N5FMyvW57ZgY3inR76VZw6e4L5k5xAHX2CzyRyXogoG1NuyoERG/X9zTffN2p7laV/cvi8PWDfzD+B1BLAwQUAAIACABadW5Jv6YZjj0EAAA0EwAAJwAAAHVuaXZlcnNhbC9mbGFzaF9wdWJsaXNoaW5nX3NldHRpbmdzLnhtbNVYX3MaNxB/51NorpPHgJ3areMBPNg+xkwwULjUyRMj7hZOtU66SjoIeeqn6QfrJ+kKGXzYji3ckmmHYeBWu7/9L62ufvYl42QOSjMpGsFh9SAgIGKZMDFrBB+j9tuTgGhDRUK5FNAIhAzIWbNSz4sJZzodgTHIqgnCCH2am0aQGpOf1mqLxaLKdK7squSFQXxdjWVWyxVoEAZULed0iT9mmYMO7hA8APCbSXEn1qxUCKk7pGuZFBwIS9BywaxTlLc51WlQc2wTGt/OlCxEciG5VETNJo3gh5OW/ax5HNQly0DYmOgmEi3ZnNIkYdYKykfsK5AU2CxFcw8PjgKyYIlJG8G7IwuD7LXHMCtw5zu1MBcSgyDMHX4GhibUUPfoFCqYgsJsgG4aVQCCbtFKnAa+mA3BkZKloBmLI1whNlSN4DIaD8N2OAx7F+H447DrTPWWiDpRN/SSGQzDUdiLwuH4vNPfUeI1WsLrVqe7o8xNeD7qRLtq6rWudxUZXPV7fjJXnwfhsNvpfRhH/X436gzupVapLyW5XtuulzrWlSzUVlWs22yQSiMfFIcGg23OqZpBJNsMq3hKuYaA/JbD7JeCcmaWtrJxN7gFyFs6h9gMbdk2AluKwT2cA0TTUFmpJ443PfH+aMv7mlNf8uxpQ+vUGBqn2D9mXf5lypprKsVW5dtnMpE82bgE2QSSHs2gtCuMbploI+dhQKaYCI7OthSjPCDMoPPxRlgXE22YWe0+7TInQSzcJoFcjx4FI06pQhd1mX4Xd9v6cTMUCblUdIFbm4uHI3+LfQDCh+0KY89t/EH5sIeK6h04SYtzH+bhuhJ9mK+pugVFIim5F/9gXSukI6bSy/aMMi+7b2CimQEf1nPmpfpGFjwhS1kQzm6BGEnQ+iLDfymQ8klApkpmKyoeVoZozrCu5gwWkJz5KPqMKrICJfFkzDkYp+H3gn0lE5hKhbhA51hsSGfa4Vd3As6p1vegdG3jm1G3cxmOO73L8NMb6yBN5hTPpt3Asa0hy81e8OmSCGnWchiOmBZYyzYpCUtWaz6+VV+fBs2ygrs0/9vJKEHvMSX70bJLYl60wFttSuerRrTNtYLGFmSYEoeJCzEeCkwU4AsYU0Gk4EtCY9zytG3rOZOFRoprYAetX2+hkydMrJ5meIChRpWA8oI8OHz349HxTz+fvD+t1v7648+3zwrdjSUDTq06N5dcPDsDeks+mDdfkPvmBOktt6ulz0yT3pJPzJTesg8nS2/BR/PlC5LPTJmb+ezxAFOv2cHq6TlrNRD+F8csDNKvPk3SCz9FXv0Zjrzg+j5c/Q+e05SdGAalacHLBDxhZm7HxDOGswwnm+S77Rf7qepXVOY/ugG4st5PZfqG+Tt34//GZfe0uQxv3X43N8rttyx2JWOCZRgIe6RuXs00j48O8D795FKlgmjbb7qalb8BUEsDBBQAAgAIAFp1bknYxnWJuAIAAE8KAAAhAAAAdW5pdmVyc2FsL2ZsYXNoX3NraW5fc2V0dGluZ3MueG1slVZtb9owEP6+X4HYd9K90kkpEqVMqtSt1Vr1u5MciYVjR7ZDx7+fz7EbGwhkWJXw3fOcz+fnjqZqS/niw2SS5oIJ+QxaU14qtHjbhBY306zVWvBZLrgGrmdcyJqw6eLjT/tJE4u8xBI7kGM5G5JDf8zcfsZQ3Bnf5riGCLmoG8L3D6IUs4zk21KKlhcXU6v2DUhG+dYgr37MV+vBAxhV+l5DHeW0vsY1jtJIUAowpe9rXBdZjGTA/ElX9jOS0x91/vYHtB1VVFva8hOuIVpDSoiLfL3ENYznJnr8KnNc5wka/moD/fIZ1yCUkT3IOPjdV1yDDNG0zf9opJGixILGnPOP+M5hghSm/TCrK1wXCXghPOjiK7jy2LveBSD3Nez7FNtVCvaEdT0YCPjoGYOFli2kid91PlWJt8dWm/6AxYYwZQChqQc9maSfSKt8mNjW4/7AG+VFAHKGHvEqWFvDqss3AMb2Hr9a3dpREeb3bgsSlLBzxiDD3tgjf5uyHiEDY498ZrSAR872R/BDT8fxT3xL3GOer77xAidm6+vld96LJz1g46rgaGfwmFoUsFCYzgutAV8tTaytSyk5yinlZEdLoqngvxCX7e1lVJocOJzSTusq1VQzOCU3m6MZ0uF72f1lNXa/Cf3duv1EmxF+MyVak7yqzW+Smk4cz/SICTNNTjNwSBo4yHu+ESM5NZFbkC9CsLGncKEhxNprD4FF11hD8DQJSpAmp2ucuiCnis/bOgO5Nm9GwYsmtnW4ipYVM3/6lcIbFDFhwNkxdWXCcULfNRkYnACAyLzyiu02nadumaYMduD7PjDYCw/dLFVGoUNiW+oH2OhQbs4ySo9uTPRCCXGx4wTh1eQl4oETOmLJu8Cx5jXJlL1Z1PV+APeRo5HsJxlKLxxidu+UFAU2/uMKGiP+I/kPUEsDBBQAAgAIAFp1bkn9pNYkEAQAAEUSAAAmAAAAdW5pdmVyc2FsL2h0bWxfcHVibGlzaGluZ19zZXR0aW5ncy54bWzNWFFzGjcQfvev0Fwnj+Hs1GkdD+DB5jxmgoHCpU6eGHG3cKp10kXSQchTf01/WH9JVwgw2A4WHjvTYTz4Vrvf7mp3pe+onn3LOZmC0kyKWnBUOQwIiESmTExqwaf48u1JQLShIqVcCqgFQgbkrH5QLcoRZzobgDGoqgnCCH1amFqQGVOchuFsNqswXSi7KnlpEF9XEpmHhQINwoAKC07n+GXmBehgieABgH+5FEuz+sEBIVWHdC3TkgNhKUYumE2K8iuT8yB0WiOa3E6ULEV6IblURE1GteCXk4b9rHQcUpPlIOyW6DoKrdic0jRlNgjKB+w7kAzYJMNojw6PAzJjqclqwbtjC4Pq4UOYBbhLnVqYC4l7IMwSPwdDU2qoe3QOFYxBYTFA140qAUG3ZBuaBr6ZtcCJ0rmgOUtiXCF2p2pBMx72o8uoH3UuouGnftuF6m0Rt+J25GXT60eDqBNH/eF5q7unxXO8RNeNVntPm5vofNCK9/XUaVzva9K76nb8bK6+9KJ+u9X5OIy73Xbc6t1ZLUq/UeRquN0vVewrWaqtrlhNWS+TRt5rDg0Gp5xTNYFYXjLs4jHlGgLyVwGTP0rKmZnbzsbD4BagaOgCEtO3bVsLbCsGd3AOEENDZxsz8X49Ex+Ot7IPnfuNzB4PtEqNoUmG82NW7b8pWWmNpdjqfPtMRpKn65TGuNMcs2koRnlAmMHskvWqsXtgLhnHGljbo8pYmAfpJRlVGLTelC930g5zUo9ESpqKzvCschk68Y/UeyB81K5wN7ndUVA+6pGieg9N0uDcR7m/6i0f5WuqbkGRWErupd9bVZ+0xFh6xZ5T5hX3DYw0M+Cjes68XN/IkqdkLkvC2S0QIwlGX+b4XwZk82wnYyXzhZRTbYjmLAUyZTCD9MzH0Rd0kZdoiVddwcE4D19L9p2MYCwV4gKdYrOhnGmHX9kLuKBa34HSVYxvBu1WMxq2Os3o8xubIE2nFG+b/cBxUCEvzKvg0zkR0qzscDsSWmIv26KkLF2s+eRWeX4ZNMtL7sr80sXYgH7FkryOl30K82QE3m4zOl0Moh2uBTSOIMOSOExcSPBQZ6IEX8CECiIFnxOa4JGn7VhPmSw1StwAO2j9/AidPWFi8TRBnooeVQrKC/Lw6N2vx+9/+/3kw2kl/Pfvf97uNFoSjR6n1p1jGhc7WZ235T0G+YTdDzmht92+ke7gh96Wj7BEb9v7XNHb8AFjfMJyB29cM66HBKYaWrrzOHNaULyfQ5ww7T992r4TfY69Ji4aeMF1fbS6Hz35keUAvY373ysEvDMm7gzEW4OzHLlK+tNOgNfp02f02m6W7jrxhXrNd+NeemL+v0m4p/VL5dZb5PrNbPvXigOUb//0Uz/4D1BLAwQUAAIACABadW5JWa6DGqEBAAAsBgAAHwAAAHVuaXZlcnNhbC9odG1sX3NraW5fc2V0dGluZ3MuanONlE1vwjAMhu/8iiq7Toh9wnZDg0lIHCaN27RDKKZUpHGUhA6G+O+rw1fTpoP40rx9+jp25WxbUbFYzKLXaOue3f7D3zsNSLN6Bbe+Lhr0jHRmRDqDSZqBSCWwCpIfPz3JuzMRMmbSmU43n2RrSn4M6c2cC1PGVcBCBzQT0PKA9hPQ1qHEv15lh6r2FZXaPF1Zi7Ido7QgbVuizrhj2M27W+UCKzDmoC+gcx6DZ9p1q4k8Oz51KcpcjJnicjPGBNtTHi8TjSs5a8q/2CjQxQ9f7oHOS/dt6NmJ1NiRhayaeNijaCaVBmPgkPd5SBGEBZ+CKPl23PoH9YzrBVXoPDWpPdL9O4oyrXgCtS71+hQ+JguvWje7FHXOwtruiYd7Co8QfAO6ZjV4pPBAVCt1xQ9UGhPqSA2t9/yECuSzVCaH1B2KIEeHJdum7p0LdccfMG+EsDJCi8BEZk0XxxVTb4ODaypZx6GZFyExlBcDmgp9nJ9E7zS2eo3Q/iti3FoeL7LidihuRuo4mOIZ9EjOkYSM6yXoCaIo6vm+dHL/ct61dn9QSwMEFAACAAgAWnVuST08L9HBAAAA5QEAABoAAAB1bml2ZXJzYWwvaTE4bl9wcmVzZXRzLnhtbJ2RsQrCMBCG9z5FuN3EbqUkdRPcHHSWmqYaaS8ll1of35SKdJGAQyD/8X0/JCd3r75jT+PJOlSQ8y0wg9o1Fm8Kzqf9pgBGocam7hwaBeiA7apM2rzAozdkArFYgaTgHsJQCjFNE7c0+NhArhtDLCauXS/i6R2K2RTDosLilvYv+zODKssYk9fRduGAVbzHtCCMvFYwOxeN3GLrQPwCGpMATKrBUAJofQJ4DAnAjytAiu+b56RHCvGjYpBitZ4qewNQSwMEFAACAAgAWnVuSQzStqxuAAAAbgAAABwAAAB1bml2ZXJzYWwvbG9jYWxfc2V0dGluZ3MueG1ss7GvyM1RKEstKs7Mz7NVMtQzUFJIzUvOT8nMS7dVCg1x07VQUiguScxLSczJz0u1VcrLV1Kwt+OyyclPTswJTi0pASosVijISaxMLQpJzQUySlL9EnOBKp+2rnjZvEJBV+HJ/nXPpuxU0rfjAgBQSwMEFAACAAgARJRXRyO0Tvv7AgAAsAgAABQAAAB1bml2ZXJzYWwvcGxheWVyLnhtbK1V30/bMBB+LtL+h8jv2C0dA6oExJDQHsaE1LHtrTKJm3hN4sx2COWv39nO76VsSHtolZzv++58993Fv3rOUu+JScVFHqAFniOP5aGIeB4H6OHr7fE5urp8d+QXKd0z6fEoQGXODYCmyIuYCiUvNIDvqU4C1DNgYEZeIbmQXO+B+xS420gnS/TuaAYuuQpQonWxIqSqKswVIPJYibQ0JAqHIiOFZIrlmkni0kBeg13pv6Phl4mc6H3BVA9Z6LcHrklajmfFByTVEgsZk5P5fEF+3H1ehwnL6DHPlaZ5yJAHlZzZUj7ScHcnojJlythmvktyzbQ2SVjbzNcrvjjPPSXDADmHTcaUojFTOM1jRByWTID9bUpVUvOoAa3hVTte81q/jXnfNG62c6RzLsrHlKsEjvqQzjoJ9Mkwqp/Z61oFPTQKujVMyJPsV8kli+zrt1aM8wVyAVvF2TyxqkI4gKdbGmoh9zcAAxXVHcRt07BrGraglgO30dcdBWpuu2VUl5I1pZr5Tzxi4guVkhpZXGpZMp+MjDWWDME+cVeum9Q1xE90lp7+Q2+M36g1P9VrnbGA/9GYT0DU1oTnEXu+5eCjWQY11QyKbWxYFyk2MbucVPmY9XQ9MLkc66bARTxNZcxgDCOqKens5BCUSarAJSzlCNs7OAhOeJyk8NOTDOPTgzQZlbtJht7BQXAqwt0EtDW3ZSTjOo7E1CrIJxPrxA9LpUXGX6w8B3tGr6wOXxu55ui64O3B2fyPURzEaAZziyZWl3nq7avm8N7MqVadz6ZwloFaYR6YLgvn1cxCWYx8IralZapv+jk1+7AHHeU8NR3TXN9B76Ja8xfmVTwyX7rF0tQkYUYzAfpwvuwxQD9huwzCW9OhiFuRN3XAmNg3928r2mz5unWu64c67EMNnzirHMbN1EdQRyxFmUejHuKi+4ioFHbatWTUS9kWbrQ4AZGKIkDv4aG+88XpRXfls8VFg7V53bvALpc3rPQ64U5BpNZ1exG/3g3w+BtQSwMEFAACAAgAWnVuSTXb2a1oAQAA8wIAACkAAAB1bml2ZXJzYWwvc2tpbl9jdXN0b21pemF0aW9uX3NldHRpbmdzLnhtbI1S22obMRB9z1eI/IAljW4LW4OuxZCHQhPyvPWqYYmjLSuFhKKPrzatcdy6tJqnmXPmDDM6fX6ckn3OZX6avg9lmtPnWMqUHvL2CqF+Px/m5dMScyx5c6rcT2mcX3bp67zWWjWXIY3DMtoVzVuMwttDSmrlVMuYYRRJ5qlXyHluG9aB68A2zFFi+81vEj91l7iPqVxW7Tdn6J8Nu5TjUnZpjK9bOGe/h843+LgM49R4eSvYGvU4tTq2BmKES+4r1QAgkOWOOFyl7KQmyGPGMVSjKFBAhHPSiUok5dCy0ImmwnwnEJOMUVepp60baW0ctVVCR4hu07zqbA3BSIwRIQSYq1xAMBg1NjQNDWo9IDgwIKo2mihAwQYTWPXOC8uRol5gXJkxgPHpuKft3p/rVP3vdY7n/IfgxS+4iK7e2lwwV79/XpZGvo1P3w5DiejLkONu/HAd7m5urn958s2/R8Zq1LbxX339A1BLAwQUAAIACABbdW5JEqq4V0YWAAAKLgAAFwAAAHVuaXZlcnNhbC91bml2ZXJzYWwucG5n7Vr7X9Jn36ds022ma92bmiiWTds0DVweUmFOp3XncuugYR5mgGSaiuYBBem2dVp4KEskTWu7557NU6ipKGJNAwyUlVNTRCpOS1RSAkQEni+2ve49r2ev5/kH/IHXl+t6X4f353O9r+vzub5w6csDERvf3vI2CATauG9v2EEQaAMaBLK4bfUmUHNHkx0JPNZlH4z4DNQ8DH4BFDZgQ74IAYFoZe+sJL0BlN/K3IvMBoHeO23+rJtOhuSDQDvr9oWFHM5PmBPGX27CPGMvGG4Q1jFBURa231W89NxW9vHeHR+HBVq9Y/1T+SvOjn//l8UVF9uHnu9ab7LeFgzdcHt2B+SxTJQxs0iaE6QONVKRik6tM8KPUHV3Xq7+pFAooo9P+h2of9ZviwjCmwzaqOlCZe8hJUNlA/ABUXYt/zN2/w1uEOEfaBju7i5zXQxFAzs/4qK6bwnxxG4AKp5mPv76wFlen8mglFqbW4ATYnkbIUfWA19/33eZvjDfo/RyN5cy81OgftGbzW38nUNkvtdM7yl08rrEA+Jl1ZIFCBRHKuad4qzTuVezIcC4y4F7y/GvHkVkLM628ffcYhSz1umURdqeMryiqbNSlWBpRyd6M5eev1hp6dVMZi3TdjubGAfqipZfSNvJot1zQUjlbWXnLHdFj8mdMIBbS4+p/YFZ6tIs34LlCXPGBy1sg14+Cnls0IpIWSKi9mbsEH9ii6VEpJ/WHuhH/hJaBFf/duhHcUKRTipd6fylIgqOv3NWOtVBHFOzHDNqhguFZyMT2mglh+m1CxTiXPJEqFIPRs/T5bUjRMfxli3oUlofYKve/2j5hPNvknvzgHODg5/UsbOZ0eUTb14YqAorx081tWeETbCZiodBlw41pOxscqkYl/uekCxfdFYtEZ0CM8n2bTdyHYoB12Y2gHdywmyWWPcP/cIT5omIezIktzJ4lBQ6vH7I8lJU0MJAhNgV+5wMVGTkrYwGUbKfal7229YNV8wlT/k/AYtZrRRhJ4p+JMRt3AdOYVN9ECvPbKPYH97BxHnZUuGVQ+3QjCJZZAV0p3aCMeX/jjt3O6ikLVuWooKhEPxYfm6iT5FvizuFpOMmFrXXppkgpiU2Oz1RNgRD9T6yijaTH/NlkMeHguAtPy2s8BVoBqu1jOrdoqIxV8D6WraHqoz9kapUPZC/s2msYsGDmpFGqmxbjFaUEkkXeAoOs7E2AvDZhaxrZZ6f26Rn7fK1Kd68W2axFDCGnvQ/swVC5YQcrBySQhPrh7ZieBQutOMmNyDTUZUcPJHbXEbkaMLz6TxmCb7s9vvoxfiP6Bnnw77FHYuo4dw/XS/tcI/cHocuKEperqrk6qgppOWRugMt8qzKOr7/YDutllZC5rbPRtWX4NnL2fg6NZnopOLJcqRZ6akaP657K1pArcTLzuoiuQxxLja2w68eEurBQTuqUj9BqAj8JUYRzIuiKrDnSuHDrahYL/enZIOTYshwTcrqZqtptQsFPNSdWL5Xg0tFDr9lrhHVGCjgd/P1TldzyCJLWslBs+m5v7pUnK0Cz4YZPw62+ZUdEmdDOA/NqJd/usMSIXZJ4YQcllWzpQXHo7zKckpTqCRwPoaIYnKyBDmYCe68AHq3mBddzPZv+/BRUqnrWx9Qay2mtlrSXKPROvC7ZWwC5xW5jsItYNvJk51Q07RaXDDFxwRXULU5mIRxQkBt4Ty9bNt+VhnxoTRg/QOrEFVXaOqbVEY62+EjHVVexMpADVi5X8H4pMcNp57gURRIbAJClb215QEZori4UHj8bm18a6LApQLnyrK+hEBqmX2h4b8NrgjkwPFxDwqWuu4PeHnDtAVu05X1tP36i4CXTpY48Rkvy8+zv3bIInp2CueDSDIqRZgA8erJEKjBBz04vK+OpzruD3/F6UIeD693l2y/ge51vYYmyAaRbgJp1steYThap1t8wublXVGnDSkmpzWeEHrNAipeJd0qlhGDzieX7+PYt4yu8AzUBbGuTl7w/EF+iWT3NS7VNyEQdfOKAsknJCPRE5v8sFSs2QKeJqcGJ9Cn8vx4I1nBI9kBAiducmKr0oFCFIY7g0BnQvdM5nEk95JXMHss8VSsjQM9qNIBwe5aoKj2ghy4YWMBrFOdgRDCKduprC/phv34evktBUzvKws+L4ByyD5oGT6rbvuAhFdJayZzxTfV8qxtQxd9QysH2y9voF5uxqYmjGs6lG/DkCZNICrrPC936vbus7yumvGQbWHN2BWrD1QT26/oA1VlOpY0qdFvMdZBq5pRU+T76lvG2riaHCekVrPAV9aRBdq8vRrUbKrGQ4U2yaWAxGxenAhxs/RzQBgf1pzt1d07Af+U+y8+4Y6vsRs+BrXpyLp1Dc/uaC3FZfrWzwEMIuqxTBwRfCYhWcRSo7qczkbaDLTxukzvJWW5Ra7//JfP60uUxQ6q5FpenQ4WVS/FNis3o1lUXwqSP0YolHNpHpyw59x8GyzivR9YDPZjGxieKcfDP0OxylwqUlSprpS2tHktsJlRsWnjgWMV+tNFBmAQuTGhCUs5Uj7RXBjHhycbkNr8SHYuG15qGDoF0fuMQYsQ5nDTH1IcaXOVdf9XT8uAgB1caSQEYnkxIAsda1PEateBdln2B3y5ZYT1r9Gj6ZHcxYnpqlo1XxVuI2EVwExP5MCOoX1iw8kWkbtoVwW9wa4YAumfxayLHwLbtywFOi/Ye89evNmflRsjqIK0bYoN/53OKeiQCXp655BFsxksvuKhOqyKJlR1ZFuVsElFQ7LdlQrXcPRK/kbJYr5Rftc3YWSiL9LxPqZqvNrlqsL1xE31sqAZSxlV7MltChxedoIpM8aCZYMrqj3mpZlzCTnffxJcnq1f/LuYuBmdHmrDQUwEGYHG43Uu2Y5ZnxoHZQuWIFCXcYMDUHkGFmJOOG5Flq8DHjs2o83x9uHfQT0LDz1aaszwr64c8+PaWzDzA2MONqBPqS7A/KAv3dagNWgNWoPWoDVoDVqD1qA1aA1ag9agNWgNWoPWoDVoDVqD1qA16O+gXPHNvOkA8xvnWxH/7zvp/+t19eFyvH6uM6oWL6NWsJ0LZyW3Lzjv0S1S+giCwSKMqbVuQjQ6Z+4XeqOMEsP+Oe/bWdLKLBbR8ys0x/wLpW60W/mPCRPK99w7llQ/EUElSU3UT2ZhM2ImRLPaGQ3Q9d5WhnFZ0Tm3752YK6iZqY7RU7WY2sAmu1nXshfwTtN3XmB0bcHMT1Kb6flWUYMg+0gUwvDqp9H2Jkvn/KeSu+MJ+idL8jqSUfIoAhKsHtgcRUjbw1Ytcr1Jp0UI/Wyb3xfVEArPL6paCnVU9arHjvl94SjWEuPygiNsaCUqWeHSswt8xs2Y3aYfnr5r2huv8fTXrwPdg0q2nwlltPTEG36PQMROzyNlyJ2FThJa8KtLznY2sLyTcw+LWtL5RyT3NM0983uCOfFfiLqVTD3c1wvqLs5+CdFOZfNf8OcI4Ih5/TdVU3KtiGSK+MrtESroA5yyVztPTkF6IdrSZI4ji4y9Ek47Dp+Qi1GDAwZ8h294d+5W8LMDRuRSG+kT7BhGqF/JaoeAQOBQo4uG41rmKaqOd28QwI/tzL4pgcIlEIQ3GB0dmPPjUWEt9+G6NBuyyseyqwGfHFCV6OQpJ1/UufgrJrHEuPh5bUC6ZLY8rCpuOvzyQGdQNL3moq9z26bTLAIeTvapf89f1oacZ+rnMb855AZHePWUTJ3H6Rp1WdVsle5oSD0uWQjH3p+wBYFKt2I/apmuiPd7zUMooSUINdx30V4phHaU6MxVi2XdrQI7LOeVBDoBz33LTkffiKEHDSfs+8QhZHsSirdZrCt/QgsWfDjOL0jLW50qblj1iqELr6KynSah/DcdWktGO7AaC0Bd3LzLjdNl8RENAsTqXETNbWZUeDn9O1wm44Yv18FK5fC2xyWQ2NO6NEP9pMSlrWQznVGyBSqDsPbEqOrsggBbmrtLiPLADFPzcXVB0Hlg5AZMadLduYmTVNTRU46gM/2D7JhmlZaV1jR/FqhU7IDExwqNl99DN58Ag1vqhzosB9rA32C77UfuFsymY8qRTYgNVENTRzDAyLrhFD+aO7ulaLGizlMuYp8UAIs1nGN8T3B9lLgLaBAv7dMkCC3ttnLiHvn7J3zhuAi9Fq/azpL0BEaLnH7BSVER2Ruq+0LdxGz21eNGGypSBoHoLi0YvBz8xnbXqJ1g2D8s6BkNkQ261wXhpddjDhiBrRi357PGv5BoPN8wUPXaoPxn5+wqlfeb20YNZg43e1893s/VJyV2enLSLhB/jH8wo4kbhYe40TDjJPeasysLmJ/7NZ9SxRxDzS6oc3XQB67d2/MluH27HB+lbbixAn52PMFNQQ2N2MZh8Hy/5Q0XlsYlO+ITEtCJ6UfKdcN5zOzF8T6jmtSiMdn0LY+2VKpqsasOVs1OUqwbFmiTmrS7vNyuWcAlZoINgRrTDXxPrNCubRQ2jqy1iNGJvniD6vHw/pz/r0KMHncliXA4RcFQ4/zpLaort+zXJUfu3+AwkhX90B5B+kl5cTeKqaM5LmwXq1SNT66wibvhgIoas8NqiRpp447TRxrGURK7JyKTUWvqfRx1wLtluFz3wLsIt2enmL98IWOVW3zrzdn950dfxYtRq+W5l3ySUfVJdJNMOG5exjjhEeNlxcqzUx7Yy2Uv8InwKG7hMyXJpIcUZvjzfbiFMlrpqMM4MqZeKs+dxEdrHwA24lu96SWqLloZ3YleK7ii8KDW6r0pcj20dZrML9TjqU3cKbv+I2YNrytNVxeQNwXBJHbPTtZyIqiyZw/sEuNY3wIKFejyBr0lG65AeSMs9UI2ZpUgVNJRslWfGX1mD3+V3xfMQLR6OjWx5/ymDxcTTo+Xax/Im9yVNB8io07IrANjfyx7gtvUoEd1xMqCUFXf7y3dKMOpcP25nFdgR3SVCOE+jLbXspH9SPY2fdesdtAKdu9RU0LZT1Oovd8cHfKZ3dLR5x8jqB1Spd/cnSavJjWvyq0iaeUNFDNj0VaG+Z63SmS6oYXZTRDlbHII337xmyr8lBVMVSgcqMAl66w+cpCp00oQr4awdegJa3xZAL+nZZQIA1RZC5VoSnA9xbwqJqxycG5YL9/0745nKVN9WGEe5YqcNQMPuOxiARbOqP2HCwa9p9uK+3cIUBzvsZXW+PcNq07CYjeilmfkD08KAB0JRvYd0mUfE7cC29csMm7ggOnna0mOFiykB53xNmyhWrQiO71y8R8Ow9++LW68EsAkL7URlfQ/6eDtO3WwEDeWwV8mmr6Aa3Sp+B8czq/0t96A8yDPBjOjhxJPFXbEJvun2o/EIGKiBbVNlchBxHeUEiht0hcEonQW8HO+clis9U1yCT8xCHkOI9q8+dbbtJvYRuxu3qbjNUd8pg+Vfo1r9LkTw61xD01P1ezs9CblC99Hd/T7/ky2up4EFyfnNrpsbtBLPIt5DsYVOaJu5aklwp/4GQ/mNRLNBUE6C4JLk440Yalw5r9TrRt0x1c18qwxKTLREIdc5Zeoc2rf0tf6H0o95xfOtbvak6uubr29DVvFV77BXvrm3ARBw7UK0FExPjXanHVYpNAd8KZ8sNzg3BnYmR1TTs3Appm6AkmHPxqRp5x1UUEESaKUGFp3sMelnfjWomfvJPrrxjqZOYtCZZHWzRa+9HRQDtfSR/DfOPiLzJ6b834Uz0K4OUSPoP43SYiO7WO6l8a/MZHzwdBrOYXaBrevyknmgw4/bR++y57UBcYd1zMD+vFfJdVAr2rLxeJ/CkyXft8WrR007zoYWQAdLuWrrcVMh3G5NFrW8jlnF4k0vGteFGpJDfIDmiE3UEv6DHMZ7okrz+2ivt9f+189QcYl8Y8q9LRnW6zdy8SGcfHSD92Kw7804QowRc317FVV9SP7c5m6PyQmdzBloqu+jyySLecaV49abuE8XV6p7PHa1o+Efu2IPs6wmzZ679eHndNFVhNFhcrW7qjkBsxwRdJUqc6aYm33FkyMYHEY2RcnjQuLR0Pc+CWjxKwPQpJdsfcIUo9EZHjVdV41Jlqx3piqLqgxud/WQaqvM8ZYd36e6l/l4CFueRdV9WOJQvwHKX2Vsm1FfFUhhjSOrjScsgBl7i4L1jxZ7B1nwmret4gOSSZM7egHZL+YsEsxuYX7wN/HrZ+J/RGghnhNbVqu6zX5cniduL2Zg4YK/basAC5Z0Gs4Ow8tjqwFRCgOKuZJpJREuGHHY3CcZoHKJ8gkcoRJNwgxLUXM70IYXkRFIW6w0nVvdBb0xg3MqO2zm0TvYxa3OD7aiuAvr29djbq5g94zNOF/Tlzi0FfJztGq5o6NoHujDINGQDEenNpr5e9BlhjyZIN6Jp6wPpRVph2iM7iMuPUP7BHHH2Ca5svMgQXd16GNgHdfWxDPVkZCOpM8VBL4oHQOksEuyIqEskr02p9xJznZW/mXRg0455Dkq96KoTwWj/bh4lOjprMv+DpX8AI4D/yimEZ1i7ftEt3QtG2D37HeBC8gSyCvwMCPXENnchJQ/UvWv9svFhxrwh41y1XmqZPeSBxrSHGI/sOIyxxim1O0qmnViN7lmQauNnFcOMOsaqqkzycUvPhBSqSVHfsAnX5udI5KNKrqEIaGJfCxg086LF86+PErRirggPdIafB56wbQ/aHoFsrlo73OFw4vL1CfxId+N+Qfv+C5Gt/Br9dfPxneCG2Uxb8O9DIq9q+BPlj92yFzoAeWC0jlej5qH5gBwTtUxJlDdbHD7LmM9126JmbUWZsArXtiv9t+ehiS9LBcEXA9U3TII8Z8jAW8zo80NA8W+uhQn/nouKBaTTwvxMc06L8GPND90PTz6YmyjzcW88LKdejYN6zSO14ver71X4my77zuLavOSHihR89/8kf3AoN6nKK9/7kVrGI0onIxfqPAYolcLV+48kOg4ONPM9tGFdJtW0x7MY7AYLOWwAiVyneRvZCe0uhOEtB/T4E5uQHuBxuo+4z6mVHKsnEZSD5+fxpM6RxR/cDUKVvkZwnz4D+dycF6xLQMhk7KVdXmjBJ1gtHX49SYrgeOjZxsjnYCyOlL+mad++GknUaDkkQqeEnf6CXXAXeZwkUxxJSPv8Ofm7MlLfWzn1v46R9TmO0EwFhalJTX3fZnmooadHePVg41XyZgH87k8mH8kxOKbWULM7mJY+fO8m7GGjVNRxMNMzFRzoSX9zH5yEEGMvmu11OT1KeSvRTxsYLBkfvNAaayM2cR3cKTevChRLnPudKFCD5wewpc2Jd7JXC+xG/a3+BFzSCIHbkgn78eXcBdqg6s63+SQ4bpnQ8lju+4LjhNRhQk+HMGaMbWQmuKLhW3fj8zyg0yyuGfIusA+ROXvyqN3IwCetrP/1ssJca9qlquKNJ7Pz8YIqt4TpfXBuKB21GUKXAWycJMnly9Iaqs/vbCKcwTxR8wA09fPj6ezjAZ9dxLf/41ucQWsZIZsMncu3//ZTpuse4+cnUQNuXNimefcNBLwMrdrVlt0LC/0KE/IsSt3xJCyFycLlTutDP/kfnp88exj+OMJP8AHaJ+IJ/R6RX6jnmEfZ8fCGv+7Ovi/wZQSwMEFAACAAgAW3VuSVhO711MAAAAawAAABsAAAB1bml2ZXJzYWwvdW5pdmVyc2FsLnBuZy54bWyzsa/IzVEoSy0qzszPs1Uy1DNQsrfj5bIpKEoty0wtV6gAigEFIUBJodJWycQIwS3PTCnJAKkwMEAIZqRmpmeU2CpZGJnCBfWBZgIAUEsBAgAAFAACAAgAWnVuSRUOrShkBAAABxEAAB0AAAAAAAAAAQAAAAAAAAAAAHVuaXZlcnNhbC9jb21tb25fbWVzc2FnZXMubG5nUEsBAgAAFAACAAgAWnVuSb+mGY49BAAANBMAACcAAAAAAAAAAQAAAAAAnwQAAHVuaXZlcnNhbC9mbGFzaF9wdWJsaXNoaW5nX3NldHRpbmdzLnhtbFBLAQIAABQAAgAIAFp1bknYxnWJuAIAAE8KAAAhAAAAAAAAAAEAAAAAACEJAAB1bml2ZXJzYWwvZmxhc2hfc2tpbl9zZXR0aW5ncy54bWxQSwECAAAUAAIACABadW5J/aTWJBAEAABFEgAAJgAAAAAAAAABAAAAAAAYDAAAdW5pdmVyc2FsL2h0bWxfcHVibGlzaGluZ19zZXR0aW5ncy54bWxQSwECAAAUAAIACABadW5JWa6DGqEBAAAsBgAAHwAAAAAAAAABAAAAAABsEAAAdW5pdmVyc2FsL2h0bWxfc2tpbl9zZXR0aW5ncy5qc1BLAQIAABQAAgAIAFp1bkk9PC/RwQAAAOUBAAAaAAAAAAAAAAEAAAAAAEoSAAB1bml2ZXJzYWwvaTE4bl9wcmVzZXRzLnhtbFBLAQIAABQAAgAIAFp1bkkM0rasbgAAAG4AAAAcAAAAAAAAAAEAAAAAAEMTAAB1bml2ZXJzYWwvbG9jYWxfc2V0dGluZ3MueG1sUEsBAgAAFAACAAgARJRXRyO0Tvv7AgAAsAgAABQAAAAAAAAAAQAAAAAA6xMAAHVuaXZlcnNhbC9wbGF5ZXIueG1sUEsBAgAAFAACAAgAWnVuSTXb2a1oAQAA8wIAACkAAAAAAAAAAQAAAAAAGBcAAHVuaXZlcnNhbC9za2luX2N1c3RvbWl6YXRpb25fc2V0dGluZ3MueG1sUEsBAgAAFAACAAgAW3VuSRKquFdGFgAACi4AABcAAAAAAAAAAAAAAAAAxxgAAHVuaXZlcnNhbC91bml2ZXJzYWwucG5nUEsBAgAAFAACAAgAW3VuSVhO711MAAAAawAAABsAAAAAAAAAAQAAAAAAQi8AAHVuaXZlcnNhbC91bml2ZXJzYWwucG5nLnhtbFBLBQYAAAAACwALAEkDAADHLwAAAAA="/>
  <p:tag name="ISPRING_PRESENTATION_PATH" val="C:\Users\Administrator\Desktop\品管圈PPT专用图表.pptx"/>
  <p:tag name="ISPRING_PRESENTATION_TITLE" val="品管圈PPT专用图表"/>
  <p:tag name="ISPRING_PROJECT_FOLDER_UPDATED" val="1"/>
  <p:tag name="ISPRING_RESOURCE_FOLDER" val="C:\Users\Administrator\Desktop\品管圈PPT专用图表\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SCORM_RATE_SLIDES" val="1"/>
  <p:tag name="ISPRING_SCREEN_RECS_UPDATED" val="C:\Users\Administrator\Desktop\品管圈PPT专用图表"/>
  <p:tag name="ISPRING_ULTRA_SCORM_COURSE_ID" val="B5316BD4-6C9E-43D5-BF29-88D689F1EDB6"/>
  <p:tag name="ISPRING_UUID" val="{7DCF111D-5125-44A4-A2B4-52ACB7E1895E}"/>
  <p:tag name="ISPRINGCLOUDFOLDERID" val="0"/>
  <p:tag name="ISPRINGCLOUDFOLDERPATH" val="Content List"/>
  <p:tag name="ISPRINGONLINEFOLDERID" val="0"/>
  <p:tag name="ISPRINGONLINEFOLDERPATH" val="Content List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GENSWF_ADVANCE_TIME" val="0.00"/>
  <p:tag name="ISPRING_CUSTOM_TIMING_USED" val="0"/>
  <p:tag name="ISPRING_PLAYER_PLAYLIST_ID" val="fc44c98e9fb55df0de39baf58361d1373052d439"/>
  <p:tag name="ISPRING_SLIDE_INDENT_LEVEL" val="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xmlns:r="http://schemas.openxmlformats.org/officeDocument/2006/relationships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Arial"/>
        <a:cs typeface="Arial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Arial"/>
        <a:cs typeface="Arial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xmlns:r="http://schemas.openxmlformats.org/officeDocument/2006/relationships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主题">
    <a:majorFont>
      <a:latin typeface="Calibri Light" panose="020F03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主题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主题">
    <a:majorFont>
      <a:latin typeface="Calibri Light" panose="020F03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主题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主题">
    <a:majorFont>
      <a:latin typeface="Calibri Light" panose="020F03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主题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主题">
    <a:majorFont>
      <a:latin typeface="Calibri Light" panose="020F03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主题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5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主题">
    <a:majorFont>
      <a:latin typeface="Calibri Light" panose="020F03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主题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6.xml><?xml version="1.0" encoding="utf-8"?>
<a:themeOverride xmlns:a="http://schemas.openxmlformats.org/drawingml/2006/main">
  <a:clrScheme name="Office 主题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 主题">
    <a:majorFont>
      <a:latin typeface="Calibri Light" panose="020F03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Arial"/>
      <a:cs typeface="Arial"/>
      <a:font script="Jpan" typeface="ＭＳ Ｐゴシック"/>
      <a:font script="Hang" typeface="맑은 고딕"/>
      <a:font script="Hans" typeface="宋体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 主题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410</Words>
  <Application>Microsoft Office PowerPoint</Application>
  <PresentationFormat>自定义</PresentationFormat>
  <Paragraphs>176</Paragraphs>
  <Slides>7</Slides>
  <Notes>7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风云办公</Manager>
  <Company>上海剑姬网络科技有限公司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风云办公PPT模板</dc:title>
  <dc:creator>风云办公</dc:creator>
  <cp:keywords>风云办公</cp:keywords>
  <dc:description>风云办公 http://www.ppt118.com</dc:description>
  <cp:lastModifiedBy>DELL</cp:lastModifiedBy>
  <cp:revision>64</cp:revision>
  <dcterms:created xsi:type="dcterms:W3CDTF">2017-03-30T01:43:06Z</dcterms:created>
  <dcterms:modified xsi:type="dcterms:W3CDTF">2022-03-23T15:14:04Z</dcterms:modified>
</cp:coreProperties>
</file>