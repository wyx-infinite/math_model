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3" r:id="rId3"/>
    <p:sldMasterId id="2147483704" r:id="rId4"/>
    <p:sldMasterId id="2147483716" r:id="rId5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4" r:id="rId10"/>
    <p:sldId id="260" r:id="rId11"/>
    <p:sldId id="261" r:id="rId12"/>
    <p:sldId id="262" r:id="rId13"/>
    <p:sldId id="265" r:id="rId14"/>
  </p:sldIdLst>
  <p:sldSz cx="9144000" cy="5143500" type="screen16x9"/>
  <p:notesSz cx="6858000" cy="9144000"/>
  <p:custDataLst>
    <p:tags r:id="rId16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266"/>
    <a:srgbClr val="D24132"/>
    <a:srgbClr val="5C5C5C"/>
    <a:srgbClr val="F09C2A"/>
    <a:srgbClr val="189A80"/>
    <a:srgbClr val="377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20" y="9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  <c:perspective val="3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"/>
          <c:y val="0"/>
          <c:w val="1"/>
          <c:h val="0.99109846353530884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explosion val="8"/>
            <c:spPr>
              <a:solidFill>
                <a:srgbClr val="5A99D3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313-4562-9F3A-B66F475D21DF}"/>
              </c:ext>
            </c:extLst>
          </c:dPt>
          <c:dPt>
            <c:idx val="1"/>
            <c:bubble3D val="0"/>
            <c:explosion val="38"/>
            <c:spPr>
              <a:solidFill>
                <a:srgbClr val="70AD47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0313-4562-9F3A-B66F475D21DF}"/>
              </c:ext>
            </c:extLst>
          </c:dPt>
          <c:dPt>
            <c:idx val="2"/>
            <c:bubble3D val="0"/>
            <c:explosion val="35"/>
            <c:spPr>
              <a:solidFill>
                <a:srgbClr val="FFC000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313-4562-9F3A-B66F475D21DF}"/>
              </c:ext>
            </c:extLst>
          </c:dPt>
          <c:dPt>
            <c:idx val="3"/>
            <c:bubble3D val="0"/>
            <c:explosion val="31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0313-4562-9F3A-B66F475D21DF}"/>
              </c:ext>
            </c:extLst>
          </c:dPt>
          <c:cat>
            <c:strRef>
              <c:f>Sheet1!$A$2:$A$5</c:f>
              <c:strCache>
                <c:ptCount val="4"/>
                <c:pt idx="0">
                  <c:v>护肤</c:v>
                </c:pt>
                <c:pt idx="1">
                  <c:v>彩妆</c:v>
                </c:pt>
                <c:pt idx="2">
                  <c:v>护体</c:v>
                </c:pt>
                <c:pt idx="3">
                  <c:v>防晒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313-4562-9F3A-B66F475D21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  <c:perspective val="3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5A99D3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313-4562-9F3A-B66F475D21DF}"/>
              </c:ext>
            </c:extLst>
          </c:dPt>
          <c:dPt>
            <c:idx val="1"/>
            <c:bubble3D val="0"/>
            <c:spPr>
              <a:solidFill>
                <a:srgbClr val="70AD47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0313-4562-9F3A-B66F475D21DF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313-4562-9F3A-B66F475D21DF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0313-4562-9F3A-B66F475D21DF}"/>
              </c:ext>
            </c:extLst>
          </c:dPt>
          <c:cat>
            <c:strRef>
              <c:f>Sheet1!$A$2:$A$5</c:f>
              <c:strCache>
                <c:ptCount val="4"/>
                <c:pt idx="0">
                  <c:v>护肤</c:v>
                </c:pt>
                <c:pt idx="1">
                  <c:v>彩妆</c:v>
                </c:pt>
                <c:pt idx="2">
                  <c:v>护体</c:v>
                </c:pt>
                <c:pt idx="3">
                  <c:v>防晒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313-4562-9F3A-B66F475D21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526203691959381E-2"/>
          <c:y val="6.2243130058050156E-2"/>
          <c:w val="0.91212713718414307"/>
          <c:h val="0.8190504312515258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产品1</c:v>
                </c:pt>
              </c:strCache>
            </c:strRef>
          </c:tx>
          <c:spPr>
            <a:ln w="28575" cap="rnd">
              <a:solidFill>
                <a:srgbClr val="F09C2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8D4F-43D6-B012-D74DD7811F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产品2</c:v>
                </c:pt>
              </c:strCache>
            </c:strRef>
          </c:tx>
          <c:spPr>
            <a:ln w="28575" cap="rnd">
              <a:solidFill>
                <a:srgbClr val="37779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25400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3.5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8D4F-43D6-B012-D74DD7811F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产品3</c:v>
                </c:pt>
              </c:strCache>
            </c:strRef>
          </c:tx>
          <c:spPr>
            <a:ln w="28575" cap="rnd">
              <a:solidFill>
                <a:srgbClr val="D2413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</c:v>
                </c:pt>
                <c:pt idx="1">
                  <c:v>2</c:v>
                </c:pt>
                <c:pt idx="2">
                  <c:v>3.5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8D4F-43D6-B012-D74DD7811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8593408"/>
        <c:axId val="248607872"/>
      </c:lineChart>
      <c:catAx>
        <c:axId val="24859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8607872"/>
        <c:crosses val="autoZero"/>
        <c:auto val="0"/>
        <c:lblAlgn val="ctr"/>
        <c:lblOffset val="100"/>
        <c:noMultiLvlLbl val="0"/>
      </c:catAx>
      <c:valAx>
        <c:axId val="24860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859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4274-45B9-9DFA-1DBD4DE7B9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1.2</c:v>
                </c:pt>
                <c:pt idx="1">
                  <c:v>2</c:v>
                </c:pt>
                <c:pt idx="2">
                  <c:v>2.5</c:v>
                </c:pt>
                <c:pt idx="3">
                  <c:v>3</c:v>
                </c:pt>
                <c:pt idx="4">
                  <c:v>2.5</c:v>
                </c:pt>
                <c:pt idx="5">
                  <c:v>4</c:v>
                </c:pt>
                <c:pt idx="6">
                  <c:v>2</c:v>
                </c:pt>
                <c:pt idx="7">
                  <c:v>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4274-45B9-9DFA-1DBD4DE7B9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2.2999999999999998</c:v>
                </c:pt>
                <c:pt idx="1">
                  <c:v>3</c:v>
                </c:pt>
                <c:pt idx="2">
                  <c:v>3.5</c:v>
                </c:pt>
                <c:pt idx="3">
                  <c:v>3.5</c:v>
                </c:pt>
                <c:pt idx="4">
                  <c:v>4.5</c:v>
                </c:pt>
                <c:pt idx="5">
                  <c:v>4.5</c:v>
                </c:pt>
                <c:pt idx="6">
                  <c:v>5</c:v>
                </c:pt>
                <c:pt idx="7">
                  <c:v>6.5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4274-45B9-9DFA-1DBD4DE7B9E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/>
          </c:spPr>
          <c:marker>
            <c:symbol val="circle"/>
            <c:size val="5"/>
            <c:spPr>
              <a:ln w="19050"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</c:numCache>
            </c:numRef>
          </c:cat>
          <c:val>
            <c:numRef>
              <c:f>Sheet1!$E$2:$E$9</c:f>
              <c:numCache>
                <c:formatCode>General</c:formatCode>
                <c:ptCount val="8"/>
                <c:pt idx="0">
                  <c:v>2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3.5</c:v>
                </c:pt>
                <c:pt idx="6">
                  <c:v>6.5</c:v>
                </c:pt>
                <c:pt idx="7">
                  <c:v>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4274-45B9-9DFA-1DBD4DE7B9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6797184"/>
        <c:axId val="366799104"/>
      </c:lineChart>
      <c:catAx>
        <c:axId val="366797184"/>
        <c:scaling>
          <c:orientation val="minMax"/>
        </c:scaling>
        <c:delete val="0"/>
        <c:axPos val="b"/>
        <c:numFmt formatCode="#\ ?/?" sourceLinked="0"/>
        <c:majorTickMark val="out"/>
        <c:minorTickMark val="none"/>
        <c:tickLblPos val="low"/>
        <c:crossAx val="366799104"/>
        <c:crosses val="autoZero"/>
        <c:auto val="0"/>
        <c:lblAlgn val="ctr"/>
        <c:lblOffset val="100"/>
        <c:noMultiLvlLbl val="0"/>
      </c:catAx>
      <c:valAx>
        <c:axId val="36679910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366797184"/>
        <c:crosses val="autoZero"/>
        <c:crossBetween val="between"/>
      </c:valAx>
      <c:spPr>
        <a:ln w="12700"/>
      </c:spPr>
    </c:plotArea>
    <c:plotVisOnly val="1"/>
    <c:dispBlanksAs val="gap"/>
    <c:showDLblsOverMax val="0"/>
  </c:chart>
  <c:txPr>
    <a:bodyPr/>
    <a:lstStyle/>
    <a:p>
      <a:pPr>
        <a:defRPr sz="1000" smtId="4294967295">
          <a:solidFill>
            <a:schemeClr val="bg1">
              <a:lumMod val="65000"/>
            </a:schemeClr>
          </a:solidFill>
        </a:defRPr>
      </a:pPr>
      <a:endParaRPr lang="zh-CN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6BB83-6769-4759-B73E-DD3EF8EF2204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697F0-D158-4DBA-9EA5-A69A82894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697226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58295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0EDBA6-3167-4CE9-B928-339579E207F0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9</a:t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436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011845"/>
      </p:ext>
    </p:extLst>
  </p:cSld>
  <p:clrMapOvr>
    <a:masterClrMapping/>
  </p:clrMapOvr>
  <p:transition spd="slow" advTm="3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204581574"/>
      </p:ext>
    </p:extLst>
  </p:cSld>
  <p:clrMapOvr>
    <a:masterClrMapping/>
  </p:clrMapOvr>
  <p:transition spd="slow" advTm="3000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891241" y="1257547"/>
            <a:ext cx="1361372" cy="1361054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3998" cy="193807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18124180"/>
      </p:ext>
    </p:extLst>
  </p:cSld>
  <p:clrMapOvr>
    <a:masterClrMapping/>
  </p:clrMapOvr>
  <p:transition spd="slow" advTm="3000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04531" y="1332972"/>
            <a:ext cx="1492222" cy="1491874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765394" y="1332972"/>
            <a:ext cx="1492222" cy="1491874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783517" y="1332972"/>
            <a:ext cx="1492222" cy="1491874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90893" y="1332972"/>
            <a:ext cx="1492222" cy="1491874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97532"/>
      </p:ext>
    </p:extLst>
  </p:cSld>
  <p:clrMapOvr>
    <a:masterClrMapping/>
  </p:clrMapOvr>
  <p:transition spd="slow" advTm="3000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04531" y="1332972"/>
            <a:ext cx="1492222" cy="1491874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765394" y="1332972"/>
            <a:ext cx="1492222" cy="1491874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783517" y="1332972"/>
            <a:ext cx="1492222" cy="1491874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90893" y="1332972"/>
            <a:ext cx="1492222" cy="1491874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41704"/>
      </p:ext>
    </p:extLst>
  </p:cSld>
  <p:clrMapOvr>
    <a:masterClrMapping/>
  </p:clrMapOvr>
  <p:transition spd="slow" advTm="3000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75043" y="1332971"/>
            <a:ext cx="2433209" cy="2445235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06652"/>
      </p:ext>
    </p:extLst>
  </p:cSld>
  <p:clrMapOvr>
    <a:masterClrMapping/>
  </p:clrMapOvr>
  <p:transition spd="slow" advTm="3000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74536" y="1116458"/>
            <a:ext cx="1354706" cy="1354390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917859" y="1116458"/>
            <a:ext cx="1354706" cy="1354390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3461182" y="1116458"/>
            <a:ext cx="1354706" cy="1354390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006193" y="1116458"/>
            <a:ext cx="1354706" cy="1354390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76495399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3169669" y="1307178"/>
            <a:ext cx="1354706" cy="1354390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4630152" y="1307178"/>
            <a:ext cx="1354706" cy="1354390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98376825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2697519" y="2405288"/>
            <a:ext cx="973180" cy="972954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043915" y="1033042"/>
            <a:ext cx="973180" cy="972954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5418561" y="2398767"/>
            <a:ext cx="973180" cy="972954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4049373" y="3759287"/>
            <a:ext cx="973180" cy="972954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81420995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54312"/>
            <a:ext cx="9143998" cy="369129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26177645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9143998" cy="297499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410741126"/>
      </p:ext>
    </p:extLst>
  </p:cSld>
  <p:clrMapOvr>
    <a:masterClrMapping/>
  </p:clrMapOvr>
  <p:transition spd="slow" advTm="3000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60456" y="1229500"/>
            <a:ext cx="3681115" cy="3202641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90995827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456786" cy="51435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345250201"/>
      </p:ext>
    </p:extLst>
  </p:cSld>
  <p:clrMapOvr>
    <a:masterClrMapping/>
  </p:clrMapOvr>
  <p:transition spd="slow" advTm="3000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687215" y="0"/>
            <a:ext cx="4456786" cy="51435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780134665"/>
      </p:ext>
    </p:extLst>
  </p:cSld>
  <p:clrMapOvr>
    <a:masterClrMapping/>
  </p:clrMapOvr>
  <p:transition spd="slow" advTm="3000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37550" y="1181528"/>
            <a:ext cx="2698091" cy="265757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222956" y="1181528"/>
            <a:ext cx="2698091" cy="265757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308362" y="1181528"/>
            <a:ext cx="2698091" cy="265757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63082814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56922" y="1084243"/>
            <a:ext cx="2602150" cy="176376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270926" y="1084243"/>
            <a:ext cx="2602150" cy="176376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181347" y="1084243"/>
            <a:ext cx="2602150" cy="176376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76577864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37550" y="1181527"/>
            <a:ext cx="2698091" cy="2550018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308362" y="1181529"/>
            <a:ext cx="2698091" cy="255001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829525561"/>
      </p:ext>
    </p:extLst>
  </p:cSld>
  <p:clrMapOvr>
    <a:masterClrMapping/>
  </p:clrMapOvr>
  <p:transition spd="slow" advTm="3000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765504" y="1036927"/>
            <a:ext cx="2520524" cy="372389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6" name="Flowchart: Off-page Connector 5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36339120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097281" y="1318655"/>
            <a:ext cx="2437794" cy="3202641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5608927" y="1318655"/>
            <a:ext cx="2437794" cy="3202641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3258582" y="1079135"/>
            <a:ext cx="2735941" cy="3681682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76643787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91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377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63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949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962222969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56921" y="901149"/>
            <a:ext cx="2602150" cy="177403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270926" y="901149"/>
            <a:ext cx="2602150" cy="177403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181347" y="901149"/>
            <a:ext cx="2602150" cy="177403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356921" y="2854620"/>
            <a:ext cx="2602150" cy="177403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6181347" y="2854620"/>
            <a:ext cx="2602150" cy="177403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3270926" y="2854620"/>
            <a:ext cx="2602150" cy="177403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405324529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91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377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63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949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708606561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22251" y="161925"/>
            <a:ext cx="4410075" cy="481965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4805150" y="162540"/>
            <a:ext cx="4116180" cy="338853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805149" y="3734164"/>
            <a:ext cx="4116180" cy="12467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4227334088"/>
      </p:ext>
    </p:extLst>
  </p:cSld>
  <p:clrMapOvr>
    <a:masterClrMapping/>
  </p:clrMapOvr>
  <p:transition spd="slow" advTm="3000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22250" y="161925"/>
            <a:ext cx="4234536" cy="338853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22250" y="3734164"/>
            <a:ext cx="4234536" cy="12467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87214" y="161925"/>
            <a:ext cx="4234536" cy="338853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687214" y="3734164"/>
            <a:ext cx="4234536" cy="12467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2185940"/>
      </p:ext>
    </p:extLst>
  </p:cSld>
  <p:clrMapOvr>
    <a:masterClrMapping/>
  </p:clrMapOvr>
  <p:transition spd="slow" advTm="3000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65439" y="2719243"/>
            <a:ext cx="2007971" cy="177455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2507878" y="1079134"/>
            <a:ext cx="2007971" cy="177455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628357" y="2719243"/>
            <a:ext cx="2007971" cy="177455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759815" y="1079134"/>
            <a:ext cx="2007971" cy="177455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2" name="Down Arrow Callout 11"/>
          <p:cNvSpPr/>
          <p:nvPr userDrawn="1"/>
        </p:nvSpPr>
        <p:spPr>
          <a:xfrm>
            <a:off x="365437" y="1067939"/>
            <a:ext cx="2007972" cy="1996875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378">
              <a:spcBef>
                <a:spcPct val="20000"/>
              </a:spcBef>
              <a:defRPr/>
            </a:pPr>
            <a:endParaRPr lang="en-US" sz="4400">
              <a:solidFill>
                <a:schemeClr val="bg1"/>
              </a:solidFill>
              <a:latin typeface="FontAwesome" pitchFamily="2" charset="0"/>
            </a:endParaRPr>
          </a:p>
          <a:p>
            <a:pPr algn="ctr" defTabSz="914378">
              <a:spcBef>
                <a:spcPct val="20000"/>
              </a:spcBef>
              <a:defRPr/>
            </a:pPr>
            <a:endParaRPr lang="en-US" sz="12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2507876" y="2488744"/>
            <a:ext cx="2007972" cy="201624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378">
              <a:spcBef>
                <a:spcPct val="20000"/>
              </a:spcBef>
              <a:defRPr/>
            </a:pPr>
            <a:endParaRPr lang="en-US" sz="4000">
              <a:latin typeface="FontAwesome" pitchFamily="2" charset="0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4628355" y="1067939"/>
            <a:ext cx="2007972" cy="1996875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378">
              <a:spcBef>
                <a:spcPct val="20000"/>
              </a:spcBef>
              <a:defRPr/>
            </a:pPr>
            <a:r>
              <a:rPr lang="en-US" sz="1000"/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6759814" y="2488744"/>
            <a:ext cx="2007972" cy="201624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>
              <a:spcBef>
                <a:spcPct val="20000"/>
              </a:spcBef>
              <a:defRPr/>
            </a:pPr>
            <a:r>
              <a:rPr lang="en-US" sz="6000">
                <a:latin typeface="FontAwesome" pitchFamily="2" charset="0"/>
              </a:rPr>
              <a:t/>
            </a:r>
            <a:br>
              <a:rPr lang="en-US" sz="6000">
                <a:latin typeface="FontAwesome" pitchFamily="2" charset="0"/>
              </a:rPr>
            </a:br>
            <a:endParaRPr lang="en-US" sz="12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169551721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  <p:bldP spid="32" grpId="0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14" name="Down Arrow Callout 13"/>
          <p:cNvSpPr/>
          <p:nvPr userDrawn="1"/>
        </p:nvSpPr>
        <p:spPr>
          <a:xfrm>
            <a:off x="4644938" y="1246791"/>
            <a:ext cx="1854144" cy="322599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Down Arrow Callout 15"/>
          <p:cNvSpPr/>
          <p:nvPr userDrawn="1"/>
        </p:nvSpPr>
        <p:spPr>
          <a:xfrm>
            <a:off x="2654745" y="1246791"/>
            <a:ext cx="1854144" cy="322599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Down Arrow Callout 18"/>
          <p:cNvSpPr/>
          <p:nvPr userDrawn="1"/>
        </p:nvSpPr>
        <p:spPr>
          <a:xfrm>
            <a:off x="6635132" y="1246791"/>
            <a:ext cx="1854144" cy="322599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64552" y="1246790"/>
            <a:ext cx="1854144" cy="322599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77456470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6" grpId="0" animBg="1"/>
      <p:bldP spid="19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72069" y="1086668"/>
            <a:ext cx="3685064" cy="23042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789251" y="1084243"/>
            <a:ext cx="3682682" cy="2306705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319657516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26838"/>
      </p:ext>
    </p:extLst>
  </p:cSld>
  <p:clrMapOvr>
    <a:masterClrMapping/>
  </p:clrMapOvr>
  <p:transition spd="slow" advTm="3000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585279805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843790" y="406017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0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367790" y="758009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05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029764940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03861652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454158026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59840"/>
      </p:ext>
    </p:extLst>
  </p:cSld>
  <p:clrMapOvr>
    <a:masterClrMapping/>
  </p:clrMapOvr>
  <p:transition spd="slow" advTm="3000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91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377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63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949440" y="1079135"/>
            <a:ext cx="2103120" cy="264475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787209001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22251" y="161925"/>
            <a:ext cx="4410075" cy="481965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4805150" y="162540"/>
            <a:ext cx="4116180" cy="338853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805149" y="3734164"/>
            <a:ext cx="4116180" cy="12467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486137252"/>
      </p:ext>
    </p:extLst>
  </p:cSld>
  <p:clrMapOvr>
    <a:masterClrMapping/>
  </p:clrMapOvr>
  <p:transition spd="slow" advTm="3000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22250" y="161925"/>
            <a:ext cx="4234536" cy="338853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22250" y="3734164"/>
            <a:ext cx="4234536" cy="12467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87214" y="161925"/>
            <a:ext cx="4234536" cy="338853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687214" y="3734164"/>
            <a:ext cx="4234536" cy="12467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8436277"/>
      </p:ext>
    </p:extLst>
  </p:cSld>
  <p:clrMapOvr>
    <a:masterClrMapping/>
  </p:clrMapOvr>
  <p:transition spd="slow" advTm="3000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03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72069" y="1086668"/>
            <a:ext cx="3685064" cy="23042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789251" y="1084243"/>
            <a:ext cx="3682682" cy="2306705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360826178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598134"/>
      </p:ext>
    </p:extLst>
  </p:cSld>
  <p:clrMapOvr>
    <a:masterClrMapping/>
  </p:clrMapOvr>
  <p:transition spd="slow" advTm="3000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44815680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8760967" y="4685356"/>
            <a:ext cx="341769" cy="424295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2405" y="4755651"/>
            <a:ext cx="457681" cy="274637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843790" y="406017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0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367790" y="758009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05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067584975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015677446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752600" y="26747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14600" y="61946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8894950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966906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904498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855399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207357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526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550493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735124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31301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86845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688527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158435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953851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886113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201393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026229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518597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199582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465983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46819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575823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457660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16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00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transition spd="slow" advTm="3000">
    <p:push dir="u"/>
  </p:transition>
  <p:hf hdr="0" ftr="0" dt="0"/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38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p:transition spd="slow" advTm="3000">
    <p:push dir="u"/>
  </p:transition>
  <p:hf hdr="0" ftr="0" dt="0"/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3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ransition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08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ransition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>
          <a:xfrm>
            <a:off x="827546" y="2730444"/>
            <a:ext cx="748891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面试的基本程序</a:t>
            </a:r>
            <a:endParaRPr lang="en-US" b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/>
              <a:t>The interview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279" y="3550345"/>
            <a:ext cx="189332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914378">
              <a:spcBef>
                <a:spcPct val="20000"/>
              </a:spcBef>
              <a:defRPr/>
            </a:pPr>
            <a:r>
              <a:rPr lang="zh-CN" altLang="en-US" sz="18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面试前的</a:t>
            </a:r>
            <a:r>
              <a:rPr lang="zh-CN" altLang="en-US" sz="1800" kern="0">
                <a:solidFill>
                  <a:srgbClr val="3777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准备阶段</a:t>
            </a:r>
            <a:endParaRPr lang="en-US" sz="1800" kern="0">
              <a:solidFill>
                <a:srgbClr val="3777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1567939" y="2059610"/>
            <a:ext cx="0" cy="321711"/>
          </a:xfrm>
          <a:prstGeom prst="line">
            <a:avLst/>
          </a:prstGeom>
          <a:ln w="19050" cap="rnd">
            <a:solidFill>
              <a:schemeClr val="accent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221691" y="3169533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14378">
              <a:spcBef>
                <a:spcPct val="20000"/>
              </a:spcBef>
              <a:defRPr/>
            </a:pPr>
            <a:r>
              <a:rPr lang="zh-CN" altLang="en-US" sz="1800" b="1" ker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面试前</a:t>
            </a:r>
            <a:endParaRPr lang="en-US" sz="1800" ker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252372" y="2444956"/>
            <a:ext cx="631134" cy="63113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/>
            <a:r>
              <a:rPr lang="en-US" sz="1600" b="1" kern="0">
                <a:solidFill>
                  <a:schemeClr val="accent1"/>
                </a:solidFill>
              </a:rPr>
              <a:t>01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1115187" y="1131575"/>
            <a:ext cx="905505" cy="905505"/>
            <a:chOff x="1051794" y="1131575"/>
            <a:chExt cx="905504" cy="905504"/>
          </a:xfrm>
        </p:grpSpPr>
        <p:sp>
          <p:nvSpPr>
            <p:cNvPr id="33" name="Freeform 32"/>
            <p:cNvSpPr/>
            <p:nvPr/>
          </p:nvSpPr>
          <p:spPr>
            <a:xfrm>
              <a:off x="1051794" y="1131575"/>
              <a:ext cx="905504" cy="905504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algn="ctr" defTabSz="8889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>
                <a:solidFill>
                  <a:sysClr val="windowText" lastClr="000000"/>
                </a:solidFill>
                <a:latin typeface="FontAwesome" pitchFamily="2" charset="0"/>
              </a:endParaRPr>
            </a:p>
          </p:txBody>
        </p:sp>
        <p:sp>
          <p:nvSpPr>
            <p:cNvPr id="59" name="Freeform 116"/>
            <p:cNvSpPr>
              <a:spLocks noEditPoints="1"/>
            </p:cNvSpPr>
            <p:nvPr/>
          </p:nvSpPr>
          <p:spPr bwMode="auto">
            <a:xfrm>
              <a:off x="1276083" y="1388684"/>
              <a:ext cx="439557" cy="35448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8"/>
              <a:endParaRPr lang="en-US" sz="1800" kern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51" name="Straight Connector 50"/>
          <p:cNvCxnSpPr/>
          <p:nvPr/>
        </p:nvCxnSpPr>
        <p:spPr>
          <a:xfrm flipH="1" flipV="1">
            <a:off x="3288401" y="3130288"/>
            <a:ext cx="0" cy="326110"/>
          </a:xfrm>
          <a:prstGeom prst="line">
            <a:avLst/>
          </a:prstGeom>
          <a:ln w="19050" cap="rnd">
            <a:solidFill>
              <a:schemeClr val="accent2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972834" y="2444955"/>
            <a:ext cx="631134" cy="63113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/>
            <a:r>
              <a:rPr lang="en-US" sz="1600" b="1" kern="0">
                <a:solidFill>
                  <a:schemeClr val="accent2"/>
                </a:solidFill>
              </a:rPr>
              <a:t>02</a:t>
            </a:r>
            <a:endParaRPr lang="en-US" sz="1600" kern="0">
              <a:solidFill>
                <a:schemeClr val="accent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42153" y="1965308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14378">
              <a:spcBef>
                <a:spcPct val="20000"/>
              </a:spcBef>
              <a:defRPr/>
            </a:pPr>
            <a:r>
              <a:rPr lang="zh-CN" altLang="en-US" sz="1800" b="1" ker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面试中</a:t>
            </a:r>
            <a:endParaRPr lang="en-US" sz="1800" ker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2835649" y="3487327"/>
            <a:ext cx="905505" cy="905504"/>
            <a:chOff x="2222093" y="3487327"/>
            <a:chExt cx="905504" cy="905504"/>
          </a:xfrm>
        </p:grpSpPr>
        <p:sp>
          <p:nvSpPr>
            <p:cNvPr id="37" name="Freeform 36"/>
            <p:cNvSpPr/>
            <p:nvPr/>
          </p:nvSpPr>
          <p:spPr>
            <a:xfrm>
              <a:off x="2222093" y="3487327"/>
              <a:ext cx="905504" cy="905504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8889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solidFill>
                  <a:sysClr val="windowText" lastClr="000000"/>
                </a:solidFill>
                <a:latin typeface="FontAwesome" pitchFamily="2" charset="0"/>
              </a:endParaRPr>
            </a:p>
          </p:txBody>
        </p:sp>
        <p:sp>
          <p:nvSpPr>
            <p:cNvPr id="64" name="Freeform 105"/>
            <p:cNvSpPr>
              <a:spLocks noEditPoints="1"/>
            </p:cNvSpPr>
            <p:nvPr/>
          </p:nvSpPr>
          <p:spPr bwMode="auto">
            <a:xfrm>
              <a:off x="2457767" y="3726147"/>
              <a:ext cx="434156" cy="427865"/>
            </a:xfrm>
            <a:custGeom>
              <a:avLst/>
              <a:gdLst/>
              <a:ahLst/>
              <a:cxnLst>
                <a:cxn ang="0">
                  <a:pos x="59" y="63"/>
                </a:cxn>
                <a:cxn ang="0">
                  <a:pos x="55" y="61"/>
                </a:cxn>
                <a:cxn ang="0">
                  <a:pos x="42" y="48"/>
                </a:cxn>
                <a:cxn ang="0">
                  <a:pos x="27" y="53"/>
                </a:cxn>
                <a:cxn ang="0">
                  <a:pos x="0" y="26"/>
                </a:cxn>
                <a:cxn ang="0">
                  <a:pos x="27" y="0"/>
                </a:cxn>
                <a:cxn ang="0">
                  <a:pos x="54" y="26"/>
                </a:cxn>
                <a:cxn ang="0">
                  <a:pos x="49" y="41"/>
                </a:cxn>
                <a:cxn ang="0">
                  <a:pos x="62" y="54"/>
                </a:cxn>
                <a:cxn ang="0">
                  <a:pos x="64" y="58"/>
                </a:cxn>
                <a:cxn ang="0">
                  <a:pos x="59" y="63"/>
                </a:cxn>
                <a:cxn ang="0">
                  <a:pos x="27" y="9"/>
                </a:cxn>
                <a:cxn ang="0">
                  <a:pos x="10" y="26"/>
                </a:cxn>
                <a:cxn ang="0">
                  <a:pos x="27" y="43"/>
                </a:cxn>
                <a:cxn ang="0">
                  <a:pos x="44" y="26"/>
                </a:cxn>
                <a:cxn ang="0">
                  <a:pos x="27" y="9"/>
                </a:cxn>
              </a:cxnLst>
              <a:rect l="0" t="0" r="r" b="b"/>
              <a:pathLst>
                <a:path w="64" h="62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8"/>
              <a:endParaRPr lang="en-US" sz="1800" kern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67" name="TextBox 48"/>
          <p:cNvSpPr txBox="1"/>
          <p:nvPr/>
        </p:nvSpPr>
        <p:spPr>
          <a:xfrm>
            <a:off x="2658535" y="1598384"/>
            <a:ext cx="1469433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914378">
              <a:spcBef>
                <a:spcPct val="20000"/>
              </a:spcBef>
              <a:defRPr/>
            </a:pPr>
            <a:r>
              <a:rPr lang="zh-CN" altLang="en-US" sz="18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</a:t>
            </a:r>
            <a:r>
              <a:rPr lang="zh-CN" altLang="en-US" sz="1800" kern="0">
                <a:solidFill>
                  <a:srgbClr val="189A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开始阶段</a:t>
            </a:r>
            <a:endParaRPr lang="en-US" sz="1800" kern="0">
              <a:solidFill>
                <a:srgbClr val="189A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4797645" y="2059610"/>
            <a:ext cx="0" cy="321711"/>
          </a:xfrm>
          <a:prstGeom prst="line">
            <a:avLst/>
          </a:prstGeom>
          <a:ln w="19050" cap="rnd">
            <a:solidFill>
              <a:schemeClr val="accent3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482078" y="2444955"/>
            <a:ext cx="631134" cy="63113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/>
            <a:r>
              <a:rPr lang="en-US" sz="1600" b="1" kern="0">
                <a:solidFill>
                  <a:schemeClr val="accent3"/>
                </a:solidFill>
              </a:rPr>
              <a:t>03</a:t>
            </a:r>
            <a:endParaRPr lang="en-US" sz="1600" kern="0">
              <a:solidFill>
                <a:schemeClr val="accent3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51397" y="3169531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14378">
              <a:spcBef>
                <a:spcPct val="20000"/>
              </a:spcBef>
              <a:defRPr/>
            </a:pPr>
            <a:r>
              <a:rPr lang="zh-CN" altLang="en-US" sz="1800" b="1" ker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面试中</a:t>
            </a:r>
            <a:endParaRPr lang="en-US" sz="1800" kern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4344894" y="1132752"/>
            <a:ext cx="905505" cy="905504"/>
            <a:chOff x="3613164" y="1132752"/>
            <a:chExt cx="905504" cy="905504"/>
          </a:xfrm>
        </p:grpSpPr>
        <p:sp>
          <p:nvSpPr>
            <p:cNvPr id="36" name="Freeform 35"/>
            <p:cNvSpPr/>
            <p:nvPr/>
          </p:nvSpPr>
          <p:spPr>
            <a:xfrm>
              <a:off x="3613164" y="1132752"/>
              <a:ext cx="905504" cy="905504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880" tIns="182880" rIns="182880" bIns="158008" numCol="1" spcCol="1270" anchor="ctr" anchorCtr="0">
              <a:noAutofit/>
            </a:bodyPr>
            <a:lstStyle/>
            <a:p>
              <a:pPr algn="ctr" defTabSz="8889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solidFill>
                  <a:sysClr val="windowText" lastClr="000000"/>
                </a:solidFill>
                <a:latin typeface="FontAwesome" pitchFamily="2" charset="0"/>
              </a:endParaRPr>
            </a:p>
          </p:txBody>
        </p:sp>
        <p:sp>
          <p:nvSpPr>
            <p:cNvPr id="68" name="Freeform 15"/>
            <p:cNvSpPr>
              <a:spLocks noEditPoints="1"/>
            </p:cNvSpPr>
            <p:nvPr/>
          </p:nvSpPr>
          <p:spPr bwMode="auto">
            <a:xfrm>
              <a:off x="3847329" y="1409005"/>
              <a:ext cx="437172" cy="327879"/>
            </a:xfrm>
            <a:custGeom>
              <a:avLst/>
              <a:gdLst/>
              <a:ahLst/>
              <a:cxnLst>
                <a:cxn ang="0">
                  <a:pos x="168" y="126"/>
                </a:cxn>
                <a:cxn ang="0">
                  <a:pos x="0" y="126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10" y="115"/>
                </a:cxn>
                <a:cxn ang="0">
                  <a:pos x="168" y="115"/>
                </a:cxn>
                <a:cxn ang="0">
                  <a:pos x="168" y="126"/>
                </a:cxn>
                <a:cxn ang="0">
                  <a:pos x="54" y="104"/>
                </a:cxn>
                <a:cxn ang="0">
                  <a:pos x="32" y="104"/>
                </a:cxn>
                <a:cxn ang="0">
                  <a:pos x="32" y="63"/>
                </a:cxn>
                <a:cxn ang="0">
                  <a:pos x="54" y="63"/>
                </a:cxn>
                <a:cxn ang="0">
                  <a:pos x="54" y="104"/>
                </a:cxn>
                <a:cxn ang="0">
                  <a:pos x="84" y="104"/>
                </a:cxn>
                <a:cxn ang="0">
                  <a:pos x="64" y="104"/>
                </a:cxn>
                <a:cxn ang="0">
                  <a:pos x="64" y="19"/>
                </a:cxn>
                <a:cxn ang="0">
                  <a:pos x="84" y="19"/>
                </a:cxn>
                <a:cxn ang="0">
                  <a:pos x="84" y="104"/>
                </a:cxn>
                <a:cxn ang="0">
                  <a:pos x="116" y="104"/>
                </a:cxn>
                <a:cxn ang="0">
                  <a:pos x="95" y="104"/>
                </a:cxn>
                <a:cxn ang="0">
                  <a:pos x="95" y="41"/>
                </a:cxn>
                <a:cxn ang="0">
                  <a:pos x="116" y="41"/>
                </a:cxn>
                <a:cxn ang="0">
                  <a:pos x="116" y="104"/>
                </a:cxn>
                <a:cxn ang="0">
                  <a:pos x="147" y="104"/>
                </a:cxn>
                <a:cxn ang="0">
                  <a:pos x="127" y="104"/>
                </a:cxn>
                <a:cxn ang="0">
                  <a:pos x="127" y="9"/>
                </a:cxn>
                <a:cxn ang="0">
                  <a:pos x="147" y="9"/>
                </a:cxn>
                <a:cxn ang="0">
                  <a:pos x="147" y="104"/>
                </a:cxn>
              </a:cxnLst>
              <a:rect l="0" t="0" r="r" b="b"/>
              <a:pathLst>
                <a:path w="168" h="125">
                  <a:moveTo>
                    <a:pt x="168" y="126"/>
                  </a:moveTo>
                  <a:lnTo>
                    <a:pt x="0" y="12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115"/>
                  </a:lnTo>
                  <a:lnTo>
                    <a:pt x="168" y="115"/>
                  </a:lnTo>
                  <a:lnTo>
                    <a:pt x="168" y="126"/>
                  </a:lnTo>
                  <a:close/>
                  <a:moveTo>
                    <a:pt x="54" y="104"/>
                  </a:moveTo>
                  <a:lnTo>
                    <a:pt x="32" y="104"/>
                  </a:lnTo>
                  <a:lnTo>
                    <a:pt x="32" y="63"/>
                  </a:lnTo>
                  <a:lnTo>
                    <a:pt x="54" y="63"/>
                  </a:lnTo>
                  <a:lnTo>
                    <a:pt x="54" y="104"/>
                  </a:lnTo>
                  <a:close/>
                  <a:moveTo>
                    <a:pt x="84" y="104"/>
                  </a:moveTo>
                  <a:lnTo>
                    <a:pt x="64" y="104"/>
                  </a:lnTo>
                  <a:lnTo>
                    <a:pt x="64" y="19"/>
                  </a:lnTo>
                  <a:lnTo>
                    <a:pt x="84" y="19"/>
                  </a:lnTo>
                  <a:lnTo>
                    <a:pt x="84" y="104"/>
                  </a:lnTo>
                  <a:close/>
                  <a:moveTo>
                    <a:pt x="116" y="104"/>
                  </a:moveTo>
                  <a:lnTo>
                    <a:pt x="95" y="104"/>
                  </a:lnTo>
                  <a:lnTo>
                    <a:pt x="95" y="41"/>
                  </a:lnTo>
                  <a:lnTo>
                    <a:pt x="116" y="41"/>
                  </a:lnTo>
                  <a:lnTo>
                    <a:pt x="116" y="104"/>
                  </a:lnTo>
                  <a:close/>
                  <a:moveTo>
                    <a:pt x="147" y="104"/>
                  </a:moveTo>
                  <a:lnTo>
                    <a:pt x="127" y="104"/>
                  </a:lnTo>
                  <a:lnTo>
                    <a:pt x="127" y="9"/>
                  </a:lnTo>
                  <a:lnTo>
                    <a:pt x="147" y="9"/>
                  </a:lnTo>
                  <a:lnTo>
                    <a:pt x="147" y="10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8"/>
              <a:endParaRPr lang="en-US" sz="18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1" name="TextBox 48"/>
          <p:cNvSpPr txBox="1"/>
          <p:nvPr/>
        </p:nvSpPr>
        <p:spPr>
          <a:xfrm>
            <a:off x="4112442" y="3551523"/>
            <a:ext cx="1425807" cy="2758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914378">
              <a:spcBef>
                <a:spcPct val="20000"/>
              </a:spcBef>
              <a:defRPr/>
            </a:pPr>
            <a:r>
              <a:rPr lang="zh-CN" altLang="en-US" sz="1800" kern="0">
                <a:solidFill>
                  <a:srgbClr val="F09C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正式面试</a:t>
            </a:r>
            <a:r>
              <a:rPr lang="zh-CN" altLang="en-US" sz="18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endParaRPr lang="en-US" sz="1800" kern="0">
              <a:solidFill>
                <a:srgbClr val="189A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flipH="1" flipV="1">
            <a:off x="6252789" y="3110410"/>
            <a:ext cx="0" cy="351510"/>
          </a:xfrm>
          <a:prstGeom prst="line">
            <a:avLst/>
          </a:prstGeom>
          <a:ln w="19050" cap="rnd">
            <a:solidFill>
              <a:schemeClr val="accent4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37222" y="2444956"/>
            <a:ext cx="631134" cy="63113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/>
            <a:r>
              <a:rPr lang="en-US" sz="1600" b="1" kern="0">
                <a:solidFill>
                  <a:schemeClr val="accent4"/>
                </a:solidFill>
              </a:rPr>
              <a:t>04</a:t>
            </a:r>
            <a:endParaRPr lang="en-US" sz="1600" kern="0">
              <a:solidFill>
                <a:schemeClr val="accent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06541" y="1965309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14378">
              <a:spcBef>
                <a:spcPct val="20000"/>
              </a:spcBef>
              <a:defRPr/>
            </a:pPr>
            <a:r>
              <a:rPr lang="zh-CN" altLang="en-US" sz="1800" b="1" ker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面试中</a:t>
            </a:r>
            <a:endParaRPr lang="en-US" sz="1800" kern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5800037" y="3488706"/>
            <a:ext cx="905504" cy="905504"/>
            <a:chOff x="4907275" y="3488705"/>
            <a:chExt cx="905504" cy="905504"/>
          </a:xfrm>
        </p:grpSpPr>
        <p:sp>
          <p:nvSpPr>
            <p:cNvPr id="35" name="Freeform 34"/>
            <p:cNvSpPr/>
            <p:nvPr/>
          </p:nvSpPr>
          <p:spPr>
            <a:xfrm>
              <a:off x="4907275" y="3488705"/>
              <a:ext cx="905504" cy="905504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880" tIns="158008" rIns="158008" bIns="91440" numCol="1" spcCol="1270" anchor="ctr" anchorCtr="0">
              <a:noAutofit/>
            </a:bodyPr>
            <a:lstStyle/>
            <a:p>
              <a:pPr algn="ctr" defTabSz="8889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Freeform 57"/>
            <p:cNvSpPr>
              <a:spLocks noEditPoints="1"/>
            </p:cNvSpPr>
            <p:nvPr/>
          </p:nvSpPr>
          <p:spPr bwMode="auto">
            <a:xfrm>
              <a:off x="5182389" y="3763819"/>
              <a:ext cx="355277" cy="355277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8"/>
              <a:endParaRPr lang="en-US" sz="18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3" name="TextBox 48"/>
          <p:cNvSpPr txBox="1"/>
          <p:nvPr/>
        </p:nvSpPr>
        <p:spPr>
          <a:xfrm>
            <a:off x="5548297" y="1598384"/>
            <a:ext cx="1385064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914378">
              <a:spcBef>
                <a:spcPct val="20000"/>
              </a:spcBef>
              <a:defRPr/>
            </a:pPr>
            <a:r>
              <a:rPr lang="zh-CN" altLang="en-US" sz="1800" kern="0">
                <a:solidFill>
                  <a:srgbClr val="D241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结束面试</a:t>
            </a:r>
            <a:r>
              <a:rPr lang="zh-CN" altLang="en-US" sz="1800" kern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endParaRPr lang="en-US" sz="1800" kern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7756788" y="2058434"/>
            <a:ext cx="0" cy="321711"/>
          </a:xfrm>
          <a:prstGeom prst="line">
            <a:avLst/>
          </a:prstGeom>
          <a:ln w="19050" cap="rnd">
            <a:solidFill>
              <a:schemeClr val="accent5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441221" y="2443779"/>
            <a:ext cx="631134" cy="63113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/>
            <a:r>
              <a:rPr lang="en-US" sz="1600" b="1" kern="0">
                <a:solidFill>
                  <a:schemeClr val="accent5"/>
                </a:solidFill>
              </a:rPr>
              <a:t>05</a:t>
            </a:r>
            <a:endParaRPr lang="en-US" sz="1600" kern="0">
              <a:solidFill>
                <a:schemeClr val="accent5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10540" y="3168355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14378">
              <a:spcBef>
                <a:spcPct val="20000"/>
              </a:spcBef>
              <a:defRPr/>
            </a:pPr>
            <a:r>
              <a:rPr lang="zh-CN" altLang="en-US" sz="1800" b="1" ker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面试后</a:t>
            </a:r>
            <a:endParaRPr lang="en-US" sz="1800" kern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7304036" y="1131576"/>
            <a:ext cx="905505" cy="905504"/>
            <a:chOff x="6250238" y="1132752"/>
            <a:chExt cx="905504" cy="905504"/>
          </a:xfrm>
        </p:grpSpPr>
        <p:sp>
          <p:nvSpPr>
            <p:cNvPr id="53" name="Freeform 52"/>
            <p:cNvSpPr/>
            <p:nvPr/>
          </p:nvSpPr>
          <p:spPr>
            <a:xfrm>
              <a:off x="6250238" y="1132752"/>
              <a:ext cx="905504" cy="905504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880" tIns="182880" rIns="182880" bIns="274320" numCol="1" spcCol="1270" anchor="ctr" anchorCtr="0">
              <a:noAutofit/>
            </a:bodyPr>
            <a:lstStyle/>
            <a:p>
              <a:pPr algn="ctr" defTabSz="8889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solidFill>
                  <a:sysClr val="windowText" lastClr="000000"/>
                </a:solidFill>
                <a:latin typeface="FontAwesome" pitchFamily="2" charset="0"/>
              </a:endParaRPr>
            </a:p>
          </p:txBody>
        </p:sp>
        <p:sp>
          <p:nvSpPr>
            <p:cNvPr id="85" name="Freeform 135"/>
            <p:cNvSpPr>
              <a:spLocks noEditPoints="1"/>
            </p:cNvSpPr>
            <p:nvPr/>
          </p:nvSpPr>
          <p:spPr bwMode="auto">
            <a:xfrm>
              <a:off x="6490080" y="1397717"/>
              <a:ext cx="425819" cy="398868"/>
            </a:xfrm>
            <a:custGeom>
              <a:avLst/>
              <a:gdLst/>
              <a:ahLst/>
              <a:cxnLst>
                <a:cxn ang="0">
                  <a:pos x="13" y="39"/>
                </a:cxn>
                <a:cxn ang="0">
                  <a:pos x="8" y="39"/>
                </a:cxn>
                <a:cxn ang="0">
                  <a:pos x="0" y="33"/>
                </a:cxn>
                <a:cxn ang="0">
                  <a:pos x="5" y="19"/>
                </a:cxn>
                <a:cxn ang="0">
                  <a:pos x="15" y="22"/>
                </a:cxn>
                <a:cxn ang="0">
                  <a:pos x="20" y="21"/>
                </a:cxn>
                <a:cxn ang="0">
                  <a:pos x="20" y="24"/>
                </a:cxn>
                <a:cxn ang="0">
                  <a:pos x="23" y="34"/>
                </a:cxn>
                <a:cxn ang="0">
                  <a:pos x="13" y="39"/>
                </a:cxn>
                <a:cxn ang="0">
                  <a:pos x="15" y="19"/>
                </a:cxn>
                <a:cxn ang="0">
                  <a:pos x="5" y="9"/>
                </a:cxn>
                <a:cxn ang="0">
                  <a:pos x="15" y="0"/>
                </a:cxn>
                <a:cxn ang="0">
                  <a:pos x="25" y="9"/>
                </a:cxn>
                <a:cxn ang="0">
                  <a:pos x="15" y="19"/>
                </a:cxn>
                <a:cxn ang="0">
                  <a:pos x="53" y="68"/>
                </a:cxn>
                <a:cxn ang="0">
                  <a:pos x="20" y="68"/>
                </a:cxn>
                <a:cxn ang="0">
                  <a:pos x="10" y="58"/>
                </a:cxn>
                <a:cxn ang="0">
                  <a:pos x="23" y="36"/>
                </a:cxn>
                <a:cxn ang="0">
                  <a:pos x="37" y="41"/>
                </a:cxn>
                <a:cxn ang="0">
                  <a:pos x="50" y="36"/>
                </a:cxn>
                <a:cxn ang="0">
                  <a:pos x="64" y="58"/>
                </a:cxn>
                <a:cxn ang="0">
                  <a:pos x="53" y="68"/>
                </a:cxn>
                <a:cxn ang="0">
                  <a:pos x="37" y="39"/>
                </a:cxn>
                <a:cxn ang="0">
                  <a:pos x="22" y="24"/>
                </a:cxn>
                <a:cxn ang="0">
                  <a:pos x="37" y="9"/>
                </a:cxn>
                <a:cxn ang="0">
                  <a:pos x="51" y="24"/>
                </a:cxn>
                <a:cxn ang="0">
                  <a:pos x="37" y="39"/>
                </a:cxn>
                <a:cxn ang="0">
                  <a:pos x="59" y="19"/>
                </a:cxn>
                <a:cxn ang="0">
                  <a:pos x="49" y="9"/>
                </a:cxn>
                <a:cxn ang="0">
                  <a:pos x="59" y="0"/>
                </a:cxn>
                <a:cxn ang="0">
                  <a:pos x="68" y="9"/>
                </a:cxn>
                <a:cxn ang="0">
                  <a:pos x="59" y="19"/>
                </a:cxn>
                <a:cxn ang="0">
                  <a:pos x="66" y="39"/>
                </a:cxn>
                <a:cxn ang="0">
                  <a:pos x="61" y="39"/>
                </a:cxn>
                <a:cxn ang="0">
                  <a:pos x="51" y="34"/>
                </a:cxn>
                <a:cxn ang="0">
                  <a:pos x="54" y="24"/>
                </a:cxn>
                <a:cxn ang="0">
                  <a:pos x="54" y="21"/>
                </a:cxn>
                <a:cxn ang="0">
                  <a:pos x="59" y="22"/>
                </a:cxn>
                <a:cxn ang="0">
                  <a:pos x="69" y="19"/>
                </a:cxn>
                <a:cxn ang="0">
                  <a:pos x="73" y="33"/>
                </a:cxn>
                <a:cxn ang="0">
                  <a:pos x="66" y="39"/>
                </a:cxn>
              </a:cxnLst>
              <a:rect l="0" t="0" r="r" b="b"/>
              <a:pathLst>
                <a:path w="73" h="68">
                  <a:moveTo>
                    <a:pt x="13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7"/>
                    <a:pt x="0" y="33"/>
                  </a:cubicBezTo>
                  <a:cubicBezTo>
                    <a:pt x="0" y="29"/>
                    <a:pt x="0" y="19"/>
                    <a:pt x="5" y="19"/>
                  </a:cubicBezTo>
                  <a:cubicBezTo>
                    <a:pt x="6" y="19"/>
                    <a:pt x="10" y="22"/>
                    <a:pt x="15" y="22"/>
                  </a:cubicBezTo>
                  <a:cubicBezTo>
                    <a:pt x="17" y="22"/>
                    <a:pt x="18" y="22"/>
                    <a:pt x="20" y="21"/>
                  </a:cubicBezTo>
                  <a:cubicBezTo>
                    <a:pt x="20" y="22"/>
                    <a:pt x="20" y="23"/>
                    <a:pt x="20" y="24"/>
                  </a:cubicBezTo>
                  <a:cubicBezTo>
                    <a:pt x="20" y="27"/>
                    <a:pt x="21" y="31"/>
                    <a:pt x="23" y="34"/>
                  </a:cubicBezTo>
                  <a:cubicBezTo>
                    <a:pt x="19" y="34"/>
                    <a:pt x="15" y="36"/>
                    <a:pt x="13" y="39"/>
                  </a:cubicBezTo>
                  <a:close/>
                  <a:moveTo>
                    <a:pt x="15" y="19"/>
                  </a:moveTo>
                  <a:cubicBezTo>
                    <a:pt x="10" y="19"/>
                    <a:pt x="5" y="15"/>
                    <a:pt x="5" y="9"/>
                  </a:cubicBezTo>
                  <a:cubicBezTo>
                    <a:pt x="5" y="4"/>
                    <a:pt x="10" y="0"/>
                    <a:pt x="15" y="0"/>
                  </a:cubicBezTo>
                  <a:cubicBezTo>
                    <a:pt x="20" y="0"/>
                    <a:pt x="25" y="4"/>
                    <a:pt x="25" y="9"/>
                  </a:cubicBezTo>
                  <a:cubicBezTo>
                    <a:pt x="25" y="15"/>
                    <a:pt x="20" y="19"/>
                    <a:pt x="15" y="19"/>
                  </a:cubicBezTo>
                  <a:close/>
                  <a:moveTo>
                    <a:pt x="53" y="68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14" y="68"/>
                    <a:pt x="10" y="64"/>
                    <a:pt x="10" y="58"/>
                  </a:cubicBezTo>
                  <a:cubicBezTo>
                    <a:pt x="10" y="49"/>
                    <a:pt x="12" y="36"/>
                    <a:pt x="23" y="36"/>
                  </a:cubicBezTo>
                  <a:cubicBezTo>
                    <a:pt x="25" y="36"/>
                    <a:pt x="29" y="41"/>
                    <a:pt x="37" y="41"/>
                  </a:cubicBezTo>
                  <a:cubicBezTo>
                    <a:pt x="44" y="41"/>
                    <a:pt x="49" y="36"/>
                    <a:pt x="50" y="36"/>
                  </a:cubicBezTo>
                  <a:cubicBezTo>
                    <a:pt x="62" y="36"/>
                    <a:pt x="64" y="49"/>
                    <a:pt x="64" y="58"/>
                  </a:cubicBezTo>
                  <a:cubicBezTo>
                    <a:pt x="64" y="64"/>
                    <a:pt x="60" y="68"/>
                    <a:pt x="53" y="68"/>
                  </a:cubicBezTo>
                  <a:close/>
                  <a:moveTo>
                    <a:pt x="37" y="39"/>
                  </a:moveTo>
                  <a:cubicBezTo>
                    <a:pt x="29" y="39"/>
                    <a:pt x="22" y="32"/>
                    <a:pt x="22" y="24"/>
                  </a:cubicBezTo>
                  <a:cubicBezTo>
                    <a:pt x="22" y="16"/>
                    <a:pt x="29" y="9"/>
                    <a:pt x="37" y="9"/>
                  </a:cubicBezTo>
                  <a:cubicBezTo>
                    <a:pt x="45" y="9"/>
                    <a:pt x="51" y="16"/>
                    <a:pt x="51" y="24"/>
                  </a:cubicBezTo>
                  <a:cubicBezTo>
                    <a:pt x="51" y="32"/>
                    <a:pt x="45" y="39"/>
                    <a:pt x="37" y="39"/>
                  </a:cubicBezTo>
                  <a:close/>
                  <a:moveTo>
                    <a:pt x="59" y="19"/>
                  </a:moveTo>
                  <a:cubicBezTo>
                    <a:pt x="53" y="19"/>
                    <a:pt x="49" y="15"/>
                    <a:pt x="49" y="9"/>
                  </a:cubicBezTo>
                  <a:cubicBezTo>
                    <a:pt x="49" y="4"/>
                    <a:pt x="53" y="0"/>
                    <a:pt x="59" y="0"/>
                  </a:cubicBezTo>
                  <a:cubicBezTo>
                    <a:pt x="64" y="0"/>
                    <a:pt x="68" y="4"/>
                    <a:pt x="68" y="9"/>
                  </a:cubicBezTo>
                  <a:cubicBezTo>
                    <a:pt x="68" y="15"/>
                    <a:pt x="64" y="19"/>
                    <a:pt x="59" y="19"/>
                  </a:cubicBezTo>
                  <a:close/>
                  <a:moveTo>
                    <a:pt x="66" y="39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58" y="36"/>
                    <a:pt x="55" y="34"/>
                    <a:pt x="51" y="34"/>
                  </a:cubicBezTo>
                  <a:cubicBezTo>
                    <a:pt x="53" y="31"/>
                    <a:pt x="54" y="27"/>
                    <a:pt x="54" y="24"/>
                  </a:cubicBezTo>
                  <a:cubicBezTo>
                    <a:pt x="54" y="23"/>
                    <a:pt x="54" y="22"/>
                    <a:pt x="54" y="21"/>
                  </a:cubicBezTo>
                  <a:cubicBezTo>
                    <a:pt x="55" y="22"/>
                    <a:pt x="57" y="22"/>
                    <a:pt x="59" y="22"/>
                  </a:cubicBezTo>
                  <a:cubicBezTo>
                    <a:pt x="64" y="22"/>
                    <a:pt x="68" y="19"/>
                    <a:pt x="69" y="19"/>
                  </a:cubicBezTo>
                  <a:cubicBezTo>
                    <a:pt x="73" y="19"/>
                    <a:pt x="73" y="29"/>
                    <a:pt x="73" y="33"/>
                  </a:cubicBezTo>
                  <a:cubicBezTo>
                    <a:pt x="73" y="37"/>
                    <a:pt x="70" y="39"/>
                    <a:pt x="66" y="39"/>
                  </a:cubicBez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8"/>
              <a:endParaRPr lang="en-US" sz="18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4" name="TextBox 48"/>
          <p:cNvSpPr txBox="1"/>
          <p:nvPr/>
        </p:nvSpPr>
        <p:spPr>
          <a:xfrm>
            <a:off x="7052873" y="3550345"/>
            <a:ext cx="1427933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914378">
              <a:spcBef>
                <a:spcPct val="20000"/>
              </a:spcBef>
              <a:defRPr/>
            </a:pPr>
            <a:r>
              <a:rPr lang="zh-CN" altLang="en-US" sz="1800" kern="0">
                <a:solidFill>
                  <a:srgbClr val="5642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面试评估</a:t>
            </a:r>
            <a:r>
              <a:rPr lang="zh-CN" altLang="en-US" sz="1800" kern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endParaRPr lang="en-US" sz="1800" kern="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F91B207C-1363-4430-8068-805FEE685C8F}"/>
              </a:ext>
            </a:extLst>
          </p:cNvPr>
          <p:cNvSpPr txBox="1"/>
          <p:nvPr/>
        </p:nvSpPr>
        <p:spPr>
          <a:xfrm>
            <a:off x="7283897" y="4443164"/>
            <a:ext cx="13716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风云办公</a:t>
            </a:r>
          </a:p>
        </p:txBody>
      </p:sp>
    </p:spTree>
    <p:extLst>
      <p:ext uri="{BB962C8B-B14F-4D97-AF65-F5344CB8AC3E}">
        <p14:creationId xmlns:p14="http://schemas.microsoft.com/office/powerpoint/2010/main" val="2209143134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199"/>
            <a:ext cx="9147928" cy="589579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" name="Title 35"/>
          <p:cNvSpPr txBox="1"/>
          <p:nvPr/>
        </p:nvSpPr>
        <p:spPr>
          <a:xfrm>
            <a:off x="-274022" y="78188"/>
            <a:ext cx="2748383" cy="384096"/>
          </a:xfrm>
          <a:prstGeom prst="rect">
            <a:avLst/>
          </a:prstGeom>
          <a:noFill/>
        </p:spPr>
        <p:txBody>
          <a:bodyPr/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面试基本方法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" name="Text Placeholder 3"/>
          <p:cNvSpPr txBox="1"/>
          <p:nvPr/>
        </p:nvSpPr>
        <p:spPr>
          <a:xfrm>
            <a:off x="800897" y="268955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interview</a:t>
            </a:r>
          </a:p>
        </p:txBody>
      </p:sp>
      <p:grpSp>
        <p:nvGrpSpPr>
          <p:cNvPr id="142" name="组合 141"/>
          <p:cNvGrpSpPr/>
          <p:nvPr/>
        </p:nvGrpSpPr>
        <p:grpSpPr>
          <a:xfrm>
            <a:off x="801928" y="1103408"/>
            <a:ext cx="7540143" cy="3983383"/>
            <a:chOff x="847647" y="1024172"/>
            <a:chExt cx="7540143" cy="3983383"/>
          </a:xfrm>
        </p:grpSpPr>
        <p:grpSp>
          <p:nvGrpSpPr>
            <p:cNvPr id="99" name="组合 98"/>
            <p:cNvGrpSpPr/>
            <p:nvPr/>
          </p:nvGrpSpPr>
          <p:grpSpPr>
            <a:xfrm>
              <a:off x="847647" y="1024172"/>
              <a:ext cx="1512388" cy="3740914"/>
              <a:chOff x="847647" y="1024172"/>
              <a:chExt cx="1512388" cy="3740914"/>
            </a:xfrm>
          </p:grpSpPr>
          <p:cxnSp>
            <p:nvCxnSpPr>
              <p:cNvPr id="8" name="Straight Connector 25"/>
              <p:cNvCxnSpPr/>
              <p:nvPr/>
            </p:nvCxnSpPr>
            <p:spPr>
              <a:xfrm flipH="1" flipV="1">
                <a:off x="1634268" y="2494299"/>
                <a:ext cx="0" cy="35890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Group 59"/>
              <p:cNvGrpSpPr/>
              <p:nvPr/>
            </p:nvGrpSpPr>
            <p:grpSpPr>
              <a:xfrm rot="16200000">
                <a:off x="1145889" y="2853257"/>
                <a:ext cx="976758" cy="976758"/>
                <a:chOff x="1688904" y="1134544"/>
                <a:chExt cx="1097279" cy="1097279"/>
              </a:xfrm>
            </p:grpSpPr>
            <p:sp>
              <p:nvSpPr>
                <p:cNvPr id="10" name="Arc 21"/>
                <p:cNvSpPr/>
                <p:nvPr/>
              </p:nvSpPr>
              <p:spPr>
                <a:xfrm>
                  <a:off x="1688904" y="1134544"/>
                  <a:ext cx="1097279" cy="1097279"/>
                </a:xfrm>
                <a:prstGeom prst="arc">
                  <a:avLst>
                    <a:gd name="adj1" fmla="val 16200000"/>
                    <a:gd name="adj2" fmla="val 5426856"/>
                  </a:avLst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cxnSp>
              <p:nvCxnSpPr>
                <p:cNvPr id="11" name="Straight Connector 26"/>
                <p:cNvCxnSpPr/>
                <p:nvPr/>
              </p:nvCxnSpPr>
              <p:spPr>
                <a:xfrm>
                  <a:off x="1893049" y="1134544"/>
                  <a:ext cx="348388" cy="0"/>
                </a:xfrm>
                <a:prstGeom prst="line">
                  <a:avLst/>
                </a:pr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28"/>
                <p:cNvCxnSpPr/>
                <p:nvPr/>
              </p:nvCxnSpPr>
              <p:spPr>
                <a:xfrm>
                  <a:off x="1893049" y="2231823"/>
                  <a:ext cx="348388" cy="0"/>
                </a:xfrm>
                <a:prstGeom prst="line">
                  <a:avLst/>
                </a:pr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Rounded Rectangle 31"/>
              <p:cNvSpPr/>
              <p:nvPr/>
            </p:nvSpPr>
            <p:spPr>
              <a:xfrm rot="16200000">
                <a:off x="466051" y="3719761"/>
                <a:ext cx="1366089" cy="60289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Rounded Rectangle 33"/>
              <p:cNvSpPr/>
              <p:nvPr/>
            </p:nvSpPr>
            <p:spPr>
              <a:xfrm rot="16200000">
                <a:off x="1374501" y="3718723"/>
                <a:ext cx="1366088" cy="60498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rgbClr val="3777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 rot="16200000">
                <a:off x="914616" y="1413843"/>
                <a:ext cx="1471884" cy="69254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375611" y="1057071"/>
                <a:ext cx="553998" cy="161563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300" normalizeH="0" baseline="0" noProof="0">
                    <a:ln>
                      <a:noFill/>
                    </a:ln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规范程度</a:t>
                </a: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907586" y="3533399"/>
                <a:ext cx="492443" cy="108403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结构化</a:t>
                </a: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1818170" y="3398998"/>
                <a:ext cx="492443" cy="136608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非结构化</a:t>
                </a: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4866150" y="1024172"/>
              <a:ext cx="1512388" cy="3835146"/>
              <a:chOff x="847647" y="1024172"/>
              <a:chExt cx="1512388" cy="3835146"/>
            </a:xfrm>
          </p:grpSpPr>
          <p:cxnSp>
            <p:nvCxnSpPr>
              <p:cNvPr id="101" name="Straight Connector 25"/>
              <p:cNvCxnSpPr/>
              <p:nvPr/>
            </p:nvCxnSpPr>
            <p:spPr>
              <a:xfrm flipH="1" flipV="1">
                <a:off x="1634268" y="2494299"/>
                <a:ext cx="0" cy="358909"/>
              </a:xfrm>
              <a:prstGeom prst="line">
                <a:avLst/>
              </a:prstGeom>
              <a:ln w="28575">
                <a:solidFill>
                  <a:srgbClr val="D2413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" name="Group 59"/>
              <p:cNvGrpSpPr/>
              <p:nvPr/>
            </p:nvGrpSpPr>
            <p:grpSpPr>
              <a:xfrm rot="16200000">
                <a:off x="1145889" y="2853257"/>
                <a:ext cx="976758" cy="976758"/>
                <a:chOff x="1688904" y="1134544"/>
                <a:chExt cx="1097279" cy="1097279"/>
              </a:xfrm>
            </p:grpSpPr>
            <p:sp>
              <p:nvSpPr>
                <p:cNvPr id="109" name="Arc 21"/>
                <p:cNvSpPr/>
                <p:nvPr/>
              </p:nvSpPr>
              <p:spPr>
                <a:xfrm>
                  <a:off x="1688904" y="1134544"/>
                  <a:ext cx="1097279" cy="1097279"/>
                </a:xfrm>
                <a:prstGeom prst="arc">
                  <a:avLst>
                    <a:gd name="adj1" fmla="val 16200000"/>
                    <a:gd name="adj2" fmla="val 5426856"/>
                  </a:avLst>
                </a:prstGeom>
                <a:ln w="28575">
                  <a:solidFill>
                    <a:srgbClr val="D2413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cxnSp>
              <p:nvCxnSpPr>
                <p:cNvPr id="110" name="Straight Connector 26"/>
                <p:cNvCxnSpPr/>
                <p:nvPr/>
              </p:nvCxnSpPr>
              <p:spPr>
                <a:xfrm>
                  <a:off x="1893049" y="1134544"/>
                  <a:ext cx="348388" cy="0"/>
                </a:xfrm>
                <a:prstGeom prst="line">
                  <a:avLst/>
                </a:prstGeom>
                <a:ln w="19050">
                  <a:solidFill>
                    <a:srgbClr val="D2413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28"/>
                <p:cNvCxnSpPr/>
                <p:nvPr/>
              </p:nvCxnSpPr>
              <p:spPr>
                <a:xfrm>
                  <a:off x="1893049" y="2231823"/>
                  <a:ext cx="348388" cy="0"/>
                </a:xfrm>
                <a:prstGeom prst="line">
                  <a:avLst/>
                </a:prstGeom>
                <a:ln w="19050">
                  <a:solidFill>
                    <a:srgbClr val="D2413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Rounded Rectangle 31"/>
              <p:cNvSpPr/>
              <p:nvPr/>
            </p:nvSpPr>
            <p:spPr>
              <a:xfrm rot="16200000">
                <a:off x="466051" y="3719761"/>
                <a:ext cx="1366089" cy="602898"/>
              </a:xfrm>
              <a:prstGeom prst="roundRect">
                <a:avLst/>
              </a:prstGeom>
              <a:solidFill>
                <a:srgbClr val="D2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4" name="Rounded Rectangle 33"/>
              <p:cNvSpPr/>
              <p:nvPr/>
            </p:nvSpPr>
            <p:spPr>
              <a:xfrm rot="16200000">
                <a:off x="1374501" y="3718723"/>
                <a:ext cx="1366088" cy="604980"/>
              </a:xfrm>
              <a:prstGeom prst="roundRect">
                <a:avLst/>
              </a:prstGeom>
              <a:solidFill>
                <a:srgbClr val="D241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 rot="16200000">
                <a:off x="914616" y="1413843"/>
                <a:ext cx="1471884" cy="69254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D2413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1375304" y="1059434"/>
                <a:ext cx="553998" cy="16083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30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面试进程</a:t>
                </a: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894986" y="3454300"/>
                <a:ext cx="492443" cy="1310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一次性</a:t>
                </a: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1811323" y="3493230"/>
                <a:ext cx="492443" cy="1366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分阶段</a:t>
                </a: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856898" y="1024172"/>
              <a:ext cx="1512389" cy="3721264"/>
              <a:chOff x="3059419" y="1134130"/>
              <a:chExt cx="1512389" cy="3721264"/>
            </a:xfrm>
          </p:grpSpPr>
          <p:cxnSp>
            <p:nvCxnSpPr>
              <p:cNvPr id="114" name="Straight Connector 25"/>
              <p:cNvCxnSpPr/>
              <p:nvPr/>
            </p:nvCxnSpPr>
            <p:spPr>
              <a:xfrm rot="10800000" flipH="1" flipV="1">
                <a:off x="3785186" y="2985179"/>
                <a:ext cx="0" cy="358909"/>
              </a:xfrm>
              <a:prstGeom prst="line">
                <a:avLst/>
              </a:prstGeom>
              <a:ln w="28575">
                <a:solidFill>
                  <a:srgbClr val="189A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5" name="Group 59"/>
              <p:cNvGrpSpPr/>
              <p:nvPr/>
            </p:nvGrpSpPr>
            <p:grpSpPr>
              <a:xfrm rot="5400000">
                <a:off x="3296807" y="2008372"/>
                <a:ext cx="976758" cy="976758"/>
                <a:chOff x="1688904" y="1134544"/>
                <a:chExt cx="1097279" cy="1097279"/>
              </a:xfrm>
            </p:grpSpPr>
            <p:sp>
              <p:nvSpPr>
                <p:cNvPr id="122" name="Arc 21"/>
                <p:cNvSpPr/>
                <p:nvPr/>
              </p:nvSpPr>
              <p:spPr>
                <a:xfrm>
                  <a:off x="1688904" y="1134544"/>
                  <a:ext cx="1097279" cy="1097279"/>
                </a:xfrm>
                <a:prstGeom prst="arc">
                  <a:avLst>
                    <a:gd name="adj1" fmla="val 16200000"/>
                    <a:gd name="adj2" fmla="val 5426856"/>
                  </a:avLst>
                </a:prstGeom>
                <a:ln w="28575">
                  <a:solidFill>
                    <a:srgbClr val="189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cxnSp>
              <p:nvCxnSpPr>
                <p:cNvPr id="123" name="Straight Connector 26"/>
                <p:cNvCxnSpPr/>
                <p:nvPr/>
              </p:nvCxnSpPr>
              <p:spPr>
                <a:xfrm>
                  <a:off x="1893049" y="1134544"/>
                  <a:ext cx="348388" cy="0"/>
                </a:xfrm>
                <a:prstGeom prst="line">
                  <a:avLst/>
                </a:prstGeom>
                <a:ln w="19050">
                  <a:solidFill>
                    <a:srgbClr val="189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28"/>
                <p:cNvCxnSpPr/>
                <p:nvPr/>
              </p:nvCxnSpPr>
              <p:spPr>
                <a:xfrm>
                  <a:off x="1893049" y="2231823"/>
                  <a:ext cx="348388" cy="0"/>
                </a:xfrm>
                <a:prstGeom prst="line">
                  <a:avLst/>
                </a:prstGeom>
                <a:ln w="19050">
                  <a:solidFill>
                    <a:srgbClr val="189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Rounded Rectangle 31"/>
              <p:cNvSpPr/>
              <p:nvPr/>
            </p:nvSpPr>
            <p:spPr>
              <a:xfrm rot="5400000">
                <a:off x="3587314" y="1515728"/>
                <a:ext cx="1366089" cy="602898"/>
              </a:xfrm>
              <a:prstGeom prst="roundRect">
                <a:avLst/>
              </a:prstGeom>
              <a:solidFill>
                <a:srgbClr val="189A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Rounded Rectangle 33"/>
              <p:cNvSpPr/>
              <p:nvPr/>
            </p:nvSpPr>
            <p:spPr>
              <a:xfrm rot="5400000">
                <a:off x="2678865" y="1514684"/>
                <a:ext cx="1366088" cy="604980"/>
              </a:xfrm>
              <a:prstGeom prst="roundRect">
                <a:avLst/>
              </a:prstGeom>
              <a:solidFill>
                <a:srgbClr val="189A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矩形: 圆角 117"/>
              <p:cNvSpPr/>
              <p:nvPr/>
            </p:nvSpPr>
            <p:spPr>
              <a:xfrm rot="5400000">
                <a:off x="3032954" y="3732003"/>
                <a:ext cx="1471884" cy="69254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189A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3106537" y="1412749"/>
                <a:ext cx="492443" cy="1266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单独</a:t>
                </a: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4008348" y="1410921"/>
                <a:ext cx="492443" cy="108583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群体</a:t>
                </a:r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3228945" y="3413333"/>
                <a:ext cx="830997" cy="144206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面试人数     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6875401" y="1024172"/>
              <a:ext cx="1512389" cy="3983383"/>
              <a:chOff x="3059419" y="1134130"/>
              <a:chExt cx="1512389" cy="3983383"/>
            </a:xfrm>
          </p:grpSpPr>
          <p:cxnSp>
            <p:nvCxnSpPr>
              <p:cNvPr id="131" name="Straight Connector 25"/>
              <p:cNvCxnSpPr/>
              <p:nvPr/>
            </p:nvCxnSpPr>
            <p:spPr>
              <a:xfrm rot="10800000" flipH="1" flipV="1">
                <a:off x="3785186" y="2985179"/>
                <a:ext cx="0" cy="358909"/>
              </a:xfrm>
              <a:prstGeom prst="line">
                <a:avLst/>
              </a:prstGeom>
              <a:ln w="28575">
                <a:solidFill>
                  <a:srgbClr val="F09C2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2" name="Group 59"/>
              <p:cNvGrpSpPr/>
              <p:nvPr/>
            </p:nvGrpSpPr>
            <p:grpSpPr>
              <a:xfrm rot="5400000">
                <a:off x="3296807" y="2008372"/>
                <a:ext cx="976758" cy="976758"/>
                <a:chOff x="1688904" y="1134544"/>
                <a:chExt cx="1097279" cy="1097279"/>
              </a:xfrm>
            </p:grpSpPr>
            <p:sp>
              <p:nvSpPr>
                <p:cNvPr id="139" name="Arc 21"/>
                <p:cNvSpPr/>
                <p:nvPr/>
              </p:nvSpPr>
              <p:spPr>
                <a:xfrm>
                  <a:off x="1688904" y="1134544"/>
                  <a:ext cx="1097279" cy="1097279"/>
                </a:xfrm>
                <a:prstGeom prst="arc">
                  <a:avLst>
                    <a:gd name="adj1" fmla="val 16200000"/>
                    <a:gd name="adj2" fmla="val 5426856"/>
                  </a:avLst>
                </a:prstGeom>
                <a:ln w="28575">
                  <a:solidFill>
                    <a:srgbClr val="F09C2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cxnSp>
              <p:nvCxnSpPr>
                <p:cNvPr id="140" name="Straight Connector 26"/>
                <p:cNvCxnSpPr/>
                <p:nvPr/>
              </p:nvCxnSpPr>
              <p:spPr>
                <a:xfrm>
                  <a:off x="1893049" y="1134544"/>
                  <a:ext cx="348388" cy="0"/>
                </a:xfrm>
                <a:prstGeom prst="line">
                  <a:avLst/>
                </a:prstGeom>
                <a:ln w="19050">
                  <a:solidFill>
                    <a:srgbClr val="F09C2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28"/>
                <p:cNvCxnSpPr/>
                <p:nvPr/>
              </p:nvCxnSpPr>
              <p:spPr>
                <a:xfrm>
                  <a:off x="1893049" y="2231823"/>
                  <a:ext cx="348388" cy="0"/>
                </a:xfrm>
                <a:prstGeom prst="line">
                  <a:avLst/>
                </a:prstGeom>
                <a:ln w="19050">
                  <a:solidFill>
                    <a:srgbClr val="F09C2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3" name="Rounded Rectangle 31"/>
              <p:cNvSpPr/>
              <p:nvPr/>
            </p:nvSpPr>
            <p:spPr>
              <a:xfrm rot="5400000">
                <a:off x="3587314" y="1515728"/>
                <a:ext cx="1366089" cy="602898"/>
              </a:xfrm>
              <a:prstGeom prst="roundRect">
                <a:avLst/>
              </a:prstGeom>
              <a:solidFill>
                <a:srgbClr val="F09C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4" name="Rounded Rectangle 33"/>
              <p:cNvSpPr/>
              <p:nvPr/>
            </p:nvSpPr>
            <p:spPr>
              <a:xfrm rot="5400000">
                <a:off x="2678865" y="1514684"/>
                <a:ext cx="1366088" cy="604980"/>
              </a:xfrm>
              <a:prstGeom prst="roundRect">
                <a:avLst/>
              </a:prstGeom>
              <a:solidFill>
                <a:srgbClr val="F09C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5" name="矩形: 圆角 134"/>
              <p:cNvSpPr/>
              <p:nvPr/>
            </p:nvSpPr>
            <p:spPr>
              <a:xfrm rot="5400000">
                <a:off x="3032954" y="3732003"/>
                <a:ext cx="1471884" cy="69254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F09C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6" name="文本框 135"/>
              <p:cNvSpPr txBox="1"/>
              <p:nvPr/>
            </p:nvSpPr>
            <p:spPr>
              <a:xfrm>
                <a:off x="3115687" y="1287764"/>
                <a:ext cx="492443" cy="1266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压力性</a:t>
                </a:r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>
                <a:off x="4031063" y="1172597"/>
                <a:ext cx="492443" cy="135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非压力性</a:t>
                </a:r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3508187" y="3454951"/>
                <a:ext cx="553998" cy="1662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面试目的</a:t>
                </a:r>
              </a:p>
            </p:txBody>
          </p:sp>
        </p:grpSp>
      </p:grpSp>
      <p:grpSp>
        <p:nvGrpSpPr>
          <p:cNvPr id="54" name="Group 44"/>
          <p:cNvGrpSpPr/>
          <p:nvPr/>
        </p:nvGrpSpPr>
        <p:grpSpPr>
          <a:xfrm>
            <a:off x="3450474" y="2399568"/>
            <a:ext cx="208080" cy="495342"/>
            <a:chOff x="6989763" y="1404143"/>
            <a:chExt cx="538163" cy="1281113"/>
          </a:xfrm>
          <a:solidFill>
            <a:schemeClr val="accent2"/>
          </a:solidFill>
        </p:grpSpPr>
        <p:sp>
          <p:nvSpPr>
            <p:cNvPr id="55" name="Freeform 12"/>
            <p:cNvSpPr>
              <a:spLocks noEditPoints="1"/>
            </p:cNvSpPr>
            <p:nvPr/>
          </p:nvSpPr>
          <p:spPr bwMode="auto">
            <a:xfrm>
              <a:off x="7126288" y="1404143"/>
              <a:ext cx="265113" cy="265113"/>
            </a:xfrm>
            <a:custGeom>
              <a:avLst/>
              <a:gdLst/>
              <a:ahLst/>
              <a:cxnLst>
                <a:cxn ang="0">
                  <a:pos x="70" y="35"/>
                </a:cxn>
                <a:cxn ang="0">
                  <a:pos x="35" y="70"/>
                </a:cxn>
                <a:cxn ang="0">
                  <a:pos x="0" y="35"/>
                </a:cxn>
                <a:cxn ang="0">
                  <a:pos x="35" y="0"/>
                </a:cxn>
                <a:cxn ang="0">
                  <a:pos x="70" y="35"/>
                </a:cxn>
                <a:cxn ang="0">
                  <a:pos x="70" y="35"/>
                </a:cxn>
                <a:cxn ang="0">
                  <a:pos x="70" y="35"/>
                </a:cxn>
              </a:cxnLst>
              <a:rect l="0" t="0" r="r" b="b"/>
              <a:pathLst>
                <a:path w="70" h="70">
                  <a:moveTo>
                    <a:pt x="70" y="35"/>
                  </a:moveTo>
                  <a:cubicBezTo>
                    <a:pt x="70" y="55"/>
                    <a:pt x="54" y="70"/>
                    <a:pt x="35" y="70"/>
                  </a:cubicBezTo>
                  <a:cubicBezTo>
                    <a:pt x="15" y="70"/>
                    <a:pt x="0" y="55"/>
                    <a:pt x="0" y="35"/>
                  </a:cubicBezTo>
                  <a:cubicBezTo>
                    <a:pt x="0" y="16"/>
                    <a:pt x="15" y="0"/>
                    <a:pt x="35" y="0"/>
                  </a:cubicBezTo>
                  <a:cubicBezTo>
                    <a:pt x="54" y="0"/>
                    <a:pt x="70" y="16"/>
                    <a:pt x="70" y="35"/>
                  </a:cubicBezTo>
                  <a:close/>
                  <a:moveTo>
                    <a:pt x="70" y="35"/>
                  </a:moveTo>
                  <a:cubicBezTo>
                    <a:pt x="70" y="35"/>
                    <a:pt x="70" y="35"/>
                    <a:pt x="70" y="3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Freeform 16"/>
            <p:cNvSpPr>
              <a:spLocks noEditPoints="1"/>
            </p:cNvSpPr>
            <p:nvPr/>
          </p:nvSpPr>
          <p:spPr bwMode="auto">
            <a:xfrm>
              <a:off x="6989763" y="1677193"/>
              <a:ext cx="538163" cy="1008063"/>
            </a:xfrm>
            <a:custGeom>
              <a:avLst/>
              <a:gdLst/>
              <a:ahLst/>
              <a:cxnLst>
                <a:cxn ang="0">
                  <a:pos x="34" y="120"/>
                </a:cxn>
                <a:cxn ang="0">
                  <a:pos x="37" y="120"/>
                </a:cxn>
                <a:cxn ang="0">
                  <a:pos x="37" y="121"/>
                </a:cxn>
                <a:cxn ang="0">
                  <a:pos x="37" y="251"/>
                </a:cxn>
                <a:cxn ang="0">
                  <a:pos x="53" y="267"/>
                </a:cxn>
                <a:cxn ang="0">
                  <a:pos x="69" y="251"/>
                </a:cxn>
                <a:cxn ang="0">
                  <a:pos x="69" y="139"/>
                </a:cxn>
                <a:cxn ang="0">
                  <a:pos x="71" y="139"/>
                </a:cxn>
                <a:cxn ang="0">
                  <a:pos x="71" y="139"/>
                </a:cxn>
                <a:cxn ang="0">
                  <a:pos x="71" y="251"/>
                </a:cxn>
                <a:cxn ang="0">
                  <a:pos x="87" y="267"/>
                </a:cxn>
                <a:cxn ang="0">
                  <a:pos x="103" y="251"/>
                </a:cxn>
                <a:cxn ang="0">
                  <a:pos x="103" y="121"/>
                </a:cxn>
                <a:cxn ang="0">
                  <a:pos x="104" y="120"/>
                </a:cxn>
                <a:cxn ang="0">
                  <a:pos x="107" y="120"/>
                </a:cxn>
                <a:cxn ang="0">
                  <a:pos x="119" y="114"/>
                </a:cxn>
                <a:cxn ang="0">
                  <a:pos x="140" y="68"/>
                </a:cxn>
                <a:cxn ang="0">
                  <a:pos x="94" y="7"/>
                </a:cxn>
                <a:cxn ang="0">
                  <a:pos x="92" y="6"/>
                </a:cxn>
                <a:cxn ang="0">
                  <a:pos x="79" y="0"/>
                </a:cxn>
                <a:cxn ang="0">
                  <a:pos x="71" y="9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49" y="6"/>
                </a:cxn>
                <a:cxn ang="0">
                  <a:pos x="47" y="7"/>
                </a:cxn>
                <a:cxn ang="0">
                  <a:pos x="1" y="68"/>
                </a:cxn>
                <a:cxn ang="0">
                  <a:pos x="23" y="114"/>
                </a:cxn>
                <a:cxn ang="0">
                  <a:pos x="34" y="120"/>
                </a:cxn>
                <a:cxn ang="0">
                  <a:pos x="107" y="57"/>
                </a:cxn>
                <a:cxn ang="0">
                  <a:pos x="113" y="67"/>
                </a:cxn>
                <a:cxn ang="0">
                  <a:pos x="107" y="80"/>
                </a:cxn>
                <a:cxn ang="0">
                  <a:pos x="107" y="57"/>
                </a:cxn>
                <a:cxn ang="0">
                  <a:pos x="71" y="10"/>
                </a:cxn>
                <a:cxn ang="0">
                  <a:pos x="71" y="10"/>
                </a:cxn>
                <a:cxn ang="0">
                  <a:pos x="79" y="67"/>
                </a:cxn>
                <a:cxn ang="0">
                  <a:pos x="71" y="79"/>
                </a:cxn>
                <a:cxn ang="0">
                  <a:pos x="71" y="79"/>
                </a:cxn>
                <a:cxn ang="0">
                  <a:pos x="62" y="67"/>
                </a:cxn>
                <a:cxn ang="0">
                  <a:pos x="71" y="10"/>
                </a:cxn>
                <a:cxn ang="0">
                  <a:pos x="35" y="57"/>
                </a:cxn>
                <a:cxn ang="0">
                  <a:pos x="35" y="80"/>
                </a:cxn>
                <a:cxn ang="0">
                  <a:pos x="29" y="67"/>
                </a:cxn>
                <a:cxn ang="0">
                  <a:pos x="35" y="57"/>
                </a:cxn>
                <a:cxn ang="0">
                  <a:pos x="35" y="57"/>
                </a:cxn>
                <a:cxn ang="0">
                  <a:pos x="35" y="57"/>
                </a:cxn>
              </a:cxnLst>
              <a:rect l="0" t="0" r="r" b="b"/>
              <a:pathLst>
                <a:path w="142" h="267">
                  <a:moveTo>
                    <a:pt x="34" y="120"/>
                  </a:moveTo>
                  <a:cubicBezTo>
                    <a:pt x="35" y="120"/>
                    <a:pt x="36" y="120"/>
                    <a:pt x="37" y="120"/>
                  </a:cubicBezTo>
                  <a:cubicBezTo>
                    <a:pt x="37" y="120"/>
                    <a:pt x="37" y="120"/>
                    <a:pt x="37" y="121"/>
                  </a:cubicBezTo>
                  <a:cubicBezTo>
                    <a:pt x="37" y="251"/>
                    <a:pt x="37" y="251"/>
                    <a:pt x="37" y="251"/>
                  </a:cubicBezTo>
                  <a:cubicBezTo>
                    <a:pt x="37" y="260"/>
                    <a:pt x="44" y="267"/>
                    <a:pt x="53" y="267"/>
                  </a:cubicBezTo>
                  <a:cubicBezTo>
                    <a:pt x="62" y="267"/>
                    <a:pt x="69" y="260"/>
                    <a:pt x="69" y="251"/>
                  </a:cubicBezTo>
                  <a:cubicBezTo>
                    <a:pt x="69" y="139"/>
                    <a:pt x="69" y="139"/>
                    <a:pt x="69" y="139"/>
                  </a:cubicBezTo>
                  <a:cubicBezTo>
                    <a:pt x="69" y="139"/>
                    <a:pt x="70" y="139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1" y="251"/>
                    <a:pt x="71" y="251"/>
                    <a:pt x="71" y="251"/>
                  </a:cubicBezTo>
                  <a:cubicBezTo>
                    <a:pt x="71" y="260"/>
                    <a:pt x="78" y="267"/>
                    <a:pt x="87" y="267"/>
                  </a:cubicBezTo>
                  <a:cubicBezTo>
                    <a:pt x="96" y="267"/>
                    <a:pt x="103" y="260"/>
                    <a:pt x="103" y="251"/>
                  </a:cubicBezTo>
                  <a:cubicBezTo>
                    <a:pt x="103" y="121"/>
                    <a:pt x="103" y="121"/>
                    <a:pt x="103" y="121"/>
                  </a:cubicBezTo>
                  <a:cubicBezTo>
                    <a:pt x="104" y="121"/>
                    <a:pt x="104" y="120"/>
                    <a:pt x="104" y="120"/>
                  </a:cubicBezTo>
                  <a:cubicBezTo>
                    <a:pt x="105" y="120"/>
                    <a:pt x="106" y="120"/>
                    <a:pt x="107" y="120"/>
                  </a:cubicBezTo>
                  <a:cubicBezTo>
                    <a:pt x="112" y="120"/>
                    <a:pt x="116" y="118"/>
                    <a:pt x="119" y="114"/>
                  </a:cubicBezTo>
                  <a:cubicBezTo>
                    <a:pt x="126" y="102"/>
                    <a:pt x="139" y="80"/>
                    <a:pt x="140" y="68"/>
                  </a:cubicBezTo>
                  <a:cubicBezTo>
                    <a:pt x="142" y="49"/>
                    <a:pt x="109" y="16"/>
                    <a:pt x="94" y="7"/>
                  </a:cubicBezTo>
                  <a:cubicBezTo>
                    <a:pt x="94" y="6"/>
                    <a:pt x="93" y="6"/>
                    <a:pt x="92" y="6"/>
                  </a:cubicBezTo>
                  <a:cubicBezTo>
                    <a:pt x="89" y="3"/>
                    <a:pt x="84" y="1"/>
                    <a:pt x="79" y="0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8" y="1"/>
                    <a:pt x="53" y="3"/>
                    <a:pt x="49" y="6"/>
                  </a:cubicBezTo>
                  <a:cubicBezTo>
                    <a:pt x="49" y="6"/>
                    <a:pt x="48" y="6"/>
                    <a:pt x="47" y="7"/>
                  </a:cubicBezTo>
                  <a:cubicBezTo>
                    <a:pt x="33" y="16"/>
                    <a:pt x="0" y="49"/>
                    <a:pt x="1" y="68"/>
                  </a:cubicBezTo>
                  <a:cubicBezTo>
                    <a:pt x="2" y="80"/>
                    <a:pt x="15" y="102"/>
                    <a:pt x="23" y="114"/>
                  </a:cubicBezTo>
                  <a:cubicBezTo>
                    <a:pt x="25" y="118"/>
                    <a:pt x="30" y="120"/>
                    <a:pt x="34" y="120"/>
                  </a:cubicBezTo>
                  <a:close/>
                  <a:moveTo>
                    <a:pt x="107" y="57"/>
                  </a:moveTo>
                  <a:cubicBezTo>
                    <a:pt x="110" y="61"/>
                    <a:pt x="112" y="65"/>
                    <a:pt x="113" y="67"/>
                  </a:cubicBezTo>
                  <a:cubicBezTo>
                    <a:pt x="112" y="70"/>
                    <a:pt x="110" y="74"/>
                    <a:pt x="107" y="80"/>
                  </a:cubicBezTo>
                  <a:lnTo>
                    <a:pt x="107" y="57"/>
                  </a:lnTo>
                  <a:close/>
                  <a:moveTo>
                    <a:pt x="71" y="10"/>
                  </a:moveTo>
                  <a:cubicBezTo>
                    <a:pt x="71" y="10"/>
                    <a:pt x="71" y="10"/>
                    <a:pt x="71" y="10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1" y="79"/>
                    <a:pt x="71" y="79"/>
                    <a:pt x="71" y="79"/>
                  </a:cubicBezTo>
                  <a:cubicBezTo>
                    <a:pt x="71" y="79"/>
                    <a:pt x="71" y="79"/>
                    <a:pt x="71" y="79"/>
                  </a:cubicBezTo>
                  <a:cubicBezTo>
                    <a:pt x="62" y="67"/>
                    <a:pt x="62" y="67"/>
                    <a:pt x="62" y="67"/>
                  </a:cubicBezTo>
                  <a:lnTo>
                    <a:pt x="71" y="10"/>
                  </a:lnTo>
                  <a:close/>
                  <a:moveTo>
                    <a:pt x="35" y="57"/>
                  </a:moveTo>
                  <a:cubicBezTo>
                    <a:pt x="35" y="80"/>
                    <a:pt x="35" y="80"/>
                    <a:pt x="35" y="80"/>
                  </a:cubicBezTo>
                  <a:cubicBezTo>
                    <a:pt x="32" y="74"/>
                    <a:pt x="29" y="69"/>
                    <a:pt x="29" y="67"/>
                  </a:cubicBezTo>
                  <a:cubicBezTo>
                    <a:pt x="29" y="65"/>
                    <a:pt x="32" y="61"/>
                    <a:pt x="35" y="57"/>
                  </a:cubicBezTo>
                  <a:close/>
                  <a:moveTo>
                    <a:pt x="35" y="57"/>
                  </a:moveTo>
                  <a:cubicBezTo>
                    <a:pt x="35" y="57"/>
                    <a:pt x="35" y="57"/>
                    <a:pt x="35" y="5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7" name="Freeform 64"/>
          <p:cNvSpPr>
            <a:spLocks noEditPoints="1"/>
          </p:cNvSpPr>
          <p:nvPr/>
        </p:nvSpPr>
        <p:spPr bwMode="auto">
          <a:xfrm>
            <a:off x="1395817" y="3018202"/>
            <a:ext cx="376634" cy="313486"/>
          </a:xfrm>
          <a:custGeom>
            <a:avLst/>
            <a:gdLst/>
            <a:ahLst/>
            <a:cxnLst>
              <a:cxn ang="0">
                <a:pos x="77" y="51"/>
              </a:cxn>
              <a:cxn ang="0">
                <a:pos x="75" y="55"/>
              </a:cxn>
              <a:cxn ang="0">
                <a:pos x="59" y="63"/>
              </a:cxn>
              <a:cxn ang="0">
                <a:pos x="57" y="64"/>
              </a:cxn>
              <a:cxn ang="0">
                <a:pos x="55" y="63"/>
              </a:cxn>
              <a:cxn ang="0">
                <a:pos x="39" y="55"/>
              </a:cxn>
              <a:cxn ang="0">
                <a:pos x="39" y="55"/>
              </a:cxn>
              <a:cxn ang="0">
                <a:pos x="38" y="55"/>
              </a:cxn>
              <a:cxn ang="0">
                <a:pos x="22" y="63"/>
              </a:cxn>
              <a:cxn ang="0">
                <a:pos x="20" y="64"/>
              </a:cxn>
              <a:cxn ang="0">
                <a:pos x="18" y="63"/>
              </a:cxn>
              <a:cxn ang="0">
                <a:pos x="2" y="55"/>
              </a:cxn>
              <a:cxn ang="0">
                <a:pos x="0" y="51"/>
              </a:cxn>
              <a:cxn ang="0">
                <a:pos x="0" y="37"/>
              </a:cxn>
              <a:cxn ang="0">
                <a:pos x="3" y="32"/>
              </a:cxn>
              <a:cxn ang="0">
                <a:pos x="18" y="26"/>
              </a:cxn>
              <a:cxn ang="0">
                <a:pos x="18" y="11"/>
              </a:cxn>
              <a:cxn ang="0">
                <a:pos x="21" y="7"/>
              </a:cxn>
              <a:cxn ang="0">
                <a:pos x="37" y="0"/>
              </a:cxn>
              <a:cxn ang="0">
                <a:pos x="39" y="0"/>
              </a:cxn>
              <a:cxn ang="0">
                <a:pos x="40" y="0"/>
              </a:cxn>
              <a:cxn ang="0">
                <a:pos x="56" y="7"/>
              </a:cxn>
              <a:cxn ang="0">
                <a:pos x="59" y="11"/>
              </a:cxn>
              <a:cxn ang="0">
                <a:pos x="59" y="26"/>
              </a:cxn>
              <a:cxn ang="0">
                <a:pos x="75" y="32"/>
              </a:cxn>
              <a:cxn ang="0">
                <a:pos x="77" y="37"/>
              </a:cxn>
              <a:cxn ang="0">
                <a:pos x="77" y="51"/>
              </a:cxn>
              <a:cxn ang="0">
                <a:pos x="35" y="36"/>
              </a:cxn>
              <a:cxn ang="0">
                <a:pos x="20" y="30"/>
              </a:cxn>
              <a:cxn ang="0">
                <a:pos x="6" y="36"/>
              </a:cxn>
              <a:cxn ang="0">
                <a:pos x="20" y="42"/>
              </a:cxn>
              <a:cxn ang="0">
                <a:pos x="35" y="36"/>
              </a:cxn>
              <a:cxn ang="0">
                <a:pos x="36" y="51"/>
              </a:cxn>
              <a:cxn ang="0">
                <a:pos x="36" y="40"/>
              </a:cxn>
              <a:cxn ang="0">
                <a:pos x="23" y="46"/>
              </a:cxn>
              <a:cxn ang="0">
                <a:pos x="23" y="58"/>
              </a:cxn>
              <a:cxn ang="0">
                <a:pos x="36" y="51"/>
              </a:cxn>
              <a:cxn ang="0">
                <a:pos x="54" y="11"/>
              </a:cxn>
              <a:cxn ang="0">
                <a:pos x="39" y="5"/>
              </a:cxn>
              <a:cxn ang="0">
                <a:pos x="23" y="11"/>
              </a:cxn>
              <a:cxn ang="0">
                <a:pos x="39" y="18"/>
              </a:cxn>
              <a:cxn ang="0">
                <a:pos x="54" y="11"/>
              </a:cxn>
              <a:cxn ang="0">
                <a:pos x="55" y="26"/>
              </a:cxn>
              <a:cxn ang="0">
                <a:pos x="55" y="16"/>
              </a:cxn>
              <a:cxn ang="0">
                <a:pos x="41" y="22"/>
              </a:cxn>
              <a:cxn ang="0">
                <a:pos x="41" y="32"/>
              </a:cxn>
              <a:cxn ang="0">
                <a:pos x="55" y="26"/>
              </a:cxn>
              <a:cxn ang="0">
                <a:pos x="71" y="36"/>
              </a:cxn>
              <a:cxn ang="0">
                <a:pos x="57" y="30"/>
              </a:cxn>
              <a:cxn ang="0">
                <a:pos x="42" y="36"/>
              </a:cxn>
              <a:cxn ang="0">
                <a:pos x="57" y="42"/>
              </a:cxn>
              <a:cxn ang="0">
                <a:pos x="71" y="36"/>
              </a:cxn>
              <a:cxn ang="0">
                <a:pos x="73" y="51"/>
              </a:cxn>
              <a:cxn ang="0">
                <a:pos x="73" y="40"/>
              </a:cxn>
              <a:cxn ang="0">
                <a:pos x="59" y="46"/>
              </a:cxn>
              <a:cxn ang="0">
                <a:pos x="59" y="58"/>
              </a:cxn>
              <a:cxn ang="0">
                <a:pos x="73" y="51"/>
              </a:cxn>
            </a:cxnLst>
            <a:rect l="0" t="0" r="r" b="b"/>
            <a:pathLst>
              <a:path w="77" h="64">
                <a:moveTo>
                  <a:pt x="77" y="51"/>
                </a:moveTo>
                <a:cubicBezTo>
                  <a:pt x="77" y="53"/>
                  <a:pt x="76" y="55"/>
                  <a:pt x="75" y="55"/>
                </a:cubicBezTo>
                <a:cubicBezTo>
                  <a:pt x="59" y="63"/>
                  <a:pt x="59" y="63"/>
                  <a:pt x="59" y="63"/>
                </a:cubicBezTo>
                <a:cubicBezTo>
                  <a:pt x="58" y="64"/>
                  <a:pt x="58" y="64"/>
                  <a:pt x="57" y="64"/>
                </a:cubicBezTo>
                <a:cubicBezTo>
                  <a:pt x="56" y="64"/>
                  <a:pt x="55" y="64"/>
                  <a:pt x="55" y="63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8" y="55"/>
                  <a:pt x="38" y="55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64"/>
                  <a:pt x="21" y="64"/>
                  <a:pt x="20" y="64"/>
                </a:cubicBezTo>
                <a:cubicBezTo>
                  <a:pt x="20" y="64"/>
                  <a:pt x="19" y="64"/>
                  <a:pt x="18" y="63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5"/>
                  <a:pt x="1" y="33"/>
                  <a:pt x="3" y="32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9" y="8"/>
                  <a:pt x="21" y="7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0"/>
                  <a:pt x="38" y="0"/>
                  <a:pt x="39" y="0"/>
                </a:cubicBezTo>
                <a:cubicBezTo>
                  <a:pt x="39" y="0"/>
                  <a:pt x="40" y="0"/>
                  <a:pt x="40" y="0"/>
                </a:cubicBezTo>
                <a:cubicBezTo>
                  <a:pt x="56" y="7"/>
                  <a:pt x="56" y="7"/>
                  <a:pt x="56" y="7"/>
                </a:cubicBezTo>
                <a:cubicBezTo>
                  <a:pt x="58" y="8"/>
                  <a:pt x="59" y="10"/>
                  <a:pt x="59" y="11"/>
                </a:cubicBezTo>
                <a:cubicBezTo>
                  <a:pt x="59" y="26"/>
                  <a:pt x="59" y="26"/>
                  <a:pt x="59" y="26"/>
                </a:cubicBezTo>
                <a:cubicBezTo>
                  <a:pt x="75" y="32"/>
                  <a:pt x="75" y="32"/>
                  <a:pt x="75" y="32"/>
                </a:cubicBezTo>
                <a:cubicBezTo>
                  <a:pt x="76" y="33"/>
                  <a:pt x="77" y="35"/>
                  <a:pt x="77" y="37"/>
                </a:cubicBezTo>
                <a:lnTo>
                  <a:pt x="77" y="51"/>
                </a:lnTo>
                <a:close/>
                <a:moveTo>
                  <a:pt x="35" y="36"/>
                </a:moveTo>
                <a:cubicBezTo>
                  <a:pt x="20" y="30"/>
                  <a:pt x="20" y="30"/>
                  <a:pt x="20" y="30"/>
                </a:cubicBezTo>
                <a:cubicBezTo>
                  <a:pt x="6" y="36"/>
                  <a:pt x="6" y="36"/>
                  <a:pt x="6" y="36"/>
                </a:cubicBezTo>
                <a:cubicBezTo>
                  <a:pt x="20" y="42"/>
                  <a:pt x="20" y="42"/>
                  <a:pt x="20" y="42"/>
                </a:cubicBezTo>
                <a:lnTo>
                  <a:pt x="35" y="36"/>
                </a:lnTo>
                <a:close/>
                <a:moveTo>
                  <a:pt x="36" y="51"/>
                </a:moveTo>
                <a:cubicBezTo>
                  <a:pt x="36" y="40"/>
                  <a:pt x="36" y="40"/>
                  <a:pt x="36" y="40"/>
                </a:cubicBezTo>
                <a:cubicBezTo>
                  <a:pt x="23" y="46"/>
                  <a:pt x="23" y="46"/>
                  <a:pt x="23" y="46"/>
                </a:cubicBezTo>
                <a:cubicBezTo>
                  <a:pt x="23" y="58"/>
                  <a:pt x="23" y="58"/>
                  <a:pt x="23" y="58"/>
                </a:cubicBezTo>
                <a:lnTo>
                  <a:pt x="36" y="51"/>
                </a:lnTo>
                <a:close/>
                <a:moveTo>
                  <a:pt x="54" y="11"/>
                </a:moveTo>
                <a:cubicBezTo>
                  <a:pt x="39" y="5"/>
                  <a:pt x="39" y="5"/>
                  <a:pt x="39" y="5"/>
                </a:cubicBezTo>
                <a:cubicBezTo>
                  <a:pt x="23" y="11"/>
                  <a:pt x="23" y="11"/>
                  <a:pt x="23" y="11"/>
                </a:cubicBezTo>
                <a:cubicBezTo>
                  <a:pt x="39" y="18"/>
                  <a:pt x="39" y="18"/>
                  <a:pt x="39" y="18"/>
                </a:cubicBezTo>
                <a:lnTo>
                  <a:pt x="54" y="11"/>
                </a:lnTo>
                <a:close/>
                <a:moveTo>
                  <a:pt x="55" y="26"/>
                </a:moveTo>
                <a:cubicBezTo>
                  <a:pt x="55" y="16"/>
                  <a:pt x="55" y="16"/>
                  <a:pt x="55" y="16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32"/>
                  <a:pt x="41" y="32"/>
                  <a:pt x="41" y="32"/>
                </a:cubicBezTo>
                <a:lnTo>
                  <a:pt x="55" y="26"/>
                </a:lnTo>
                <a:close/>
                <a:moveTo>
                  <a:pt x="71" y="36"/>
                </a:moveTo>
                <a:cubicBezTo>
                  <a:pt x="57" y="30"/>
                  <a:pt x="57" y="30"/>
                  <a:pt x="57" y="30"/>
                </a:cubicBezTo>
                <a:cubicBezTo>
                  <a:pt x="42" y="36"/>
                  <a:pt x="42" y="36"/>
                  <a:pt x="42" y="36"/>
                </a:cubicBezTo>
                <a:cubicBezTo>
                  <a:pt x="57" y="42"/>
                  <a:pt x="57" y="42"/>
                  <a:pt x="57" y="42"/>
                </a:cubicBezTo>
                <a:lnTo>
                  <a:pt x="71" y="36"/>
                </a:lnTo>
                <a:close/>
                <a:moveTo>
                  <a:pt x="73" y="51"/>
                </a:moveTo>
                <a:cubicBezTo>
                  <a:pt x="73" y="40"/>
                  <a:pt x="73" y="40"/>
                  <a:pt x="73" y="40"/>
                </a:cubicBezTo>
                <a:cubicBezTo>
                  <a:pt x="59" y="46"/>
                  <a:pt x="59" y="46"/>
                  <a:pt x="59" y="46"/>
                </a:cubicBezTo>
                <a:cubicBezTo>
                  <a:pt x="59" y="58"/>
                  <a:pt x="59" y="58"/>
                  <a:pt x="59" y="58"/>
                </a:cubicBezTo>
                <a:lnTo>
                  <a:pt x="73" y="51"/>
                </a:lnTo>
                <a:close/>
              </a:path>
            </a:pathLst>
          </a:custGeom>
          <a:solidFill>
            <a:srgbClr val="37779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Freeform 66"/>
          <p:cNvSpPr>
            <a:spLocks noEditPoints="1"/>
          </p:cNvSpPr>
          <p:nvPr/>
        </p:nvSpPr>
        <p:spPr bwMode="auto">
          <a:xfrm>
            <a:off x="5412004" y="3033911"/>
            <a:ext cx="390095" cy="302574"/>
          </a:xfrm>
          <a:custGeom>
            <a:avLst/>
            <a:gdLst/>
            <a:ahLst/>
            <a:cxnLst>
              <a:cxn ang="0">
                <a:pos x="29" y="41"/>
              </a:cxn>
              <a:cxn ang="0">
                <a:pos x="22" y="40"/>
              </a:cxn>
              <a:cxn ang="0">
                <a:pos x="11" y="45"/>
              </a:cxn>
              <a:cxn ang="0">
                <a:pos x="7" y="46"/>
              </a:cxn>
              <a:cxn ang="0">
                <a:pos x="7" y="46"/>
              </a:cxn>
              <a:cxn ang="0">
                <a:pos x="6" y="45"/>
              </a:cxn>
              <a:cxn ang="0">
                <a:pos x="6" y="43"/>
              </a:cxn>
              <a:cxn ang="0">
                <a:pos x="11" y="36"/>
              </a:cxn>
              <a:cxn ang="0">
                <a:pos x="0" y="20"/>
              </a:cxn>
              <a:cxn ang="0">
                <a:pos x="29" y="0"/>
              </a:cxn>
              <a:cxn ang="0">
                <a:pos x="57" y="20"/>
              </a:cxn>
              <a:cxn ang="0">
                <a:pos x="29" y="41"/>
              </a:cxn>
              <a:cxn ang="0">
                <a:pos x="62" y="47"/>
              </a:cxn>
              <a:cxn ang="0">
                <a:pos x="66" y="53"/>
              </a:cxn>
              <a:cxn ang="0">
                <a:pos x="67" y="55"/>
              </a:cxn>
              <a:cxn ang="0">
                <a:pos x="66" y="56"/>
              </a:cxn>
              <a:cxn ang="0">
                <a:pos x="62" y="55"/>
              </a:cxn>
              <a:cxn ang="0">
                <a:pos x="51" y="50"/>
              </a:cxn>
              <a:cxn ang="0">
                <a:pos x="44" y="51"/>
              </a:cxn>
              <a:cxn ang="0">
                <a:pos x="25" y="46"/>
              </a:cxn>
              <a:cxn ang="0">
                <a:pos x="29" y="46"/>
              </a:cxn>
              <a:cxn ang="0">
                <a:pos x="52" y="39"/>
              </a:cxn>
              <a:cxn ang="0">
                <a:pos x="62" y="20"/>
              </a:cxn>
              <a:cxn ang="0">
                <a:pos x="61" y="14"/>
              </a:cxn>
              <a:cxn ang="0">
                <a:pos x="72" y="30"/>
              </a:cxn>
              <a:cxn ang="0">
                <a:pos x="62" y="47"/>
              </a:cxn>
            </a:cxnLst>
            <a:rect l="0" t="0" r="r" b="b"/>
            <a:pathLst>
              <a:path w="72" h="56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rgbClr val="D2413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Freeform 148"/>
          <p:cNvSpPr>
            <a:spLocks noEditPoints="1"/>
          </p:cNvSpPr>
          <p:nvPr/>
        </p:nvSpPr>
        <p:spPr bwMode="auto">
          <a:xfrm>
            <a:off x="7429630" y="2525283"/>
            <a:ext cx="305104" cy="294128"/>
          </a:xfrm>
          <a:custGeom>
            <a:avLst/>
            <a:gdLst/>
            <a:ahLst/>
            <a:cxnLst>
              <a:cxn ang="0">
                <a:pos x="16" y="54"/>
              </a:cxn>
              <a:cxn ang="0">
                <a:pos x="14" y="57"/>
              </a:cxn>
              <a:cxn ang="0">
                <a:pos x="2" y="57"/>
              </a:cxn>
              <a:cxn ang="0">
                <a:pos x="0" y="54"/>
              </a:cxn>
              <a:cxn ang="0">
                <a:pos x="0" y="29"/>
              </a:cxn>
              <a:cxn ang="0">
                <a:pos x="2" y="26"/>
              </a:cxn>
              <a:cxn ang="0">
                <a:pos x="14" y="26"/>
              </a:cxn>
              <a:cxn ang="0">
                <a:pos x="16" y="29"/>
              </a:cxn>
              <a:cxn ang="0">
                <a:pos x="16" y="54"/>
              </a:cxn>
              <a:cxn ang="0">
                <a:pos x="7" y="47"/>
              </a:cxn>
              <a:cxn ang="0">
                <a:pos x="5" y="49"/>
              </a:cxn>
              <a:cxn ang="0">
                <a:pos x="7" y="52"/>
              </a:cxn>
              <a:cxn ang="0">
                <a:pos x="10" y="49"/>
              </a:cxn>
              <a:cxn ang="0">
                <a:pos x="7" y="47"/>
              </a:cxn>
              <a:cxn ang="0">
                <a:pos x="62" y="35"/>
              </a:cxn>
              <a:cxn ang="0">
                <a:pos x="62" y="38"/>
              </a:cxn>
              <a:cxn ang="0">
                <a:pos x="61" y="43"/>
              </a:cxn>
              <a:cxn ang="0">
                <a:pos x="61" y="48"/>
              </a:cxn>
              <a:cxn ang="0">
                <a:pos x="59" y="52"/>
              </a:cxn>
              <a:cxn ang="0">
                <a:pos x="57" y="59"/>
              </a:cxn>
              <a:cxn ang="0">
                <a:pos x="49" y="62"/>
              </a:cxn>
              <a:cxn ang="0">
                <a:pos x="47" y="62"/>
              </a:cxn>
              <a:cxn ang="0">
                <a:pos x="44" y="62"/>
              </a:cxn>
              <a:cxn ang="0">
                <a:pos x="43" y="62"/>
              </a:cxn>
              <a:cxn ang="0">
                <a:pos x="28" y="59"/>
              </a:cxn>
              <a:cxn ang="0">
                <a:pos x="22" y="57"/>
              </a:cxn>
              <a:cxn ang="0">
                <a:pos x="19" y="54"/>
              </a:cxn>
              <a:cxn ang="0">
                <a:pos x="19" y="29"/>
              </a:cxn>
              <a:cxn ang="0">
                <a:pos x="21" y="26"/>
              </a:cxn>
              <a:cxn ang="0">
                <a:pos x="29" y="19"/>
              </a:cxn>
              <a:cxn ang="0">
                <a:pos x="33" y="14"/>
              </a:cxn>
              <a:cxn ang="0">
                <a:pos x="35" y="8"/>
              </a:cxn>
              <a:cxn ang="0">
                <a:pos x="38" y="1"/>
              </a:cxn>
              <a:cxn ang="0">
                <a:pos x="40" y="0"/>
              </a:cxn>
              <a:cxn ang="0">
                <a:pos x="49" y="11"/>
              </a:cxn>
              <a:cxn ang="0">
                <a:pos x="46" y="18"/>
              </a:cxn>
              <a:cxn ang="0">
                <a:pos x="45" y="21"/>
              </a:cxn>
              <a:cxn ang="0">
                <a:pos x="56" y="21"/>
              </a:cxn>
              <a:cxn ang="0">
                <a:pos x="64" y="29"/>
              </a:cxn>
              <a:cxn ang="0">
                <a:pos x="62" y="35"/>
              </a:cxn>
            </a:cxnLst>
            <a:rect l="0" t="0" r="r" b="b"/>
            <a:pathLst>
              <a:path w="64" h="62">
                <a:moveTo>
                  <a:pt x="16" y="54"/>
                </a:moveTo>
                <a:cubicBezTo>
                  <a:pt x="16" y="56"/>
                  <a:pt x="15" y="57"/>
                  <a:pt x="14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6"/>
                  <a:pt x="0" y="5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7"/>
                  <a:pt x="1" y="26"/>
                  <a:pt x="2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6" y="27"/>
                  <a:pt x="16" y="29"/>
                </a:cubicBezTo>
                <a:lnTo>
                  <a:pt x="16" y="54"/>
                </a:lnTo>
                <a:close/>
                <a:moveTo>
                  <a:pt x="7" y="47"/>
                </a:moveTo>
                <a:cubicBezTo>
                  <a:pt x="6" y="47"/>
                  <a:pt x="5" y="48"/>
                  <a:pt x="5" y="49"/>
                </a:cubicBezTo>
                <a:cubicBezTo>
                  <a:pt x="5" y="51"/>
                  <a:pt x="6" y="52"/>
                  <a:pt x="7" y="52"/>
                </a:cubicBezTo>
                <a:cubicBezTo>
                  <a:pt x="9" y="52"/>
                  <a:pt x="10" y="51"/>
                  <a:pt x="10" y="49"/>
                </a:cubicBezTo>
                <a:cubicBezTo>
                  <a:pt x="10" y="48"/>
                  <a:pt x="9" y="47"/>
                  <a:pt x="7" y="47"/>
                </a:cubicBezTo>
                <a:close/>
                <a:moveTo>
                  <a:pt x="62" y="35"/>
                </a:moveTo>
                <a:cubicBezTo>
                  <a:pt x="62" y="36"/>
                  <a:pt x="62" y="37"/>
                  <a:pt x="62" y="38"/>
                </a:cubicBezTo>
                <a:cubicBezTo>
                  <a:pt x="62" y="40"/>
                  <a:pt x="62" y="42"/>
                  <a:pt x="61" y="43"/>
                </a:cubicBezTo>
                <a:cubicBezTo>
                  <a:pt x="61" y="45"/>
                  <a:pt x="61" y="46"/>
                  <a:pt x="61" y="48"/>
                </a:cubicBezTo>
                <a:cubicBezTo>
                  <a:pt x="60" y="49"/>
                  <a:pt x="60" y="51"/>
                  <a:pt x="59" y="52"/>
                </a:cubicBezTo>
                <a:cubicBezTo>
                  <a:pt x="59" y="55"/>
                  <a:pt x="58" y="57"/>
                  <a:pt x="57" y="59"/>
                </a:cubicBezTo>
                <a:cubicBezTo>
                  <a:pt x="55" y="61"/>
                  <a:pt x="52" y="62"/>
                  <a:pt x="49" y="62"/>
                </a:cubicBezTo>
                <a:cubicBezTo>
                  <a:pt x="48" y="62"/>
                  <a:pt x="48" y="62"/>
                  <a:pt x="47" y="62"/>
                </a:cubicBezTo>
                <a:cubicBezTo>
                  <a:pt x="44" y="62"/>
                  <a:pt x="44" y="62"/>
                  <a:pt x="44" y="62"/>
                </a:cubicBezTo>
                <a:cubicBezTo>
                  <a:pt x="43" y="62"/>
                  <a:pt x="43" y="62"/>
                  <a:pt x="43" y="62"/>
                </a:cubicBezTo>
                <a:cubicBezTo>
                  <a:pt x="38" y="62"/>
                  <a:pt x="32" y="60"/>
                  <a:pt x="28" y="59"/>
                </a:cubicBezTo>
                <a:cubicBezTo>
                  <a:pt x="25" y="58"/>
                  <a:pt x="23" y="57"/>
                  <a:pt x="22" y="57"/>
                </a:cubicBezTo>
                <a:cubicBezTo>
                  <a:pt x="20" y="57"/>
                  <a:pt x="19" y="56"/>
                  <a:pt x="19" y="54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7"/>
                  <a:pt x="20" y="26"/>
                  <a:pt x="21" y="26"/>
                </a:cubicBezTo>
                <a:cubicBezTo>
                  <a:pt x="23" y="26"/>
                  <a:pt x="27" y="21"/>
                  <a:pt x="29" y="19"/>
                </a:cubicBezTo>
                <a:cubicBezTo>
                  <a:pt x="30" y="17"/>
                  <a:pt x="31" y="15"/>
                  <a:pt x="33" y="14"/>
                </a:cubicBezTo>
                <a:cubicBezTo>
                  <a:pt x="34" y="13"/>
                  <a:pt x="35" y="10"/>
                  <a:pt x="35" y="8"/>
                </a:cubicBezTo>
                <a:cubicBezTo>
                  <a:pt x="36" y="5"/>
                  <a:pt x="36" y="3"/>
                  <a:pt x="38" y="1"/>
                </a:cubicBezTo>
                <a:cubicBezTo>
                  <a:pt x="38" y="1"/>
                  <a:pt x="39" y="0"/>
                  <a:pt x="40" y="0"/>
                </a:cubicBezTo>
                <a:cubicBezTo>
                  <a:pt x="49" y="0"/>
                  <a:pt x="49" y="8"/>
                  <a:pt x="49" y="11"/>
                </a:cubicBezTo>
                <a:cubicBezTo>
                  <a:pt x="49" y="14"/>
                  <a:pt x="47" y="16"/>
                  <a:pt x="46" y="18"/>
                </a:cubicBezTo>
                <a:cubicBezTo>
                  <a:pt x="46" y="19"/>
                  <a:pt x="46" y="20"/>
                  <a:pt x="45" y="21"/>
                </a:cubicBezTo>
                <a:cubicBezTo>
                  <a:pt x="56" y="21"/>
                  <a:pt x="56" y="21"/>
                  <a:pt x="56" y="21"/>
                </a:cubicBezTo>
                <a:cubicBezTo>
                  <a:pt x="60" y="21"/>
                  <a:pt x="64" y="25"/>
                  <a:pt x="64" y="29"/>
                </a:cubicBezTo>
                <a:cubicBezTo>
                  <a:pt x="64" y="31"/>
                  <a:pt x="63" y="33"/>
                  <a:pt x="62" y="35"/>
                </a:cubicBezTo>
                <a:close/>
              </a:path>
            </a:pathLst>
          </a:custGeom>
          <a:solidFill>
            <a:srgbClr val="F09C2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94623012"/>
      </p:ext>
    </p:extLst>
  </p:cSld>
  <p:clrMapOvr>
    <a:masterClrMapping/>
  </p:clrMapOvr>
  <p:transition spd="slow" advClick="0" advTm="2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2"/>
          <p:cNvSpPr txBox="1"/>
          <p:nvPr/>
        </p:nvSpPr>
        <p:spPr>
          <a:xfrm>
            <a:off x="1817332" y="27284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j-cs"/>
              </a:rPr>
              <a:t>品牌手表调查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rgbClr val="262626">
              <a:lumMod val="75000"/>
              <a:lumOff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graphicFrame>
        <p:nvGraphicFramePr>
          <p:cNvPr id="12" name="图表 11"/>
          <p:cNvGraphicFramePr/>
          <p:nvPr>
            <p:extLst/>
          </p:nvPr>
        </p:nvGraphicFramePr>
        <p:xfrm>
          <a:off x="1620209" y="1187973"/>
          <a:ext cx="3935349" cy="285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Text Placeholder 133"/>
          <p:cNvSpPr txBox="1"/>
          <p:nvPr/>
        </p:nvSpPr>
        <p:spPr>
          <a:xfrm>
            <a:off x="2620952" y="70217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company product sales statistics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1733149" y="3941347"/>
            <a:ext cx="3782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该调查是对社会各阶层人士的总计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513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名人员进行的调查。</a:t>
            </a:r>
          </a:p>
        </p:txBody>
      </p:sp>
      <p:sp>
        <p:nvSpPr>
          <p:cNvPr id="1132" name="矩形: 圆角 1131"/>
          <p:cNvSpPr/>
          <p:nvPr/>
        </p:nvSpPr>
        <p:spPr>
          <a:xfrm>
            <a:off x="5802053" y="1365601"/>
            <a:ext cx="701177" cy="372415"/>
          </a:xfrm>
          <a:prstGeom prst="roundRect">
            <a:avLst/>
          </a:prstGeom>
          <a:solidFill>
            <a:srgbClr val="5897D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1133" name="矩形: 圆角 1132"/>
          <p:cNvSpPr/>
          <p:nvPr/>
        </p:nvSpPr>
        <p:spPr>
          <a:xfrm>
            <a:off x="5802053" y="2076086"/>
            <a:ext cx="701177" cy="372415"/>
          </a:xfrm>
          <a:prstGeom prst="roundRect">
            <a:avLst/>
          </a:prstGeom>
          <a:solidFill>
            <a:srgbClr val="6EAB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1134" name="矩形: 圆角 1133"/>
          <p:cNvSpPr/>
          <p:nvPr/>
        </p:nvSpPr>
        <p:spPr>
          <a:xfrm>
            <a:off x="5802053" y="2786571"/>
            <a:ext cx="701177" cy="372415"/>
          </a:xfrm>
          <a:prstGeom prst="roundRect">
            <a:avLst/>
          </a:prstGeom>
          <a:solidFill>
            <a:srgbClr val="FBBD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1135" name="矩形: 圆角 1134"/>
          <p:cNvSpPr/>
          <p:nvPr/>
        </p:nvSpPr>
        <p:spPr>
          <a:xfrm>
            <a:off x="5802053" y="3497055"/>
            <a:ext cx="701177" cy="372415"/>
          </a:xfrm>
          <a:prstGeom prst="roundRect">
            <a:avLst/>
          </a:prstGeom>
          <a:solidFill>
            <a:srgbClr val="FB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7062" y="1293175"/>
            <a:ext cx="1972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品牌：做工一般，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价位适中。</a:t>
            </a:r>
          </a:p>
        </p:txBody>
      </p:sp>
      <p:sp>
        <p:nvSpPr>
          <p:cNvPr id="1136" name="文本框 1135"/>
          <p:cNvSpPr txBox="1"/>
          <p:nvPr/>
        </p:nvSpPr>
        <p:spPr>
          <a:xfrm>
            <a:off x="6508650" y="2103061"/>
            <a:ext cx="1972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品牌：做工一般，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设计前卫。</a:t>
            </a:r>
          </a:p>
        </p:txBody>
      </p:sp>
      <p:sp>
        <p:nvSpPr>
          <p:cNvPr id="1137" name="文本框 1136"/>
          <p:cNvSpPr txBox="1"/>
          <p:nvPr/>
        </p:nvSpPr>
        <p:spPr>
          <a:xfrm>
            <a:off x="6508650" y="2839037"/>
            <a:ext cx="1972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品牌：做工精致，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设计简洁。</a:t>
            </a:r>
          </a:p>
        </p:txBody>
      </p:sp>
      <p:sp>
        <p:nvSpPr>
          <p:cNvPr id="1138" name="文本框 1137"/>
          <p:cNvSpPr txBox="1"/>
          <p:nvPr/>
        </p:nvSpPr>
        <p:spPr>
          <a:xfrm>
            <a:off x="6477585" y="3582596"/>
            <a:ext cx="1972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品牌：做工考究，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设计庄重。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11336" y="2140304"/>
            <a:ext cx="60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60%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39" name="文本框 1138"/>
          <p:cNvSpPr txBox="1"/>
          <p:nvPr/>
        </p:nvSpPr>
        <p:spPr>
          <a:xfrm>
            <a:off x="1962736" y="2281601"/>
            <a:ext cx="60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25%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40" name="文本框 1139"/>
          <p:cNvSpPr txBox="1"/>
          <p:nvPr/>
        </p:nvSpPr>
        <p:spPr>
          <a:xfrm>
            <a:off x="2339401" y="1636593"/>
            <a:ext cx="60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7%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41" name="文本框 1140"/>
          <p:cNvSpPr txBox="1"/>
          <p:nvPr/>
        </p:nvSpPr>
        <p:spPr>
          <a:xfrm>
            <a:off x="3055354" y="1501250"/>
            <a:ext cx="60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8%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73171305"/>
      </p:ext>
    </p:ext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Freeform 30"/>
          <p:cNvSpPr/>
          <p:nvPr/>
        </p:nvSpPr>
        <p:spPr bwMode="auto">
          <a:xfrm>
            <a:off x="5145089" y="1507332"/>
            <a:ext cx="2828925" cy="625475"/>
          </a:xfrm>
          <a:custGeom>
            <a:avLst/>
            <a:gdLst/>
            <a:ahLst/>
            <a:cxnLst>
              <a:cxn ang="0">
                <a:pos x="2677" y="296"/>
              </a:cxn>
              <a:cxn ang="0">
                <a:pos x="2324" y="590"/>
              </a:cxn>
              <a:cxn ang="0">
                <a:pos x="487" y="592"/>
              </a:cxn>
              <a:cxn ang="0">
                <a:pos x="487" y="590"/>
              </a:cxn>
              <a:cxn ang="0">
                <a:pos x="488" y="590"/>
              </a:cxn>
              <a:cxn ang="0">
                <a:pos x="275" y="218"/>
              </a:cxn>
              <a:cxn ang="0">
                <a:pos x="0" y="0"/>
              </a:cxn>
              <a:cxn ang="0">
                <a:pos x="2324" y="3"/>
              </a:cxn>
              <a:cxn ang="0">
                <a:pos x="2677" y="296"/>
              </a:cxn>
            </a:cxnLst>
            <a:rect l="0" t="0" r="r" b="b"/>
            <a:pathLst>
              <a:path w="2677" h="592">
                <a:moveTo>
                  <a:pt x="2677" y="296"/>
                </a:moveTo>
                <a:cubicBezTo>
                  <a:pt x="2324" y="590"/>
                  <a:pt x="2324" y="590"/>
                  <a:pt x="2324" y="590"/>
                </a:cubicBezTo>
                <a:cubicBezTo>
                  <a:pt x="487" y="592"/>
                  <a:pt x="487" y="592"/>
                  <a:pt x="487" y="592"/>
                </a:cubicBezTo>
                <a:cubicBezTo>
                  <a:pt x="487" y="591"/>
                  <a:pt x="487" y="591"/>
                  <a:pt x="487" y="590"/>
                </a:cubicBezTo>
                <a:cubicBezTo>
                  <a:pt x="488" y="590"/>
                  <a:pt x="488" y="590"/>
                  <a:pt x="488" y="590"/>
                </a:cubicBezTo>
                <a:cubicBezTo>
                  <a:pt x="444" y="453"/>
                  <a:pt x="373" y="329"/>
                  <a:pt x="275" y="218"/>
                </a:cubicBezTo>
                <a:cubicBezTo>
                  <a:pt x="192" y="123"/>
                  <a:pt x="100" y="50"/>
                  <a:pt x="0" y="0"/>
                </a:cubicBezTo>
                <a:cubicBezTo>
                  <a:pt x="2324" y="3"/>
                  <a:pt x="2324" y="3"/>
                  <a:pt x="2324" y="3"/>
                </a:cubicBezTo>
                <a:lnTo>
                  <a:pt x="2677" y="29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5" name="Freeform 31"/>
          <p:cNvSpPr/>
          <p:nvPr/>
        </p:nvSpPr>
        <p:spPr bwMode="auto">
          <a:xfrm>
            <a:off x="5205414" y="2944018"/>
            <a:ext cx="2768600" cy="623888"/>
          </a:xfrm>
          <a:custGeom>
            <a:avLst/>
            <a:gdLst/>
            <a:ahLst/>
            <a:cxnLst>
              <a:cxn ang="0">
                <a:pos x="1557" y="0"/>
              </a:cxn>
              <a:cxn ang="0">
                <a:pos x="1557" y="0"/>
              </a:cxn>
              <a:cxn ang="0">
                <a:pos x="2267" y="1"/>
              </a:cxn>
              <a:cxn ang="0">
                <a:pos x="2620" y="294"/>
              </a:cxn>
              <a:cxn ang="0">
                <a:pos x="2267" y="588"/>
              </a:cxn>
              <a:cxn ang="0">
                <a:pos x="1557" y="589"/>
              </a:cxn>
              <a:cxn ang="0">
                <a:pos x="1557" y="590"/>
              </a:cxn>
              <a:cxn ang="0">
                <a:pos x="0" y="590"/>
              </a:cxn>
              <a:cxn ang="0">
                <a:pos x="127" y="320"/>
              </a:cxn>
              <a:cxn ang="0">
                <a:pos x="298" y="82"/>
              </a:cxn>
              <a:cxn ang="0">
                <a:pos x="306" y="74"/>
              </a:cxn>
              <a:cxn ang="0">
                <a:pos x="364" y="0"/>
              </a:cxn>
              <a:cxn ang="0">
                <a:pos x="1557" y="0"/>
              </a:cxn>
            </a:cxnLst>
            <a:rect l="0" t="0" r="r" b="b"/>
            <a:pathLst>
              <a:path w="2620" h="590">
                <a:moveTo>
                  <a:pt x="1557" y="0"/>
                </a:moveTo>
                <a:cubicBezTo>
                  <a:pt x="1557" y="0"/>
                  <a:pt x="1557" y="0"/>
                  <a:pt x="1557" y="0"/>
                </a:cubicBezTo>
                <a:cubicBezTo>
                  <a:pt x="2267" y="1"/>
                  <a:pt x="2267" y="1"/>
                  <a:pt x="2267" y="1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267" y="588"/>
                  <a:pt x="2267" y="588"/>
                  <a:pt x="2267" y="588"/>
                </a:cubicBezTo>
                <a:cubicBezTo>
                  <a:pt x="1557" y="589"/>
                  <a:pt x="1557" y="589"/>
                  <a:pt x="1557" y="589"/>
                </a:cubicBezTo>
                <a:cubicBezTo>
                  <a:pt x="1557" y="590"/>
                  <a:pt x="1557" y="590"/>
                  <a:pt x="1557" y="590"/>
                </a:cubicBezTo>
                <a:cubicBezTo>
                  <a:pt x="0" y="590"/>
                  <a:pt x="0" y="590"/>
                  <a:pt x="0" y="590"/>
                </a:cubicBezTo>
                <a:cubicBezTo>
                  <a:pt x="21" y="511"/>
                  <a:pt x="63" y="421"/>
                  <a:pt x="127" y="320"/>
                </a:cubicBezTo>
                <a:cubicBezTo>
                  <a:pt x="172" y="247"/>
                  <a:pt x="230" y="167"/>
                  <a:pt x="298" y="82"/>
                </a:cubicBezTo>
                <a:cubicBezTo>
                  <a:pt x="301" y="79"/>
                  <a:pt x="303" y="76"/>
                  <a:pt x="306" y="74"/>
                </a:cubicBezTo>
                <a:cubicBezTo>
                  <a:pt x="326" y="49"/>
                  <a:pt x="345" y="25"/>
                  <a:pt x="364" y="0"/>
                </a:cubicBezTo>
                <a:lnTo>
                  <a:pt x="1557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6" name="Freeform 32"/>
          <p:cNvSpPr/>
          <p:nvPr/>
        </p:nvSpPr>
        <p:spPr bwMode="auto">
          <a:xfrm>
            <a:off x="5651501" y="2215357"/>
            <a:ext cx="2322513" cy="623888"/>
          </a:xfrm>
          <a:custGeom>
            <a:avLst/>
            <a:gdLst/>
            <a:ahLst/>
            <a:cxnLst>
              <a:cxn ang="0">
                <a:pos x="2198" y="295"/>
              </a:cxn>
              <a:cxn ang="0">
                <a:pos x="1845" y="589"/>
              </a:cxn>
              <a:cxn ang="0">
                <a:pos x="323" y="591"/>
              </a:cxn>
              <a:cxn ang="0">
                <a:pos x="323" y="591"/>
              </a:cxn>
              <a:cxn ang="0">
                <a:pos x="0" y="591"/>
              </a:cxn>
              <a:cxn ang="0">
                <a:pos x="60" y="226"/>
              </a:cxn>
              <a:cxn ang="0">
                <a:pos x="39" y="0"/>
              </a:cxn>
              <a:cxn ang="0">
                <a:pos x="323" y="0"/>
              </a:cxn>
              <a:cxn ang="0">
                <a:pos x="323" y="0"/>
              </a:cxn>
              <a:cxn ang="0">
                <a:pos x="1845" y="2"/>
              </a:cxn>
              <a:cxn ang="0">
                <a:pos x="2198" y="295"/>
              </a:cxn>
            </a:cxnLst>
            <a:rect l="0" t="0" r="r" b="b"/>
            <a:pathLst>
              <a:path w="2198" h="591">
                <a:moveTo>
                  <a:pt x="2198" y="295"/>
                </a:moveTo>
                <a:cubicBezTo>
                  <a:pt x="1845" y="589"/>
                  <a:pt x="1845" y="589"/>
                  <a:pt x="1845" y="589"/>
                </a:cubicBezTo>
                <a:cubicBezTo>
                  <a:pt x="323" y="591"/>
                  <a:pt x="323" y="591"/>
                  <a:pt x="323" y="591"/>
                </a:cubicBezTo>
                <a:cubicBezTo>
                  <a:pt x="323" y="591"/>
                  <a:pt x="323" y="591"/>
                  <a:pt x="323" y="591"/>
                </a:cubicBezTo>
                <a:cubicBezTo>
                  <a:pt x="0" y="591"/>
                  <a:pt x="0" y="591"/>
                  <a:pt x="0" y="591"/>
                </a:cubicBezTo>
                <a:cubicBezTo>
                  <a:pt x="40" y="478"/>
                  <a:pt x="60" y="356"/>
                  <a:pt x="60" y="226"/>
                </a:cubicBezTo>
                <a:cubicBezTo>
                  <a:pt x="60" y="147"/>
                  <a:pt x="53" y="72"/>
                  <a:pt x="39" y="0"/>
                </a:cubicBezTo>
                <a:cubicBezTo>
                  <a:pt x="323" y="0"/>
                  <a:pt x="323" y="0"/>
                  <a:pt x="323" y="0"/>
                </a:cubicBezTo>
                <a:cubicBezTo>
                  <a:pt x="323" y="0"/>
                  <a:pt x="323" y="0"/>
                  <a:pt x="323" y="0"/>
                </a:cubicBezTo>
                <a:cubicBezTo>
                  <a:pt x="1845" y="2"/>
                  <a:pt x="1845" y="2"/>
                  <a:pt x="1845" y="2"/>
                </a:cubicBezTo>
                <a:lnTo>
                  <a:pt x="2198" y="29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7" name="Freeform 33"/>
          <p:cNvSpPr/>
          <p:nvPr/>
        </p:nvSpPr>
        <p:spPr bwMode="auto">
          <a:xfrm>
            <a:off x="1169989" y="1507332"/>
            <a:ext cx="2828925" cy="625475"/>
          </a:xfrm>
          <a:custGeom>
            <a:avLst/>
            <a:gdLst/>
            <a:ahLst/>
            <a:cxnLst>
              <a:cxn ang="0">
                <a:pos x="2190" y="592"/>
              </a:cxn>
              <a:cxn ang="0">
                <a:pos x="353" y="590"/>
              </a:cxn>
              <a:cxn ang="0">
                <a:pos x="0" y="296"/>
              </a:cxn>
              <a:cxn ang="0">
                <a:pos x="353" y="3"/>
              </a:cxn>
              <a:cxn ang="0">
                <a:pos x="2677" y="0"/>
              </a:cxn>
              <a:cxn ang="0">
                <a:pos x="2402" y="218"/>
              </a:cxn>
              <a:cxn ang="0">
                <a:pos x="2189" y="590"/>
              </a:cxn>
              <a:cxn ang="0">
                <a:pos x="2191" y="590"/>
              </a:cxn>
              <a:cxn ang="0">
                <a:pos x="2190" y="592"/>
              </a:cxn>
            </a:cxnLst>
            <a:rect l="0" t="0" r="r" b="b"/>
            <a:pathLst>
              <a:path w="2677" h="592">
                <a:moveTo>
                  <a:pt x="2190" y="592"/>
                </a:moveTo>
                <a:cubicBezTo>
                  <a:pt x="353" y="590"/>
                  <a:pt x="353" y="590"/>
                  <a:pt x="353" y="590"/>
                </a:cubicBezTo>
                <a:cubicBezTo>
                  <a:pt x="0" y="296"/>
                  <a:pt x="0" y="296"/>
                  <a:pt x="0" y="296"/>
                </a:cubicBezTo>
                <a:cubicBezTo>
                  <a:pt x="353" y="3"/>
                  <a:pt x="353" y="3"/>
                  <a:pt x="353" y="3"/>
                </a:cubicBezTo>
                <a:cubicBezTo>
                  <a:pt x="2677" y="0"/>
                  <a:pt x="2677" y="0"/>
                  <a:pt x="2677" y="0"/>
                </a:cubicBezTo>
                <a:cubicBezTo>
                  <a:pt x="2577" y="50"/>
                  <a:pt x="2485" y="123"/>
                  <a:pt x="2402" y="218"/>
                </a:cubicBezTo>
                <a:cubicBezTo>
                  <a:pt x="2304" y="329"/>
                  <a:pt x="2233" y="453"/>
                  <a:pt x="2189" y="590"/>
                </a:cubicBezTo>
                <a:cubicBezTo>
                  <a:pt x="2191" y="590"/>
                  <a:pt x="2191" y="590"/>
                  <a:pt x="2191" y="590"/>
                </a:cubicBezTo>
                <a:cubicBezTo>
                  <a:pt x="2190" y="591"/>
                  <a:pt x="2190" y="591"/>
                  <a:pt x="2190" y="592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8" name="Freeform 34"/>
          <p:cNvSpPr/>
          <p:nvPr/>
        </p:nvSpPr>
        <p:spPr bwMode="auto">
          <a:xfrm>
            <a:off x="1169989" y="2215357"/>
            <a:ext cx="2314575" cy="623888"/>
          </a:xfrm>
          <a:custGeom>
            <a:avLst/>
            <a:gdLst/>
            <a:ahLst/>
            <a:cxnLst>
              <a:cxn ang="0">
                <a:pos x="2130" y="226"/>
              </a:cxn>
              <a:cxn ang="0">
                <a:pos x="2190" y="591"/>
              </a:cxn>
              <a:cxn ang="0">
                <a:pos x="353" y="589"/>
              </a:cxn>
              <a:cxn ang="0">
                <a:pos x="0" y="295"/>
              </a:cxn>
              <a:cxn ang="0">
                <a:pos x="353" y="2"/>
              </a:cxn>
              <a:cxn ang="0">
                <a:pos x="2152" y="0"/>
              </a:cxn>
              <a:cxn ang="0">
                <a:pos x="2130" y="226"/>
              </a:cxn>
            </a:cxnLst>
            <a:rect l="0" t="0" r="r" b="b"/>
            <a:pathLst>
              <a:path w="2190" h="591">
                <a:moveTo>
                  <a:pt x="2130" y="226"/>
                </a:moveTo>
                <a:cubicBezTo>
                  <a:pt x="2130" y="356"/>
                  <a:pt x="2150" y="478"/>
                  <a:pt x="2190" y="591"/>
                </a:cubicBezTo>
                <a:cubicBezTo>
                  <a:pt x="353" y="589"/>
                  <a:pt x="353" y="589"/>
                  <a:pt x="353" y="589"/>
                </a:cubicBezTo>
                <a:cubicBezTo>
                  <a:pt x="0" y="295"/>
                  <a:pt x="0" y="295"/>
                  <a:pt x="0" y="295"/>
                </a:cubicBezTo>
                <a:cubicBezTo>
                  <a:pt x="353" y="2"/>
                  <a:pt x="353" y="2"/>
                  <a:pt x="353" y="2"/>
                </a:cubicBezTo>
                <a:cubicBezTo>
                  <a:pt x="2152" y="0"/>
                  <a:pt x="2152" y="0"/>
                  <a:pt x="2152" y="0"/>
                </a:cubicBezTo>
                <a:cubicBezTo>
                  <a:pt x="2137" y="72"/>
                  <a:pt x="2130" y="147"/>
                  <a:pt x="2130" y="226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9" name="Freeform 35"/>
          <p:cNvSpPr/>
          <p:nvPr/>
        </p:nvSpPr>
        <p:spPr bwMode="auto">
          <a:xfrm>
            <a:off x="1169989" y="2944018"/>
            <a:ext cx="2759075" cy="623888"/>
          </a:xfrm>
          <a:custGeom>
            <a:avLst/>
            <a:gdLst/>
            <a:ahLst/>
            <a:cxnLst>
              <a:cxn ang="0">
                <a:pos x="2305" y="73"/>
              </a:cxn>
              <a:cxn ang="0">
                <a:pos x="2611" y="590"/>
              </a:cxn>
              <a:cxn ang="0">
                <a:pos x="1546" y="589"/>
              </a:cxn>
              <a:cxn ang="0">
                <a:pos x="1546" y="589"/>
              </a:cxn>
              <a:cxn ang="0">
                <a:pos x="353" y="588"/>
              </a:cxn>
              <a:cxn ang="0">
                <a:pos x="0" y="294"/>
              </a:cxn>
              <a:cxn ang="0">
                <a:pos x="353" y="1"/>
              </a:cxn>
              <a:cxn ang="0">
                <a:pos x="1546" y="0"/>
              </a:cxn>
              <a:cxn ang="0">
                <a:pos x="1546" y="0"/>
              </a:cxn>
              <a:cxn ang="0">
                <a:pos x="2248" y="0"/>
              </a:cxn>
              <a:cxn ang="0">
                <a:pos x="2295" y="61"/>
              </a:cxn>
              <a:cxn ang="0">
                <a:pos x="2305" y="73"/>
              </a:cxn>
            </a:cxnLst>
            <a:rect l="0" t="0" r="r" b="b"/>
            <a:pathLst>
              <a:path w="2611" h="590">
                <a:moveTo>
                  <a:pt x="2305" y="73"/>
                </a:moveTo>
                <a:cubicBezTo>
                  <a:pt x="2471" y="278"/>
                  <a:pt x="2573" y="450"/>
                  <a:pt x="2611" y="590"/>
                </a:cubicBezTo>
                <a:cubicBezTo>
                  <a:pt x="1546" y="589"/>
                  <a:pt x="1546" y="589"/>
                  <a:pt x="1546" y="589"/>
                </a:cubicBezTo>
                <a:cubicBezTo>
                  <a:pt x="1546" y="589"/>
                  <a:pt x="1546" y="589"/>
                  <a:pt x="1546" y="589"/>
                </a:cubicBezTo>
                <a:cubicBezTo>
                  <a:pt x="353" y="588"/>
                  <a:pt x="353" y="588"/>
                  <a:pt x="353" y="588"/>
                </a:cubicBezTo>
                <a:cubicBezTo>
                  <a:pt x="0" y="294"/>
                  <a:pt x="0" y="294"/>
                  <a:pt x="0" y="294"/>
                </a:cubicBezTo>
                <a:cubicBezTo>
                  <a:pt x="353" y="1"/>
                  <a:pt x="353" y="1"/>
                  <a:pt x="353" y="1"/>
                </a:cubicBezTo>
                <a:cubicBezTo>
                  <a:pt x="1546" y="0"/>
                  <a:pt x="1546" y="0"/>
                  <a:pt x="1546" y="0"/>
                </a:cubicBezTo>
                <a:cubicBezTo>
                  <a:pt x="1546" y="0"/>
                  <a:pt x="1546" y="0"/>
                  <a:pt x="1546" y="0"/>
                </a:cubicBezTo>
                <a:cubicBezTo>
                  <a:pt x="2248" y="0"/>
                  <a:pt x="2248" y="0"/>
                  <a:pt x="2248" y="0"/>
                </a:cubicBezTo>
                <a:cubicBezTo>
                  <a:pt x="2263" y="21"/>
                  <a:pt x="2279" y="41"/>
                  <a:pt x="2295" y="61"/>
                </a:cubicBezTo>
                <a:lnTo>
                  <a:pt x="2305" y="73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3" name="Title 132"/>
          <p:cNvSpPr>
            <a:spLocks noGrp="1"/>
          </p:cNvSpPr>
          <p:nvPr>
            <p:ph type="title"/>
          </p:nvPr>
        </p:nvSpPr>
        <p:spPr>
          <a:xfrm>
            <a:off x="1817332" y="272841"/>
            <a:ext cx="5638800" cy="353524"/>
          </a:xfrm>
        </p:spPr>
        <p:txBody>
          <a:bodyPr/>
          <a:lstStyle/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公司借贷情况统计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4" name="Text Placeholder 133"/>
          <p:cNvSpPr>
            <a:spLocks noGrp="1"/>
          </p:cNvSpPr>
          <p:nvPr>
            <p:ph type="body" sz="half" idx="2"/>
          </p:nvPr>
        </p:nvSpPr>
        <p:spPr>
          <a:xfrm>
            <a:off x="2524361" y="678751"/>
            <a:ext cx="4114800" cy="200746"/>
          </a:xfrm>
        </p:spPr>
        <p:txBody>
          <a:bodyPr/>
          <a:lstStyle/>
          <a:p>
            <a:r>
              <a:rPr lang="en-US" sz="1800"/>
              <a:t>C</a:t>
            </a:r>
            <a:r>
              <a:rPr lang="en-US" altLang="zh-CN" sz="1800"/>
              <a:t>ompanies to borrow money</a:t>
            </a:r>
            <a:endParaRPr lang="en-US" sz="1800"/>
          </a:p>
        </p:txBody>
      </p:sp>
      <p:sp>
        <p:nvSpPr>
          <p:cNvPr id="1053" name="Freeform 29"/>
          <p:cNvSpPr/>
          <p:nvPr/>
        </p:nvSpPr>
        <p:spPr bwMode="auto">
          <a:xfrm>
            <a:off x="6850064" y="2944019"/>
            <a:ext cx="107950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8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68">
                <a:moveTo>
                  <a:pt x="0" y="0"/>
                </a:moveTo>
                <a:lnTo>
                  <a:pt x="6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Group 134"/>
          <p:cNvGrpSpPr/>
          <p:nvPr/>
        </p:nvGrpSpPr>
        <p:grpSpPr>
          <a:xfrm>
            <a:off x="3606802" y="1502569"/>
            <a:ext cx="1920875" cy="2970213"/>
            <a:chOff x="3606801" y="1272140"/>
            <a:chExt cx="1920875" cy="2970213"/>
          </a:xfrm>
        </p:grpSpPr>
        <p:sp>
          <p:nvSpPr>
            <p:cNvPr id="1061" name="Freeform 37"/>
            <p:cNvSpPr/>
            <p:nvPr/>
          </p:nvSpPr>
          <p:spPr bwMode="auto">
            <a:xfrm>
              <a:off x="4586288" y="1272140"/>
              <a:ext cx="885825" cy="628650"/>
            </a:xfrm>
            <a:custGeom>
              <a:avLst/>
              <a:gdLst/>
              <a:ahLst/>
              <a:cxnLst>
                <a:cxn ang="0">
                  <a:pos x="626" y="266"/>
                </a:cxn>
                <a:cxn ang="0">
                  <a:pos x="839" y="594"/>
                </a:cxn>
                <a:cxn ang="0">
                  <a:pos x="0" y="594"/>
                </a:cxn>
                <a:cxn ang="0">
                  <a:pos x="0" y="0"/>
                </a:cxn>
                <a:cxn ang="0">
                  <a:pos x="626" y="266"/>
                </a:cxn>
              </a:cxnLst>
              <a:rect l="0" t="0" r="r" b="b"/>
              <a:pathLst>
                <a:path w="839" h="594">
                  <a:moveTo>
                    <a:pt x="626" y="266"/>
                  </a:moveTo>
                  <a:cubicBezTo>
                    <a:pt x="724" y="364"/>
                    <a:pt x="795" y="473"/>
                    <a:pt x="839" y="594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4" y="4"/>
                    <a:pt x="452" y="92"/>
                    <a:pt x="626" y="26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5" name="Group 104"/>
            <p:cNvGrpSpPr/>
            <p:nvPr/>
          </p:nvGrpSpPr>
          <p:grpSpPr>
            <a:xfrm>
              <a:off x="4089401" y="3400978"/>
              <a:ext cx="963612" cy="841375"/>
              <a:chOff x="4089401" y="2825751"/>
              <a:chExt cx="963612" cy="841375"/>
            </a:xfrm>
            <a:solidFill>
              <a:schemeClr val="tx1">
                <a:lumMod val="65000"/>
                <a:lumOff val="35000"/>
              </a:schemeClr>
            </a:soli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grpSpPr>
          <p:sp>
            <p:nvSpPr>
              <p:cNvPr id="1060" name="Freeform 36"/>
              <p:cNvSpPr/>
              <p:nvPr/>
            </p:nvSpPr>
            <p:spPr bwMode="auto">
              <a:xfrm>
                <a:off x="4203701" y="3382963"/>
                <a:ext cx="736600" cy="284163"/>
              </a:xfrm>
              <a:custGeom>
                <a:avLst/>
                <a:gdLst/>
                <a:ahLst/>
                <a:cxnLst>
                  <a:cxn ang="0">
                    <a:pos x="682" y="13"/>
                  </a:cxn>
                  <a:cxn ang="0">
                    <a:pos x="696" y="47"/>
                  </a:cxn>
                  <a:cxn ang="0">
                    <a:pos x="682" y="80"/>
                  </a:cxn>
                  <a:cxn ang="0">
                    <a:pos x="649" y="94"/>
                  </a:cxn>
                  <a:cxn ang="0">
                    <a:pos x="596" y="94"/>
                  </a:cxn>
                  <a:cxn ang="0">
                    <a:pos x="446" y="194"/>
                  </a:cxn>
                  <a:cxn ang="0">
                    <a:pos x="410" y="213"/>
                  </a:cxn>
                  <a:cxn ang="0">
                    <a:pos x="411" y="221"/>
                  </a:cxn>
                  <a:cxn ang="0">
                    <a:pos x="411" y="249"/>
                  </a:cxn>
                  <a:cxn ang="0">
                    <a:pos x="349" y="268"/>
                  </a:cxn>
                  <a:cxn ang="0">
                    <a:pos x="285" y="249"/>
                  </a:cxn>
                  <a:cxn ang="0">
                    <a:pos x="285" y="221"/>
                  </a:cxn>
                  <a:cxn ang="0">
                    <a:pos x="286" y="212"/>
                  </a:cxn>
                  <a:cxn ang="0">
                    <a:pos x="245" y="194"/>
                  </a:cxn>
                  <a:cxn ang="0">
                    <a:pos x="89" y="94"/>
                  </a:cxn>
                  <a:cxn ang="0">
                    <a:pos x="47" y="94"/>
                  </a:cxn>
                  <a:cxn ang="0">
                    <a:pos x="14" y="80"/>
                  </a:cxn>
                  <a:cxn ang="0">
                    <a:pos x="0" y="47"/>
                  </a:cxn>
                  <a:cxn ang="0">
                    <a:pos x="14" y="13"/>
                  </a:cxn>
                  <a:cxn ang="0">
                    <a:pos x="47" y="0"/>
                  </a:cxn>
                  <a:cxn ang="0">
                    <a:pos x="649" y="0"/>
                  </a:cxn>
                  <a:cxn ang="0">
                    <a:pos x="682" y="13"/>
                  </a:cxn>
                </a:cxnLst>
                <a:rect l="0" t="0" r="r" b="b"/>
                <a:pathLst>
                  <a:path w="696" h="268">
                    <a:moveTo>
                      <a:pt x="682" y="13"/>
                    </a:moveTo>
                    <a:cubicBezTo>
                      <a:pt x="691" y="23"/>
                      <a:pt x="696" y="34"/>
                      <a:pt x="696" y="47"/>
                    </a:cubicBezTo>
                    <a:cubicBezTo>
                      <a:pt x="696" y="60"/>
                      <a:pt x="691" y="71"/>
                      <a:pt x="682" y="80"/>
                    </a:cubicBezTo>
                    <a:cubicBezTo>
                      <a:pt x="673" y="89"/>
                      <a:pt x="662" y="94"/>
                      <a:pt x="649" y="94"/>
                    </a:cubicBezTo>
                    <a:cubicBezTo>
                      <a:pt x="596" y="94"/>
                      <a:pt x="596" y="94"/>
                      <a:pt x="596" y="94"/>
                    </a:cubicBezTo>
                    <a:cubicBezTo>
                      <a:pt x="555" y="128"/>
                      <a:pt x="505" y="161"/>
                      <a:pt x="446" y="194"/>
                    </a:cubicBezTo>
                    <a:cubicBezTo>
                      <a:pt x="434" y="200"/>
                      <a:pt x="423" y="206"/>
                      <a:pt x="410" y="213"/>
                    </a:cubicBezTo>
                    <a:cubicBezTo>
                      <a:pt x="411" y="215"/>
                      <a:pt x="411" y="218"/>
                      <a:pt x="411" y="221"/>
                    </a:cubicBezTo>
                    <a:cubicBezTo>
                      <a:pt x="411" y="249"/>
                      <a:pt x="411" y="249"/>
                      <a:pt x="411" y="249"/>
                    </a:cubicBezTo>
                    <a:cubicBezTo>
                      <a:pt x="390" y="262"/>
                      <a:pt x="370" y="268"/>
                      <a:pt x="349" y="268"/>
                    </a:cubicBezTo>
                    <a:cubicBezTo>
                      <a:pt x="328" y="268"/>
                      <a:pt x="306" y="262"/>
                      <a:pt x="285" y="249"/>
                    </a:cubicBezTo>
                    <a:cubicBezTo>
                      <a:pt x="285" y="221"/>
                      <a:pt x="285" y="221"/>
                      <a:pt x="285" y="221"/>
                    </a:cubicBezTo>
                    <a:cubicBezTo>
                      <a:pt x="285" y="218"/>
                      <a:pt x="285" y="215"/>
                      <a:pt x="286" y="212"/>
                    </a:cubicBezTo>
                    <a:cubicBezTo>
                      <a:pt x="272" y="206"/>
                      <a:pt x="258" y="200"/>
                      <a:pt x="245" y="194"/>
                    </a:cubicBezTo>
                    <a:cubicBezTo>
                      <a:pt x="189" y="166"/>
                      <a:pt x="137" y="133"/>
                      <a:pt x="89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34" y="94"/>
                      <a:pt x="23" y="89"/>
                      <a:pt x="14" y="80"/>
                    </a:cubicBezTo>
                    <a:cubicBezTo>
                      <a:pt x="5" y="71"/>
                      <a:pt x="0" y="60"/>
                      <a:pt x="0" y="47"/>
                    </a:cubicBezTo>
                    <a:cubicBezTo>
                      <a:pt x="0" y="34"/>
                      <a:pt x="5" y="23"/>
                      <a:pt x="14" y="13"/>
                    </a:cubicBezTo>
                    <a:cubicBezTo>
                      <a:pt x="23" y="4"/>
                      <a:pt x="34" y="0"/>
                      <a:pt x="47" y="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662" y="0"/>
                      <a:pt x="673" y="4"/>
                      <a:pt x="682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8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2" name="Freeform 38"/>
              <p:cNvSpPr>
                <a:spLocks noEditPoints="1"/>
              </p:cNvSpPr>
              <p:nvPr/>
            </p:nvSpPr>
            <p:spPr bwMode="auto">
              <a:xfrm>
                <a:off x="4089401" y="2825751"/>
                <a:ext cx="496888" cy="500063"/>
              </a:xfrm>
              <a:custGeom>
                <a:avLst/>
                <a:gdLst/>
                <a:ahLst/>
                <a:cxnLst>
                  <a:cxn ang="0">
                    <a:pos x="471" y="0"/>
                  </a:cxn>
                  <a:cxn ang="0">
                    <a:pos x="471" y="126"/>
                  </a:cxn>
                  <a:cxn ang="0">
                    <a:pos x="64" y="126"/>
                  </a:cxn>
                  <a:cxn ang="0">
                    <a:pos x="19" y="107"/>
                  </a:cxn>
                  <a:cxn ang="0">
                    <a:pos x="1" y="63"/>
                  </a:cxn>
                  <a:cxn ang="0">
                    <a:pos x="19" y="18"/>
                  </a:cxn>
                  <a:cxn ang="0">
                    <a:pos x="64" y="0"/>
                  </a:cxn>
                  <a:cxn ang="0">
                    <a:pos x="471" y="0"/>
                  </a:cxn>
                  <a:cxn ang="0">
                    <a:pos x="471" y="175"/>
                  </a:cxn>
                  <a:cxn ang="0">
                    <a:pos x="471" y="301"/>
                  </a:cxn>
                  <a:cxn ang="0">
                    <a:pos x="63" y="301"/>
                  </a:cxn>
                  <a:cxn ang="0">
                    <a:pos x="18" y="282"/>
                  </a:cxn>
                  <a:cxn ang="0">
                    <a:pos x="0" y="238"/>
                  </a:cxn>
                  <a:cxn ang="0">
                    <a:pos x="0" y="237"/>
                  </a:cxn>
                  <a:cxn ang="0">
                    <a:pos x="18" y="193"/>
                  </a:cxn>
                  <a:cxn ang="0">
                    <a:pos x="63" y="175"/>
                  </a:cxn>
                  <a:cxn ang="0">
                    <a:pos x="471" y="175"/>
                  </a:cxn>
                  <a:cxn ang="0">
                    <a:pos x="471" y="347"/>
                  </a:cxn>
                  <a:cxn ang="0">
                    <a:pos x="471" y="473"/>
                  </a:cxn>
                  <a:cxn ang="0">
                    <a:pos x="64" y="473"/>
                  </a:cxn>
                  <a:cxn ang="0">
                    <a:pos x="20" y="455"/>
                  </a:cxn>
                  <a:cxn ang="0">
                    <a:pos x="1" y="410"/>
                  </a:cxn>
                  <a:cxn ang="0">
                    <a:pos x="20" y="365"/>
                  </a:cxn>
                  <a:cxn ang="0">
                    <a:pos x="64" y="347"/>
                  </a:cxn>
                  <a:cxn ang="0">
                    <a:pos x="471" y="347"/>
                  </a:cxn>
                </a:cxnLst>
                <a:rect l="0" t="0" r="r" b="b"/>
                <a:pathLst>
                  <a:path w="471" h="472">
                    <a:moveTo>
                      <a:pt x="471" y="0"/>
                    </a:moveTo>
                    <a:cubicBezTo>
                      <a:pt x="471" y="126"/>
                      <a:pt x="471" y="126"/>
                      <a:pt x="471" y="126"/>
                    </a:cubicBezTo>
                    <a:cubicBezTo>
                      <a:pt x="64" y="126"/>
                      <a:pt x="64" y="126"/>
                      <a:pt x="64" y="126"/>
                    </a:cubicBezTo>
                    <a:cubicBezTo>
                      <a:pt x="46" y="126"/>
                      <a:pt x="32" y="120"/>
                      <a:pt x="19" y="107"/>
                    </a:cubicBezTo>
                    <a:cubicBezTo>
                      <a:pt x="7" y="95"/>
                      <a:pt x="1" y="80"/>
                      <a:pt x="1" y="63"/>
                    </a:cubicBezTo>
                    <a:cubicBezTo>
                      <a:pt x="1" y="45"/>
                      <a:pt x="7" y="30"/>
                      <a:pt x="19" y="18"/>
                    </a:cubicBezTo>
                    <a:cubicBezTo>
                      <a:pt x="32" y="6"/>
                      <a:pt x="46" y="0"/>
                      <a:pt x="64" y="0"/>
                    </a:cubicBezTo>
                    <a:lnTo>
                      <a:pt x="471" y="0"/>
                    </a:lnTo>
                    <a:close/>
                    <a:moveTo>
                      <a:pt x="471" y="175"/>
                    </a:moveTo>
                    <a:cubicBezTo>
                      <a:pt x="471" y="301"/>
                      <a:pt x="471" y="301"/>
                      <a:pt x="471" y="301"/>
                    </a:cubicBezTo>
                    <a:cubicBezTo>
                      <a:pt x="63" y="301"/>
                      <a:pt x="63" y="301"/>
                      <a:pt x="63" y="301"/>
                    </a:cubicBezTo>
                    <a:cubicBezTo>
                      <a:pt x="46" y="301"/>
                      <a:pt x="31" y="295"/>
                      <a:pt x="18" y="282"/>
                    </a:cubicBezTo>
                    <a:cubicBezTo>
                      <a:pt x="6" y="270"/>
                      <a:pt x="0" y="255"/>
                      <a:pt x="0" y="238"/>
                    </a:cubicBez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20"/>
                      <a:pt x="6" y="206"/>
                      <a:pt x="18" y="193"/>
                    </a:cubicBezTo>
                    <a:cubicBezTo>
                      <a:pt x="31" y="181"/>
                      <a:pt x="46" y="175"/>
                      <a:pt x="63" y="175"/>
                    </a:cubicBezTo>
                    <a:lnTo>
                      <a:pt x="471" y="175"/>
                    </a:lnTo>
                    <a:close/>
                    <a:moveTo>
                      <a:pt x="471" y="347"/>
                    </a:moveTo>
                    <a:cubicBezTo>
                      <a:pt x="471" y="473"/>
                      <a:pt x="471" y="473"/>
                      <a:pt x="471" y="473"/>
                    </a:cubicBezTo>
                    <a:cubicBezTo>
                      <a:pt x="64" y="473"/>
                      <a:pt x="64" y="473"/>
                      <a:pt x="64" y="473"/>
                    </a:cubicBezTo>
                    <a:cubicBezTo>
                      <a:pt x="47" y="473"/>
                      <a:pt x="32" y="467"/>
                      <a:pt x="20" y="455"/>
                    </a:cubicBezTo>
                    <a:cubicBezTo>
                      <a:pt x="7" y="442"/>
                      <a:pt x="1" y="428"/>
                      <a:pt x="1" y="410"/>
                    </a:cubicBezTo>
                    <a:cubicBezTo>
                      <a:pt x="1" y="393"/>
                      <a:pt x="7" y="378"/>
                      <a:pt x="20" y="365"/>
                    </a:cubicBezTo>
                    <a:cubicBezTo>
                      <a:pt x="32" y="353"/>
                      <a:pt x="47" y="347"/>
                      <a:pt x="64" y="347"/>
                    </a:cubicBezTo>
                    <a:lnTo>
                      <a:pt x="471" y="3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8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3" name="Freeform 39"/>
              <p:cNvSpPr>
                <a:spLocks noEditPoints="1"/>
              </p:cNvSpPr>
              <p:nvPr/>
            </p:nvSpPr>
            <p:spPr bwMode="auto">
              <a:xfrm>
                <a:off x="4586288" y="2825751"/>
                <a:ext cx="466725" cy="500063"/>
              </a:xfrm>
              <a:custGeom>
                <a:avLst/>
                <a:gdLst/>
                <a:ahLst/>
                <a:cxnLst>
                  <a:cxn ang="0">
                    <a:pos x="0" y="473"/>
                  </a:cxn>
                  <a:cxn ang="0">
                    <a:pos x="0" y="347"/>
                  </a:cxn>
                  <a:cxn ang="0">
                    <a:pos x="378" y="347"/>
                  </a:cxn>
                  <a:cxn ang="0">
                    <a:pos x="422" y="365"/>
                  </a:cxn>
                  <a:cxn ang="0">
                    <a:pos x="441" y="410"/>
                  </a:cxn>
                  <a:cxn ang="0">
                    <a:pos x="422" y="455"/>
                  </a:cxn>
                  <a:cxn ang="0">
                    <a:pos x="378" y="473"/>
                  </a:cxn>
                  <a:cxn ang="0">
                    <a:pos x="0" y="473"/>
                  </a:cxn>
                  <a:cxn ang="0">
                    <a:pos x="0" y="175"/>
                  </a:cxn>
                  <a:cxn ang="0">
                    <a:pos x="376" y="175"/>
                  </a:cxn>
                  <a:cxn ang="0">
                    <a:pos x="421" y="193"/>
                  </a:cxn>
                  <a:cxn ang="0">
                    <a:pos x="440" y="237"/>
                  </a:cxn>
                  <a:cxn ang="0">
                    <a:pos x="440" y="238"/>
                  </a:cxn>
                  <a:cxn ang="0">
                    <a:pos x="421" y="282"/>
                  </a:cxn>
                  <a:cxn ang="0">
                    <a:pos x="376" y="301"/>
                  </a:cxn>
                  <a:cxn ang="0">
                    <a:pos x="0" y="301"/>
                  </a:cxn>
                  <a:cxn ang="0">
                    <a:pos x="0" y="175"/>
                  </a:cxn>
                  <a:cxn ang="0">
                    <a:pos x="0" y="0"/>
                  </a:cxn>
                  <a:cxn ang="0">
                    <a:pos x="377" y="0"/>
                  </a:cxn>
                  <a:cxn ang="0">
                    <a:pos x="422" y="18"/>
                  </a:cxn>
                  <a:cxn ang="0">
                    <a:pos x="440" y="63"/>
                  </a:cxn>
                  <a:cxn ang="0">
                    <a:pos x="422" y="107"/>
                  </a:cxn>
                  <a:cxn ang="0">
                    <a:pos x="377" y="126"/>
                  </a:cxn>
                  <a:cxn ang="0">
                    <a:pos x="0" y="126"/>
                  </a:cxn>
                  <a:cxn ang="0">
                    <a:pos x="0" y="0"/>
                  </a:cxn>
                </a:cxnLst>
                <a:rect l="0" t="0" r="r" b="b"/>
                <a:pathLst>
                  <a:path w="441" h="472">
                    <a:moveTo>
                      <a:pt x="0" y="473"/>
                    </a:moveTo>
                    <a:cubicBezTo>
                      <a:pt x="0" y="347"/>
                      <a:pt x="0" y="347"/>
                      <a:pt x="0" y="347"/>
                    </a:cubicBezTo>
                    <a:cubicBezTo>
                      <a:pt x="378" y="347"/>
                      <a:pt x="378" y="347"/>
                      <a:pt x="378" y="347"/>
                    </a:cubicBezTo>
                    <a:cubicBezTo>
                      <a:pt x="395" y="347"/>
                      <a:pt x="410" y="353"/>
                      <a:pt x="422" y="365"/>
                    </a:cubicBezTo>
                    <a:cubicBezTo>
                      <a:pt x="434" y="378"/>
                      <a:pt x="441" y="393"/>
                      <a:pt x="441" y="410"/>
                    </a:cubicBezTo>
                    <a:cubicBezTo>
                      <a:pt x="441" y="428"/>
                      <a:pt x="434" y="442"/>
                      <a:pt x="422" y="455"/>
                    </a:cubicBezTo>
                    <a:cubicBezTo>
                      <a:pt x="410" y="467"/>
                      <a:pt x="395" y="473"/>
                      <a:pt x="378" y="473"/>
                    </a:cubicBezTo>
                    <a:lnTo>
                      <a:pt x="0" y="473"/>
                    </a:lnTo>
                    <a:close/>
                    <a:moveTo>
                      <a:pt x="0" y="175"/>
                    </a:moveTo>
                    <a:cubicBezTo>
                      <a:pt x="376" y="175"/>
                      <a:pt x="376" y="175"/>
                      <a:pt x="376" y="175"/>
                    </a:cubicBezTo>
                    <a:cubicBezTo>
                      <a:pt x="394" y="175"/>
                      <a:pt x="409" y="181"/>
                      <a:pt x="421" y="193"/>
                    </a:cubicBezTo>
                    <a:cubicBezTo>
                      <a:pt x="433" y="206"/>
                      <a:pt x="440" y="220"/>
                      <a:pt x="440" y="237"/>
                    </a:cubicBezTo>
                    <a:cubicBezTo>
                      <a:pt x="440" y="238"/>
                      <a:pt x="440" y="238"/>
                      <a:pt x="440" y="238"/>
                    </a:cubicBezTo>
                    <a:cubicBezTo>
                      <a:pt x="440" y="255"/>
                      <a:pt x="433" y="270"/>
                      <a:pt x="421" y="282"/>
                    </a:cubicBezTo>
                    <a:cubicBezTo>
                      <a:pt x="409" y="295"/>
                      <a:pt x="394" y="301"/>
                      <a:pt x="376" y="301"/>
                    </a:cubicBezTo>
                    <a:cubicBezTo>
                      <a:pt x="0" y="301"/>
                      <a:pt x="0" y="301"/>
                      <a:pt x="0" y="301"/>
                    </a:cubicBezTo>
                    <a:lnTo>
                      <a:pt x="0" y="175"/>
                    </a:lnTo>
                    <a:close/>
                    <a:moveTo>
                      <a:pt x="0" y="0"/>
                    </a:moveTo>
                    <a:cubicBezTo>
                      <a:pt x="377" y="0"/>
                      <a:pt x="377" y="0"/>
                      <a:pt x="377" y="0"/>
                    </a:cubicBezTo>
                    <a:cubicBezTo>
                      <a:pt x="395" y="0"/>
                      <a:pt x="409" y="6"/>
                      <a:pt x="422" y="18"/>
                    </a:cubicBezTo>
                    <a:cubicBezTo>
                      <a:pt x="434" y="30"/>
                      <a:pt x="440" y="45"/>
                      <a:pt x="440" y="63"/>
                    </a:cubicBezTo>
                    <a:cubicBezTo>
                      <a:pt x="440" y="80"/>
                      <a:pt x="434" y="95"/>
                      <a:pt x="422" y="107"/>
                    </a:cubicBezTo>
                    <a:cubicBezTo>
                      <a:pt x="409" y="120"/>
                      <a:pt x="395" y="126"/>
                      <a:pt x="377" y="126"/>
                    </a:cubicBezTo>
                    <a:cubicBezTo>
                      <a:pt x="0" y="126"/>
                      <a:pt x="0" y="126"/>
                      <a:pt x="0" y="126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78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64" name="Freeform 40"/>
            <p:cNvSpPr/>
            <p:nvPr/>
          </p:nvSpPr>
          <p:spPr bwMode="auto">
            <a:xfrm>
              <a:off x="3662363" y="1272140"/>
              <a:ext cx="923925" cy="628650"/>
            </a:xfrm>
            <a:custGeom>
              <a:avLst/>
              <a:gdLst/>
              <a:ahLst/>
              <a:cxnLst>
                <a:cxn ang="0">
                  <a:pos x="856" y="0"/>
                </a:cxn>
                <a:cxn ang="0">
                  <a:pos x="873" y="0"/>
                </a:cxn>
                <a:cxn ang="0">
                  <a:pos x="873" y="594"/>
                </a:cxn>
                <a:cxn ang="0">
                  <a:pos x="0" y="594"/>
                </a:cxn>
                <a:cxn ang="0">
                  <a:pos x="213" y="266"/>
                </a:cxn>
                <a:cxn ang="0">
                  <a:pos x="856" y="0"/>
                </a:cxn>
              </a:cxnLst>
              <a:rect l="0" t="0" r="r" b="b"/>
              <a:pathLst>
                <a:path w="873" h="594">
                  <a:moveTo>
                    <a:pt x="856" y="0"/>
                  </a:moveTo>
                  <a:cubicBezTo>
                    <a:pt x="862" y="0"/>
                    <a:pt x="868" y="0"/>
                    <a:pt x="873" y="0"/>
                  </a:cubicBezTo>
                  <a:cubicBezTo>
                    <a:pt x="873" y="594"/>
                    <a:pt x="873" y="594"/>
                    <a:pt x="873" y="594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44" y="473"/>
                    <a:pt x="115" y="364"/>
                    <a:pt x="213" y="266"/>
                  </a:cubicBezTo>
                  <a:cubicBezTo>
                    <a:pt x="391" y="88"/>
                    <a:pt x="605" y="0"/>
                    <a:pt x="85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5" name="Freeform 41"/>
            <p:cNvSpPr/>
            <p:nvPr/>
          </p:nvSpPr>
          <p:spPr bwMode="auto">
            <a:xfrm>
              <a:off x="4586288" y="1984928"/>
              <a:ext cx="941388" cy="639763"/>
            </a:xfrm>
            <a:custGeom>
              <a:avLst/>
              <a:gdLst/>
              <a:ahLst/>
              <a:cxnLst>
                <a:cxn ang="0">
                  <a:pos x="0" y="606"/>
                </a:cxn>
                <a:cxn ang="0">
                  <a:pos x="0" y="0"/>
                </a:cxn>
                <a:cxn ang="0">
                  <a:pos x="864" y="0"/>
                </a:cxn>
                <a:cxn ang="0">
                  <a:pos x="892" y="235"/>
                </a:cxn>
                <a:cxn ang="0">
                  <a:pos x="816" y="606"/>
                </a:cxn>
                <a:cxn ang="0">
                  <a:pos x="0" y="606"/>
                </a:cxn>
              </a:cxnLst>
              <a:rect l="0" t="0" r="r" b="b"/>
              <a:pathLst>
                <a:path w="892" h="606">
                  <a:moveTo>
                    <a:pt x="0" y="60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883" y="74"/>
                    <a:pt x="892" y="153"/>
                    <a:pt x="892" y="235"/>
                  </a:cubicBezTo>
                  <a:cubicBezTo>
                    <a:pt x="892" y="369"/>
                    <a:pt x="867" y="493"/>
                    <a:pt x="816" y="606"/>
                  </a:cubicBezTo>
                  <a:lnTo>
                    <a:pt x="0" y="606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6" name="Freeform 42"/>
            <p:cNvSpPr/>
            <p:nvPr/>
          </p:nvSpPr>
          <p:spPr bwMode="auto">
            <a:xfrm>
              <a:off x="3606801" y="1984928"/>
              <a:ext cx="979488" cy="639763"/>
            </a:xfrm>
            <a:custGeom>
              <a:avLst/>
              <a:gdLst/>
              <a:ahLst/>
              <a:cxnLst>
                <a:cxn ang="0">
                  <a:pos x="926" y="606"/>
                </a:cxn>
                <a:cxn ang="0">
                  <a:pos x="76" y="606"/>
                </a:cxn>
                <a:cxn ang="0">
                  <a:pos x="0" y="235"/>
                </a:cxn>
                <a:cxn ang="0">
                  <a:pos x="29" y="0"/>
                </a:cxn>
                <a:cxn ang="0">
                  <a:pos x="926" y="0"/>
                </a:cxn>
                <a:cxn ang="0">
                  <a:pos x="926" y="606"/>
                </a:cxn>
              </a:cxnLst>
              <a:rect l="0" t="0" r="r" b="b"/>
              <a:pathLst>
                <a:path w="925" h="606">
                  <a:moveTo>
                    <a:pt x="926" y="606"/>
                  </a:moveTo>
                  <a:cubicBezTo>
                    <a:pt x="76" y="606"/>
                    <a:pt x="76" y="606"/>
                    <a:pt x="76" y="606"/>
                  </a:cubicBezTo>
                  <a:cubicBezTo>
                    <a:pt x="25" y="493"/>
                    <a:pt x="0" y="369"/>
                    <a:pt x="0" y="235"/>
                  </a:cubicBezTo>
                  <a:cubicBezTo>
                    <a:pt x="0" y="153"/>
                    <a:pt x="10" y="74"/>
                    <a:pt x="29" y="0"/>
                  </a:cubicBezTo>
                  <a:cubicBezTo>
                    <a:pt x="926" y="0"/>
                    <a:pt x="926" y="0"/>
                    <a:pt x="926" y="0"/>
                  </a:cubicBezTo>
                  <a:lnTo>
                    <a:pt x="926" y="60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7" name="Freeform 43"/>
            <p:cNvSpPr/>
            <p:nvPr/>
          </p:nvSpPr>
          <p:spPr bwMode="auto">
            <a:xfrm>
              <a:off x="3730626" y="2710415"/>
              <a:ext cx="855663" cy="641350"/>
            </a:xfrm>
            <a:custGeom>
              <a:avLst/>
              <a:gdLst/>
              <a:ahLst/>
              <a:cxnLst>
                <a:cxn ang="0">
                  <a:pos x="809" y="0"/>
                </a:cxn>
                <a:cxn ang="0">
                  <a:pos x="809" y="607"/>
                </a:cxn>
                <a:cxn ang="0">
                  <a:pos x="339" y="607"/>
                </a:cxn>
                <a:cxn ang="0">
                  <a:pos x="339" y="607"/>
                </a:cxn>
                <a:cxn ang="0">
                  <a:pos x="91" y="129"/>
                </a:cxn>
                <a:cxn ang="0">
                  <a:pos x="84" y="120"/>
                </a:cxn>
                <a:cxn ang="0">
                  <a:pos x="0" y="0"/>
                </a:cxn>
                <a:cxn ang="0">
                  <a:pos x="809" y="0"/>
                </a:cxn>
              </a:cxnLst>
              <a:rect l="0" t="0" r="r" b="b"/>
              <a:pathLst>
                <a:path w="809" h="607">
                  <a:moveTo>
                    <a:pt x="809" y="0"/>
                  </a:moveTo>
                  <a:cubicBezTo>
                    <a:pt x="809" y="607"/>
                    <a:pt x="809" y="607"/>
                    <a:pt x="809" y="607"/>
                  </a:cubicBezTo>
                  <a:cubicBezTo>
                    <a:pt x="339" y="607"/>
                    <a:pt x="339" y="607"/>
                    <a:pt x="339" y="607"/>
                  </a:cubicBezTo>
                  <a:cubicBezTo>
                    <a:pt x="339" y="607"/>
                    <a:pt x="339" y="607"/>
                    <a:pt x="339" y="607"/>
                  </a:cubicBezTo>
                  <a:cubicBezTo>
                    <a:pt x="336" y="488"/>
                    <a:pt x="253" y="329"/>
                    <a:pt x="91" y="129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52" y="82"/>
                    <a:pt x="24" y="42"/>
                    <a:pt x="0" y="0"/>
                  </a:cubicBezTo>
                  <a:lnTo>
                    <a:pt x="80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8" name="Freeform 44"/>
            <p:cNvSpPr/>
            <p:nvPr/>
          </p:nvSpPr>
          <p:spPr bwMode="auto">
            <a:xfrm>
              <a:off x="4586288" y="2710415"/>
              <a:ext cx="819150" cy="6413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75" y="0"/>
                </a:cxn>
                <a:cxn ang="0">
                  <a:pos x="683" y="130"/>
                </a:cxn>
                <a:cxn ang="0">
                  <a:pos x="677" y="136"/>
                </a:cxn>
                <a:cxn ang="0">
                  <a:pos x="545" y="319"/>
                </a:cxn>
                <a:cxn ang="0">
                  <a:pos x="435" y="607"/>
                </a:cxn>
                <a:cxn ang="0">
                  <a:pos x="435" y="607"/>
                </a:cxn>
                <a:cxn ang="0">
                  <a:pos x="0" y="607"/>
                </a:cxn>
                <a:cxn ang="0">
                  <a:pos x="0" y="0"/>
                </a:cxn>
              </a:cxnLst>
              <a:rect l="0" t="0" r="r" b="b"/>
              <a:pathLst>
                <a:path w="775" h="607">
                  <a:moveTo>
                    <a:pt x="0" y="0"/>
                  </a:moveTo>
                  <a:cubicBezTo>
                    <a:pt x="775" y="0"/>
                    <a:pt x="775" y="0"/>
                    <a:pt x="775" y="0"/>
                  </a:cubicBezTo>
                  <a:cubicBezTo>
                    <a:pt x="748" y="45"/>
                    <a:pt x="718" y="88"/>
                    <a:pt x="683" y="130"/>
                  </a:cubicBezTo>
                  <a:cubicBezTo>
                    <a:pt x="681" y="132"/>
                    <a:pt x="679" y="134"/>
                    <a:pt x="677" y="136"/>
                  </a:cubicBezTo>
                  <a:cubicBezTo>
                    <a:pt x="624" y="202"/>
                    <a:pt x="580" y="263"/>
                    <a:pt x="545" y="319"/>
                  </a:cubicBezTo>
                  <a:cubicBezTo>
                    <a:pt x="473" y="433"/>
                    <a:pt x="437" y="529"/>
                    <a:pt x="435" y="607"/>
                  </a:cubicBezTo>
                  <a:cubicBezTo>
                    <a:pt x="435" y="607"/>
                    <a:pt x="435" y="607"/>
                    <a:pt x="435" y="607"/>
                  </a:cubicBezTo>
                  <a:cubicBezTo>
                    <a:pt x="0" y="607"/>
                    <a:pt x="0" y="607"/>
                    <a:pt x="0" y="6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085266" y="1679297"/>
            <a:ext cx="833562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170,000</a:t>
            </a:r>
          </a:p>
        </p:txBody>
      </p:sp>
      <p:sp>
        <p:nvSpPr>
          <p:cNvPr id="60" name="矩形 59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5294" y="3790974"/>
            <a:ext cx="1140812" cy="373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贷款金额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989145" y="3793722"/>
            <a:ext cx="1140812" cy="373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借方金额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74014" y="3877446"/>
            <a:ext cx="1220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原材料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现金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银行存款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7622482" y="3963392"/>
            <a:ext cx="351531" cy="186708"/>
          </a:xfrm>
          <a:prstGeom prst="roundRect">
            <a:avLst/>
          </a:prstGeom>
          <a:solidFill>
            <a:srgbClr val="377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7622482" y="4201520"/>
            <a:ext cx="351531" cy="186708"/>
          </a:xfrm>
          <a:prstGeom prst="roundRect">
            <a:avLst/>
          </a:prstGeom>
          <a:solidFill>
            <a:srgbClr val="F09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9" name="矩形: 圆角 68"/>
          <p:cNvSpPr/>
          <p:nvPr/>
        </p:nvSpPr>
        <p:spPr>
          <a:xfrm>
            <a:off x="7622482" y="4439648"/>
            <a:ext cx="351531" cy="186708"/>
          </a:xfrm>
          <a:prstGeom prst="roundRect">
            <a:avLst/>
          </a:prstGeom>
          <a:solidFill>
            <a:srgbClr val="D2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0" name="TextBox 23"/>
          <p:cNvSpPr txBox="1"/>
          <p:nvPr/>
        </p:nvSpPr>
        <p:spPr>
          <a:xfrm>
            <a:off x="6242162" y="1681569"/>
            <a:ext cx="833562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230,000</a:t>
            </a:r>
          </a:p>
        </p:txBody>
      </p:sp>
      <p:sp>
        <p:nvSpPr>
          <p:cNvPr id="71" name="TextBox 23"/>
          <p:cNvSpPr txBox="1"/>
          <p:nvPr/>
        </p:nvSpPr>
        <p:spPr>
          <a:xfrm>
            <a:off x="2187177" y="2392876"/>
            <a:ext cx="705322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90,000</a:t>
            </a:r>
          </a:p>
        </p:txBody>
      </p:sp>
      <p:sp>
        <p:nvSpPr>
          <p:cNvPr id="72" name="TextBox 23"/>
          <p:cNvSpPr txBox="1"/>
          <p:nvPr/>
        </p:nvSpPr>
        <p:spPr>
          <a:xfrm>
            <a:off x="6370403" y="2371562"/>
            <a:ext cx="705321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30,000</a:t>
            </a:r>
          </a:p>
        </p:txBody>
      </p:sp>
      <p:sp>
        <p:nvSpPr>
          <p:cNvPr id="73" name="TextBox 23"/>
          <p:cNvSpPr txBox="1"/>
          <p:nvPr/>
        </p:nvSpPr>
        <p:spPr>
          <a:xfrm>
            <a:off x="2123057" y="3118242"/>
            <a:ext cx="833562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160,000</a:t>
            </a:r>
          </a:p>
        </p:txBody>
      </p:sp>
      <p:sp>
        <p:nvSpPr>
          <p:cNvPr id="74" name="TextBox 23"/>
          <p:cNvSpPr txBox="1"/>
          <p:nvPr/>
        </p:nvSpPr>
        <p:spPr>
          <a:xfrm>
            <a:off x="6270805" y="3099226"/>
            <a:ext cx="833562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250,000</a:t>
            </a:r>
          </a:p>
        </p:txBody>
      </p:sp>
    </p:spTree>
    <p:extLst>
      <p:ext uri="{BB962C8B-B14F-4D97-AF65-F5344CB8AC3E}">
        <p14:creationId xmlns:p14="http://schemas.microsoft.com/office/powerpoint/2010/main" val="3119793777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1055" grpId="0" animBg="1"/>
      <p:bldP spid="1056" grpId="0" animBg="1"/>
      <p:bldP spid="1057" grpId="0" animBg="1"/>
      <p:bldP spid="1058" grpId="0" animBg="1"/>
      <p:bldP spid="105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ounded Rectangle 181"/>
          <p:cNvSpPr/>
          <p:nvPr/>
        </p:nvSpPr>
        <p:spPr>
          <a:xfrm>
            <a:off x="5414317" y="3285093"/>
            <a:ext cx="3297462" cy="192685"/>
          </a:xfrm>
          <a:prstGeom prst="roundRect">
            <a:avLst/>
          </a:prstGeom>
          <a:pattFill prst="trellis">
            <a:fgClr>
              <a:sysClr val="window" lastClr="FFFFFF">
                <a:lumMod val="95000"/>
              </a:sysClr>
            </a:fgClr>
            <a:bgClr>
              <a:sysClr val="window" lastClr="FFFFFF">
                <a:lumMod val="75000"/>
              </a:sysClr>
            </a:bgClr>
          </a:patt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Rounded Rectangle 177"/>
          <p:cNvSpPr/>
          <p:nvPr/>
        </p:nvSpPr>
        <p:spPr>
          <a:xfrm>
            <a:off x="5414315" y="1728392"/>
            <a:ext cx="3297462" cy="192685"/>
          </a:xfrm>
          <a:prstGeom prst="roundRect">
            <a:avLst/>
          </a:prstGeom>
          <a:pattFill prst="trellis">
            <a:fgClr>
              <a:sysClr val="window" lastClr="FFFFFF">
                <a:lumMod val="95000"/>
              </a:sysClr>
            </a:fgClr>
            <a:bgClr>
              <a:sysClr val="window" lastClr="FFFFFF">
                <a:lumMod val="75000"/>
              </a:sysClr>
            </a:bgClr>
          </a:patt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ounded Rectangle 179"/>
          <p:cNvSpPr/>
          <p:nvPr/>
        </p:nvSpPr>
        <p:spPr>
          <a:xfrm>
            <a:off x="5414315" y="2518520"/>
            <a:ext cx="3297462" cy="192685"/>
          </a:xfrm>
          <a:prstGeom prst="roundRect">
            <a:avLst/>
          </a:prstGeom>
          <a:pattFill prst="trellis">
            <a:fgClr>
              <a:sysClr val="window" lastClr="FFFFFF">
                <a:lumMod val="95000"/>
              </a:sysClr>
            </a:fgClr>
            <a:bgClr>
              <a:sysClr val="window" lastClr="FFFFFF">
                <a:lumMod val="75000"/>
              </a:sysClr>
            </a:bgClr>
          </a:patt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itle 132"/>
          <p:cNvSpPr txBox="1"/>
          <p:nvPr/>
        </p:nvSpPr>
        <p:spPr>
          <a:xfrm>
            <a:off x="1817332" y="27284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j-cs"/>
              </a:rPr>
              <a:t>2106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j-cs"/>
              </a:rPr>
              <a:t>年各类商品销售统计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rgbClr val="262626">
              <a:lumMod val="75000"/>
              <a:lumOff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graphicFrame>
        <p:nvGraphicFramePr>
          <p:cNvPr id="12" name="图表 11"/>
          <p:cNvGraphicFramePr/>
          <p:nvPr>
            <p:extLst/>
          </p:nvPr>
        </p:nvGraphicFramePr>
        <p:xfrm>
          <a:off x="577072" y="1091800"/>
          <a:ext cx="3935349" cy="285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7" name="Group 165"/>
          <p:cNvGrpSpPr>
            <a:grpSpLocks noChangeAspect="1"/>
          </p:cNvGrpSpPr>
          <p:nvPr/>
        </p:nvGrpSpPr>
        <p:grpSpPr>
          <a:xfrm>
            <a:off x="7447360" y="3639755"/>
            <a:ext cx="587019" cy="459019"/>
            <a:chOff x="6259380" y="4005573"/>
            <a:chExt cx="663347" cy="518378"/>
          </a:xfrm>
        </p:grpSpPr>
        <p:sp>
          <p:nvSpPr>
            <p:cNvPr id="39" name="Isosceles Triangle 167"/>
            <p:cNvSpPr/>
            <p:nvPr/>
          </p:nvSpPr>
          <p:spPr>
            <a:xfrm flipV="1">
              <a:off x="6468077" y="4419935"/>
              <a:ext cx="177321" cy="104016"/>
            </a:xfrm>
            <a:prstGeom prst="triangl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TextBox 168"/>
            <p:cNvSpPr txBox="1">
              <a:spLocks noChangeArrowheads="1"/>
            </p:cNvSpPr>
            <p:nvPr/>
          </p:nvSpPr>
          <p:spPr bwMode="auto">
            <a:xfrm>
              <a:off x="6259380" y="4005573"/>
              <a:ext cx="663347" cy="417092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itchFamily="34" charset="0"/>
                  <a:ea typeface="宋体" panose="02010600030101010101" pitchFamily="2" charset="-122"/>
                </a:rPr>
                <a:t>60%</a:t>
              </a:r>
            </a:p>
          </p:txBody>
        </p:sp>
      </p:grpSp>
      <p:sp>
        <p:nvSpPr>
          <p:cNvPr id="50" name="Rounded Rectangle 178"/>
          <p:cNvSpPr>
            <a:spLocks noChangeAspect="1"/>
          </p:cNvSpPr>
          <p:nvPr/>
        </p:nvSpPr>
        <p:spPr>
          <a:xfrm>
            <a:off x="5409413" y="1728353"/>
            <a:ext cx="762019" cy="194561"/>
          </a:xfrm>
          <a:prstGeom prst="roundRect">
            <a:avLst/>
          </a:prstGeom>
          <a:solidFill>
            <a:srgbClr val="FFC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Rounded Rectangle 179"/>
          <p:cNvSpPr/>
          <p:nvPr/>
        </p:nvSpPr>
        <p:spPr>
          <a:xfrm>
            <a:off x="5394473" y="2540518"/>
            <a:ext cx="3297462" cy="192685"/>
          </a:xfrm>
          <a:prstGeom prst="roundRect">
            <a:avLst/>
          </a:prstGeom>
          <a:pattFill prst="trellis">
            <a:fgClr>
              <a:sysClr val="window" lastClr="FFFFFF">
                <a:lumMod val="95000"/>
              </a:sysClr>
            </a:fgClr>
            <a:bgClr>
              <a:sysClr val="window" lastClr="FFFFFF">
                <a:lumMod val="75000"/>
              </a:sysClr>
            </a:bgClr>
          </a:patt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Rounded Rectangle 180"/>
          <p:cNvSpPr>
            <a:spLocks noChangeAspect="1"/>
          </p:cNvSpPr>
          <p:nvPr/>
        </p:nvSpPr>
        <p:spPr>
          <a:xfrm>
            <a:off x="5392557" y="2520306"/>
            <a:ext cx="869028" cy="212668"/>
          </a:xfrm>
          <a:prstGeom prst="roundRect">
            <a:avLst/>
          </a:prstGeom>
          <a:solidFill>
            <a:srgbClr val="FF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Rounded Rectangle 181"/>
          <p:cNvSpPr/>
          <p:nvPr/>
        </p:nvSpPr>
        <p:spPr>
          <a:xfrm>
            <a:off x="5394475" y="3308648"/>
            <a:ext cx="3297462" cy="192685"/>
          </a:xfrm>
          <a:prstGeom prst="roundRect">
            <a:avLst/>
          </a:prstGeom>
          <a:pattFill prst="trellis">
            <a:fgClr>
              <a:sysClr val="window" lastClr="FFFFFF">
                <a:lumMod val="95000"/>
              </a:sysClr>
            </a:fgClr>
            <a:bgClr>
              <a:sysClr val="window" lastClr="FFFFFF">
                <a:lumMod val="75000"/>
              </a:sysClr>
            </a:bgClr>
          </a:patt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ounded Rectangle 182"/>
          <p:cNvSpPr>
            <a:spLocks noChangeAspect="1"/>
          </p:cNvSpPr>
          <p:nvPr/>
        </p:nvSpPr>
        <p:spPr>
          <a:xfrm>
            <a:off x="5394467" y="3286879"/>
            <a:ext cx="1492805" cy="214453"/>
          </a:xfrm>
          <a:prstGeom prst="roundRect">
            <a:avLst/>
          </a:prstGeom>
          <a:solidFill>
            <a:srgbClr val="70AD47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ounded Rectangle 183"/>
          <p:cNvSpPr/>
          <p:nvPr/>
        </p:nvSpPr>
        <p:spPr>
          <a:xfrm>
            <a:off x="5394474" y="4098775"/>
            <a:ext cx="3297462" cy="191473"/>
          </a:xfrm>
          <a:prstGeom prst="roundRect">
            <a:avLst/>
          </a:prstGeom>
          <a:pattFill prst="trellis">
            <a:fgClr>
              <a:sysClr val="window" lastClr="FFFFFF">
                <a:lumMod val="95000"/>
              </a:sysClr>
            </a:fgClr>
            <a:bgClr>
              <a:sysClr val="window" lastClr="FFFFFF">
                <a:lumMod val="75000"/>
              </a:sysClr>
            </a:bgClr>
          </a:patt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Rounded Rectangle 184"/>
          <p:cNvSpPr>
            <a:spLocks noChangeAspect="1"/>
          </p:cNvSpPr>
          <p:nvPr/>
        </p:nvSpPr>
        <p:spPr>
          <a:xfrm>
            <a:off x="5394473" y="4098776"/>
            <a:ext cx="2308587" cy="191473"/>
          </a:xfrm>
          <a:prstGeom prst="roundRect">
            <a:avLst/>
          </a:prstGeom>
          <a:solidFill>
            <a:srgbClr val="5B9BD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" name="Group 165"/>
          <p:cNvGrpSpPr>
            <a:grpSpLocks noChangeAspect="1"/>
          </p:cNvGrpSpPr>
          <p:nvPr/>
        </p:nvGrpSpPr>
        <p:grpSpPr>
          <a:xfrm>
            <a:off x="6735752" y="2856697"/>
            <a:ext cx="587020" cy="459019"/>
            <a:chOff x="6259379" y="4005573"/>
            <a:chExt cx="663349" cy="518378"/>
          </a:xfrm>
          <a:solidFill>
            <a:srgbClr val="70AD47"/>
          </a:solidFill>
        </p:grpSpPr>
        <p:sp>
          <p:nvSpPr>
            <p:cNvPr id="72" name="Isosceles Triangle 167"/>
            <p:cNvSpPr/>
            <p:nvPr/>
          </p:nvSpPr>
          <p:spPr>
            <a:xfrm flipV="1">
              <a:off x="6468077" y="4419935"/>
              <a:ext cx="177321" cy="104016"/>
            </a:xfrm>
            <a:prstGeom prst="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TextBox 168"/>
            <p:cNvSpPr txBox="1">
              <a:spLocks noChangeArrowheads="1"/>
            </p:cNvSpPr>
            <p:nvPr/>
          </p:nvSpPr>
          <p:spPr bwMode="auto">
            <a:xfrm>
              <a:off x="6259379" y="4005573"/>
              <a:ext cx="663349" cy="41709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itchFamily="34" charset="0"/>
                  <a:ea typeface="宋体" panose="02010600030101010101" pitchFamily="2" charset="-122"/>
                </a:rPr>
                <a:t>25%</a:t>
              </a:r>
            </a:p>
          </p:txBody>
        </p:sp>
      </p:grpSp>
      <p:grpSp>
        <p:nvGrpSpPr>
          <p:cNvPr id="74" name="Group 165"/>
          <p:cNvGrpSpPr>
            <a:grpSpLocks noChangeAspect="1"/>
          </p:cNvGrpSpPr>
          <p:nvPr/>
        </p:nvGrpSpPr>
        <p:grpSpPr>
          <a:xfrm>
            <a:off x="5992153" y="2074748"/>
            <a:ext cx="470001" cy="459019"/>
            <a:chOff x="6325496" y="4005573"/>
            <a:chExt cx="531114" cy="518378"/>
          </a:xfrm>
          <a:solidFill>
            <a:srgbClr val="FF0000"/>
          </a:solidFill>
        </p:grpSpPr>
        <p:sp>
          <p:nvSpPr>
            <p:cNvPr id="75" name="Isosceles Triangle 167"/>
            <p:cNvSpPr/>
            <p:nvPr/>
          </p:nvSpPr>
          <p:spPr>
            <a:xfrm flipV="1">
              <a:off x="6468077" y="4419935"/>
              <a:ext cx="177321" cy="104016"/>
            </a:xfrm>
            <a:prstGeom prst="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TextBox 168"/>
            <p:cNvSpPr txBox="1">
              <a:spLocks noChangeArrowheads="1"/>
            </p:cNvSpPr>
            <p:nvPr/>
          </p:nvSpPr>
          <p:spPr bwMode="auto">
            <a:xfrm>
              <a:off x="6325496" y="4005573"/>
              <a:ext cx="531114" cy="41709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itchFamily="34" charset="0"/>
                  <a:ea typeface="宋体" panose="02010600030101010101" pitchFamily="2" charset="-122"/>
                </a:rPr>
                <a:t>8%</a:t>
              </a:r>
            </a:p>
          </p:txBody>
        </p:sp>
      </p:grpSp>
      <p:grpSp>
        <p:nvGrpSpPr>
          <p:cNvPr id="80" name="Group 165"/>
          <p:cNvGrpSpPr>
            <a:grpSpLocks noChangeAspect="1"/>
          </p:cNvGrpSpPr>
          <p:nvPr/>
        </p:nvGrpSpPr>
        <p:grpSpPr>
          <a:xfrm>
            <a:off x="5969510" y="1286921"/>
            <a:ext cx="470001" cy="459019"/>
            <a:chOff x="6325496" y="4005573"/>
            <a:chExt cx="531114" cy="518378"/>
          </a:xfrm>
          <a:solidFill>
            <a:srgbClr val="FFC000"/>
          </a:solidFill>
        </p:grpSpPr>
        <p:sp>
          <p:nvSpPr>
            <p:cNvPr id="81" name="Isosceles Triangle 167"/>
            <p:cNvSpPr/>
            <p:nvPr/>
          </p:nvSpPr>
          <p:spPr>
            <a:xfrm flipV="1">
              <a:off x="6468077" y="4419935"/>
              <a:ext cx="177321" cy="104016"/>
            </a:xfrm>
            <a:prstGeom prst="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TextBox 168"/>
            <p:cNvSpPr txBox="1">
              <a:spLocks noChangeArrowheads="1"/>
            </p:cNvSpPr>
            <p:nvPr/>
          </p:nvSpPr>
          <p:spPr bwMode="auto">
            <a:xfrm>
              <a:off x="6325496" y="4005573"/>
              <a:ext cx="531114" cy="41709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itchFamily="34" charset="0"/>
                  <a:ea typeface="宋体" panose="02010600030101010101" pitchFamily="2" charset="-122"/>
                </a:rPr>
                <a:t>7%</a:t>
              </a: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4699330" y="4009845"/>
            <a:ext cx="71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护肤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4707403" y="3193558"/>
            <a:ext cx="71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防晒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4690318" y="2441974"/>
            <a:ext cx="71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彩妆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4719319" y="1618778"/>
            <a:ext cx="71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护体</a:t>
            </a:r>
          </a:p>
        </p:txBody>
      </p:sp>
      <p:sp>
        <p:nvSpPr>
          <p:cNvPr id="87" name="Text Placeholder 133"/>
          <p:cNvSpPr txBox="1"/>
          <p:nvPr/>
        </p:nvSpPr>
        <p:spPr>
          <a:xfrm>
            <a:off x="2620952" y="702173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company product sales statistics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593222" y="3804138"/>
            <a:ext cx="378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201X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年产品的整体销售趋势良好，其中护肤的销售较好，占整体比例的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584376"/>
      </p:ext>
    </p:ext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16"/>
          <p:cNvCxnSpPr/>
          <p:nvPr/>
        </p:nvCxnSpPr>
        <p:spPr bwMode="auto">
          <a:xfrm flipV="1">
            <a:off x="723644" y="4120427"/>
            <a:ext cx="5697243" cy="19497"/>
          </a:xfrm>
          <a:prstGeom prst="line">
            <a:avLst/>
          </a:prstGeom>
          <a:noFill/>
          <a:ln w="76200" cap="flat" cmpd="sng" algn="ctr">
            <a:solidFill>
              <a:sysClr val="windowText" lastClr="000000">
                <a:lumMod val="40000"/>
                <a:lumOff val="6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26" name="Group 17"/>
          <p:cNvGrpSpPr/>
          <p:nvPr/>
        </p:nvGrpSpPr>
        <p:grpSpPr>
          <a:xfrm>
            <a:off x="1164722" y="1361373"/>
            <a:ext cx="376061" cy="2737864"/>
            <a:chOff x="951895" y="1657350"/>
            <a:chExt cx="202680" cy="1676767"/>
          </a:xfrm>
          <a:solidFill>
            <a:srgbClr val="377790"/>
          </a:solidFill>
        </p:grpSpPr>
        <p:cxnSp>
          <p:nvCxnSpPr>
            <p:cNvPr id="42" name="Straight Connector 34"/>
            <p:cNvCxnSpPr/>
            <p:nvPr/>
          </p:nvCxnSpPr>
          <p:spPr>
            <a:xfrm flipH="1" flipV="1">
              <a:off x="1053236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43" name="Rounded Rectangle 35"/>
            <p:cNvSpPr/>
            <p:nvPr/>
          </p:nvSpPr>
          <p:spPr>
            <a:xfrm>
              <a:off x="951895" y="2572146"/>
              <a:ext cx="202680" cy="685559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Group 18"/>
          <p:cNvGrpSpPr/>
          <p:nvPr/>
        </p:nvGrpSpPr>
        <p:grpSpPr>
          <a:xfrm>
            <a:off x="1600092" y="1015999"/>
            <a:ext cx="376365" cy="3073685"/>
            <a:chOff x="1346378" y="1657350"/>
            <a:chExt cx="202844" cy="1676400"/>
          </a:xfrm>
          <a:solidFill>
            <a:srgbClr val="F09C2A"/>
          </a:solidFill>
        </p:grpSpPr>
        <p:cxnSp>
          <p:nvCxnSpPr>
            <p:cNvPr id="40" name="Straight Connector 32"/>
            <p:cNvCxnSpPr/>
            <p:nvPr/>
          </p:nvCxnSpPr>
          <p:spPr>
            <a:xfrm flipH="1" flipV="1">
              <a:off x="1448294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41" name="Rounded Rectangle 33"/>
            <p:cNvSpPr/>
            <p:nvPr/>
          </p:nvSpPr>
          <p:spPr>
            <a:xfrm>
              <a:off x="1346007" y="1733763"/>
              <a:ext cx="203627" cy="1523942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19"/>
          <p:cNvGrpSpPr/>
          <p:nvPr/>
        </p:nvGrpSpPr>
        <p:grpSpPr>
          <a:xfrm>
            <a:off x="2043613" y="1361373"/>
            <a:ext cx="376365" cy="2737265"/>
            <a:chOff x="1695492" y="1657350"/>
            <a:chExt cx="202844" cy="1676400"/>
          </a:xfrm>
          <a:solidFill>
            <a:srgbClr val="D24132"/>
          </a:solidFill>
        </p:grpSpPr>
        <p:cxnSp>
          <p:nvCxnSpPr>
            <p:cNvPr id="38" name="Straight Connector 30"/>
            <p:cNvCxnSpPr/>
            <p:nvPr/>
          </p:nvCxnSpPr>
          <p:spPr>
            <a:xfrm flipH="1" flipV="1">
              <a:off x="1796711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39" name="Rounded Rectangle 31"/>
            <p:cNvSpPr/>
            <p:nvPr/>
          </p:nvSpPr>
          <p:spPr>
            <a:xfrm>
              <a:off x="1695371" y="2114748"/>
              <a:ext cx="202680" cy="1142957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20"/>
          <p:cNvGrpSpPr/>
          <p:nvPr/>
        </p:nvGrpSpPr>
        <p:grpSpPr>
          <a:xfrm>
            <a:off x="3027031" y="1351325"/>
            <a:ext cx="376365" cy="2737265"/>
            <a:chOff x="2090299" y="1657350"/>
            <a:chExt cx="202844" cy="1676400"/>
          </a:xfrm>
          <a:solidFill>
            <a:srgbClr val="377790"/>
          </a:solidFill>
        </p:grpSpPr>
        <p:cxnSp>
          <p:nvCxnSpPr>
            <p:cNvPr id="36" name="Straight Connector 27"/>
            <p:cNvCxnSpPr/>
            <p:nvPr/>
          </p:nvCxnSpPr>
          <p:spPr>
            <a:xfrm flipH="1" flipV="1">
              <a:off x="2191769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37" name="Rounded Rectangle 29"/>
            <p:cNvSpPr/>
            <p:nvPr/>
          </p:nvSpPr>
          <p:spPr>
            <a:xfrm>
              <a:off x="2090428" y="2267573"/>
              <a:ext cx="202680" cy="990132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oup 21"/>
          <p:cNvGrpSpPr/>
          <p:nvPr/>
        </p:nvGrpSpPr>
        <p:grpSpPr>
          <a:xfrm>
            <a:off x="3470479" y="1351325"/>
            <a:ext cx="376365" cy="2737265"/>
            <a:chOff x="2482864" y="1657350"/>
            <a:chExt cx="202844" cy="1676400"/>
          </a:xfrm>
          <a:solidFill>
            <a:srgbClr val="F09C2A"/>
          </a:solidFill>
        </p:grpSpPr>
        <p:cxnSp>
          <p:nvCxnSpPr>
            <p:cNvPr id="34" name="Straight Connector 25"/>
            <p:cNvCxnSpPr/>
            <p:nvPr/>
          </p:nvCxnSpPr>
          <p:spPr>
            <a:xfrm flipH="1" flipV="1">
              <a:off x="2584584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35" name="Rounded Rectangle 26"/>
            <p:cNvSpPr/>
            <p:nvPr/>
          </p:nvSpPr>
          <p:spPr>
            <a:xfrm>
              <a:off x="2483245" y="2038336"/>
              <a:ext cx="202680" cy="1219369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22"/>
          <p:cNvGrpSpPr/>
          <p:nvPr/>
        </p:nvGrpSpPr>
        <p:grpSpPr>
          <a:xfrm>
            <a:off x="3923973" y="1351325"/>
            <a:ext cx="376365" cy="2737265"/>
            <a:chOff x="2877671" y="1657350"/>
            <a:chExt cx="202844" cy="1676400"/>
          </a:xfrm>
          <a:solidFill>
            <a:srgbClr val="D24132"/>
          </a:solidFill>
        </p:grpSpPr>
        <p:cxnSp>
          <p:nvCxnSpPr>
            <p:cNvPr id="32" name="Straight Connector 23"/>
            <p:cNvCxnSpPr/>
            <p:nvPr/>
          </p:nvCxnSpPr>
          <p:spPr>
            <a:xfrm flipH="1" flipV="1">
              <a:off x="2979642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33" name="Rounded Rectangle 24"/>
            <p:cNvSpPr/>
            <p:nvPr/>
          </p:nvSpPr>
          <p:spPr>
            <a:xfrm>
              <a:off x="2877355" y="1885511"/>
              <a:ext cx="203627" cy="137219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7" name="Group 20"/>
          <p:cNvGrpSpPr/>
          <p:nvPr/>
        </p:nvGrpSpPr>
        <p:grpSpPr>
          <a:xfrm>
            <a:off x="4847693" y="1342953"/>
            <a:ext cx="376061" cy="2737864"/>
            <a:chOff x="2090428" y="1657350"/>
            <a:chExt cx="202680" cy="1676767"/>
          </a:xfrm>
          <a:solidFill>
            <a:srgbClr val="377790"/>
          </a:solidFill>
        </p:grpSpPr>
        <p:cxnSp>
          <p:nvCxnSpPr>
            <p:cNvPr id="48" name="Straight Connector 27"/>
            <p:cNvCxnSpPr/>
            <p:nvPr/>
          </p:nvCxnSpPr>
          <p:spPr>
            <a:xfrm flipH="1" flipV="1">
              <a:off x="2191769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49" name="Rounded Rectangle 29"/>
            <p:cNvSpPr/>
            <p:nvPr/>
          </p:nvSpPr>
          <p:spPr>
            <a:xfrm>
              <a:off x="2090428" y="2107568"/>
              <a:ext cx="202680" cy="1150137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50" name="Group 21"/>
          <p:cNvGrpSpPr/>
          <p:nvPr/>
        </p:nvGrpSpPr>
        <p:grpSpPr>
          <a:xfrm>
            <a:off x="5291610" y="1342953"/>
            <a:ext cx="376061" cy="2737864"/>
            <a:chOff x="2483245" y="1657350"/>
            <a:chExt cx="202680" cy="1676767"/>
          </a:xfrm>
          <a:solidFill>
            <a:srgbClr val="F09C2A"/>
          </a:solidFill>
        </p:grpSpPr>
        <p:cxnSp>
          <p:nvCxnSpPr>
            <p:cNvPr id="51" name="Straight Connector 25"/>
            <p:cNvCxnSpPr/>
            <p:nvPr/>
          </p:nvCxnSpPr>
          <p:spPr>
            <a:xfrm flipH="1" flipV="1">
              <a:off x="2584584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52" name="Rounded Rectangle 26"/>
            <p:cNvSpPr/>
            <p:nvPr/>
          </p:nvSpPr>
          <p:spPr>
            <a:xfrm>
              <a:off x="2483245" y="2330297"/>
              <a:ext cx="202680" cy="927408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Group 22"/>
          <p:cNvGrpSpPr/>
          <p:nvPr/>
        </p:nvGrpSpPr>
        <p:grpSpPr>
          <a:xfrm>
            <a:off x="5743809" y="1342953"/>
            <a:ext cx="377818" cy="2737864"/>
            <a:chOff x="2877355" y="1657350"/>
            <a:chExt cx="203627" cy="1676767"/>
          </a:xfrm>
          <a:solidFill>
            <a:srgbClr val="D24132"/>
          </a:solidFill>
        </p:grpSpPr>
        <p:cxnSp>
          <p:nvCxnSpPr>
            <p:cNvPr id="54" name="Straight Connector 23"/>
            <p:cNvCxnSpPr/>
            <p:nvPr/>
          </p:nvCxnSpPr>
          <p:spPr>
            <a:xfrm flipH="1" flipV="1">
              <a:off x="2979642" y="1657350"/>
              <a:ext cx="0" cy="1676767"/>
            </a:xfrm>
            <a:prstGeom prst="line">
              <a:avLst/>
            </a:prstGeom>
            <a:grpFill/>
            <a:ln w="6350" cap="flat" cmpd="sng" algn="ctr">
              <a:solidFill>
                <a:sysClr val="windowText" lastClr="000000">
                  <a:lumMod val="40000"/>
                  <a:lumOff val="60000"/>
                </a:sysClr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55" name="Rounded Rectangle 24"/>
            <p:cNvSpPr/>
            <p:nvPr/>
          </p:nvSpPr>
          <p:spPr>
            <a:xfrm>
              <a:off x="2877355" y="1782593"/>
              <a:ext cx="203627" cy="1475112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59" name="Title 132"/>
          <p:cNvSpPr txBox="1"/>
          <p:nvPr/>
        </p:nvSpPr>
        <p:spPr>
          <a:xfrm>
            <a:off x="1817332" y="27284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j-cs"/>
              </a:rPr>
              <a:t>房地产销售统计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60" name="Text Placeholder 133"/>
          <p:cNvSpPr txBox="1"/>
          <p:nvPr/>
        </p:nvSpPr>
        <p:spPr>
          <a:xfrm>
            <a:off x="2524361" y="678751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state sales statistics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923934" y="3041346"/>
            <a:ext cx="12200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五月份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六月份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七月份</a:t>
            </a:r>
          </a:p>
        </p:txBody>
      </p:sp>
      <p:sp>
        <p:nvSpPr>
          <p:cNvPr id="62" name="矩形: 圆角 61"/>
          <p:cNvSpPr/>
          <p:nvPr/>
        </p:nvSpPr>
        <p:spPr>
          <a:xfrm>
            <a:off x="7552570" y="3114423"/>
            <a:ext cx="351531" cy="186708"/>
          </a:xfrm>
          <a:prstGeom prst="roundRect">
            <a:avLst/>
          </a:prstGeom>
          <a:solidFill>
            <a:srgbClr val="377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7552570" y="3641423"/>
            <a:ext cx="351531" cy="186708"/>
          </a:xfrm>
          <a:prstGeom prst="roundRect">
            <a:avLst/>
          </a:prstGeom>
          <a:solidFill>
            <a:srgbClr val="F09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7552570" y="4099237"/>
            <a:ext cx="351531" cy="186708"/>
          </a:xfrm>
          <a:prstGeom prst="roundRect">
            <a:avLst/>
          </a:prstGeom>
          <a:solidFill>
            <a:srgbClr val="D2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377999" y="4224816"/>
            <a:ext cx="87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海淀区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3233630" y="4235146"/>
            <a:ext cx="87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朝阳区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5111878" y="4224816"/>
            <a:ext cx="87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昌平区</a:t>
            </a:r>
          </a:p>
        </p:txBody>
      </p:sp>
    </p:spTree>
    <p:extLst>
      <p:ext uri="{BB962C8B-B14F-4D97-AF65-F5344CB8AC3E}">
        <p14:creationId xmlns:p14="http://schemas.microsoft.com/office/powerpoint/2010/main" val="1232344553"/>
      </p:ext>
    </p:extLst>
  </p:cSld>
  <p:clrMapOvr>
    <a:masterClrMapping/>
  </p:clrMapOvr>
  <p:transition advClick="0" advTm="2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2"/>
          <p:cNvSpPr txBox="1"/>
          <p:nvPr/>
        </p:nvSpPr>
        <p:spPr>
          <a:xfrm>
            <a:off x="1817332" y="27284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j-cs"/>
              </a:rPr>
              <a:t>公司产品销售统计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11" name="Text Placeholder 133"/>
          <p:cNvSpPr txBox="1"/>
          <p:nvPr/>
        </p:nvSpPr>
        <p:spPr>
          <a:xfrm>
            <a:off x="2524361" y="678751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company product sales statistics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rgbClr val="262626">
              <a:lumMod val="75000"/>
              <a:lumOff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70626813"/>
              </p:ext>
            </p:extLst>
          </p:nvPr>
        </p:nvGraphicFramePr>
        <p:xfrm>
          <a:off x="1173185" y="1353484"/>
          <a:ext cx="5010523" cy="2918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矩形: 圆角 16"/>
          <p:cNvSpPr/>
          <p:nvPr/>
        </p:nvSpPr>
        <p:spPr>
          <a:xfrm>
            <a:off x="6744833" y="1815445"/>
            <a:ext cx="517207" cy="346486"/>
          </a:xfrm>
          <a:prstGeom prst="roundRect">
            <a:avLst/>
          </a:prstGeom>
          <a:solidFill>
            <a:srgbClr val="377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744833" y="2570681"/>
            <a:ext cx="517207" cy="339357"/>
          </a:xfrm>
          <a:prstGeom prst="roundRect">
            <a:avLst/>
          </a:prstGeom>
          <a:solidFill>
            <a:srgbClr val="F09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6744833" y="3276258"/>
            <a:ext cx="517207" cy="338498"/>
          </a:xfrm>
          <a:prstGeom prst="roundRect">
            <a:avLst/>
          </a:prstGeom>
          <a:solidFill>
            <a:srgbClr val="D24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231759" y="2389924"/>
            <a:ext cx="255181" cy="265814"/>
          </a:xfrm>
          <a:prstGeom prst="ellipse">
            <a:avLst/>
          </a:prstGeom>
          <a:solidFill>
            <a:srgbClr val="9FDB19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47101" y="1815445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产品一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47101" y="2555199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产品二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347101" y="3296600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产品三</a:t>
            </a:r>
          </a:p>
        </p:txBody>
      </p:sp>
    </p:spTree>
    <p:extLst>
      <p:ext uri="{BB962C8B-B14F-4D97-AF65-F5344CB8AC3E}">
        <p14:creationId xmlns:p14="http://schemas.microsoft.com/office/powerpoint/2010/main" val="3813900108"/>
      </p:ext>
    </p:ext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Chart bld="category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rgbClr val="262626">
              <a:lumMod val="75000"/>
              <a:lumOff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41" name="Text Placeholder 3"/>
          <p:cNvSpPr txBox="1"/>
          <p:nvPr/>
        </p:nvSpPr>
        <p:spPr>
          <a:xfrm>
            <a:off x="6830079" y="1731238"/>
            <a:ext cx="1217504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线下销售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4" name="Chart 98"/>
          <p:cNvGraphicFramePr/>
          <p:nvPr>
            <p:extLst/>
          </p:nvPr>
        </p:nvGraphicFramePr>
        <p:xfrm>
          <a:off x="606191" y="1561705"/>
          <a:ext cx="5082794" cy="25251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Freeform 45"/>
          <p:cNvSpPr>
            <a:spLocks noEditPoints="1"/>
          </p:cNvSpPr>
          <p:nvPr/>
        </p:nvSpPr>
        <p:spPr bwMode="auto">
          <a:xfrm>
            <a:off x="6274339" y="1743678"/>
            <a:ext cx="310968" cy="310968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7779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6" name="Freeform 45"/>
          <p:cNvSpPr>
            <a:spLocks noEditPoints="1"/>
          </p:cNvSpPr>
          <p:nvPr/>
        </p:nvSpPr>
        <p:spPr bwMode="auto">
          <a:xfrm>
            <a:off x="6274339" y="2419972"/>
            <a:ext cx="310968" cy="310968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189A8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7" name="Freeform 45"/>
          <p:cNvSpPr>
            <a:spLocks noEditPoints="1"/>
          </p:cNvSpPr>
          <p:nvPr/>
        </p:nvSpPr>
        <p:spPr bwMode="auto">
          <a:xfrm>
            <a:off x="6274339" y="3092741"/>
            <a:ext cx="310968" cy="310968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09C2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0" name="Title 132"/>
          <p:cNvSpPr txBox="1"/>
          <p:nvPr/>
        </p:nvSpPr>
        <p:spPr>
          <a:xfrm>
            <a:off x="1817332" y="272841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j-cs"/>
              </a:rPr>
              <a:t>公司主营业务统计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51" name="Text Placeholder 133"/>
          <p:cNvSpPr txBox="1"/>
          <p:nvPr/>
        </p:nvSpPr>
        <p:spPr>
          <a:xfrm>
            <a:off x="2524361" y="678751"/>
            <a:ext cx="4114800" cy="2007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ompany`s main business statistics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Freeform 45"/>
          <p:cNvSpPr>
            <a:spLocks noEditPoints="1"/>
          </p:cNvSpPr>
          <p:nvPr/>
        </p:nvSpPr>
        <p:spPr bwMode="auto">
          <a:xfrm>
            <a:off x="6274339" y="3731907"/>
            <a:ext cx="310968" cy="310968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D2413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06191" y="1284706"/>
            <a:ext cx="911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</a:rPr>
              <a:t>单位：万</a:t>
            </a:r>
          </a:p>
        </p:txBody>
      </p:sp>
      <p:sp>
        <p:nvSpPr>
          <p:cNvPr id="54" name="Text Placeholder 3"/>
          <p:cNvSpPr txBox="1"/>
          <p:nvPr/>
        </p:nvSpPr>
        <p:spPr>
          <a:xfrm>
            <a:off x="6827787" y="3765876"/>
            <a:ext cx="1217504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线上销售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Placeholder 3"/>
          <p:cNvSpPr txBox="1"/>
          <p:nvPr/>
        </p:nvSpPr>
        <p:spPr>
          <a:xfrm>
            <a:off x="6827787" y="2419972"/>
            <a:ext cx="1217504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零售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Placeholder 3"/>
          <p:cNvSpPr txBox="1"/>
          <p:nvPr/>
        </p:nvSpPr>
        <p:spPr>
          <a:xfrm>
            <a:off x="6827786" y="3093379"/>
            <a:ext cx="1592731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固定渠道销售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1677398"/>
      </p:ext>
    </p:extLst>
  </p:cSld>
  <p:clrMapOvr>
    <a:masterClrMapping/>
  </p:clrMapOvr>
  <p:transition advClick="0" advTm="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组合 173"/>
          <p:cNvGrpSpPr/>
          <p:nvPr/>
        </p:nvGrpSpPr>
        <p:grpSpPr>
          <a:xfrm>
            <a:off x="394975" y="1058863"/>
            <a:ext cx="3383311" cy="3383310"/>
            <a:chOff x="1767979" y="2226568"/>
            <a:chExt cx="2404864" cy="2404864"/>
          </a:xfrm>
        </p:grpSpPr>
        <p:sp>
          <p:nvSpPr>
            <p:cNvPr id="200" name="椭圆 199"/>
            <p:cNvSpPr/>
            <p:nvPr/>
          </p:nvSpPr>
          <p:spPr>
            <a:xfrm>
              <a:off x="1767979" y="2226568"/>
              <a:ext cx="2404864" cy="240486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  <a:effectLst/>
            <a:scene3d>
              <a:camera prst="orthographicFront"/>
              <a:lightRig rig="soft" dir="t"/>
            </a:scene3d>
            <a:sp3d prstMaterial="softEdge">
              <a:bevelT w="12700" h="12700"/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201" name="组合 200"/>
            <p:cNvGrpSpPr/>
            <p:nvPr/>
          </p:nvGrpSpPr>
          <p:grpSpPr>
            <a:xfrm>
              <a:off x="1769090" y="2393014"/>
              <a:ext cx="1856585" cy="2071307"/>
              <a:chOff x="1879530" y="1823026"/>
              <a:chExt cx="1856585" cy="2071307"/>
            </a:xfrm>
          </p:grpSpPr>
          <p:sp>
            <p:nvSpPr>
              <p:cNvPr id="202" name="椭圆 1"/>
              <p:cNvSpPr/>
              <p:nvPr/>
            </p:nvSpPr>
            <p:spPr>
              <a:xfrm>
                <a:off x="1879530" y="1823026"/>
                <a:ext cx="1202432" cy="2071307"/>
              </a:xfrm>
              <a:custGeom>
                <a:avLst/>
                <a:gdLst/>
                <a:ahLst/>
                <a:cxnLst/>
                <a:rect l="l" t="t" r="r" b="b"/>
                <a:pathLst>
                  <a:path w="525760" h="905673">
                    <a:moveTo>
                      <a:pt x="262880" y="0"/>
                    </a:moveTo>
                    <a:cubicBezTo>
                      <a:pt x="420534" y="89132"/>
                      <a:pt x="525760" y="258696"/>
                      <a:pt x="525760" y="452836"/>
                    </a:cubicBezTo>
                    <a:cubicBezTo>
                      <a:pt x="525760" y="646977"/>
                      <a:pt x="420534" y="816541"/>
                      <a:pt x="262880" y="905673"/>
                    </a:cubicBezTo>
                    <a:cubicBezTo>
                      <a:pt x="105226" y="816541"/>
                      <a:pt x="0" y="646977"/>
                      <a:pt x="0" y="452836"/>
                    </a:cubicBezTo>
                    <a:cubicBezTo>
                      <a:pt x="0" y="258696"/>
                      <a:pt x="105226" y="89132"/>
                      <a:pt x="262880" y="0"/>
                    </a:cubicBezTo>
                    <a:close/>
                  </a:path>
                </a:pathLst>
              </a:custGeom>
              <a:solidFill>
                <a:srgbClr val="377790"/>
              </a:solidFill>
              <a:ln w="12700">
                <a:solidFill>
                  <a:schemeClr val="bg1"/>
                </a:solidFill>
              </a:ln>
              <a:effectLst>
                <a:innerShdw blurRad="127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3" name="TextBox 10"/>
              <p:cNvSpPr txBox="1"/>
              <p:nvPr/>
            </p:nvSpPr>
            <p:spPr>
              <a:xfrm>
                <a:off x="3237367" y="2045447"/>
                <a:ext cx="498748" cy="150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300" b="1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神龙医药</a:t>
                </a:r>
              </a:p>
            </p:txBody>
          </p:sp>
          <p:grpSp>
            <p:nvGrpSpPr>
              <p:cNvPr id="204" name="组合 203"/>
              <p:cNvGrpSpPr/>
              <p:nvPr/>
            </p:nvGrpSpPr>
            <p:grpSpPr>
              <a:xfrm>
                <a:off x="2205586" y="2639997"/>
                <a:ext cx="498106" cy="469281"/>
                <a:chOff x="2121053" y="4628326"/>
                <a:chExt cx="333034" cy="313762"/>
              </a:xfrm>
            </p:grpSpPr>
            <p:sp>
              <p:nvSpPr>
                <p:cNvPr id="205" name="Freeform 31"/>
                <p:cNvSpPr/>
                <p:nvPr/>
              </p:nvSpPr>
              <p:spPr bwMode="auto">
                <a:xfrm>
                  <a:off x="2268612" y="4628326"/>
                  <a:ext cx="185475" cy="133205"/>
                </a:xfrm>
                <a:custGeom>
                  <a:avLst/>
                  <a:gdLst>
                    <a:gd name="T0" fmla="*/ 81 w 93"/>
                    <a:gd name="T1" fmla="*/ 0 h 67"/>
                    <a:gd name="T2" fmla="*/ 12 w 93"/>
                    <a:gd name="T3" fmla="*/ 0 h 67"/>
                    <a:gd name="T4" fmla="*/ 0 w 93"/>
                    <a:gd name="T5" fmla="*/ 12 h 67"/>
                    <a:gd name="T6" fmla="*/ 0 w 93"/>
                    <a:gd name="T7" fmla="*/ 21 h 67"/>
                    <a:gd name="T8" fmla="*/ 7 w 93"/>
                    <a:gd name="T9" fmla="*/ 21 h 67"/>
                    <a:gd name="T10" fmla="*/ 7 w 93"/>
                    <a:gd name="T11" fmla="*/ 12 h 67"/>
                    <a:gd name="T12" fmla="*/ 12 w 93"/>
                    <a:gd name="T13" fmla="*/ 7 h 67"/>
                    <a:gd name="T14" fmla="*/ 81 w 93"/>
                    <a:gd name="T15" fmla="*/ 7 h 67"/>
                    <a:gd name="T16" fmla="*/ 86 w 93"/>
                    <a:gd name="T17" fmla="*/ 12 h 67"/>
                    <a:gd name="T18" fmla="*/ 86 w 93"/>
                    <a:gd name="T19" fmla="*/ 54 h 67"/>
                    <a:gd name="T20" fmla="*/ 81 w 93"/>
                    <a:gd name="T21" fmla="*/ 59 h 67"/>
                    <a:gd name="T22" fmla="*/ 72 w 93"/>
                    <a:gd name="T23" fmla="*/ 59 h 67"/>
                    <a:gd name="T24" fmla="*/ 72 w 93"/>
                    <a:gd name="T25" fmla="*/ 67 h 67"/>
                    <a:gd name="T26" fmla="*/ 81 w 93"/>
                    <a:gd name="T27" fmla="*/ 67 h 67"/>
                    <a:gd name="T28" fmla="*/ 93 w 93"/>
                    <a:gd name="T29" fmla="*/ 54 h 67"/>
                    <a:gd name="T30" fmla="*/ 93 w 93"/>
                    <a:gd name="T31" fmla="*/ 12 h 67"/>
                    <a:gd name="T32" fmla="*/ 81 w 93"/>
                    <a:gd name="T33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3" h="67">
                      <a:moveTo>
                        <a:pt x="81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6" y="0"/>
                        <a:pt x="0" y="5"/>
                        <a:pt x="0" y="12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7" y="21"/>
                        <a:pt x="7" y="21"/>
                        <a:pt x="7" y="21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7" y="9"/>
                        <a:pt x="10" y="7"/>
                        <a:pt x="12" y="7"/>
                      </a:cubicBezTo>
                      <a:cubicBezTo>
                        <a:pt x="81" y="7"/>
                        <a:pt x="81" y="7"/>
                        <a:pt x="81" y="7"/>
                      </a:cubicBezTo>
                      <a:cubicBezTo>
                        <a:pt x="83" y="7"/>
                        <a:pt x="86" y="9"/>
                        <a:pt x="86" y="12"/>
                      </a:cubicBezTo>
                      <a:cubicBezTo>
                        <a:pt x="86" y="54"/>
                        <a:pt x="86" y="54"/>
                        <a:pt x="86" y="54"/>
                      </a:cubicBezTo>
                      <a:cubicBezTo>
                        <a:pt x="86" y="57"/>
                        <a:pt x="83" y="59"/>
                        <a:pt x="81" y="59"/>
                      </a:cubicBezTo>
                      <a:cubicBezTo>
                        <a:pt x="72" y="59"/>
                        <a:pt x="72" y="59"/>
                        <a:pt x="72" y="59"/>
                      </a:cubicBezTo>
                      <a:cubicBezTo>
                        <a:pt x="72" y="67"/>
                        <a:pt x="72" y="67"/>
                        <a:pt x="72" y="67"/>
                      </a:cubicBezTo>
                      <a:cubicBezTo>
                        <a:pt x="81" y="67"/>
                        <a:pt x="81" y="67"/>
                        <a:pt x="81" y="67"/>
                      </a:cubicBezTo>
                      <a:cubicBezTo>
                        <a:pt x="87" y="67"/>
                        <a:pt x="93" y="61"/>
                        <a:pt x="93" y="54"/>
                      </a:cubicBezTo>
                      <a:cubicBezTo>
                        <a:pt x="93" y="12"/>
                        <a:pt x="93" y="12"/>
                        <a:pt x="93" y="12"/>
                      </a:cubicBezTo>
                      <a:cubicBezTo>
                        <a:pt x="93" y="5"/>
                        <a:pt x="87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" name="Freeform 32"/>
                <p:cNvSpPr/>
                <p:nvPr/>
              </p:nvSpPr>
              <p:spPr bwMode="auto">
                <a:xfrm>
                  <a:off x="2224957" y="4664192"/>
                  <a:ext cx="185475" cy="131518"/>
                </a:xfrm>
                <a:custGeom>
                  <a:avLst/>
                  <a:gdLst>
                    <a:gd name="T0" fmla="*/ 80 w 93"/>
                    <a:gd name="T1" fmla="*/ 0 h 66"/>
                    <a:gd name="T2" fmla="*/ 12 w 93"/>
                    <a:gd name="T3" fmla="*/ 0 h 66"/>
                    <a:gd name="T4" fmla="*/ 0 w 93"/>
                    <a:gd name="T5" fmla="*/ 12 h 66"/>
                    <a:gd name="T6" fmla="*/ 0 w 93"/>
                    <a:gd name="T7" fmla="*/ 29 h 66"/>
                    <a:gd name="T8" fmla="*/ 7 w 93"/>
                    <a:gd name="T9" fmla="*/ 25 h 66"/>
                    <a:gd name="T10" fmla="*/ 7 w 93"/>
                    <a:gd name="T11" fmla="*/ 12 h 66"/>
                    <a:gd name="T12" fmla="*/ 12 w 93"/>
                    <a:gd name="T13" fmla="*/ 7 h 66"/>
                    <a:gd name="T14" fmla="*/ 80 w 93"/>
                    <a:gd name="T15" fmla="*/ 7 h 66"/>
                    <a:gd name="T16" fmla="*/ 85 w 93"/>
                    <a:gd name="T17" fmla="*/ 12 h 66"/>
                    <a:gd name="T18" fmla="*/ 85 w 93"/>
                    <a:gd name="T19" fmla="*/ 54 h 66"/>
                    <a:gd name="T20" fmla="*/ 80 w 93"/>
                    <a:gd name="T21" fmla="*/ 59 h 66"/>
                    <a:gd name="T22" fmla="*/ 12 w 93"/>
                    <a:gd name="T23" fmla="*/ 59 h 66"/>
                    <a:gd name="T24" fmla="*/ 7 w 93"/>
                    <a:gd name="T25" fmla="*/ 54 h 66"/>
                    <a:gd name="T26" fmla="*/ 7 w 93"/>
                    <a:gd name="T27" fmla="*/ 43 h 66"/>
                    <a:gd name="T28" fmla="*/ 0 w 93"/>
                    <a:gd name="T29" fmla="*/ 47 h 66"/>
                    <a:gd name="T30" fmla="*/ 0 w 93"/>
                    <a:gd name="T31" fmla="*/ 54 h 66"/>
                    <a:gd name="T32" fmla="*/ 12 w 93"/>
                    <a:gd name="T33" fmla="*/ 66 h 66"/>
                    <a:gd name="T34" fmla="*/ 80 w 93"/>
                    <a:gd name="T35" fmla="*/ 66 h 66"/>
                    <a:gd name="T36" fmla="*/ 93 w 93"/>
                    <a:gd name="T37" fmla="*/ 54 h 66"/>
                    <a:gd name="T38" fmla="*/ 93 w 93"/>
                    <a:gd name="T39" fmla="*/ 12 h 66"/>
                    <a:gd name="T40" fmla="*/ 80 w 93"/>
                    <a:gd name="T41" fmla="*/ 0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3" h="66">
                      <a:moveTo>
                        <a:pt x="80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5"/>
                        <a:pt x="0" y="12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7" y="25"/>
                        <a:pt x="7" y="25"/>
                        <a:pt x="7" y="25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7" y="9"/>
                        <a:pt x="9" y="7"/>
                        <a:pt x="12" y="7"/>
                      </a:cubicBezTo>
                      <a:cubicBezTo>
                        <a:pt x="80" y="7"/>
                        <a:pt x="80" y="7"/>
                        <a:pt x="80" y="7"/>
                      </a:cubicBezTo>
                      <a:cubicBezTo>
                        <a:pt x="83" y="7"/>
                        <a:pt x="85" y="9"/>
                        <a:pt x="85" y="12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85" y="57"/>
                        <a:pt x="83" y="59"/>
                        <a:pt x="80" y="59"/>
                      </a:cubicBezTo>
                      <a:cubicBezTo>
                        <a:pt x="12" y="59"/>
                        <a:pt x="12" y="59"/>
                        <a:pt x="12" y="59"/>
                      </a:cubicBezTo>
                      <a:cubicBezTo>
                        <a:pt x="9" y="59"/>
                        <a:pt x="7" y="57"/>
                        <a:pt x="7" y="54"/>
                      </a:cubicBezTo>
                      <a:cubicBezTo>
                        <a:pt x="7" y="43"/>
                        <a:pt x="7" y="43"/>
                        <a:pt x="7" y="4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0" y="61"/>
                        <a:pt x="5" y="66"/>
                        <a:pt x="12" y="66"/>
                      </a:cubicBezTo>
                      <a:cubicBezTo>
                        <a:pt x="80" y="66"/>
                        <a:pt x="80" y="66"/>
                        <a:pt x="80" y="66"/>
                      </a:cubicBezTo>
                      <a:cubicBezTo>
                        <a:pt x="87" y="66"/>
                        <a:pt x="93" y="61"/>
                        <a:pt x="93" y="54"/>
                      </a:cubicBezTo>
                      <a:cubicBezTo>
                        <a:pt x="93" y="12"/>
                        <a:pt x="93" y="12"/>
                        <a:pt x="93" y="12"/>
                      </a:cubicBezTo>
                      <a:cubicBezTo>
                        <a:pt x="93" y="5"/>
                        <a:pt x="87" y="0"/>
                        <a:pt x="8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" name="Oval 33"/>
                <p:cNvSpPr>
                  <a:spLocks noChangeArrowheads="1"/>
                </p:cNvSpPr>
                <p:nvPr/>
              </p:nvSpPr>
              <p:spPr bwMode="auto">
                <a:xfrm>
                  <a:off x="2142762" y="4659239"/>
                  <a:ext cx="62387" cy="5985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" name="Freeform 34"/>
                <p:cNvSpPr/>
                <p:nvPr/>
              </p:nvSpPr>
              <p:spPr bwMode="auto">
                <a:xfrm>
                  <a:off x="2121053" y="4689168"/>
                  <a:ext cx="189691" cy="252920"/>
                </a:xfrm>
                <a:custGeom>
                  <a:avLst/>
                  <a:gdLst>
                    <a:gd name="T0" fmla="*/ 94 w 95"/>
                    <a:gd name="T1" fmla="*/ 4 h 127"/>
                    <a:gd name="T2" fmla="*/ 93 w 95"/>
                    <a:gd name="T3" fmla="*/ 2 h 127"/>
                    <a:gd name="T4" fmla="*/ 86 w 95"/>
                    <a:gd name="T5" fmla="*/ 1 h 127"/>
                    <a:gd name="T6" fmla="*/ 48 w 95"/>
                    <a:gd name="T7" fmla="*/ 20 h 127"/>
                    <a:gd name="T8" fmla="*/ 48 w 95"/>
                    <a:gd name="T9" fmla="*/ 20 h 127"/>
                    <a:gd name="T10" fmla="*/ 39 w 95"/>
                    <a:gd name="T11" fmla="*/ 20 h 127"/>
                    <a:gd name="T12" fmla="*/ 28 w 95"/>
                    <a:gd name="T13" fmla="*/ 20 h 127"/>
                    <a:gd name="T14" fmla="*/ 25 w 95"/>
                    <a:gd name="T15" fmla="*/ 20 h 127"/>
                    <a:gd name="T16" fmla="*/ 22 w 95"/>
                    <a:gd name="T17" fmla="*/ 20 h 127"/>
                    <a:gd name="T18" fmla="*/ 6 w 95"/>
                    <a:gd name="T19" fmla="*/ 20 h 127"/>
                    <a:gd name="T20" fmla="*/ 3 w 95"/>
                    <a:gd name="T21" fmla="*/ 22 h 127"/>
                    <a:gd name="T22" fmla="*/ 1 w 95"/>
                    <a:gd name="T23" fmla="*/ 26 h 127"/>
                    <a:gd name="T24" fmla="*/ 0 w 95"/>
                    <a:gd name="T25" fmla="*/ 68 h 127"/>
                    <a:gd name="T26" fmla="*/ 4 w 95"/>
                    <a:gd name="T27" fmla="*/ 74 h 127"/>
                    <a:gd name="T28" fmla="*/ 6 w 95"/>
                    <a:gd name="T29" fmla="*/ 74 h 127"/>
                    <a:gd name="T30" fmla="*/ 10 w 95"/>
                    <a:gd name="T31" fmla="*/ 69 h 127"/>
                    <a:gd name="T32" fmla="*/ 11 w 95"/>
                    <a:gd name="T33" fmla="*/ 38 h 127"/>
                    <a:gd name="T34" fmla="*/ 12 w 95"/>
                    <a:gd name="T35" fmla="*/ 38 h 127"/>
                    <a:gd name="T36" fmla="*/ 12 w 95"/>
                    <a:gd name="T37" fmla="*/ 64 h 127"/>
                    <a:gd name="T38" fmla="*/ 12 w 95"/>
                    <a:gd name="T39" fmla="*/ 66 h 127"/>
                    <a:gd name="T40" fmla="*/ 12 w 95"/>
                    <a:gd name="T41" fmla="*/ 121 h 127"/>
                    <a:gd name="T42" fmla="*/ 18 w 95"/>
                    <a:gd name="T43" fmla="*/ 127 h 127"/>
                    <a:gd name="T44" fmla="*/ 22 w 95"/>
                    <a:gd name="T45" fmla="*/ 127 h 127"/>
                    <a:gd name="T46" fmla="*/ 28 w 95"/>
                    <a:gd name="T47" fmla="*/ 121 h 127"/>
                    <a:gd name="T48" fmla="*/ 28 w 95"/>
                    <a:gd name="T49" fmla="*/ 78 h 127"/>
                    <a:gd name="T50" fmla="*/ 33 w 95"/>
                    <a:gd name="T51" fmla="*/ 78 h 127"/>
                    <a:gd name="T52" fmla="*/ 33 w 95"/>
                    <a:gd name="T53" fmla="*/ 121 h 127"/>
                    <a:gd name="T54" fmla="*/ 39 w 95"/>
                    <a:gd name="T55" fmla="*/ 127 h 127"/>
                    <a:gd name="T56" fmla="*/ 43 w 95"/>
                    <a:gd name="T57" fmla="*/ 127 h 127"/>
                    <a:gd name="T58" fmla="*/ 49 w 95"/>
                    <a:gd name="T59" fmla="*/ 121 h 127"/>
                    <a:gd name="T60" fmla="*/ 49 w 95"/>
                    <a:gd name="T61" fmla="*/ 66 h 127"/>
                    <a:gd name="T62" fmla="*/ 49 w 95"/>
                    <a:gd name="T63" fmla="*/ 64 h 127"/>
                    <a:gd name="T64" fmla="*/ 49 w 95"/>
                    <a:gd name="T65" fmla="*/ 36 h 127"/>
                    <a:gd name="T66" fmla="*/ 54 w 95"/>
                    <a:gd name="T67" fmla="*/ 29 h 127"/>
                    <a:gd name="T68" fmla="*/ 91 w 95"/>
                    <a:gd name="T69" fmla="*/ 10 h 127"/>
                    <a:gd name="T70" fmla="*/ 94 w 95"/>
                    <a:gd name="T71" fmla="*/ 4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95" h="127">
                      <a:moveTo>
                        <a:pt x="94" y="4"/>
                      </a:moveTo>
                      <a:cubicBezTo>
                        <a:pt x="93" y="2"/>
                        <a:pt x="93" y="2"/>
                        <a:pt x="93" y="2"/>
                      </a:cubicBezTo>
                      <a:cubicBezTo>
                        <a:pt x="92" y="0"/>
                        <a:pt x="89" y="0"/>
                        <a:pt x="86" y="1"/>
                      </a:cubicBezTo>
                      <a:cubicBezTo>
                        <a:pt x="48" y="20"/>
                        <a:pt x="48" y="20"/>
                        <a:pt x="48" y="20"/>
                      </a:cubicBezTo>
                      <a:cubicBezTo>
                        <a:pt x="48" y="20"/>
                        <a:pt x="48" y="20"/>
                        <a:pt x="48" y="20"/>
                      </a:cubicBezTo>
                      <a:cubicBezTo>
                        <a:pt x="39" y="20"/>
                        <a:pt x="39" y="20"/>
                        <a:pt x="39" y="20"/>
                      </a:cubicBezTo>
                      <a:cubicBezTo>
                        <a:pt x="28" y="20"/>
                        <a:pt x="28" y="20"/>
                        <a:pt x="28" y="20"/>
                      </a:cubicBezTo>
                      <a:cubicBezTo>
                        <a:pt x="25" y="20"/>
                        <a:pt x="25" y="20"/>
                        <a:pt x="25" y="20"/>
                      </a:cubicBezTo>
                      <a:cubicBezTo>
                        <a:pt x="22" y="20"/>
                        <a:pt x="22" y="20"/>
                        <a:pt x="22" y="20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0"/>
                        <a:pt x="4" y="21"/>
                        <a:pt x="3" y="22"/>
                      </a:cubicBezTo>
                      <a:cubicBezTo>
                        <a:pt x="2" y="23"/>
                        <a:pt x="1" y="24"/>
                        <a:pt x="1" y="26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71"/>
                        <a:pt x="2" y="73"/>
                        <a:pt x="4" y="74"/>
                      </a:cubicBezTo>
                      <a:cubicBezTo>
                        <a:pt x="6" y="74"/>
                        <a:pt x="6" y="74"/>
                        <a:pt x="6" y="74"/>
                      </a:cubicBezTo>
                      <a:cubicBezTo>
                        <a:pt x="8" y="74"/>
                        <a:pt x="10" y="71"/>
                        <a:pt x="10" y="69"/>
                      </a:cubicBezTo>
                      <a:cubicBezTo>
                        <a:pt x="11" y="38"/>
                        <a:pt x="11" y="38"/>
                        <a:pt x="11" y="38"/>
                      </a:cubicBezTo>
                      <a:cubicBezTo>
                        <a:pt x="12" y="38"/>
                        <a:pt x="12" y="38"/>
                        <a:pt x="12" y="38"/>
                      </a:cubicBezTo>
                      <a:cubicBezTo>
                        <a:pt x="12" y="64"/>
                        <a:pt x="12" y="64"/>
                        <a:pt x="12" y="64"/>
                      </a:cubicBezTo>
                      <a:cubicBezTo>
                        <a:pt x="12" y="66"/>
                        <a:pt x="12" y="66"/>
                        <a:pt x="12" y="66"/>
                      </a:cubicBezTo>
                      <a:cubicBezTo>
                        <a:pt x="12" y="121"/>
                        <a:pt x="12" y="121"/>
                        <a:pt x="12" y="121"/>
                      </a:cubicBezTo>
                      <a:cubicBezTo>
                        <a:pt x="12" y="124"/>
                        <a:pt x="15" y="127"/>
                        <a:pt x="18" y="127"/>
                      </a:cubicBezTo>
                      <a:cubicBezTo>
                        <a:pt x="22" y="127"/>
                        <a:pt x="22" y="127"/>
                        <a:pt x="22" y="127"/>
                      </a:cubicBezTo>
                      <a:cubicBezTo>
                        <a:pt x="25" y="127"/>
                        <a:pt x="28" y="124"/>
                        <a:pt x="28" y="121"/>
                      </a:cubicBezTo>
                      <a:cubicBezTo>
                        <a:pt x="28" y="78"/>
                        <a:pt x="28" y="78"/>
                        <a:pt x="28" y="78"/>
                      </a:cubicBezTo>
                      <a:cubicBezTo>
                        <a:pt x="33" y="78"/>
                        <a:pt x="33" y="78"/>
                        <a:pt x="33" y="78"/>
                      </a:cubicBezTo>
                      <a:cubicBezTo>
                        <a:pt x="33" y="121"/>
                        <a:pt x="33" y="121"/>
                        <a:pt x="33" y="121"/>
                      </a:cubicBezTo>
                      <a:cubicBezTo>
                        <a:pt x="33" y="124"/>
                        <a:pt x="36" y="127"/>
                        <a:pt x="39" y="127"/>
                      </a:cubicBezTo>
                      <a:cubicBezTo>
                        <a:pt x="43" y="127"/>
                        <a:pt x="43" y="127"/>
                        <a:pt x="43" y="127"/>
                      </a:cubicBezTo>
                      <a:cubicBezTo>
                        <a:pt x="46" y="127"/>
                        <a:pt x="49" y="124"/>
                        <a:pt x="49" y="121"/>
                      </a:cubicBezTo>
                      <a:cubicBezTo>
                        <a:pt x="49" y="66"/>
                        <a:pt x="49" y="66"/>
                        <a:pt x="49" y="66"/>
                      </a:cubicBezTo>
                      <a:cubicBezTo>
                        <a:pt x="49" y="64"/>
                        <a:pt x="49" y="64"/>
                        <a:pt x="49" y="64"/>
                      </a:cubicBezTo>
                      <a:cubicBezTo>
                        <a:pt x="49" y="36"/>
                        <a:pt x="49" y="36"/>
                        <a:pt x="49" y="36"/>
                      </a:cubicBezTo>
                      <a:cubicBezTo>
                        <a:pt x="50" y="33"/>
                        <a:pt x="52" y="31"/>
                        <a:pt x="54" y="29"/>
                      </a:cubicBezTo>
                      <a:cubicBezTo>
                        <a:pt x="91" y="10"/>
                        <a:pt x="91" y="10"/>
                        <a:pt x="91" y="10"/>
                      </a:cubicBezTo>
                      <a:cubicBezTo>
                        <a:pt x="94" y="9"/>
                        <a:pt x="95" y="6"/>
                        <a:pt x="94" y="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sp>
        <p:nvSpPr>
          <p:cNvPr id="179" name="等腰三角形 178"/>
          <p:cNvSpPr/>
          <p:nvPr/>
        </p:nvSpPr>
        <p:spPr>
          <a:xfrm rot="5122105">
            <a:off x="4692981" y="2721308"/>
            <a:ext cx="112858" cy="978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09280" y="1151284"/>
            <a:ext cx="3582784" cy="808349"/>
            <a:chOff x="4818993" y="1151284"/>
            <a:chExt cx="3582784" cy="808349"/>
          </a:xfrm>
        </p:grpSpPr>
        <p:sp>
          <p:nvSpPr>
            <p:cNvPr id="194" name="圆角矩形 193"/>
            <p:cNvSpPr/>
            <p:nvPr/>
          </p:nvSpPr>
          <p:spPr>
            <a:xfrm>
              <a:off x="4818993" y="1151284"/>
              <a:ext cx="3582784" cy="808349"/>
            </a:xfrm>
            <a:prstGeom prst="roundRect">
              <a:avLst>
                <a:gd name="adj" fmla="val 9467"/>
              </a:avLst>
            </a:prstGeom>
            <a:solidFill>
              <a:schemeClr val="bg1">
                <a:lumMod val="85000"/>
              </a:schemeClr>
            </a:soli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TextBox 24"/>
            <p:cNvSpPr txBox="1"/>
            <p:nvPr/>
          </p:nvSpPr>
          <p:spPr>
            <a:xfrm>
              <a:off x="4818993" y="1360642"/>
              <a:ext cx="29416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圆角矩形 197"/>
            <p:cNvSpPr/>
            <p:nvPr/>
          </p:nvSpPr>
          <p:spPr>
            <a:xfrm>
              <a:off x="7760639" y="1342874"/>
              <a:ext cx="388333" cy="388334"/>
            </a:xfrm>
            <a:prstGeom prst="roundRect">
              <a:avLst/>
            </a:prstGeom>
            <a:solidFill>
              <a:srgbClr val="189A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TextBox 27"/>
            <p:cNvSpPr txBox="1"/>
            <p:nvPr/>
          </p:nvSpPr>
          <p:spPr>
            <a:xfrm>
              <a:off x="7771317" y="1380370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itchFamily="34" charset="-122"/>
                </a:rPr>
                <a:t>01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endParaRPr>
            </a:p>
          </p:txBody>
        </p:sp>
        <p:sp>
          <p:nvSpPr>
            <p:cNvPr id="209" name="文本框 15"/>
            <p:cNvSpPr txBox="1"/>
            <p:nvPr/>
          </p:nvSpPr>
          <p:spPr>
            <a:xfrm>
              <a:off x="5432698" y="1213224"/>
              <a:ext cx="2648510" cy="59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一流的技术</a:t>
              </a:r>
            </a:p>
          </p:txBody>
        </p:sp>
      </p:grpSp>
      <p:sp>
        <p:nvSpPr>
          <p:cNvPr id="211" name="等腰三角形 210"/>
          <p:cNvSpPr/>
          <p:nvPr/>
        </p:nvSpPr>
        <p:spPr>
          <a:xfrm rot="5122105">
            <a:off x="4692981" y="3902796"/>
            <a:ext cx="112858" cy="978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09280" y="2349413"/>
            <a:ext cx="3582784" cy="808349"/>
            <a:chOff x="4818993" y="2349412"/>
            <a:chExt cx="3582784" cy="808349"/>
          </a:xfrm>
        </p:grpSpPr>
        <p:sp>
          <p:nvSpPr>
            <p:cNvPr id="213" name="圆角矩形 212"/>
            <p:cNvSpPr/>
            <p:nvPr/>
          </p:nvSpPr>
          <p:spPr>
            <a:xfrm>
              <a:off x="4818993" y="2349412"/>
              <a:ext cx="3582784" cy="808349"/>
            </a:xfrm>
            <a:prstGeom prst="roundRect">
              <a:avLst>
                <a:gd name="adj" fmla="val 9467"/>
              </a:avLst>
            </a:prstGeom>
            <a:solidFill>
              <a:schemeClr val="bg1">
                <a:lumMod val="85000"/>
              </a:schemeClr>
            </a:soli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TextBox 24"/>
            <p:cNvSpPr txBox="1"/>
            <p:nvPr/>
          </p:nvSpPr>
          <p:spPr>
            <a:xfrm>
              <a:off x="4818993" y="2558770"/>
              <a:ext cx="29416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圆角矩形 214"/>
            <p:cNvSpPr/>
            <p:nvPr/>
          </p:nvSpPr>
          <p:spPr>
            <a:xfrm>
              <a:off x="7760639" y="2557716"/>
              <a:ext cx="388333" cy="388334"/>
            </a:xfrm>
            <a:prstGeom prst="roundRect">
              <a:avLst/>
            </a:prstGeom>
            <a:solidFill>
              <a:srgbClr val="D241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TextBox 27"/>
            <p:cNvSpPr txBox="1"/>
            <p:nvPr/>
          </p:nvSpPr>
          <p:spPr>
            <a:xfrm>
              <a:off x="7771317" y="2595212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itchFamily="34" charset="-122"/>
                </a:rPr>
                <a:t>02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endParaRPr>
            </a:p>
          </p:txBody>
        </p:sp>
        <p:sp>
          <p:nvSpPr>
            <p:cNvPr id="217" name="文本框 15"/>
            <p:cNvSpPr txBox="1"/>
            <p:nvPr/>
          </p:nvSpPr>
          <p:spPr>
            <a:xfrm>
              <a:off x="5432698" y="2383619"/>
              <a:ext cx="2648510" cy="670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先进的设备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09280" y="3547541"/>
            <a:ext cx="3582784" cy="808349"/>
            <a:chOff x="4818993" y="3547540"/>
            <a:chExt cx="3582784" cy="808349"/>
          </a:xfrm>
        </p:grpSpPr>
        <p:sp>
          <p:nvSpPr>
            <p:cNvPr id="219" name="圆角矩形 218"/>
            <p:cNvSpPr/>
            <p:nvPr/>
          </p:nvSpPr>
          <p:spPr>
            <a:xfrm>
              <a:off x="4818993" y="3547540"/>
              <a:ext cx="3582784" cy="808349"/>
            </a:xfrm>
            <a:prstGeom prst="roundRect">
              <a:avLst>
                <a:gd name="adj" fmla="val 9467"/>
              </a:avLst>
            </a:prstGeom>
            <a:solidFill>
              <a:schemeClr val="bg1">
                <a:lumMod val="85000"/>
              </a:schemeClr>
            </a:soli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TextBox 24"/>
            <p:cNvSpPr txBox="1"/>
            <p:nvPr/>
          </p:nvSpPr>
          <p:spPr>
            <a:xfrm>
              <a:off x="4818993" y="3756898"/>
              <a:ext cx="29416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圆角矩形 220"/>
            <p:cNvSpPr/>
            <p:nvPr/>
          </p:nvSpPr>
          <p:spPr>
            <a:xfrm>
              <a:off x="7760639" y="3755906"/>
              <a:ext cx="388333" cy="388334"/>
            </a:xfrm>
            <a:prstGeom prst="roundRect">
              <a:avLst/>
            </a:prstGeom>
            <a:solidFill>
              <a:srgbClr val="F09C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TextBox 27"/>
            <p:cNvSpPr txBox="1"/>
            <p:nvPr/>
          </p:nvSpPr>
          <p:spPr>
            <a:xfrm>
              <a:off x="7771317" y="3793402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itchFamily="34" charset="-122"/>
                </a:rPr>
                <a:t>03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endParaRPr>
            </a:p>
          </p:txBody>
        </p:sp>
        <p:sp>
          <p:nvSpPr>
            <p:cNvPr id="223" name="文本框 15"/>
            <p:cNvSpPr txBox="1"/>
            <p:nvPr/>
          </p:nvSpPr>
          <p:spPr>
            <a:xfrm>
              <a:off x="5432698" y="3556460"/>
              <a:ext cx="2648510" cy="670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真挚的服务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0" y="4999383"/>
            <a:ext cx="9144000" cy="144118"/>
          </a:xfrm>
          <a:prstGeom prst="rect">
            <a:avLst/>
          </a:prstGeom>
          <a:solidFill>
            <a:srgbClr val="262626">
              <a:lumMod val="75000"/>
              <a:lumOff val="2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290" y="495524"/>
            <a:ext cx="45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神龙制药将是您最好的选择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2292966"/>
      </p:ext>
    </p:extLst>
  </p:cSld>
  <p:clrMapOvr>
    <a:masterClrMapping/>
  </p:clrMapOvr>
  <p:transition advClick="0" advTm="200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Arial"/>
        <a:cs typeface="FontAwesome"/>
      </a:majorFont>
      <a:minorFont>
        <a:latin typeface="Arial"/>
        <a:ea typeface="Arial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1_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Arial"/>
        <a:cs typeface="FontAwesome"/>
      </a:majorFont>
      <a:minorFont>
        <a:latin typeface="Arial"/>
        <a:ea typeface="Arial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6_Colored Theme">
    <a:dk1>
      <a:srgbClr val="262626"/>
    </a:dk1>
    <a:lt1>
      <a:srgbClr val="FFFFFF"/>
    </a:lt1>
    <a:dk2>
      <a:srgbClr val="262626"/>
    </a:dk2>
    <a:lt2>
      <a:srgbClr val="FFFFFF"/>
    </a:lt2>
    <a:accent1>
      <a:srgbClr val="377790"/>
    </a:accent1>
    <a:accent2>
      <a:srgbClr val="189A80"/>
    </a:accent2>
    <a:accent3>
      <a:srgbClr val="F09C2A"/>
    </a:accent3>
    <a:accent4>
      <a:srgbClr val="D24132"/>
    </a:accent4>
    <a:accent5>
      <a:srgbClr val="564266"/>
    </a:accent5>
    <a:accent6>
      <a:srgbClr val="686868"/>
    </a:accent6>
    <a:hlink>
      <a:srgbClr val="FFFFFF"/>
    </a:hlink>
    <a:folHlink>
      <a:srgbClr val="595959"/>
    </a:folHlink>
  </a:clrScheme>
  <a:fontScheme name="Arial">
    <a:majorFont>
      <a:latin typeface="Arial"/>
      <a:ea typeface="Arial"/>
      <a:cs typeface="FontAwesome"/>
    </a:majorFont>
    <a:minorFont>
      <a:latin typeface="Arial"/>
      <a:ea typeface="Arial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294</Words>
  <Application>Microsoft Office PowerPoint</Application>
  <PresentationFormat>全屏显示(16:9)</PresentationFormat>
  <Paragraphs>105</Paragraphs>
  <Slides>9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5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Office 主题</vt:lpstr>
      <vt:lpstr>清风素材 https://12sc.taobao.com/</vt:lpstr>
      <vt:lpstr>1_清风素材 https://12sc.taobao.com/</vt:lpstr>
      <vt:lpstr>1_Office 主题</vt:lpstr>
      <vt:lpstr>Office Theme</vt:lpstr>
      <vt:lpstr>面试的基本程序</vt:lpstr>
      <vt:lpstr>PowerPoint 演示文稿</vt:lpstr>
      <vt:lpstr>PowerPoint 演示文稿</vt:lpstr>
      <vt:lpstr>公司借贷情况统计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DELL</cp:lastModifiedBy>
  <cp:revision>13</cp:revision>
  <dcterms:created xsi:type="dcterms:W3CDTF">2015-05-05T08:02:14Z</dcterms:created>
  <dcterms:modified xsi:type="dcterms:W3CDTF">2022-03-23T14:48:04Z</dcterms:modified>
</cp:coreProperties>
</file>