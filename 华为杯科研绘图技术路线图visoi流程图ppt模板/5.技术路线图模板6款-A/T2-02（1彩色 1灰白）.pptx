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60" r:id="rId3"/>
    <p:sldId id="261" r:id="rId5"/>
  </p:sldIdLst>
  <p:sldSz cx="7199630" cy="575945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9"/>
    <a:srgbClr val="D6DBD7"/>
    <a:srgbClr val="9D9AF3"/>
    <a:srgbClr val="C6D4EF"/>
    <a:srgbClr val="D7E0E4"/>
    <a:srgbClr val="DCE3E7"/>
    <a:srgbClr val="969CA0"/>
    <a:srgbClr val="6684F2"/>
    <a:srgbClr val="5C43CE"/>
    <a:srgbClr val="8DA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1752"/>
        <p:guide pos="22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89262" cy="24739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21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8351776" y="0"/>
            <a:ext cx="6389262" cy="24739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21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683398"/>
            <a:ext cx="6389262" cy="247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21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8351776" y="4683398"/>
            <a:ext cx="6389262" cy="247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21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88998" cy="2470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8352815" y="0"/>
            <a:ext cx="6388996" cy="2470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334013" y="616464"/>
            <a:ext cx="2080374" cy="1664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476158" y="2373310"/>
            <a:ext cx="11796085" cy="19411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683902"/>
            <a:ext cx="6388998" cy="2470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8352815" y="4683902"/>
            <a:ext cx="6388996" cy="2470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545" y="217096"/>
            <a:ext cx="6210727" cy="1113486"/>
          </a:xfrm>
        </p:spPr>
        <p:txBody>
          <a:bodyPr anchor="ctr" anchorCtr="0">
            <a:normAutofit/>
          </a:bodyPr>
          <a:lstStyle>
            <a:lvl1pPr>
              <a:defRPr sz="346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545" y="1533543"/>
            <a:ext cx="6210727" cy="3655166"/>
          </a:xfrm>
        </p:spPr>
        <p:txBody>
          <a:bodyPr>
            <a:normAutofit/>
          </a:bodyPr>
          <a:lstStyle>
            <a:lvl1pPr>
              <a:defRPr sz="220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9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7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1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41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1307" y="394071"/>
            <a:ext cx="6088071" cy="3438451"/>
          </a:xfrm>
        </p:spPr>
        <p:txBody>
          <a:bodyPr anchor="b">
            <a:normAutofit/>
          </a:bodyPr>
          <a:lstStyle>
            <a:lvl1pPr>
              <a:defRPr sz="4725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1307" y="3872468"/>
            <a:ext cx="6088070" cy="543953"/>
          </a:xfrm>
        </p:spPr>
        <p:txBody>
          <a:bodyPr>
            <a:normAutofit/>
          </a:bodyPr>
          <a:lstStyle>
            <a:lvl1pPr marL="0" indent="0">
              <a:buNone/>
              <a:defRPr sz="18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545" y="217096"/>
            <a:ext cx="6210727" cy="1113486"/>
          </a:xfrm>
        </p:spPr>
        <p:txBody>
          <a:bodyPr>
            <a:normAutofit/>
          </a:bodyPr>
          <a:lstStyle>
            <a:lvl1pPr>
              <a:defRPr sz="3465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2545" y="1533543"/>
            <a:ext cx="3060358" cy="3655166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20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189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575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415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415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32913" y="1533543"/>
            <a:ext cx="3060358" cy="3655166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20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189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1575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415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415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996" y="306709"/>
            <a:ext cx="6210727" cy="111348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996" y="1465784"/>
            <a:ext cx="3046294" cy="692094"/>
          </a:xfrm>
        </p:spPr>
        <p:txBody>
          <a:bodyPr anchor="b">
            <a:normAutofit/>
          </a:bodyPr>
          <a:lstStyle>
            <a:lvl1pPr marL="0" indent="0">
              <a:buNone/>
              <a:defRPr sz="2205" b="0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996" y="2197137"/>
            <a:ext cx="3046294" cy="300224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645427" y="1465784"/>
            <a:ext cx="3061296" cy="692094"/>
          </a:xfrm>
        </p:spPr>
        <p:txBody>
          <a:bodyPr anchor="b">
            <a:normAutofit/>
          </a:bodyPr>
          <a:lstStyle>
            <a:lvl1pPr marL="0" indent="0">
              <a:buNone/>
              <a:defRPr sz="2205" b="0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645427" y="2197137"/>
            <a:ext cx="3061296" cy="300224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058" y="2323651"/>
            <a:ext cx="6210727" cy="1113486"/>
          </a:xfrm>
        </p:spPr>
        <p:txBody>
          <a:bodyPr>
            <a:normAutofit/>
          </a:bodyPr>
          <a:lstStyle>
            <a:lvl1pPr algn="ctr">
              <a:defRPr sz="346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982" y="106681"/>
            <a:ext cx="2460052" cy="1344184"/>
          </a:xfrm>
        </p:spPr>
        <p:txBody>
          <a:bodyPr anchor="ctr" anchorCtr="0">
            <a:normAutofit/>
          </a:bodyPr>
          <a:lstStyle>
            <a:lvl1pPr>
              <a:defRPr sz="252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061776" y="643745"/>
            <a:ext cx="3435860" cy="4279384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79725" indent="0">
              <a:buNone/>
              <a:defRPr sz="1575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84982" y="1728236"/>
            <a:ext cx="2460052" cy="320177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75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40180" indent="0">
              <a:buNone/>
              <a:defRPr sz="785"/>
            </a:lvl5pPr>
            <a:lvl6pPr marL="1800225" indent="0">
              <a:buNone/>
              <a:defRPr sz="785"/>
            </a:lvl6pPr>
            <a:lvl7pPr marL="2160270" indent="0">
              <a:buNone/>
              <a:defRPr sz="785"/>
            </a:lvl7pPr>
            <a:lvl8pPr marL="2520315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02540" y="306709"/>
            <a:ext cx="903245" cy="4882001"/>
          </a:xfrm>
        </p:spPr>
        <p:txBody>
          <a:bodyPr vert="eaVert">
            <a:normAutofit/>
          </a:bodyPr>
          <a:lstStyle>
            <a:lvl1pPr>
              <a:defRPr sz="346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058" y="306709"/>
            <a:ext cx="5244683" cy="4882001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95058" y="5339396"/>
            <a:ext cx="1620190" cy="30670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385279" y="5339396"/>
            <a:ext cx="2430284" cy="30670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5085595" y="5339396"/>
            <a:ext cx="1620190" cy="30670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5058" y="463301"/>
            <a:ext cx="6210727" cy="466959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20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9979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5984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997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70002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6006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97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0" name="同侧圆角矩形 279"/>
          <p:cNvSpPr/>
          <p:nvPr/>
        </p:nvSpPr>
        <p:spPr>
          <a:xfrm>
            <a:off x="116840" y="50800"/>
            <a:ext cx="6938010" cy="312420"/>
          </a:xfrm>
          <a:prstGeom prst="round2SameRect">
            <a:avLst/>
          </a:prstGeom>
          <a:solidFill>
            <a:srgbClr val="6887B6">
              <a:alpha val="57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矿物质强化风化技术用于碳封存与土壤改良研究</a:t>
            </a:r>
            <a:endParaRPr lang="zh-CN" altLang="en-US" sz="14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右箭头标注 4"/>
          <p:cNvSpPr/>
          <p:nvPr/>
        </p:nvSpPr>
        <p:spPr>
          <a:xfrm>
            <a:off x="116205" y="1725930"/>
            <a:ext cx="318135" cy="1474470"/>
          </a:xfrm>
          <a:prstGeom prst="rightArrowCallout">
            <a:avLst/>
          </a:prstGeom>
          <a:solidFill>
            <a:srgbClr val="D3DCE1">
              <a:alpha val="8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研究体系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右箭头标注 5"/>
          <p:cNvSpPr/>
          <p:nvPr/>
        </p:nvSpPr>
        <p:spPr>
          <a:xfrm>
            <a:off x="116205" y="3275965"/>
            <a:ext cx="322580" cy="1137285"/>
          </a:xfrm>
          <a:prstGeom prst="rightArrowCallout">
            <a:avLst/>
          </a:prstGeom>
          <a:solidFill>
            <a:srgbClr val="C9DDD4">
              <a:alpha val="84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实验评估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右箭头标注 6"/>
          <p:cNvSpPr/>
          <p:nvPr/>
        </p:nvSpPr>
        <p:spPr>
          <a:xfrm>
            <a:off x="116205" y="4504690"/>
            <a:ext cx="318135" cy="569595"/>
          </a:xfrm>
          <a:prstGeom prst="rightArrowCallout">
            <a:avLst/>
          </a:prstGeom>
          <a:solidFill>
            <a:srgbClr val="C6D4E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优化调控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右箭头标注 7"/>
          <p:cNvSpPr/>
          <p:nvPr/>
        </p:nvSpPr>
        <p:spPr>
          <a:xfrm>
            <a:off x="116205" y="5112385"/>
            <a:ext cx="318135" cy="589915"/>
          </a:xfrm>
          <a:prstGeom prst="rightArrowCallout">
            <a:avLst/>
          </a:prstGeom>
          <a:solidFill>
            <a:srgbClr val="C6D4E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应用前景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2" name="矩形 291"/>
          <p:cNvSpPr/>
          <p:nvPr/>
        </p:nvSpPr>
        <p:spPr>
          <a:xfrm>
            <a:off x="1571625" y="429895"/>
            <a:ext cx="5482590" cy="1214120"/>
          </a:xfrm>
          <a:prstGeom prst="rect">
            <a:avLst/>
          </a:prstGeom>
          <a:noFill/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7835" y="429895"/>
            <a:ext cx="973455" cy="611505"/>
          </a:xfrm>
          <a:prstGeom prst="rect">
            <a:avLst/>
          </a:prstGeom>
          <a:solidFill>
            <a:srgbClr val="E7E7F7"/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10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如何实现矿物质高效CO₂捕获与土壤质量改善的协同优化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的协同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0" name="右箭头标注 9"/>
          <p:cNvSpPr/>
          <p:nvPr/>
        </p:nvSpPr>
        <p:spPr>
          <a:xfrm>
            <a:off x="116205" y="450215"/>
            <a:ext cx="318135" cy="548005"/>
          </a:xfrm>
          <a:prstGeom prst="rightArrowCallout">
            <a:avLst/>
          </a:prstGeom>
          <a:solidFill>
            <a:srgbClr val="DCD3E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提出问题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694180" y="485140"/>
            <a:ext cx="5256000" cy="252000"/>
          </a:xfrm>
          <a:prstGeom prst="roundRect">
            <a:avLst>
              <a:gd name="adj" fmla="val 50000"/>
            </a:avLst>
          </a:prstGeom>
          <a:solidFill>
            <a:srgbClr val="DCD3E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矿物质强化风化矿物质强化风化理论基础</a:t>
            </a:r>
            <a:endParaRPr lang="zh-CN" altLang="en-US" sz="12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1" name="圆角矩形 46"/>
          <p:cNvSpPr/>
          <p:nvPr/>
        </p:nvSpPr>
        <p:spPr>
          <a:xfrm>
            <a:off x="1695450" y="940435"/>
            <a:ext cx="1656080" cy="635635"/>
          </a:xfrm>
          <a:prstGeom prst="roundRect">
            <a:avLst>
              <a:gd name="adj" fmla="val 0"/>
            </a:avLst>
          </a:prstGeom>
          <a:solidFill>
            <a:srgbClr val="C6D4EF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9" name="圆角矩形 46"/>
          <p:cNvSpPr/>
          <p:nvPr/>
        </p:nvSpPr>
        <p:spPr>
          <a:xfrm>
            <a:off x="1734185" y="979170"/>
            <a:ext cx="1583690" cy="215900"/>
          </a:xfrm>
          <a:prstGeom prst="roundRect">
            <a:avLst>
              <a:gd name="adj" fmla="val 0"/>
            </a:avLst>
          </a:prstGeom>
          <a:solidFill>
            <a:srgbClr val="E7E7F7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矿物质风化反应机理</a:t>
            </a:r>
            <a:endParaRPr lang="zh-CN" altLang="en-US"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2" name="圆角矩形 46"/>
          <p:cNvSpPr/>
          <p:nvPr/>
        </p:nvSpPr>
        <p:spPr>
          <a:xfrm>
            <a:off x="1661160" y="1245235"/>
            <a:ext cx="170370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硅酸盐/碳酸盐矿物溶解动力学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CO₂转化为碳酸氢根/碳酸根过程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" name="圆角矩形 46"/>
          <p:cNvSpPr/>
          <p:nvPr/>
        </p:nvSpPr>
        <p:spPr>
          <a:xfrm>
            <a:off x="3494405" y="940435"/>
            <a:ext cx="1656080" cy="635635"/>
          </a:xfrm>
          <a:prstGeom prst="roundRect">
            <a:avLst>
              <a:gd name="adj" fmla="val 0"/>
            </a:avLst>
          </a:prstGeom>
          <a:solidFill>
            <a:srgbClr val="C6D4EF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" name="圆角矩形 46"/>
          <p:cNvSpPr/>
          <p:nvPr/>
        </p:nvSpPr>
        <p:spPr>
          <a:xfrm>
            <a:off x="3532505" y="979170"/>
            <a:ext cx="1583690" cy="215900"/>
          </a:xfrm>
          <a:prstGeom prst="roundRect">
            <a:avLst>
              <a:gd name="adj" fmla="val 0"/>
            </a:avLst>
          </a:prstGeom>
          <a:solidFill>
            <a:srgbClr val="E7E7F7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土壤-矿物质相互作用</a:t>
            </a:r>
            <a:endParaRPr lang="zh-CN" altLang="en-US"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" name="圆角矩形 46"/>
          <p:cNvSpPr/>
          <p:nvPr/>
        </p:nvSpPr>
        <p:spPr>
          <a:xfrm>
            <a:off x="3459480" y="1224915"/>
            <a:ext cx="170370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矿物质养分释放与土壤富集机制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土壤微生物对矿物风化的影响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圆角矩形 46"/>
          <p:cNvSpPr/>
          <p:nvPr/>
        </p:nvSpPr>
        <p:spPr>
          <a:xfrm>
            <a:off x="5294630" y="940435"/>
            <a:ext cx="1656080" cy="635635"/>
          </a:xfrm>
          <a:prstGeom prst="roundRect">
            <a:avLst>
              <a:gd name="adj" fmla="val 0"/>
            </a:avLst>
          </a:prstGeom>
          <a:solidFill>
            <a:srgbClr val="C6D4EF">
              <a:alpha val="20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圆角矩形 46"/>
          <p:cNvSpPr/>
          <p:nvPr/>
        </p:nvSpPr>
        <p:spPr>
          <a:xfrm>
            <a:off x="5330825" y="979170"/>
            <a:ext cx="1583690" cy="215900"/>
          </a:xfrm>
          <a:prstGeom prst="roundRect">
            <a:avLst>
              <a:gd name="adj" fmla="val 0"/>
            </a:avLst>
          </a:prstGeom>
          <a:solidFill>
            <a:srgbClr val="E7E7F7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碳封存潜力评估模型</a:t>
            </a:r>
            <a:endParaRPr lang="zh-CN" altLang="en-US"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圆角矩形 46"/>
          <p:cNvSpPr/>
          <p:nvPr/>
        </p:nvSpPr>
        <p:spPr>
          <a:xfrm>
            <a:off x="5257800" y="1224915"/>
            <a:ext cx="170370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不同类型矿物理论CO₂吸收能力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反应动力学与环境影响因素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75435" y="1710055"/>
            <a:ext cx="5482590" cy="1489710"/>
          </a:xfrm>
          <a:prstGeom prst="rect">
            <a:avLst/>
          </a:prstGeom>
          <a:noFill/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7200" y="1097915"/>
            <a:ext cx="974090" cy="547370"/>
          </a:xfrm>
          <a:prstGeom prst="rect">
            <a:avLst/>
          </a:prstGeom>
          <a:solidFill>
            <a:srgbClr val="E7E7F7"/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10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矿物质-CO₂-土壤-水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多相反应机理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47" name="右箭头标注 46"/>
          <p:cNvSpPr/>
          <p:nvPr/>
        </p:nvSpPr>
        <p:spPr>
          <a:xfrm>
            <a:off x="116205" y="1097915"/>
            <a:ext cx="318135" cy="548005"/>
          </a:xfrm>
          <a:prstGeom prst="rightArrowCallout">
            <a:avLst/>
          </a:prstGeom>
          <a:solidFill>
            <a:srgbClr val="DCD3E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理论方法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1683015" y="1772285"/>
            <a:ext cx="5256000" cy="252000"/>
          </a:xfrm>
          <a:prstGeom prst="roundRect">
            <a:avLst>
              <a:gd name="adj" fmla="val 50000"/>
            </a:avLst>
          </a:prstGeom>
          <a:solidFill>
            <a:srgbClr val="D6DBD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矿物质选择与预处理研究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57200" y="1710055"/>
            <a:ext cx="969645" cy="1489710"/>
          </a:xfrm>
          <a:prstGeom prst="rect">
            <a:avLst/>
          </a:prstGeom>
          <a:solidFill>
            <a:srgbClr val="F5F7F9"/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577975" y="3261995"/>
            <a:ext cx="5482590" cy="1152000"/>
          </a:xfrm>
          <a:prstGeom prst="rect">
            <a:avLst/>
          </a:prstGeom>
          <a:noFill/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1" name="圆角矩形 46"/>
          <p:cNvSpPr/>
          <p:nvPr/>
        </p:nvSpPr>
        <p:spPr>
          <a:xfrm>
            <a:off x="1692275" y="2225040"/>
            <a:ext cx="1656080" cy="900000"/>
          </a:xfrm>
          <a:prstGeom prst="roundRect">
            <a:avLst>
              <a:gd name="adj" fmla="val 0"/>
            </a:avLst>
          </a:prstGeom>
          <a:solidFill>
            <a:srgbClr val="EBEFF2">
              <a:alpha val="48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" name="圆角矩形 46"/>
          <p:cNvSpPr/>
          <p:nvPr/>
        </p:nvSpPr>
        <p:spPr>
          <a:xfrm>
            <a:off x="1676400" y="222504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适用矿物质种类选择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2" name="圆角矩形 46"/>
          <p:cNvSpPr/>
          <p:nvPr/>
        </p:nvSpPr>
        <p:spPr>
          <a:xfrm>
            <a:off x="1750695" y="2453005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2" name="圆角矩形 46"/>
          <p:cNvSpPr/>
          <p:nvPr/>
        </p:nvSpPr>
        <p:spPr>
          <a:xfrm>
            <a:off x="2547620" y="2452370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5" name="圆角矩形 46"/>
          <p:cNvSpPr/>
          <p:nvPr/>
        </p:nvSpPr>
        <p:spPr>
          <a:xfrm>
            <a:off x="1756410" y="2783840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圆角矩形 46"/>
          <p:cNvSpPr/>
          <p:nvPr/>
        </p:nvSpPr>
        <p:spPr>
          <a:xfrm>
            <a:off x="2554605" y="2783205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圆角矩形 46"/>
          <p:cNvSpPr/>
          <p:nvPr/>
        </p:nvSpPr>
        <p:spPr>
          <a:xfrm>
            <a:off x="5252085" y="2221865"/>
            <a:ext cx="1656080" cy="900000"/>
          </a:xfrm>
          <a:prstGeom prst="roundRect">
            <a:avLst>
              <a:gd name="adj" fmla="val 0"/>
            </a:avLst>
          </a:prstGeom>
          <a:solidFill>
            <a:srgbClr val="EBEFF2">
              <a:alpha val="48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4" name="圆角矩形 46"/>
          <p:cNvSpPr/>
          <p:nvPr/>
        </p:nvSpPr>
        <p:spPr>
          <a:xfrm>
            <a:off x="5238750" y="2237105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适用矿物质种类选择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6" name="圆角矩形 46"/>
          <p:cNvSpPr/>
          <p:nvPr/>
        </p:nvSpPr>
        <p:spPr>
          <a:xfrm>
            <a:off x="5320030" y="2453005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9" name="圆角矩形 46"/>
          <p:cNvSpPr/>
          <p:nvPr/>
        </p:nvSpPr>
        <p:spPr>
          <a:xfrm>
            <a:off x="6116955" y="2452370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" name="圆角矩形 46"/>
          <p:cNvSpPr/>
          <p:nvPr/>
        </p:nvSpPr>
        <p:spPr>
          <a:xfrm>
            <a:off x="5320030" y="2783840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5" name="圆角矩形 46"/>
          <p:cNvSpPr/>
          <p:nvPr/>
        </p:nvSpPr>
        <p:spPr>
          <a:xfrm>
            <a:off x="6116955" y="2783205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8" name="圆角矩形 46"/>
          <p:cNvSpPr/>
          <p:nvPr/>
        </p:nvSpPr>
        <p:spPr>
          <a:xfrm>
            <a:off x="3482975" y="2221865"/>
            <a:ext cx="1656080" cy="900000"/>
          </a:xfrm>
          <a:prstGeom prst="roundRect">
            <a:avLst>
              <a:gd name="adj" fmla="val 0"/>
            </a:avLst>
          </a:prstGeom>
          <a:solidFill>
            <a:srgbClr val="EBEFF2">
              <a:alpha val="48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9" name="圆角矩形 46"/>
          <p:cNvSpPr/>
          <p:nvPr/>
        </p:nvSpPr>
        <p:spPr>
          <a:xfrm>
            <a:off x="3467100" y="222504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矿物质来源分类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1" name="圆角矩形 46"/>
          <p:cNvSpPr/>
          <p:nvPr/>
        </p:nvSpPr>
        <p:spPr>
          <a:xfrm>
            <a:off x="3550285" y="2453005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4" name="圆角矩形 46"/>
          <p:cNvSpPr/>
          <p:nvPr/>
        </p:nvSpPr>
        <p:spPr>
          <a:xfrm>
            <a:off x="4347210" y="2452370"/>
            <a:ext cx="712470" cy="288925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" name="圆角矩形 46"/>
          <p:cNvSpPr/>
          <p:nvPr/>
        </p:nvSpPr>
        <p:spPr>
          <a:xfrm>
            <a:off x="3552190" y="2783205"/>
            <a:ext cx="1497965" cy="288290"/>
          </a:xfrm>
          <a:prstGeom prst="roundRect">
            <a:avLst>
              <a:gd name="adj" fmla="val 0"/>
            </a:avLst>
          </a:prstGeom>
          <a:solidFill>
            <a:srgbClr val="D6DBD7">
              <a:alpha val="62000"/>
            </a:srgb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736090" y="2463165"/>
            <a:ext cx="5234940" cy="598170"/>
            <a:chOff x="2745" y="3871"/>
            <a:chExt cx="8244" cy="942"/>
          </a:xfrm>
        </p:grpSpPr>
        <p:sp>
          <p:nvSpPr>
            <p:cNvPr id="69" name="圆角矩形 46"/>
            <p:cNvSpPr/>
            <p:nvPr/>
          </p:nvSpPr>
          <p:spPr>
            <a:xfrm>
              <a:off x="2745" y="3881"/>
              <a:ext cx="1202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2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橄榄石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20000"/>
                </a:lnSpc>
              </a:pPr>
              <a:r>
                <a:rPr lang="zh-CN" altLang="en-US" sz="6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(Mg,Fe)₂SiO₄</a:t>
              </a:r>
              <a:endPara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3" name="圆角矩形 46"/>
            <p:cNvSpPr/>
            <p:nvPr/>
          </p:nvSpPr>
          <p:spPr>
            <a:xfrm>
              <a:off x="3927" y="3871"/>
              <a:ext cx="1426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2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蛇纹石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20000"/>
                </a:lnSpc>
              </a:pPr>
              <a:r>
                <a:rPr lang="zh-CN" altLang="en-US" sz="6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Mg₃Si₂O₅(OH)₄</a:t>
              </a:r>
              <a:endPara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6" name="圆角矩形 46"/>
            <p:cNvSpPr/>
            <p:nvPr/>
          </p:nvSpPr>
          <p:spPr>
            <a:xfrm>
              <a:off x="2751" y="4407"/>
              <a:ext cx="1122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20000"/>
                </a:lnSpc>
              </a:pPr>
              <a:r>
                <a:rPr lang="en-US" altLang="zh-CN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 玄武岩粉</a:t>
              </a:r>
              <a:endParaRPr lang="en-US" altLang="zh-CN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20000"/>
                </a:lnSpc>
              </a:pPr>
              <a:r>
                <a:rPr lang="en-US" altLang="zh-CN" sz="6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复杂硅酸盐</a:t>
              </a:r>
              <a:endParaRPr lang="en-US" altLang="zh-CN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9" name="圆角矩形 46"/>
            <p:cNvSpPr/>
            <p:nvPr/>
          </p:nvSpPr>
          <p:spPr>
            <a:xfrm>
              <a:off x="3986" y="4392"/>
              <a:ext cx="1289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2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辉石类矿物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20000"/>
                </a:lnSpc>
              </a:pPr>
              <a:r>
                <a:rPr lang="zh-CN" altLang="en-US" sz="6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(Ca,Mg,Fe)SiO₃</a:t>
              </a:r>
              <a:endPara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7" name="圆角矩形 46"/>
            <p:cNvSpPr/>
            <p:nvPr/>
          </p:nvSpPr>
          <p:spPr>
            <a:xfrm>
              <a:off x="8202" y="3895"/>
              <a:ext cx="1532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物理处理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粉碎、筛分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0" name="圆角矩形 46"/>
            <p:cNvSpPr/>
            <p:nvPr/>
          </p:nvSpPr>
          <p:spPr>
            <a:xfrm>
              <a:off x="9457" y="3894"/>
              <a:ext cx="1532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热处理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焙烧活化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3" name="圆角矩形 46"/>
            <p:cNvSpPr/>
            <p:nvPr/>
          </p:nvSpPr>
          <p:spPr>
            <a:xfrm>
              <a:off x="8210" y="4416"/>
              <a:ext cx="1532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化学处理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酸/碱活化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6" name="圆角矩形 46"/>
            <p:cNvSpPr/>
            <p:nvPr/>
          </p:nvSpPr>
          <p:spPr>
            <a:xfrm>
              <a:off x="9572" y="4415"/>
              <a:ext cx="1275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生物处理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微生物预处理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2" name="圆角矩形 46"/>
            <p:cNvSpPr/>
            <p:nvPr/>
          </p:nvSpPr>
          <p:spPr>
            <a:xfrm>
              <a:off x="5394" y="3895"/>
              <a:ext cx="1532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天然矿产资源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矿石、砂砾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5" name="圆角矩形 46"/>
            <p:cNvSpPr/>
            <p:nvPr/>
          </p:nvSpPr>
          <p:spPr>
            <a:xfrm>
              <a:off x="6649" y="3894"/>
              <a:ext cx="1532" cy="39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工业副产物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钢渣、粉煤灰</a:t>
              </a:r>
              <a:endPara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1" name="圆角矩形 46"/>
            <p:cNvSpPr/>
            <p:nvPr/>
          </p:nvSpPr>
          <p:spPr>
            <a:xfrm>
              <a:off x="5944" y="4435"/>
              <a:ext cx="1610" cy="378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采矿废弃物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尾矿、废石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124" name="圆角矩形 46"/>
          <p:cNvSpPr/>
          <p:nvPr/>
        </p:nvSpPr>
        <p:spPr>
          <a:xfrm>
            <a:off x="1695450" y="3773805"/>
            <a:ext cx="1656080" cy="576000"/>
          </a:xfrm>
          <a:prstGeom prst="roundRect">
            <a:avLst>
              <a:gd name="adj" fmla="val 0"/>
            </a:avLst>
          </a:prstGeom>
          <a:solidFill>
            <a:srgbClr val="E6F3F1">
              <a:alpha val="66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5" name="圆角矩形 46"/>
          <p:cNvSpPr/>
          <p:nvPr/>
        </p:nvSpPr>
        <p:spPr>
          <a:xfrm>
            <a:off x="1682115" y="3776345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实验评估</a:t>
            </a:r>
            <a:r>
              <a:rPr lang="zh-CN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方法</a:t>
            </a:r>
            <a:endParaRPr lang="zh-CN"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圆角矩形 46"/>
          <p:cNvSpPr/>
          <p:nvPr/>
        </p:nvSpPr>
        <p:spPr>
          <a:xfrm>
            <a:off x="1756410" y="4004310"/>
            <a:ext cx="712470" cy="288925"/>
          </a:xfrm>
          <a:prstGeom prst="roundRect">
            <a:avLst>
              <a:gd name="adj" fmla="val 0"/>
            </a:avLst>
          </a:prstGeom>
          <a:solidFill>
            <a:srgbClr val="D8EEE3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8" name="圆角矩形 46"/>
          <p:cNvSpPr/>
          <p:nvPr/>
        </p:nvSpPr>
        <p:spPr>
          <a:xfrm>
            <a:off x="1621155" y="402653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室内碳化实验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恒温恒湿条件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" name="圆角矩形 46"/>
          <p:cNvSpPr/>
          <p:nvPr/>
        </p:nvSpPr>
        <p:spPr>
          <a:xfrm>
            <a:off x="2553335" y="4003675"/>
            <a:ext cx="712470" cy="288925"/>
          </a:xfrm>
          <a:prstGeom prst="roundRect">
            <a:avLst>
              <a:gd name="adj" fmla="val 0"/>
            </a:avLst>
          </a:prstGeom>
          <a:solidFill>
            <a:srgbClr val="D8EEE3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1" name="圆角矩形 46"/>
          <p:cNvSpPr/>
          <p:nvPr/>
        </p:nvSpPr>
        <p:spPr>
          <a:xfrm>
            <a:off x="2438400" y="4025900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温室盆栽试验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控制环境条件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1694180" y="3334385"/>
            <a:ext cx="5256000" cy="252000"/>
          </a:xfrm>
          <a:prstGeom prst="roundRect">
            <a:avLst>
              <a:gd name="adj" fmla="val 50000"/>
            </a:avLst>
          </a:prstGeom>
          <a:solidFill>
            <a:srgbClr val="C1D8CE">
              <a:alpha val="8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碳封存与土壤改良效果评估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40" name="圆角矩形 46"/>
          <p:cNvSpPr/>
          <p:nvPr/>
        </p:nvSpPr>
        <p:spPr>
          <a:xfrm>
            <a:off x="3494405" y="3773805"/>
            <a:ext cx="1656080" cy="576000"/>
          </a:xfrm>
          <a:prstGeom prst="roundRect">
            <a:avLst>
              <a:gd name="adj" fmla="val 0"/>
            </a:avLst>
          </a:prstGeom>
          <a:solidFill>
            <a:srgbClr val="E6F3F1">
              <a:alpha val="66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圆角矩形 46"/>
          <p:cNvSpPr/>
          <p:nvPr/>
        </p:nvSpPr>
        <p:spPr>
          <a:xfrm>
            <a:off x="3478530" y="3776345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碳封存能力评估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3" name="圆角矩形 46"/>
          <p:cNvSpPr/>
          <p:nvPr/>
        </p:nvSpPr>
        <p:spPr>
          <a:xfrm>
            <a:off x="3555365" y="4004310"/>
            <a:ext cx="712470" cy="288925"/>
          </a:xfrm>
          <a:prstGeom prst="roundRect">
            <a:avLst>
              <a:gd name="adj" fmla="val 0"/>
            </a:avLst>
          </a:prstGeom>
          <a:solidFill>
            <a:srgbClr val="D8EEE3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圆角矩形 46"/>
          <p:cNvSpPr/>
          <p:nvPr/>
        </p:nvSpPr>
        <p:spPr>
          <a:xfrm>
            <a:off x="3440430" y="402653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CO₂捕获速率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kg CO₂/t·年</a:t>
            </a:r>
            <a:endParaRPr lang="zh-CN" altLang="en-US" sz="6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6" name="圆角矩形 46"/>
          <p:cNvSpPr/>
          <p:nvPr/>
        </p:nvSpPr>
        <p:spPr>
          <a:xfrm>
            <a:off x="4352290" y="4003675"/>
            <a:ext cx="712470" cy="288925"/>
          </a:xfrm>
          <a:prstGeom prst="roundRect">
            <a:avLst>
              <a:gd name="adj" fmla="val 0"/>
            </a:avLst>
          </a:prstGeom>
          <a:solidFill>
            <a:srgbClr val="D8EEE3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7" name="圆角矩形 46"/>
          <p:cNvSpPr/>
          <p:nvPr/>
        </p:nvSpPr>
        <p:spPr>
          <a:xfrm>
            <a:off x="4237355" y="4025900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碳酸盐形成量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矿物转化率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圆角矩形 46"/>
          <p:cNvSpPr/>
          <p:nvPr/>
        </p:nvSpPr>
        <p:spPr>
          <a:xfrm>
            <a:off x="5282565" y="3776345"/>
            <a:ext cx="1656080" cy="576000"/>
          </a:xfrm>
          <a:prstGeom prst="roundRect">
            <a:avLst>
              <a:gd name="adj" fmla="val 0"/>
            </a:avLst>
          </a:prstGeom>
          <a:solidFill>
            <a:srgbClr val="E6F3F1">
              <a:alpha val="66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圆角矩形 46"/>
          <p:cNvSpPr/>
          <p:nvPr/>
        </p:nvSpPr>
        <p:spPr>
          <a:xfrm>
            <a:off x="5269230" y="3778885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土壤改良效果评估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圆角矩形 46"/>
          <p:cNvSpPr/>
          <p:nvPr/>
        </p:nvSpPr>
        <p:spPr>
          <a:xfrm>
            <a:off x="5343525" y="4006850"/>
            <a:ext cx="712470" cy="288925"/>
          </a:xfrm>
          <a:prstGeom prst="roundRect">
            <a:avLst>
              <a:gd name="adj" fmla="val 0"/>
            </a:avLst>
          </a:prstGeom>
          <a:solidFill>
            <a:srgbClr val="D8EEE3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圆角矩形 46"/>
          <p:cNvSpPr/>
          <p:nvPr/>
        </p:nvSpPr>
        <p:spPr>
          <a:xfrm>
            <a:off x="5228590" y="402907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土壤pH值变化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酸度中和能力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5" name="圆角矩形 46"/>
          <p:cNvSpPr/>
          <p:nvPr/>
        </p:nvSpPr>
        <p:spPr>
          <a:xfrm>
            <a:off x="6140450" y="4006215"/>
            <a:ext cx="712470" cy="288925"/>
          </a:xfrm>
          <a:prstGeom prst="roundRect">
            <a:avLst>
              <a:gd name="adj" fmla="val 0"/>
            </a:avLst>
          </a:prstGeom>
          <a:solidFill>
            <a:srgbClr val="D8EEE3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6" name="圆角矩形 46"/>
          <p:cNvSpPr/>
          <p:nvPr/>
        </p:nvSpPr>
        <p:spPr>
          <a:xfrm>
            <a:off x="6025515" y="4028440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养分含量变化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土壤肥力提升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1575435" y="4502150"/>
            <a:ext cx="5482590" cy="1214755"/>
          </a:xfrm>
          <a:prstGeom prst="rect">
            <a:avLst/>
          </a:prstGeom>
          <a:noFill/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9" name="圆角矩形 46"/>
          <p:cNvSpPr/>
          <p:nvPr/>
        </p:nvSpPr>
        <p:spPr>
          <a:xfrm>
            <a:off x="1692910" y="5035550"/>
            <a:ext cx="1656080" cy="611505"/>
          </a:xfrm>
          <a:prstGeom prst="roundRect">
            <a:avLst>
              <a:gd name="adj" fmla="val 0"/>
            </a:avLst>
          </a:prstGeom>
          <a:solidFill>
            <a:srgbClr val="C6D4EF">
              <a:alpha val="24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0" name="圆角矩形 46"/>
          <p:cNvSpPr/>
          <p:nvPr/>
        </p:nvSpPr>
        <p:spPr>
          <a:xfrm>
            <a:off x="1679575" y="503809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参数优化调控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2" name="圆角矩形 46"/>
          <p:cNvSpPr/>
          <p:nvPr/>
        </p:nvSpPr>
        <p:spPr>
          <a:xfrm>
            <a:off x="1744345" y="5246370"/>
            <a:ext cx="756000" cy="360000"/>
          </a:xfrm>
          <a:prstGeom prst="roundRect">
            <a:avLst>
              <a:gd name="adj" fmla="val 0"/>
            </a:avLst>
          </a:prstGeom>
          <a:solidFill>
            <a:srgbClr val="E0EEFA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3" name="圆角矩形 46"/>
          <p:cNvSpPr/>
          <p:nvPr/>
        </p:nvSpPr>
        <p:spPr>
          <a:xfrm>
            <a:off x="1671955" y="5309235"/>
            <a:ext cx="909955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多矿物组合配比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协同增效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5" name="圆角矩形 46"/>
          <p:cNvSpPr/>
          <p:nvPr/>
        </p:nvSpPr>
        <p:spPr>
          <a:xfrm>
            <a:off x="2550795" y="5246370"/>
            <a:ext cx="756000" cy="360000"/>
          </a:xfrm>
          <a:prstGeom prst="roundRect">
            <a:avLst>
              <a:gd name="adj" fmla="val 0"/>
            </a:avLst>
          </a:prstGeom>
          <a:solidFill>
            <a:srgbClr val="E0EEFA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圆角矩形 46"/>
          <p:cNvSpPr/>
          <p:nvPr/>
        </p:nvSpPr>
        <p:spPr>
          <a:xfrm>
            <a:off x="2456180" y="530923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施用量优化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成本效益平衡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1694180" y="4556760"/>
            <a:ext cx="5256000" cy="252000"/>
          </a:xfrm>
          <a:prstGeom prst="roundRect">
            <a:avLst>
              <a:gd name="adj" fmla="val 50000"/>
            </a:avLst>
          </a:prstGeom>
          <a:solidFill>
            <a:srgbClr val="C6D4E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应用优化与技术集成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69" name="圆角矩形 46"/>
          <p:cNvSpPr/>
          <p:nvPr/>
        </p:nvSpPr>
        <p:spPr>
          <a:xfrm>
            <a:off x="3491865" y="5035550"/>
            <a:ext cx="1656080" cy="611505"/>
          </a:xfrm>
          <a:prstGeom prst="roundRect">
            <a:avLst>
              <a:gd name="adj" fmla="val 0"/>
            </a:avLst>
          </a:prstGeom>
          <a:solidFill>
            <a:srgbClr val="C6D4EF">
              <a:alpha val="24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圆角矩形 46"/>
          <p:cNvSpPr/>
          <p:nvPr/>
        </p:nvSpPr>
        <p:spPr>
          <a:xfrm>
            <a:off x="3478530" y="503809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应用技术集成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2" name="圆角矩形 46"/>
          <p:cNvSpPr/>
          <p:nvPr/>
        </p:nvSpPr>
        <p:spPr>
          <a:xfrm>
            <a:off x="3546475" y="5243830"/>
            <a:ext cx="756000" cy="360000"/>
          </a:xfrm>
          <a:prstGeom prst="roundRect">
            <a:avLst>
              <a:gd name="adj" fmla="val 0"/>
            </a:avLst>
          </a:prstGeom>
          <a:solidFill>
            <a:srgbClr val="E0EEFA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3" name="圆角矩形 46"/>
          <p:cNvSpPr/>
          <p:nvPr/>
        </p:nvSpPr>
        <p:spPr>
          <a:xfrm>
            <a:off x="3526790" y="5309235"/>
            <a:ext cx="81661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农田施用技术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精准农业集成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5" name="圆角矩形 46"/>
          <p:cNvSpPr/>
          <p:nvPr/>
        </p:nvSpPr>
        <p:spPr>
          <a:xfrm>
            <a:off x="4349750" y="5243195"/>
            <a:ext cx="756000" cy="360000"/>
          </a:xfrm>
          <a:prstGeom prst="roundRect">
            <a:avLst>
              <a:gd name="adj" fmla="val 0"/>
            </a:avLst>
          </a:prstGeom>
          <a:solidFill>
            <a:srgbClr val="E0EEFA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6" name="圆角矩形 46"/>
          <p:cNvSpPr/>
          <p:nvPr/>
        </p:nvSpPr>
        <p:spPr>
          <a:xfrm>
            <a:off x="4330700" y="5309235"/>
            <a:ext cx="81661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生态修复应用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退化土壤改良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圆角矩形 46"/>
          <p:cNvSpPr/>
          <p:nvPr/>
        </p:nvSpPr>
        <p:spPr>
          <a:xfrm>
            <a:off x="5280660" y="5038090"/>
            <a:ext cx="1656080" cy="611505"/>
          </a:xfrm>
          <a:prstGeom prst="roundRect">
            <a:avLst>
              <a:gd name="adj" fmla="val 0"/>
            </a:avLst>
          </a:prstGeom>
          <a:solidFill>
            <a:srgbClr val="C6D4EF">
              <a:alpha val="24000"/>
            </a:srgbClr>
          </a:solid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圆角矩形 46"/>
          <p:cNvSpPr/>
          <p:nvPr/>
        </p:nvSpPr>
        <p:spPr>
          <a:xfrm>
            <a:off x="5267325" y="504063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经济环境效益分析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1" name="圆角矩形 46"/>
          <p:cNvSpPr/>
          <p:nvPr/>
        </p:nvSpPr>
        <p:spPr>
          <a:xfrm>
            <a:off x="5341620" y="5247640"/>
            <a:ext cx="756000" cy="360000"/>
          </a:xfrm>
          <a:prstGeom prst="roundRect">
            <a:avLst>
              <a:gd name="adj" fmla="val 0"/>
            </a:avLst>
          </a:prstGeom>
          <a:solidFill>
            <a:srgbClr val="E0EEFA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2" name="圆角矩形 46"/>
          <p:cNvSpPr/>
          <p:nvPr/>
        </p:nvSpPr>
        <p:spPr>
          <a:xfrm>
            <a:off x="5236845" y="530923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全生命周期评价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能源消耗与环境影响</a:t>
            </a:r>
            <a:endParaRPr lang="zh-CN" altLang="en-US" sz="6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4" name="圆角矩形 46"/>
          <p:cNvSpPr/>
          <p:nvPr/>
        </p:nvSpPr>
        <p:spPr>
          <a:xfrm>
            <a:off x="6169025" y="5247640"/>
            <a:ext cx="720000" cy="360000"/>
          </a:xfrm>
          <a:prstGeom prst="roundRect">
            <a:avLst>
              <a:gd name="adj" fmla="val 0"/>
            </a:avLst>
          </a:prstGeom>
          <a:solidFill>
            <a:srgbClr val="E0EEFA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5" name="圆角矩形 46"/>
          <p:cNvSpPr/>
          <p:nvPr/>
        </p:nvSpPr>
        <p:spPr>
          <a:xfrm>
            <a:off x="6077585" y="5309235"/>
            <a:ext cx="91059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碳交易价值评估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农业增产效益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457835" y="3270250"/>
            <a:ext cx="969645" cy="1144270"/>
          </a:xfrm>
          <a:prstGeom prst="rect">
            <a:avLst/>
          </a:prstGeom>
          <a:solidFill>
            <a:srgbClr val="BEE2DE">
              <a:alpha val="21000"/>
            </a:srgb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457200" y="4502150"/>
            <a:ext cx="969645" cy="572135"/>
          </a:xfrm>
          <a:prstGeom prst="rect">
            <a:avLst/>
          </a:prstGeom>
          <a:solidFill>
            <a:srgbClr val="C2DEF6">
              <a:alpha val="50000"/>
            </a:srgb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矿物质组合优化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工艺参数精确调控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460375" y="5122545"/>
            <a:ext cx="969645" cy="592455"/>
          </a:xfrm>
          <a:prstGeom prst="rect">
            <a:avLst/>
          </a:prstGeom>
          <a:solidFill>
            <a:srgbClr val="C2DEF6">
              <a:alpha val="50000"/>
            </a:srgb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农业可持续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发展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气候变化缓解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战略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2" name="圆角矩形 46"/>
          <p:cNvSpPr/>
          <p:nvPr/>
        </p:nvSpPr>
        <p:spPr>
          <a:xfrm>
            <a:off x="534670" y="2488565"/>
            <a:ext cx="814705" cy="636270"/>
          </a:xfrm>
          <a:prstGeom prst="round2DiagRect">
            <a:avLst/>
          </a:prstGeom>
          <a:solidFill>
            <a:srgbClr val="D6DBD7">
              <a:alpha val="58000"/>
            </a:srgbClr>
          </a:solidFill>
          <a:ln w="12700" cmpd="sng"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反应条件与路径设计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3" name="圆角矩形 46"/>
          <p:cNvSpPr/>
          <p:nvPr/>
        </p:nvSpPr>
        <p:spPr>
          <a:xfrm>
            <a:off x="535305" y="1777365"/>
            <a:ext cx="814705" cy="652780"/>
          </a:xfrm>
          <a:prstGeom prst="round2DiagRect">
            <a:avLst/>
          </a:prstGeom>
          <a:solidFill>
            <a:srgbClr val="D6DBD7">
              <a:alpha val="58000"/>
            </a:srgbClr>
          </a:solidFill>
          <a:ln w="12700" cmpd="sng"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矿物质选择与预处理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4" name="圆角矩形 46"/>
          <p:cNvSpPr/>
          <p:nvPr/>
        </p:nvSpPr>
        <p:spPr>
          <a:xfrm>
            <a:off x="544195" y="3876040"/>
            <a:ext cx="814705" cy="455930"/>
          </a:xfrm>
          <a:prstGeom prst="round2DiagRect">
            <a:avLst/>
          </a:prstGeom>
          <a:solidFill>
            <a:srgbClr val="C2E5CF">
              <a:alpha val="44000"/>
            </a:srgbClr>
          </a:solidFill>
          <a:ln w="12700" cmpd="sng"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土壤改良效果评价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5" name="圆角矩形 46"/>
          <p:cNvSpPr/>
          <p:nvPr/>
        </p:nvSpPr>
        <p:spPr>
          <a:xfrm>
            <a:off x="544830" y="3361690"/>
            <a:ext cx="814705" cy="455295"/>
          </a:xfrm>
          <a:prstGeom prst="round2DiagRect">
            <a:avLst/>
          </a:prstGeom>
          <a:solidFill>
            <a:srgbClr val="C2E5CF">
              <a:alpha val="44000"/>
            </a:srgbClr>
          </a:solidFill>
          <a:ln w="12700" cmpd="sng"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碳封存能力测试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1426845" y="3725615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62000">
                <a:srgbClr val="529C95">
                  <a:alpha val="66000"/>
                </a:srgbClr>
              </a:gs>
              <a:gs pos="100000">
                <a:srgbClr val="529C95"/>
              </a:gs>
            </a:gsLst>
            <a:lin ang="0" scaled="0"/>
          </a:gradFill>
          <a:ln>
            <a:solidFill>
              <a:srgbClr val="529C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1441450" y="2373065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62000">
                <a:srgbClr val="DCE3E7"/>
              </a:gs>
              <a:gs pos="100000">
                <a:srgbClr val="969CA0"/>
              </a:gs>
            </a:gsLst>
            <a:lin ang="0" scaled="0"/>
          </a:gradFill>
          <a:ln>
            <a:solidFill>
              <a:srgbClr val="969C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肘形连接符 11"/>
          <p:cNvCxnSpPr>
            <a:stCxn id="15" idx="2"/>
            <a:endCxn id="23" idx="0"/>
          </p:cNvCxnSpPr>
          <p:nvPr/>
        </p:nvCxnSpPr>
        <p:spPr>
          <a:xfrm rot="5400000" flipV="1">
            <a:off x="5120958" y="-61277"/>
            <a:ext cx="203200" cy="1800225"/>
          </a:xfrm>
          <a:prstGeom prst="bentConnector3">
            <a:avLst>
              <a:gd name="adj1" fmla="val 36562"/>
            </a:avLst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5400000">
            <a:off x="3321368" y="-60642"/>
            <a:ext cx="203200" cy="1798955"/>
          </a:xfrm>
          <a:prstGeom prst="bentConnector3">
            <a:avLst>
              <a:gd name="adj1" fmla="val 37500"/>
            </a:avLst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15" idx="2"/>
            <a:endCxn id="19" idx="0"/>
          </p:cNvCxnSpPr>
          <p:nvPr/>
        </p:nvCxnSpPr>
        <p:spPr>
          <a:xfrm rot="5400000">
            <a:off x="4220845" y="838835"/>
            <a:ext cx="203200" cy="3175"/>
          </a:xfrm>
          <a:prstGeom prst="bentConnector2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49" idx="2"/>
            <a:endCxn id="94" idx="0"/>
          </p:cNvCxnSpPr>
          <p:nvPr/>
        </p:nvCxnSpPr>
        <p:spPr>
          <a:xfrm rot="5400000" flipV="1">
            <a:off x="5090478" y="1244918"/>
            <a:ext cx="212725" cy="1771650"/>
          </a:xfrm>
          <a:prstGeom prst="bentConnector3">
            <a:avLst>
              <a:gd name="adj1" fmla="val 33134"/>
            </a:avLst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49" idx="2"/>
            <a:endCxn id="53" idx="0"/>
          </p:cNvCxnSpPr>
          <p:nvPr/>
        </p:nvCxnSpPr>
        <p:spPr>
          <a:xfrm rot="5400000">
            <a:off x="3315335" y="1229360"/>
            <a:ext cx="200660" cy="1790700"/>
          </a:xfrm>
          <a:prstGeom prst="bentConnector3">
            <a:avLst>
              <a:gd name="adj1" fmla="val 36392"/>
            </a:avLst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49" idx="2"/>
            <a:endCxn id="109" idx="0"/>
          </p:cNvCxnSpPr>
          <p:nvPr/>
        </p:nvCxnSpPr>
        <p:spPr>
          <a:xfrm rot="5400000">
            <a:off x="4210685" y="2124710"/>
            <a:ext cx="200660" cy="3175"/>
          </a:xfrm>
          <a:prstGeom prst="bentConnector2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138" idx="2"/>
            <a:endCxn id="150" idx="0"/>
          </p:cNvCxnSpPr>
          <p:nvPr/>
        </p:nvCxnSpPr>
        <p:spPr>
          <a:xfrm rot="5400000" flipV="1">
            <a:off x="5121593" y="2787333"/>
            <a:ext cx="192405" cy="1790700"/>
          </a:xfrm>
          <a:prstGeom prst="bentConnector3">
            <a:avLst>
              <a:gd name="adj1" fmla="val 41254"/>
            </a:avLst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38" idx="2"/>
            <a:endCxn id="125" idx="0"/>
          </p:cNvCxnSpPr>
          <p:nvPr/>
        </p:nvCxnSpPr>
        <p:spPr>
          <a:xfrm rot="5400000">
            <a:off x="3329305" y="2782570"/>
            <a:ext cx="189865" cy="1796415"/>
          </a:xfrm>
          <a:prstGeom prst="bentConnector3">
            <a:avLst>
              <a:gd name="adj1" fmla="val 41137"/>
            </a:avLst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38" idx="2"/>
            <a:endCxn id="141" idx="0"/>
          </p:cNvCxnSpPr>
          <p:nvPr/>
        </p:nvCxnSpPr>
        <p:spPr>
          <a:xfrm rot="5400000">
            <a:off x="4227513" y="3681413"/>
            <a:ext cx="189865" cy="3175"/>
          </a:xfrm>
          <a:prstGeom prst="bentConnector2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167" idx="2"/>
            <a:endCxn id="179" idx="0"/>
          </p:cNvCxnSpPr>
          <p:nvPr/>
        </p:nvCxnSpPr>
        <p:spPr>
          <a:xfrm rot="5400000" flipV="1">
            <a:off x="5100955" y="4029710"/>
            <a:ext cx="231775" cy="1788795"/>
          </a:xfrm>
          <a:prstGeom prst="bentConnector3">
            <a:avLst>
              <a:gd name="adj1" fmla="val 50137"/>
            </a:avLst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67" idx="2"/>
            <a:endCxn id="160" idx="0"/>
          </p:cNvCxnSpPr>
          <p:nvPr/>
        </p:nvCxnSpPr>
        <p:spPr>
          <a:xfrm rot="5400000">
            <a:off x="3308350" y="4023995"/>
            <a:ext cx="229235" cy="1798955"/>
          </a:xfrm>
          <a:prstGeom prst="bentConnector3">
            <a:avLst>
              <a:gd name="adj1" fmla="val 50139"/>
            </a:avLst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167" idx="2"/>
            <a:endCxn id="170" idx="0"/>
          </p:cNvCxnSpPr>
          <p:nvPr/>
        </p:nvCxnSpPr>
        <p:spPr>
          <a:xfrm rot="5400000">
            <a:off x="4207828" y="4923473"/>
            <a:ext cx="229235" cy="3175"/>
          </a:xfrm>
          <a:prstGeom prst="bentConnector2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右箭头 332"/>
          <p:cNvSpPr/>
          <p:nvPr/>
        </p:nvSpPr>
        <p:spPr>
          <a:xfrm>
            <a:off x="1441450" y="1004640"/>
            <a:ext cx="144000" cy="165100"/>
          </a:xfrm>
          <a:prstGeom prst="rightArrow">
            <a:avLst/>
          </a:prstGeom>
          <a:gradFill>
            <a:gsLst>
              <a:gs pos="3000">
                <a:schemeClr val="bg1"/>
              </a:gs>
              <a:gs pos="67000">
                <a:srgbClr val="B68ECE"/>
              </a:gs>
              <a:gs pos="100000">
                <a:srgbClr val="9E7BB5"/>
              </a:gs>
            </a:gsLst>
            <a:lin ang="0" scaled="0"/>
          </a:gradFill>
          <a:ln>
            <a:solidFill>
              <a:srgbClr val="9E7B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1441450" y="5000060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62000">
                <a:srgbClr val="8DA2F0"/>
              </a:gs>
              <a:gs pos="100000">
                <a:srgbClr val="9D9AF3"/>
              </a:gs>
            </a:gsLst>
            <a:lin ang="0" scaled="0"/>
          </a:gradFill>
          <a:ln>
            <a:solidFill>
              <a:srgbClr val="6684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0" name="同侧圆角矩形 279"/>
          <p:cNvSpPr/>
          <p:nvPr/>
        </p:nvSpPr>
        <p:spPr>
          <a:xfrm>
            <a:off x="116205" y="63500"/>
            <a:ext cx="6938010" cy="312420"/>
          </a:xfrm>
          <a:prstGeom prst="round2Same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矿物质强化风化技术用于碳封存与土壤改良研究</a:t>
            </a:r>
            <a:endParaRPr lang="zh-CN" altLang="en-US" sz="14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右箭头标注 4"/>
          <p:cNvSpPr/>
          <p:nvPr/>
        </p:nvSpPr>
        <p:spPr>
          <a:xfrm>
            <a:off x="116205" y="1725930"/>
            <a:ext cx="318135" cy="1474470"/>
          </a:xfrm>
          <a:prstGeom prst="rightArrowCallou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研究体系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右箭头标注 5"/>
          <p:cNvSpPr/>
          <p:nvPr/>
        </p:nvSpPr>
        <p:spPr>
          <a:xfrm>
            <a:off x="116205" y="3275965"/>
            <a:ext cx="322580" cy="1137285"/>
          </a:xfrm>
          <a:prstGeom prst="rightArrowCallou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实验评估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右箭头标注 6"/>
          <p:cNvSpPr/>
          <p:nvPr/>
        </p:nvSpPr>
        <p:spPr>
          <a:xfrm>
            <a:off x="116205" y="4504690"/>
            <a:ext cx="318135" cy="569595"/>
          </a:xfrm>
          <a:prstGeom prst="rightArrowCallou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优化调控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右箭头标注 7"/>
          <p:cNvSpPr/>
          <p:nvPr/>
        </p:nvSpPr>
        <p:spPr>
          <a:xfrm>
            <a:off x="116205" y="5112385"/>
            <a:ext cx="318135" cy="589915"/>
          </a:xfrm>
          <a:prstGeom prst="rightArrowCallou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应用前景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2" name="矩形 291"/>
          <p:cNvSpPr/>
          <p:nvPr/>
        </p:nvSpPr>
        <p:spPr>
          <a:xfrm>
            <a:off x="1571625" y="429895"/>
            <a:ext cx="5482590" cy="1214120"/>
          </a:xfrm>
          <a:prstGeom prst="rect">
            <a:avLst/>
          </a:prstGeom>
          <a:noFill/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7835" y="429895"/>
            <a:ext cx="973455" cy="611505"/>
          </a:xfrm>
          <a:prstGeom prst="rect">
            <a:avLst/>
          </a:prstGeom>
          <a:solidFill>
            <a:schemeClr val="bg1">
              <a:lumMod val="95000"/>
              <a:alpha val="35000"/>
            </a:scheme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10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如何实现矿物质高效CO₂捕获与土壤质量改善的协同优化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的协同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0" name="右箭头标注 9"/>
          <p:cNvSpPr/>
          <p:nvPr/>
        </p:nvSpPr>
        <p:spPr>
          <a:xfrm>
            <a:off x="116205" y="450215"/>
            <a:ext cx="318135" cy="548005"/>
          </a:xfrm>
          <a:prstGeom prst="rightArrowCallou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提出问题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694180" y="485140"/>
            <a:ext cx="5256000" cy="252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矿物质强化风化矿物质强化风化理论基础</a:t>
            </a:r>
            <a:endParaRPr lang="zh-CN" altLang="en-US" sz="12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1" name="圆角矩形 46"/>
          <p:cNvSpPr/>
          <p:nvPr/>
        </p:nvSpPr>
        <p:spPr>
          <a:xfrm>
            <a:off x="1695450" y="940435"/>
            <a:ext cx="1656080" cy="63563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9" name="圆角矩形 46"/>
          <p:cNvSpPr/>
          <p:nvPr/>
        </p:nvSpPr>
        <p:spPr>
          <a:xfrm>
            <a:off x="1734185" y="979170"/>
            <a:ext cx="1583690" cy="215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矿物质风化反应机理</a:t>
            </a:r>
            <a:endParaRPr lang="zh-CN" altLang="en-US"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2" name="圆角矩形 46"/>
          <p:cNvSpPr/>
          <p:nvPr/>
        </p:nvSpPr>
        <p:spPr>
          <a:xfrm>
            <a:off x="1661160" y="1245235"/>
            <a:ext cx="170370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硅酸盐/碳酸盐矿物溶解动力学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CO₂转化为碳酸氢根/碳酸根过程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" name="圆角矩形 46"/>
          <p:cNvSpPr/>
          <p:nvPr/>
        </p:nvSpPr>
        <p:spPr>
          <a:xfrm>
            <a:off x="3494405" y="940435"/>
            <a:ext cx="1656080" cy="63563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" name="圆角矩形 46"/>
          <p:cNvSpPr/>
          <p:nvPr/>
        </p:nvSpPr>
        <p:spPr>
          <a:xfrm>
            <a:off x="3532505" y="979170"/>
            <a:ext cx="1583690" cy="215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土壤-矿物质相互作用</a:t>
            </a:r>
            <a:endParaRPr lang="zh-CN" altLang="en-US"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" name="圆角矩形 46"/>
          <p:cNvSpPr/>
          <p:nvPr/>
        </p:nvSpPr>
        <p:spPr>
          <a:xfrm>
            <a:off x="3459480" y="1224915"/>
            <a:ext cx="170370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矿物质养分释放与土壤富集机制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土壤微生物对矿物风化的影响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圆角矩形 46"/>
          <p:cNvSpPr/>
          <p:nvPr/>
        </p:nvSpPr>
        <p:spPr>
          <a:xfrm>
            <a:off x="5294630" y="940435"/>
            <a:ext cx="1656080" cy="63563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圆角矩形 46"/>
          <p:cNvSpPr/>
          <p:nvPr/>
        </p:nvSpPr>
        <p:spPr>
          <a:xfrm>
            <a:off x="5330825" y="979170"/>
            <a:ext cx="1583690" cy="215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碳封存潜力评估模型</a:t>
            </a:r>
            <a:endParaRPr lang="zh-CN" altLang="en-US"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圆角矩形 46"/>
          <p:cNvSpPr/>
          <p:nvPr/>
        </p:nvSpPr>
        <p:spPr>
          <a:xfrm>
            <a:off x="5257800" y="1224915"/>
            <a:ext cx="170370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不同类型矿物理论CO₂吸收能力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120000"/>
              </a:lnSpc>
            </a:pPr>
            <a:r>
              <a:rPr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反应动力学与环境影响因素</a:t>
            </a:r>
            <a:endParaRPr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75435" y="1710055"/>
            <a:ext cx="5482590" cy="1489710"/>
          </a:xfrm>
          <a:prstGeom prst="rect">
            <a:avLst/>
          </a:prstGeom>
          <a:noFill/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7200" y="1097915"/>
            <a:ext cx="974090" cy="547370"/>
          </a:xfrm>
          <a:prstGeom prst="rect">
            <a:avLst/>
          </a:prstGeom>
          <a:solidFill>
            <a:schemeClr val="bg1">
              <a:lumMod val="95000"/>
              <a:alpha val="35000"/>
            </a:scheme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10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矿物质-CO₂-土壤-水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多相反应机理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47" name="右箭头标注 46"/>
          <p:cNvSpPr/>
          <p:nvPr/>
        </p:nvSpPr>
        <p:spPr>
          <a:xfrm>
            <a:off x="116205" y="1097915"/>
            <a:ext cx="318135" cy="548005"/>
          </a:xfrm>
          <a:prstGeom prst="rightArrowCallou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理论方法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1683015" y="1772285"/>
            <a:ext cx="5256000" cy="252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矿物质选择与预处理研究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57200" y="1710055"/>
            <a:ext cx="969645" cy="1489710"/>
          </a:xfrm>
          <a:prstGeom prst="rect">
            <a:avLst/>
          </a:prstGeom>
          <a:solidFill>
            <a:schemeClr val="bg1">
              <a:lumMod val="95000"/>
              <a:alpha val="35000"/>
            </a:scheme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577975" y="3261995"/>
            <a:ext cx="5482590" cy="1152000"/>
          </a:xfrm>
          <a:prstGeom prst="rect">
            <a:avLst/>
          </a:prstGeom>
          <a:noFill/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1" name="圆角矩形 46"/>
          <p:cNvSpPr/>
          <p:nvPr/>
        </p:nvSpPr>
        <p:spPr>
          <a:xfrm>
            <a:off x="1692275" y="2225040"/>
            <a:ext cx="1656080" cy="90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" name="圆角矩形 46"/>
          <p:cNvSpPr/>
          <p:nvPr/>
        </p:nvSpPr>
        <p:spPr>
          <a:xfrm>
            <a:off x="1676400" y="222504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适用矿物质种类选择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2" name="圆角矩形 46"/>
          <p:cNvSpPr/>
          <p:nvPr/>
        </p:nvSpPr>
        <p:spPr>
          <a:xfrm>
            <a:off x="1750695" y="2453005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2" name="圆角矩形 46"/>
          <p:cNvSpPr/>
          <p:nvPr/>
        </p:nvSpPr>
        <p:spPr>
          <a:xfrm>
            <a:off x="2547620" y="2452370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5" name="圆角矩形 46"/>
          <p:cNvSpPr/>
          <p:nvPr/>
        </p:nvSpPr>
        <p:spPr>
          <a:xfrm>
            <a:off x="1756410" y="2783840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圆角矩形 46"/>
          <p:cNvSpPr/>
          <p:nvPr/>
        </p:nvSpPr>
        <p:spPr>
          <a:xfrm>
            <a:off x="2554605" y="2783205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圆角矩形 46"/>
          <p:cNvSpPr/>
          <p:nvPr/>
        </p:nvSpPr>
        <p:spPr>
          <a:xfrm>
            <a:off x="5252085" y="2221865"/>
            <a:ext cx="1656080" cy="90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4" name="圆角矩形 46"/>
          <p:cNvSpPr/>
          <p:nvPr/>
        </p:nvSpPr>
        <p:spPr>
          <a:xfrm>
            <a:off x="5238750" y="2237105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适用矿物质种类选择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6" name="圆角矩形 46"/>
          <p:cNvSpPr/>
          <p:nvPr/>
        </p:nvSpPr>
        <p:spPr>
          <a:xfrm>
            <a:off x="5320030" y="2453005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9" name="圆角矩形 46"/>
          <p:cNvSpPr/>
          <p:nvPr/>
        </p:nvSpPr>
        <p:spPr>
          <a:xfrm>
            <a:off x="6116955" y="2452370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" name="圆角矩形 46"/>
          <p:cNvSpPr/>
          <p:nvPr/>
        </p:nvSpPr>
        <p:spPr>
          <a:xfrm>
            <a:off x="5320030" y="2783840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5" name="圆角矩形 46"/>
          <p:cNvSpPr/>
          <p:nvPr/>
        </p:nvSpPr>
        <p:spPr>
          <a:xfrm>
            <a:off x="6116955" y="2783205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8" name="圆角矩形 46"/>
          <p:cNvSpPr/>
          <p:nvPr/>
        </p:nvSpPr>
        <p:spPr>
          <a:xfrm>
            <a:off x="3482975" y="2221865"/>
            <a:ext cx="1656080" cy="90000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9" name="圆角矩形 46"/>
          <p:cNvSpPr/>
          <p:nvPr/>
        </p:nvSpPr>
        <p:spPr>
          <a:xfrm>
            <a:off x="3467100" y="222504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矿物质来源分类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1" name="圆角矩形 46"/>
          <p:cNvSpPr/>
          <p:nvPr/>
        </p:nvSpPr>
        <p:spPr>
          <a:xfrm>
            <a:off x="3550285" y="2453005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4" name="圆角矩形 46"/>
          <p:cNvSpPr/>
          <p:nvPr/>
        </p:nvSpPr>
        <p:spPr>
          <a:xfrm>
            <a:off x="4347210" y="2452370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" name="圆角矩形 46"/>
          <p:cNvSpPr/>
          <p:nvPr/>
        </p:nvSpPr>
        <p:spPr>
          <a:xfrm>
            <a:off x="3552190" y="2783205"/>
            <a:ext cx="1497965" cy="288290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736090" y="2463165"/>
            <a:ext cx="5234940" cy="598170"/>
            <a:chOff x="2745" y="3871"/>
            <a:chExt cx="8244" cy="942"/>
          </a:xfrm>
          <a:noFill/>
        </p:grpSpPr>
        <p:sp>
          <p:nvSpPr>
            <p:cNvPr id="69" name="圆角矩形 46"/>
            <p:cNvSpPr/>
            <p:nvPr/>
          </p:nvSpPr>
          <p:spPr>
            <a:xfrm>
              <a:off x="2745" y="3881"/>
              <a:ext cx="1202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2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橄榄石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20000"/>
                </a:lnSpc>
              </a:pPr>
              <a:r>
                <a:rPr lang="zh-CN" altLang="en-US" sz="6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(Mg,Fe)₂SiO₄</a:t>
              </a:r>
              <a:endPara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3" name="圆角矩形 46"/>
            <p:cNvSpPr/>
            <p:nvPr/>
          </p:nvSpPr>
          <p:spPr>
            <a:xfrm>
              <a:off x="3927" y="3871"/>
              <a:ext cx="1426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2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蛇纹石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20000"/>
                </a:lnSpc>
              </a:pPr>
              <a:r>
                <a:rPr lang="zh-CN" altLang="en-US" sz="6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Mg₃Si₂O₅(OH)₄</a:t>
              </a:r>
              <a:endPara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6" name="圆角矩形 46"/>
            <p:cNvSpPr/>
            <p:nvPr/>
          </p:nvSpPr>
          <p:spPr>
            <a:xfrm>
              <a:off x="2751" y="4407"/>
              <a:ext cx="1122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20000"/>
                </a:lnSpc>
              </a:pPr>
              <a:r>
                <a:rPr lang="en-US" altLang="zh-CN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 玄武岩粉</a:t>
              </a:r>
              <a:endParaRPr lang="en-US" altLang="zh-CN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20000"/>
                </a:lnSpc>
              </a:pPr>
              <a:r>
                <a:rPr lang="en-US" altLang="zh-CN" sz="6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复杂硅酸盐</a:t>
              </a:r>
              <a:endParaRPr lang="en-US" altLang="zh-CN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9" name="圆角矩形 46"/>
            <p:cNvSpPr/>
            <p:nvPr/>
          </p:nvSpPr>
          <p:spPr>
            <a:xfrm>
              <a:off x="3986" y="4392"/>
              <a:ext cx="1289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2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辉石类矿物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20000"/>
                </a:lnSpc>
              </a:pPr>
              <a:r>
                <a:rPr lang="zh-CN" altLang="en-US" sz="6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(Ca,Mg,Fe)SiO₃</a:t>
              </a:r>
              <a:endPara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7" name="圆角矩形 46"/>
            <p:cNvSpPr/>
            <p:nvPr/>
          </p:nvSpPr>
          <p:spPr>
            <a:xfrm>
              <a:off x="8202" y="3895"/>
              <a:ext cx="1532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物理处理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粉碎、筛分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0" name="圆角矩形 46"/>
            <p:cNvSpPr/>
            <p:nvPr/>
          </p:nvSpPr>
          <p:spPr>
            <a:xfrm>
              <a:off x="9457" y="3894"/>
              <a:ext cx="1532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热处理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焙烧活化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3" name="圆角矩形 46"/>
            <p:cNvSpPr/>
            <p:nvPr/>
          </p:nvSpPr>
          <p:spPr>
            <a:xfrm>
              <a:off x="8210" y="4416"/>
              <a:ext cx="1532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化学处理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酸/碱活化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6" name="圆角矩形 46"/>
            <p:cNvSpPr/>
            <p:nvPr/>
          </p:nvSpPr>
          <p:spPr>
            <a:xfrm>
              <a:off x="9572" y="4415"/>
              <a:ext cx="1275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生物处理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微生物预处理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2" name="圆角矩形 46"/>
            <p:cNvSpPr/>
            <p:nvPr/>
          </p:nvSpPr>
          <p:spPr>
            <a:xfrm>
              <a:off x="5394" y="3895"/>
              <a:ext cx="1532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天然矿产资源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矿石、砂砾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5" name="圆角矩形 46"/>
            <p:cNvSpPr/>
            <p:nvPr/>
          </p:nvSpPr>
          <p:spPr>
            <a:xfrm>
              <a:off x="6649" y="3894"/>
              <a:ext cx="1532" cy="397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工业副产物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钢渣、粉煤灰</a:t>
              </a:r>
              <a:endPara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1" name="圆角矩形 46"/>
            <p:cNvSpPr/>
            <p:nvPr/>
          </p:nvSpPr>
          <p:spPr>
            <a:xfrm>
              <a:off x="5944" y="4435"/>
              <a:ext cx="1610" cy="378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采矿废弃物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  <a:p>
              <a:pPr algn="ctr" fontAlgn="auto">
                <a:lnSpc>
                  <a:spcPct val="100000"/>
                </a:lnSpc>
              </a:pPr>
              <a:r>
                <a:rPr lang="zh-CN" altLang="en-US" sz="800" kern="100">
                  <a:solidFill>
                    <a:srgbClr val="000000"/>
                  </a:solidFill>
                  <a:latin typeface="微软雅黑" charset="-122"/>
                  <a:ea typeface="微软雅黑" charset="-122"/>
                  <a:cs typeface="Times New Roman" panose="02020603050405020304"/>
                  <a:sym typeface="Times New Roman" panose="02020603050405020304"/>
                </a:rPr>
                <a:t>尾矿、废石</a:t>
              </a:r>
              <a:endPara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124" name="圆角矩形 46"/>
          <p:cNvSpPr/>
          <p:nvPr/>
        </p:nvSpPr>
        <p:spPr>
          <a:xfrm>
            <a:off x="1695450" y="3773805"/>
            <a:ext cx="1656080" cy="57600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5" name="圆角矩形 46"/>
          <p:cNvSpPr/>
          <p:nvPr/>
        </p:nvSpPr>
        <p:spPr>
          <a:xfrm>
            <a:off x="1682115" y="3776345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实验评估</a:t>
            </a:r>
            <a:r>
              <a:rPr lang="zh-CN"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方法</a:t>
            </a:r>
            <a:endParaRPr lang="zh-CN"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圆角矩形 46"/>
          <p:cNvSpPr/>
          <p:nvPr/>
        </p:nvSpPr>
        <p:spPr>
          <a:xfrm>
            <a:off x="1756410" y="4004310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8" name="圆角矩形 46"/>
          <p:cNvSpPr/>
          <p:nvPr/>
        </p:nvSpPr>
        <p:spPr>
          <a:xfrm>
            <a:off x="1621155" y="402653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室内碳化实验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恒温恒湿条件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" name="圆角矩形 46"/>
          <p:cNvSpPr/>
          <p:nvPr/>
        </p:nvSpPr>
        <p:spPr>
          <a:xfrm>
            <a:off x="2553335" y="4003675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1" name="圆角矩形 46"/>
          <p:cNvSpPr/>
          <p:nvPr/>
        </p:nvSpPr>
        <p:spPr>
          <a:xfrm>
            <a:off x="2438400" y="4025900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温室盆栽试验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控制环境条件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1694180" y="3334385"/>
            <a:ext cx="5256000" cy="252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碳封存与土壤改良效果评估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40" name="圆角矩形 46"/>
          <p:cNvSpPr/>
          <p:nvPr/>
        </p:nvSpPr>
        <p:spPr>
          <a:xfrm>
            <a:off x="3494405" y="3773805"/>
            <a:ext cx="1656080" cy="57600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圆角矩形 46"/>
          <p:cNvSpPr/>
          <p:nvPr/>
        </p:nvSpPr>
        <p:spPr>
          <a:xfrm>
            <a:off x="3478530" y="3776345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碳封存能力评估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3" name="圆角矩形 46"/>
          <p:cNvSpPr/>
          <p:nvPr/>
        </p:nvSpPr>
        <p:spPr>
          <a:xfrm>
            <a:off x="3555365" y="4004310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圆角矩形 46"/>
          <p:cNvSpPr/>
          <p:nvPr/>
        </p:nvSpPr>
        <p:spPr>
          <a:xfrm>
            <a:off x="3440430" y="402653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CO₂捕获速率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kg CO₂/t·年</a:t>
            </a:r>
            <a:endParaRPr lang="zh-CN" altLang="en-US" sz="6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6" name="圆角矩形 46"/>
          <p:cNvSpPr/>
          <p:nvPr/>
        </p:nvSpPr>
        <p:spPr>
          <a:xfrm>
            <a:off x="4352290" y="4003675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7" name="圆角矩形 46"/>
          <p:cNvSpPr/>
          <p:nvPr/>
        </p:nvSpPr>
        <p:spPr>
          <a:xfrm>
            <a:off x="4237355" y="4025900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碳酸盐形成量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矿物转化率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圆角矩形 46"/>
          <p:cNvSpPr/>
          <p:nvPr/>
        </p:nvSpPr>
        <p:spPr>
          <a:xfrm>
            <a:off x="5282565" y="3776345"/>
            <a:ext cx="1656080" cy="57600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圆角矩形 46"/>
          <p:cNvSpPr/>
          <p:nvPr/>
        </p:nvSpPr>
        <p:spPr>
          <a:xfrm>
            <a:off x="5269230" y="3778885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土壤改良效果评估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圆角矩形 46"/>
          <p:cNvSpPr/>
          <p:nvPr/>
        </p:nvSpPr>
        <p:spPr>
          <a:xfrm>
            <a:off x="5343525" y="4006850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圆角矩形 46"/>
          <p:cNvSpPr/>
          <p:nvPr/>
        </p:nvSpPr>
        <p:spPr>
          <a:xfrm>
            <a:off x="5228590" y="402907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土壤pH值变化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酸度中和能力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5" name="圆角矩形 46"/>
          <p:cNvSpPr/>
          <p:nvPr/>
        </p:nvSpPr>
        <p:spPr>
          <a:xfrm>
            <a:off x="6140450" y="4006215"/>
            <a:ext cx="712470" cy="288925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6" name="圆角矩形 46"/>
          <p:cNvSpPr/>
          <p:nvPr/>
        </p:nvSpPr>
        <p:spPr>
          <a:xfrm>
            <a:off x="6025515" y="4028440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养分含量变化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0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土壤肥力提升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1575435" y="4502150"/>
            <a:ext cx="5482590" cy="1214755"/>
          </a:xfrm>
          <a:prstGeom prst="rect">
            <a:avLst/>
          </a:prstGeom>
          <a:noFill/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9" name="圆角矩形 46"/>
          <p:cNvSpPr/>
          <p:nvPr/>
        </p:nvSpPr>
        <p:spPr>
          <a:xfrm>
            <a:off x="1692910" y="5035550"/>
            <a:ext cx="1656080" cy="61150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0" name="圆角矩形 46"/>
          <p:cNvSpPr/>
          <p:nvPr/>
        </p:nvSpPr>
        <p:spPr>
          <a:xfrm>
            <a:off x="1679575" y="503809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参数优化调控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2" name="圆角矩形 46"/>
          <p:cNvSpPr/>
          <p:nvPr/>
        </p:nvSpPr>
        <p:spPr>
          <a:xfrm>
            <a:off x="1744345" y="5246370"/>
            <a:ext cx="756000" cy="360000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3" name="圆角矩形 46"/>
          <p:cNvSpPr/>
          <p:nvPr/>
        </p:nvSpPr>
        <p:spPr>
          <a:xfrm>
            <a:off x="1671955" y="5309235"/>
            <a:ext cx="909955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多矿物组合配比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协同增效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5" name="圆角矩形 46"/>
          <p:cNvSpPr/>
          <p:nvPr/>
        </p:nvSpPr>
        <p:spPr>
          <a:xfrm>
            <a:off x="2550795" y="5246370"/>
            <a:ext cx="756000" cy="360000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圆角矩形 46"/>
          <p:cNvSpPr/>
          <p:nvPr/>
        </p:nvSpPr>
        <p:spPr>
          <a:xfrm>
            <a:off x="2456180" y="530923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施用量优化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成本效益平衡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1694180" y="4556760"/>
            <a:ext cx="5256000" cy="252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应用优化与技术集成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69" name="圆角矩形 46"/>
          <p:cNvSpPr/>
          <p:nvPr/>
        </p:nvSpPr>
        <p:spPr>
          <a:xfrm>
            <a:off x="3491865" y="5035550"/>
            <a:ext cx="1656080" cy="61150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圆角矩形 46"/>
          <p:cNvSpPr/>
          <p:nvPr/>
        </p:nvSpPr>
        <p:spPr>
          <a:xfrm>
            <a:off x="3478530" y="503809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应用技术集成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2" name="圆角矩形 46"/>
          <p:cNvSpPr/>
          <p:nvPr/>
        </p:nvSpPr>
        <p:spPr>
          <a:xfrm>
            <a:off x="3546475" y="5243830"/>
            <a:ext cx="756000" cy="360000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3" name="圆角矩形 46"/>
          <p:cNvSpPr/>
          <p:nvPr/>
        </p:nvSpPr>
        <p:spPr>
          <a:xfrm>
            <a:off x="3526790" y="5309235"/>
            <a:ext cx="81661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农田施用技术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精准农业集成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5" name="圆角矩形 46"/>
          <p:cNvSpPr/>
          <p:nvPr/>
        </p:nvSpPr>
        <p:spPr>
          <a:xfrm>
            <a:off x="4349750" y="5243195"/>
            <a:ext cx="756000" cy="360000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6" name="圆角矩形 46"/>
          <p:cNvSpPr/>
          <p:nvPr/>
        </p:nvSpPr>
        <p:spPr>
          <a:xfrm>
            <a:off x="4330700" y="5309235"/>
            <a:ext cx="81661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生态修复应用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退化土壤改良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圆角矩形 46"/>
          <p:cNvSpPr/>
          <p:nvPr/>
        </p:nvSpPr>
        <p:spPr>
          <a:xfrm>
            <a:off x="5281295" y="5038090"/>
            <a:ext cx="1656080" cy="61150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圆角矩形 46"/>
          <p:cNvSpPr/>
          <p:nvPr/>
        </p:nvSpPr>
        <p:spPr>
          <a:xfrm>
            <a:off x="5267325" y="5040630"/>
            <a:ext cx="1687830" cy="2152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sz="900" b="1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经济环境效益分析</a:t>
            </a:r>
            <a:endParaRPr sz="900" b="1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1" name="圆角矩形 46"/>
          <p:cNvSpPr/>
          <p:nvPr/>
        </p:nvSpPr>
        <p:spPr>
          <a:xfrm>
            <a:off x="5341620" y="5247640"/>
            <a:ext cx="756000" cy="360000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2" name="圆角矩形 46"/>
          <p:cNvSpPr/>
          <p:nvPr/>
        </p:nvSpPr>
        <p:spPr>
          <a:xfrm>
            <a:off x="5236845" y="5309235"/>
            <a:ext cx="97282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全生命周期评价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6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能源消耗与环境影响</a:t>
            </a:r>
            <a:endParaRPr lang="zh-CN" altLang="en-US" sz="6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4" name="圆角矩形 46"/>
          <p:cNvSpPr/>
          <p:nvPr/>
        </p:nvSpPr>
        <p:spPr>
          <a:xfrm>
            <a:off x="6169025" y="5247640"/>
            <a:ext cx="720000" cy="360000"/>
          </a:xfrm>
          <a:prstGeom prst="roundRect">
            <a:avLst>
              <a:gd name="adj" fmla="val 0"/>
            </a:avLst>
          </a:prstGeom>
          <a:noFill/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5" name="圆角矩形 46"/>
          <p:cNvSpPr/>
          <p:nvPr/>
        </p:nvSpPr>
        <p:spPr>
          <a:xfrm>
            <a:off x="6077585" y="5309235"/>
            <a:ext cx="910590" cy="25209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碳交易价值评估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  <a:p>
            <a:pPr algn="ctr" fontAlgn="auto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农业增产效益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457835" y="3270250"/>
            <a:ext cx="969645" cy="1144270"/>
          </a:xfrm>
          <a:prstGeom prst="rect">
            <a:avLst/>
          </a:prstGeom>
          <a:solidFill>
            <a:schemeClr val="bg1">
              <a:lumMod val="95000"/>
              <a:alpha val="35000"/>
            </a:scheme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457200" y="4502150"/>
            <a:ext cx="969645" cy="572135"/>
          </a:xfrm>
          <a:prstGeom prst="rect">
            <a:avLst/>
          </a:prstGeom>
          <a:solidFill>
            <a:schemeClr val="bg1">
              <a:lumMod val="95000"/>
              <a:alpha val="35000"/>
            </a:scheme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矿物质组合优化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工艺参数精确调控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460375" y="5122545"/>
            <a:ext cx="969645" cy="592455"/>
          </a:xfrm>
          <a:prstGeom prst="rect">
            <a:avLst/>
          </a:prstGeom>
          <a:solidFill>
            <a:schemeClr val="bg1">
              <a:lumMod val="95000"/>
              <a:alpha val="35000"/>
            </a:schemeClr>
          </a:solidFill>
          <a:ln w="12700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农业可持续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发展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气候变化缓解</a:t>
            </a:r>
            <a:r>
              <a:rPr lang="zh-CN" altLang="en-US" sz="800">
                <a:solidFill>
                  <a:schemeClr val="tx1"/>
                </a:solidFill>
                <a:latin typeface="微软雅黑" charset="0"/>
                <a:ea typeface="微软雅黑" charset="0"/>
              </a:rPr>
              <a:t>战略</a:t>
            </a:r>
            <a:endParaRPr lang="zh-CN" altLang="en-US" sz="80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2" name="圆角矩形 46"/>
          <p:cNvSpPr/>
          <p:nvPr/>
        </p:nvSpPr>
        <p:spPr>
          <a:xfrm>
            <a:off x="534670" y="2488565"/>
            <a:ext cx="814705" cy="636270"/>
          </a:xfrm>
          <a:prstGeom prst="round2DiagRect">
            <a:avLst/>
          </a:prstGeom>
          <a:solidFill>
            <a:schemeClr val="bg1">
              <a:alpha val="58000"/>
            </a:schemeClr>
          </a:solidFill>
          <a:ln w="12700" cmpd="sng"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反应条件与路径设计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3" name="圆角矩形 46"/>
          <p:cNvSpPr/>
          <p:nvPr/>
        </p:nvSpPr>
        <p:spPr>
          <a:xfrm>
            <a:off x="535305" y="1777365"/>
            <a:ext cx="814705" cy="652780"/>
          </a:xfrm>
          <a:prstGeom prst="round2DiagRect">
            <a:avLst/>
          </a:prstGeom>
          <a:solidFill>
            <a:schemeClr val="bg1">
              <a:alpha val="58000"/>
            </a:schemeClr>
          </a:solidFill>
          <a:ln w="12700" cmpd="sng"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矿物质选择与预处理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4" name="圆角矩形 46"/>
          <p:cNvSpPr/>
          <p:nvPr/>
        </p:nvSpPr>
        <p:spPr>
          <a:xfrm>
            <a:off x="544195" y="3876040"/>
            <a:ext cx="814705" cy="455930"/>
          </a:xfrm>
          <a:prstGeom prst="round2Diag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土壤改良效果评价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5" name="圆角矩形 46"/>
          <p:cNvSpPr/>
          <p:nvPr/>
        </p:nvSpPr>
        <p:spPr>
          <a:xfrm>
            <a:off x="544830" y="3361690"/>
            <a:ext cx="814705" cy="455295"/>
          </a:xfrm>
          <a:prstGeom prst="round2Diag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800" kern="100">
                <a:solidFill>
                  <a:srgbClr val="000000"/>
                </a:solidFill>
                <a:latin typeface="微软雅黑" charset="-122"/>
                <a:ea typeface="微软雅黑" charset="-122"/>
                <a:cs typeface="Times New Roman" panose="02020603050405020304"/>
                <a:sym typeface="Times New Roman" panose="02020603050405020304"/>
              </a:rPr>
              <a:t>碳封存能力测试</a:t>
            </a:r>
            <a:endParaRPr lang="zh-CN" altLang="en-US" sz="800" kern="100">
              <a:solidFill>
                <a:srgbClr val="000000"/>
              </a:solidFill>
              <a:latin typeface="微软雅黑" charset="-122"/>
              <a:ea typeface="微软雅黑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1426845" y="3725615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45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1441450" y="2373065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45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肘形连接符 11"/>
          <p:cNvCxnSpPr>
            <a:stCxn id="15" idx="2"/>
            <a:endCxn id="23" idx="0"/>
          </p:cNvCxnSpPr>
          <p:nvPr/>
        </p:nvCxnSpPr>
        <p:spPr>
          <a:xfrm rot="5400000" flipV="1">
            <a:off x="5120958" y="-61277"/>
            <a:ext cx="203200" cy="1800225"/>
          </a:xfrm>
          <a:prstGeom prst="bentConnector3">
            <a:avLst>
              <a:gd name="adj1" fmla="val 36562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5400000">
            <a:off x="3321368" y="-60642"/>
            <a:ext cx="203200" cy="1798955"/>
          </a:xfrm>
          <a:prstGeom prst="bentConnector3">
            <a:avLst>
              <a:gd name="adj1" fmla="val 375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15" idx="2"/>
            <a:endCxn id="19" idx="0"/>
          </p:cNvCxnSpPr>
          <p:nvPr/>
        </p:nvCxnSpPr>
        <p:spPr>
          <a:xfrm rot="5400000">
            <a:off x="4220845" y="838835"/>
            <a:ext cx="203200" cy="3175"/>
          </a:xfrm>
          <a:prstGeom prst="bentConnector2">
            <a:avLst/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49" idx="2"/>
            <a:endCxn id="94" idx="0"/>
          </p:cNvCxnSpPr>
          <p:nvPr/>
        </p:nvCxnSpPr>
        <p:spPr>
          <a:xfrm rot="5400000" flipV="1">
            <a:off x="5090478" y="1244918"/>
            <a:ext cx="212725" cy="1771650"/>
          </a:xfrm>
          <a:prstGeom prst="bentConnector3">
            <a:avLst>
              <a:gd name="adj1" fmla="val 33134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49" idx="2"/>
            <a:endCxn id="53" idx="0"/>
          </p:cNvCxnSpPr>
          <p:nvPr/>
        </p:nvCxnSpPr>
        <p:spPr>
          <a:xfrm rot="5400000">
            <a:off x="3315335" y="1229360"/>
            <a:ext cx="200660" cy="1790700"/>
          </a:xfrm>
          <a:prstGeom prst="bentConnector3">
            <a:avLst>
              <a:gd name="adj1" fmla="val 36392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49" idx="2"/>
            <a:endCxn id="109" idx="0"/>
          </p:cNvCxnSpPr>
          <p:nvPr/>
        </p:nvCxnSpPr>
        <p:spPr>
          <a:xfrm rot="5400000">
            <a:off x="4210685" y="2124710"/>
            <a:ext cx="200660" cy="3175"/>
          </a:xfrm>
          <a:prstGeom prst="bentConnector2">
            <a:avLst/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138" idx="2"/>
            <a:endCxn id="150" idx="0"/>
          </p:cNvCxnSpPr>
          <p:nvPr/>
        </p:nvCxnSpPr>
        <p:spPr>
          <a:xfrm rot="5400000" flipV="1">
            <a:off x="5121593" y="2787333"/>
            <a:ext cx="192405" cy="1790700"/>
          </a:xfrm>
          <a:prstGeom prst="bentConnector3">
            <a:avLst>
              <a:gd name="adj1" fmla="val 41254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38" idx="2"/>
            <a:endCxn id="125" idx="0"/>
          </p:cNvCxnSpPr>
          <p:nvPr/>
        </p:nvCxnSpPr>
        <p:spPr>
          <a:xfrm rot="5400000">
            <a:off x="3329305" y="2782570"/>
            <a:ext cx="189865" cy="1796415"/>
          </a:xfrm>
          <a:prstGeom prst="bentConnector3">
            <a:avLst>
              <a:gd name="adj1" fmla="val 41137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38" idx="2"/>
            <a:endCxn id="141" idx="0"/>
          </p:cNvCxnSpPr>
          <p:nvPr/>
        </p:nvCxnSpPr>
        <p:spPr>
          <a:xfrm rot="5400000">
            <a:off x="4227513" y="3681413"/>
            <a:ext cx="189865" cy="3175"/>
          </a:xfrm>
          <a:prstGeom prst="bentConnector2">
            <a:avLst/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167" idx="2"/>
            <a:endCxn id="179" idx="0"/>
          </p:cNvCxnSpPr>
          <p:nvPr/>
        </p:nvCxnSpPr>
        <p:spPr>
          <a:xfrm rot="5400000" flipV="1">
            <a:off x="5100955" y="4029710"/>
            <a:ext cx="231775" cy="1788795"/>
          </a:xfrm>
          <a:prstGeom prst="bentConnector3">
            <a:avLst>
              <a:gd name="adj1" fmla="val 50137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67" idx="2"/>
            <a:endCxn id="160" idx="0"/>
          </p:cNvCxnSpPr>
          <p:nvPr/>
        </p:nvCxnSpPr>
        <p:spPr>
          <a:xfrm rot="5400000">
            <a:off x="3308350" y="4023995"/>
            <a:ext cx="229235" cy="1798955"/>
          </a:xfrm>
          <a:prstGeom prst="bentConnector3">
            <a:avLst>
              <a:gd name="adj1" fmla="val 50139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167" idx="2"/>
            <a:endCxn id="170" idx="0"/>
          </p:cNvCxnSpPr>
          <p:nvPr/>
        </p:nvCxnSpPr>
        <p:spPr>
          <a:xfrm rot="5400000">
            <a:off x="4207828" y="4923473"/>
            <a:ext cx="229235" cy="3175"/>
          </a:xfrm>
          <a:prstGeom prst="bentConnector2">
            <a:avLst/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右箭头 332"/>
          <p:cNvSpPr/>
          <p:nvPr/>
        </p:nvSpPr>
        <p:spPr>
          <a:xfrm>
            <a:off x="1441450" y="1004640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45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1441450" y="5000060"/>
            <a:ext cx="144000" cy="165100"/>
          </a:xfrm>
          <a:prstGeom prst="rightArrow">
            <a:avLst/>
          </a:prstGeom>
          <a:gradFill>
            <a:gsLst>
              <a:gs pos="0">
                <a:schemeClr val="bg1"/>
              </a:gs>
              <a:gs pos="45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1324</Words>
  <Application>WPS 演示</Application>
  <PresentationFormat>宽屏</PresentationFormat>
  <Paragraphs>286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汉仪旗黑</vt:lpstr>
      <vt:lpstr>微软雅黑</vt:lpstr>
      <vt:lpstr>Times New Roman</vt:lpstr>
      <vt:lpstr>宋体-简</vt:lpstr>
      <vt:lpstr>Calibri</vt:lpstr>
      <vt:lpstr>Helvetica Neue</vt:lpstr>
      <vt:lpstr>宋体</vt:lpstr>
      <vt:lpstr>Arial Unicode MS</vt:lpstr>
      <vt:lpstr>汉仪书宋二KW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jennica</cp:lastModifiedBy>
  <cp:revision>307</cp:revision>
  <dcterms:created xsi:type="dcterms:W3CDTF">2025-05-31T13:39:30Z</dcterms:created>
  <dcterms:modified xsi:type="dcterms:W3CDTF">2025-05-31T13:39:30Z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7C8A0466BCB700A810DACF670A8342C5_41</vt:lpwstr>
  </property>
</Properties>
</file>