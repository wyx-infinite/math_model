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handoutMasterIdLst>
    <p:handoutMasterId r:id="rId6"/>
  </p:handoutMasterIdLst>
  <p:sldIdLst>
    <p:sldId id="257" r:id="rId3"/>
    <p:sldId id="258" r:id="rId4"/>
  </p:sldIdLst>
  <p:sldSz cx="6858000" cy="9903460" type="A4"/>
  <p:notesSz cx="7103745" cy="10234295"/>
  <p:custDataLst>
    <p:tags r:id="rId10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5BCAA"/>
    <a:srgbClr val="69B6CB"/>
    <a:srgbClr val="6790C5"/>
    <a:srgbClr val="758B5A"/>
    <a:srgbClr val="A8C858"/>
    <a:srgbClr val="75BBAB"/>
    <a:srgbClr val="486527"/>
    <a:srgbClr val="C0A7A5"/>
    <a:srgbClr val="E2F0D9"/>
    <a:srgbClr val="415F1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480" autoAdjust="0"/>
    <p:restoredTop sz="86374"/>
  </p:normalViewPr>
  <p:slideViewPr>
    <p:cSldViewPr snapToGrid="0" showGuides="1">
      <p:cViewPr varScale="1">
        <p:scale>
          <a:sx n="127" d="100"/>
          <a:sy n="127" d="100"/>
        </p:scale>
        <p:origin x="1952" y="184"/>
      </p:cViewPr>
      <p:guideLst>
        <p:guide orient="horz" pos="3010"/>
        <p:guide pos="219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gridSpacing cx="72000" cy="720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tableStyles" Target="tableStyles.xml"/><Relationship Id="rId8" Type="http://schemas.openxmlformats.org/officeDocument/2006/relationships/viewProps" Target="viewProps.xml"/><Relationship Id="rId7" Type="http://schemas.openxmlformats.org/officeDocument/2006/relationships/presProps" Target="presProps.xml"/><Relationship Id="rId6" Type="http://schemas.openxmlformats.org/officeDocument/2006/relationships/handoutMaster" Target="handoutMasters/handoutMaster1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0" Type="http://schemas.openxmlformats.org/officeDocument/2006/relationships/tags" Target="tags/tag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4023812" y="0"/>
            <a:ext cx="3078290" cy="51349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45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45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4023812" y="9720804"/>
            <a:ext cx="3078290" cy="51349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45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4024313" y="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C8D182-E4C8-4120-9249-FC9774456FF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356781" y="1279525"/>
            <a:ext cx="2392087" cy="34544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711200" y="4926013"/>
            <a:ext cx="5683250" cy="40290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721850"/>
            <a:ext cx="3078163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4024313" y="9721850"/>
            <a:ext cx="3078162" cy="5127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D0DACE-38E0-42D2-9336-2B707D34BC6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grpSp>
        <p:nvGrpSpPr>
          <p:cNvPr id="2" name="组合 1"/>
          <p:cNvGrpSpPr/>
          <p:nvPr/>
        </p:nvGrpSpPr>
        <p:grpSpPr>
          <a:xfrm>
            <a:off x="128905" y="205105"/>
            <a:ext cx="6581775" cy="9602470"/>
            <a:chOff x="203" y="323"/>
            <a:chExt cx="10365" cy="15122"/>
          </a:xfrm>
        </p:grpSpPr>
        <p:sp>
          <p:nvSpPr>
            <p:cNvPr id="52" name="圆角矩形 46"/>
            <p:cNvSpPr/>
            <p:nvPr/>
          </p:nvSpPr>
          <p:spPr>
            <a:xfrm>
              <a:off x="1126" y="5537"/>
              <a:ext cx="2970" cy="1801"/>
            </a:xfrm>
            <a:prstGeom prst="roundRect">
              <a:avLst>
                <a:gd name="adj" fmla="val 0"/>
              </a:avLst>
            </a:prstGeom>
            <a:solidFill>
              <a:srgbClr val="F4F1EA">
                <a:alpha val="68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6" name="圆角矩形 46"/>
            <p:cNvSpPr/>
            <p:nvPr/>
          </p:nvSpPr>
          <p:spPr>
            <a:xfrm>
              <a:off x="4270" y="5530"/>
              <a:ext cx="2970" cy="1801"/>
            </a:xfrm>
            <a:prstGeom prst="roundRect">
              <a:avLst>
                <a:gd name="adj" fmla="val 0"/>
              </a:avLst>
            </a:prstGeom>
            <a:solidFill>
              <a:srgbClr val="F4F1EA">
                <a:alpha val="68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1" name="圆角矩形 46"/>
            <p:cNvSpPr/>
            <p:nvPr/>
          </p:nvSpPr>
          <p:spPr>
            <a:xfrm>
              <a:off x="7388" y="5522"/>
              <a:ext cx="2970" cy="1801"/>
            </a:xfrm>
            <a:prstGeom prst="roundRect">
              <a:avLst>
                <a:gd name="adj" fmla="val 0"/>
              </a:avLst>
            </a:prstGeom>
            <a:solidFill>
              <a:srgbClr val="F4F1EA">
                <a:alpha val="68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4" name="圆角矩形 63"/>
            <p:cNvSpPr/>
            <p:nvPr/>
          </p:nvSpPr>
          <p:spPr>
            <a:xfrm>
              <a:off x="908" y="4439"/>
              <a:ext cx="9655" cy="4309"/>
            </a:xfrm>
            <a:prstGeom prst="roundRect">
              <a:avLst>
                <a:gd name="adj" fmla="val 798"/>
              </a:avLst>
            </a:prstGeom>
            <a:noFill/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3" name="圆角矩形 72"/>
            <p:cNvSpPr/>
            <p:nvPr/>
          </p:nvSpPr>
          <p:spPr>
            <a:xfrm>
              <a:off x="894" y="13199"/>
              <a:ext cx="9655" cy="2246"/>
            </a:xfrm>
            <a:prstGeom prst="roundRect">
              <a:avLst>
                <a:gd name="adj" fmla="val 3259"/>
              </a:avLst>
            </a:prstGeom>
            <a:solidFill>
              <a:schemeClr val="bg1"/>
            </a:solidFill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2" name="圆角矩形 71"/>
            <p:cNvSpPr/>
            <p:nvPr/>
          </p:nvSpPr>
          <p:spPr>
            <a:xfrm>
              <a:off x="913" y="10664"/>
              <a:ext cx="9655" cy="2350"/>
            </a:xfrm>
            <a:prstGeom prst="roundRect">
              <a:avLst>
                <a:gd name="adj" fmla="val 3259"/>
              </a:avLst>
            </a:prstGeom>
            <a:solidFill>
              <a:schemeClr val="bg1"/>
            </a:solidFill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0" name="圆角矩形 69"/>
            <p:cNvSpPr/>
            <p:nvPr/>
          </p:nvSpPr>
          <p:spPr>
            <a:xfrm>
              <a:off x="911" y="8880"/>
              <a:ext cx="9655" cy="1626"/>
            </a:xfrm>
            <a:prstGeom prst="roundRect">
              <a:avLst>
                <a:gd name="adj" fmla="val 3259"/>
              </a:avLst>
            </a:prstGeom>
            <a:solidFill>
              <a:srgbClr val="F9F9F9"/>
            </a:solidFill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61" name="圆角矩形 60"/>
            <p:cNvSpPr/>
            <p:nvPr/>
          </p:nvSpPr>
          <p:spPr>
            <a:xfrm>
              <a:off x="913" y="2634"/>
              <a:ext cx="9655" cy="1631"/>
            </a:xfrm>
            <a:prstGeom prst="roundRect">
              <a:avLst>
                <a:gd name="adj" fmla="val 3259"/>
              </a:avLst>
            </a:prstGeom>
            <a:solidFill>
              <a:schemeClr val="bg1"/>
            </a:solidFill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54" name="圆角矩形 53"/>
            <p:cNvSpPr/>
            <p:nvPr/>
          </p:nvSpPr>
          <p:spPr>
            <a:xfrm>
              <a:off x="911" y="1262"/>
              <a:ext cx="9655" cy="1180"/>
            </a:xfrm>
            <a:prstGeom prst="roundRect">
              <a:avLst>
                <a:gd name="adj" fmla="val 3259"/>
              </a:avLst>
            </a:prstGeom>
            <a:solidFill>
              <a:schemeClr val="bg1"/>
            </a:solidFill>
            <a:ln w="12700" cmpd="sng">
              <a:solidFill>
                <a:schemeClr val="tx1">
                  <a:lumMod val="65000"/>
                  <a:lumOff val="35000"/>
                </a:schemeClr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同侧圆角矩形 6"/>
            <p:cNvSpPr/>
            <p:nvPr/>
          </p:nvSpPr>
          <p:spPr>
            <a:xfrm>
              <a:off x="219" y="323"/>
              <a:ext cx="10349" cy="723"/>
            </a:xfrm>
            <a:prstGeom prst="round2SameRect">
              <a:avLst>
                <a:gd name="adj1" fmla="val 41493"/>
                <a:gd name="adj2" fmla="val 0"/>
              </a:avLst>
            </a:prstGeom>
            <a:solidFill>
              <a:srgbClr val="E3DBD1">
                <a:alpha val="80000"/>
              </a:srgbClr>
            </a:solidFill>
            <a:ln>
              <a:solidFill>
                <a:schemeClr val="bg2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>
                <a:lnSpc>
                  <a:spcPct val="110000"/>
                </a:lnSpc>
              </a:pPr>
              <a:r>
                <a:rPr lang="zh-CN" altLang="en-US" b="1" kern="1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数字医疗政策赋能生信医学创新</a:t>
              </a:r>
              <a:r>
                <a:rPr lang="en-US" altLang="zh-CN" b="1" kern="1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:</a:t>
              </a:r>
              <a:r>
                <a:rPr lang="zh-CN" altLang="en-US" b="1" kern="100">
                  <a:solidFill>
                    <a:schemeClr val="tx1"/>
                  </a:solidFill>
                  <a:latin typeface="微软雅黑" panose="020B0503020204020204" charset="-122"/>
                  <a:ea typeface="微软雅黑" panose="020B0503020204020204" charset="-122"/>
                  <a:cs typeface="微软雅黑" panose="020B0503020204020204" charset="-122"/>
                  <a:sym typeface="Times New Roman" panose="02020603050405020304"/>
                </a:rPr>
                <a:t>机制、案例与路径</a:t>
              </a:r>
              <a:endParaRPr lang="zh-CN" altLang="en-US" b="1" kern="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endParaRPr>
            </a:p>
          </p:txBody>
        </p:sp>
        <p:sp>
          <p:nvSpPr>
            <p:cNvPr id="46" name="圆角矩形 46"/>
            <p:cNvSpPr/>
            <p:nvPr/>
          </p:nvSpPr>
          <p:spPr>
            <a:xfrm>
              <a:off x="218" y="1227"/>
              <a:ext cx="629" cy="1235"/>
            </a:xfrm>
            <a:prstGeom prst="rightArrowCallout">
              <a:avLst/>
            </a:prstGeom>
            <a:solidFill>
              <a:srgbClr val="F4F1EA"/>
            </a:solidFill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研究内容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" name="圆角矩形 46"/>
            <p:cNvSpPr/>
            <p:nvPr/>
          </p:nvSpPr>
          <p:spPr>
            <a:xfrm>
              <a:off x="218" y="2706"/>
              <a:ext cx="629" cy="1556"/>
            </a:xfrm>
            <a:prstGeom prst="rightArrowCallout">
              <a:avLst/>
            </a:prstGeom>
            <a:solidFill>
              <a:srgbClr val="F4F1EA"/>
            </a:solidFill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应用现状调研</a:t>
              </a:r>
              <a:endPara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" name="圆角矩形 46"/>
            <p:cNvSpPr/>
            <p:nvPr/>
          </p:nvSpPr>
          <p:spPr>
            <a:xfrm>
              <a:off x="218" y="5731"/>
              <a:ext cx="629" cy="1630"/>
            </a:xfrm>
            <a:prstGeom prst="rightArrowCallout">
              <a:avLst/>
            </a:prstGeom>
            <a:solidFill>
              <a:srgbClr val="F4F1EA"/>
            </a:solidFill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理论机制构建</a:t>
              </a:r>
              <a:endPara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" name="圆角矩形 46"/>
            <p:cNvSpPr/>
            <p:nvPr/>
          </p:nvSpPr>
          <p:spPr>
            <a:xfrm>
              <a:off x="203" y="8923"/>
              <a:ext cx="644" cy="1626"/>
            </a:xfrm>
            <a:prstGeom prst="rightArrowCallout">
              <a:avLst/>
            </a:prstGeom>
            <a:solidFill>
              <a:srgbClr val="F4F1EA"/>
            </a:solidFill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典型案例分析</a:t>
              </a:r>
              <a:endPara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6" name="圆角矩形 46"/>
            <p:cNvSpPr/>
            <p:nvPr/>
          </p:nvSpPr>
          <p:spPr>
            <a:xfrm>
              <a:off x="218" y="11171"/>
              <a:ext cx="629" cy="1345"/>
            </a:xfrm>
            <a:prstGeom prst="rightArrowCallout">
              <a:avLst/>
            </a:prstGeom>
            <a:solidFill>
              <a:srgbClr val="F4F1EA"/>
            </a:solidFill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实证评估</a:t>
              </a:r>
              <a:endPara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" name="圆角矩形 46"/>
            <p:cNvSpPr/>
            <p:nvPr/>
          </p:nvSpPr>
          <p:spPr>
            <a:xfrm>
              <a:off x="218" y="13563"/>
              <a:ext cx="629" cy="1469"/>
            </a:xfrm>
            <a:prstGeom prst="rightArrowCallout">
              <a:avLst/>
            </a:prstGeom>
            <a:solidFill>
              <a:srgbClr val="F4F1EA"/>
            </a:solidFill>
            <a:ln>
              <a:solidFill>
                <a:schemeClr val="bg2">
                  <a:lumMod val="50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chemeClr val="tx1">
                      <a:lumMod val="95000"/>
                      <a:lumOff val="5000"/>
                    </a:schemeClr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政策建议</a:t>
              </a:r>
              <a:endPara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" name="圆角矩形 46"/>
            <p:cNvSpPr/>
            <p:nvPr/>
          </p:nvSpPr>
          <p:spPr>
            <a:xfrm>
              <a:off x="1152" y="1483"/>
              <a:ext cx="1397" cy="737"/>
            </a:xfrm>
            <a:prstGeom prst="roundRect">
              <a:avLst/>
            </a:prstGeom>
            <a:solidFill>
              <a:srgbClr val="A4BBD0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b="1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研究背景</a:t>
              </a:r>
              <a:endPara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" name="圆角矩形 46"/>
            <p:cNvSpPr/>
            <p:nvPr/>
          </p:nvSpPr>
          <p:spPr>
            <a:xfrm>
              <a:off x="2711" y="1483"/>
              <a:ext cx="1397" cy="737"/>
            </a:xfrm>
            <a:prstGeom prst="roundRect">
              <a:avLst/>
            </a:prstGeom>
            <a:solidFill>
              <a:srgbClr val="A4BBD0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b="1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应用现状调研</a:t>
              </a:r>
              <a:endPara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1" name="圆角矩形 46"/>
            <p:cNvSpPr/>
            <p:nvPr/>
          </p:nvSpPr>
          <p:spPr>
            <a:xfrm>
              <a:off x="4270" y="1483"/>
              <a:ext cx="1397" cy="737"/>
            </a:xfrm>
            <a:prstGeom prst="roundRect">
              <a:avLst/>
            </a:prstGeom>
            <a:solidFill>
              <a:srgbClr val="A4BBD0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b="1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理论机制</a:t>
              </a:r>
              <a:r>
                <a:rPr lang="zh-CN" altLang="en-US" sz="1200" b="1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构建</a:t>
              </a:r>
              <a:endPara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2" name="圆角矩形 46"/>
            <p:cNvSpPr/>
            <p:nvPr/>
          </p:nvSpPr>
          <p:spPr>
            <a:xfrm>
              <a:off x="5829" y="1483"/>
              <a:ext cx="1397" cy="737"/>
            </a:xfrm>
            <a:prstGeom prst="roundRect">
              <a:avLst/>
            </a:prstGeom>
            <a:solidFill>
              <a:srgbClr val="A4BBD0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b="1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典型</a:t>
              </a:r>
              <a:r>
                <a:rPr lang="zh-CN" altLang="en-US" sz="1200" b="1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案例分析</a:t>
              </a:r>
              <a:endPara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3" name="圆角矩形 46"/>
            <p:cNvSpPr/>
            <p:nvPr/>
          </p:nvSpPr>
          <p:spPr>
            <a:xfrm>
              <a:off x="7388" y="1483"/>
              <a:ext cx="1397" cy="737"/>
            </a:xfrm>
            <a:prstGeom prst="roundRect">
              <a:avLst/>
            </a:prstGeom>
            <a:solidFill>
              <a:srgbClr val="A4BBD0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b="1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实证</a:t>
              </a:r>
              <a:r>
                <a:rPr lang="zh-CN" altLang="en-US" sz="1200" b="1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评估</a:t>
              </a:r>
              <a:endPara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4" name="圆角矩形 46"/>
            <p:cNvSpPr/>
            <p:nvPr/>
          </p:nvSpPr>
          <p:spPr>
            <a:xfrm>
              <a:off x="8947" y="1483"/>
              <a:ext cx="1397" cy="737"/>
            </a:xfrm>
            <a:prstGeom prst="roundRect">
              <a:avLst/>
            </a:prstGeom>
            <a:solidFill>
              <a:srgbClr val="A4BBD0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b="1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政策建议</a:t>
              </a:r>
              <a:endPara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6" name="圆角矩形 46"/>
            <p:cNvSpPr/>
            <p:nvPr/>
          </p:nvSpPr>
          <p:spPr>
            <a:xfrm>
              <a:off x="1152" y="2791"/>
              <a:ext cx="2205" cy="1304"/>
            </a:xfrm>
            <a:prstGeom prst="cube">
              <a:avLst>
                <a:gd name="adj" fmla="val 8892"/>
              </a:avLst>
            </a:prstGeom>
            <a:solidFill>
              <a:srgbClr val="D8E2ED">
                <a:alpha val="6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综述数字医疗政策内涵、目标、措施</a:t>
              </a:r>
              <a:r>
                <a:rPr lang="en-US" altLang="zh-CN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zh-CN" altLang="en-US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聚焦支持生信医学研究的相关政策</a:t>
              </a:r>
              <a:endPara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7" name="圆角矩形 46"/>
            <p:cNvSpPr/>
            <p:nvPr/>
          </p:nvSpPr>
          <p:spPr>
            <a:xfrm>
              <a:off x="3508" y="2791"/>
              <a:ext cx="2206" cy="1304"/>
            </a:xfrm>
            <a:prstGeom prst="cube">
              <a:avLst>
                <a:gd name="adj" fmla="val 8892"/>
              </a:avLst>
            </a:prstGeom>
            <a:solidFill>
              <a:srgbClr val="D8E2ED">
                <a:alpha val="6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回顾数字技术在基因组学、精准医疗等生信医学前沿领域应用进展及影响</a:t>
              </a:r>
              <a:endPara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8" name="圆角矩形 46"/>
            <p:cNvSpPr/>
            <p:nvPr/>
          </p:nvSpPr>
          <p:spPr>
            <a:xfrm>
              <a:off x="5865" y="2791"/>
              <a:ext cx="2205" cy="1304"/>
            </a:xfrm>
            <a:prstGeom prst="cube">
              <a:avLst>
                <a:gd name="adj" fmla="val 8892"/>
              </a:avLst>
            </a:prstGeom>
            <a:solidFill>
              <a:srgbClr val="D8E2ED">
                <a:alpha val="6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梳理数字技术推动科技创新的作用机理</a:t>
              </a:r>
              <a:r>
                <a:rPr lang="en-US" altLang="zh-CN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zh-CN" altLang="en-US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为构建理论分析框架奠定基础</a:t>
              </a:r>
              <a:endPara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0" name="圆角矩形 46"/>
            <p:cNvSpPr/>
            <p:nvPr/>
          </p:nvSpPr>
          <p:spPr>
            <a:xfrm>
              <a:off x="1159" y="4609"/>
              <a:ext cx="9191" cy="510"/>
            </a:xfrm>
            <a:prstGeom prst="roundRect">
              <a:avLst>
                <a:gd name="adj" fmla="val 50000"/>
              </a:avLst>
            </a:prstGeom>
            <a:solidFill>
              <a:srgbClr val="C9C6D1"/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数字医疗对生信医学研究的支撑作用主要体现在资源、技术和</a:t>
              </a:r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产业生态</a:t>
              </a:r>
              <a:endPara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9" name="圆角矩形 46"/>
            <p:cNvSpPr/>
            <p:nvPr/>
          </p:nvSpPr>
          <p:spPr>
            <a:xfrm>
              <a:off x="1313" y="7644"/>
              <a:ext cx="8910" cy="983"/>
            </a:xfrm>
            <a:prstGeom prst="can">
              <a:avLst>
                <a:gd name="adj" fmla="val 22685"/>
              </a:avLst>
            </a:prstGeom>
            <a:solidFill>
              <a:srgbClr val="CDB8BD">
                <a:alpha val="6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3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数字医疗通过优化创新要素供给、提升创新链效能、营造创新生态</a:t>
              </a:r>
              <a:r>
                <a:rPr lang="en-US" altLang="zh-CN" sz="13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zh-CN" altLang="en-US" sz="13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为生信医学研究注入新动能</a:t>
              </a:r>
              <a:endParaRPr lang="zh-CN" altLang="en-US" sz="13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3" name="圆角矩形 46"/>
            <p:cNvSpPr/>
            <p:nvPr/>
          </p:nvSpPr>
          <p:spPr>
            <a:xfrm>
              <a:off x="1120" y="9762"/>
              <a:ext cx="4535" cy="567"/>
            </a:xfrm>
            <a:prstGeom prst="roundRect">
              <a:avLst>
                <a:gd name="adj" fmla="val 1850"/>
              </a:avLst>
            </a:prstGeom>
            <a:solidFill>
              <a:srgbClr val="D4E5EF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中国启动脑科学重大项目</a:t>
              </a:r>
              <a:r>
                <a:rPr lang="en-US" altLang="zh-CN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运用类脑计算等促进生命科学研究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4" name="圆角矩形 46"/>
            <p:cNvSpPr/>
            <p:nvPr/>
          </p:nvSpPr>
          <p:spPr>
            <a:xfrm>
              <a:off x="5854" y="9762"/>
              <a:ext cx="4535" cy="567"/>
            </a:xfrm>
            <a:prstGeom prst="roundRect">
              <a:avLst>
                <a:gd name="adj" fmla="val 1850"/>
              </a:avLst>
            </a:prstGeom>
            <a:solidFill>
              <a:srgbClr val="D4E5EF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阿里健康搭建医疗</a:t>
              </a:r>
              <a:r>
                <a:rPr lang="en-US" altLang="zh-CN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AI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开放平台</a:t>
              </a:r>
              <a:r>
                <a:rPr lang="en-US" altLang="zh-CN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促进</a:t>
              </a:r>
              <a:r>
                <a:rPr lang="en-US" altLang="zh-CN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AI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在新药研发等领域应用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5" name="圆角矩形 46"/>
            <p:cNvSpPr/>
            <p:nvPr/>
          </p:nvSpPr>
          <p:spPr>
            <a:xfrm>
              <a:off x="1173" y="10825"/>
              <a:ext cx="2735" cy="469"/>
            </a:xfrm>
            <a:prstGeom prst="roundRect">
              <a:avLst>
                <a:gd name="adj" fmla="val 50000"/>
              </a:avLst>
            </a:prstGeom>
            <a:solidFill>
              <a:srgbClr val="96965B">
                <a:alpha val="5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描述统计及相关分析</a:t>
              </a:r>
              <a:endPara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7" name="圆角矩形 46"/>
            <p:cNvSpPr/>
            <p:nvPr/>
          </p:nvSpPr>
          <p:spPr>
            <a:xfrm>
              <a:off x="4565" y="10797"/>
              <a:ext cx="2446" cy="486"/>
            </a:xfrm>
            <a:prstGeom prst="roundRect">
              <a:avLst>
                <a:gd name="adj" fmla="val 50000"/>
              </a:avLst>
            </a:prstGeom>
            <a:solidFill>
              <a:srgbClr val="96965B">
                <a:alpha val="5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计量回归模型分析</a:t>
              </a:r>
              <a:endPara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0" name="圆角矩形 46"/>
            <p:cNvSpPr/>
            <p:nvPr/>
          </p:nvSpPr>
          <p:spPr>
            <a:xfrm>
              <a:off x="7647" y="10797"/>
              <a:ext cx="2613" cy="541"/>
            </a:xfrm>
            <a:prstGeom prst="roundRect">
              <a:avLst>
                <a:gd name="adj" fmla="val 50000"/>
              </a:avLst>
            </a:prstGeom>
            <a:solidFill>
              <a:srgbClr val="96965B">
                <a:alpha val="5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分组对比及交互分析</a:t>
              </a:r>
              <a:endPara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1" name="圆角矩形 46"/>
            <p:cNvSpPr/>
            <p:nvPr/>
          </p:nvSpPr>
          <p:spPr>
            <a:xfrm>
              <a:off x="1003" y="11757"/>
              <a:ext cx="1417" cy="1134"/>
            </a:xfrm>
            <a:prstGeom prst="roundRect">
              <a:avLst>
                <a:gd name="adj" fmla="val 1850"/>
              </a:avLst>
            </a:prstGeom>
            <a:solidFill>
              <a:srgbClr val="96965B">
                <a:alpha val="2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梳理数字医疗政策前后研究投入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和成果变化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2" name="圆角矩形 46"/>
            <p:cNvSpPr/>
            <p:nvPr/>
          </p:nvSpPr>
          <p:spPr>
            <a:xfrm>
              <a:off x="2607" y="11757"/>
              <a:ext cx="1417" cy="1134"/>
            </a:xfrm>
            <a:prstGeom prst="roundRect">
              <a:avLst>
                <a:gd name="adj" fmla="val 1850"/>
              </a:avLst>
            </a:prstGeom>
            <a:solidFill>
              <a:srgbClr val="96965B">
                <a:alpha val="2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考察数字医疗发展与生信医学创新的相关性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5" name="圆角矩形 46"/>
            <p:cNvSpPr/>
            <p:nvPr/>
          </p:nvSpPr>
          <p:spPr>
            <a:xfrm>
              <a:off x="1240" y="13411"/>
              <a:ext cx="9020" cy="510"/>
            </a:xfrm>
            <a:prstGeom prst="roundRect">
              <a:avLst>
                <a:gd name="adj" fmla="val 50000"/>
              </a:avLst>
            </a:prstGeom>
            <a:solidFill>
              <a:srgbClr val="C9C6D1">
                <a:alpha val="74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完善顶层设计，优化资源配置，打造数字医疗创新生态，为生信医学注入新动能</a:t>
              </a:r>
              <a:endPara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7" name="圆角矩形 46"/>
            <p:cNvSpPr/>
            <p:nvPr/>
          </p:nvSpPr>
          <p:spPr>
            <a:xfrm>
              <a:off x="1240" y="14421"/>
              <a:ext cx="1984" cy="873"/>
            </a:xfrm>
            <a:prstGeom prst="roundRect">
              <a:avLst>
                <a:gd name="adj" fmla="val 1850"/>
              </a:avLst>
            </a:prstGeom>
            <a:solidFill>
              <a:srgbClr val="E9E2DA">
                <a:alpha val="9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en-US" altLang="zh-CN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 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制定数字医疗规划，与生信医学等领域融合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8" name="圆角矩形 47"/>
            <p:cNvSpPr/>
            <p:nvPr/>
          </p:nvSpPr>
          <p:spPr>
            <a:xfrm>
              <a:off x="3573" y="14421"/>
              <a:ext cx="1984" cy="873"/>
            </a:xfrm>
            <a:prstGeom prst="roundRect">
              <a:avLst>
                <a:gd name="adj" fmla="val 1850"/>
              </a:avLst>
            </a:prstGeom>
            <a:solidFill>
              <a:srgbClr val="E9E2DA">
                <a:alpha val="9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聚焦数据、平台等资源，强化普惠政策和精准项目布局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49" name="圆角矩形 48"/>
            <p:cNvSpPr/>
            <p:nvPr/>
          </p:nvSpPr>
          <p:spPr>
            <a:xfrm>
              <a:off x="5906" y="14421"/>
              <a:ext cx="1984" cy="874"/>
            </a:xfrm>
            <a:prstGeom prst="roundRect">
              <a:avLst>
                <a:gd name="adj" fmla="val 1850"/>
              </a:avLst>
            </a:prstGeom>
            <a:solidFill>
              <a:srgbClr val="E9E2DA">
                <a:alpha val="9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促进跨界协同</a:t>
              </a:r>
              <a:r>
                <a:rPr lang="en-US" altLang="zh-CN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打通科技成果转化应用全链条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9" name="圆角矩形 46"/>
            <p:cNvSpPr/>
            <p:nvPr/>
          </p:nvSpPr>
          <p:spPr>
            <a:xfrm>
              <a:off x="1120" y="9075"/>
              <a:ext cx="4535" cy="567"/>
            </a:xfrm>
            <a:prstGeom prst="roundRect">
              <a:avLst>
                <a:gd name="adj" fmla="val 1850"/>
              </a:avLst>
            </a:prstGeom>
            <a:solidFill>
              <a:srgbClr val="D4E5EF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英国发布</a:t>
              </a:r>
              <a:r>
                <a:rPr lang="en-US" altLang="zh-CN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"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人工智能医疗战略</a:t>
              </a:r>
              <a:r>
                <a:rPr lang="en-US" altLang="zh-CN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",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推动数字技术融入生物医学研究和临床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2" name="圆角矩形 46"/>
            <p:cNvSpPr/>
            <p:nvPr/>
          </p:nvSpPr>
          <p:spPr>
            <a:xfrm>
              <a:off x="5854" y="9075"/>
              <a:ext cx="4535" cy="567"/>
            </a:xfrm>
            <a:prstGeom prst="roundRect">
              <a:avLst>
                <a:gd name="adj" fmla="val 1850"/>
              </a:avLst>
            </a:prstGeom>
            <a:solidFill>
              <a:srgbClr val="D4E5EF">
                <a:alpha val="60000"/>
              </a:srgbClr>
            </a:solidFill>
            <a:ln>
              <a:solidFill>
                <a:schemeClr val="tx1">
                  <a:lumMod val="65000"/>
                  <a:lumOff val="3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美国实施精准医学计划</a:t>
              </a:r>
              <a:r>
                <a:rPr lang="en-US" altLang="zh-CN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利用组学大数据开拓生物医学研究新范式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36" name="圆角矩形 46"/>
            <p:cNvSpPr/>
            <p:nvPr/>
          </p:nvSpPr>
          <p:spPr>
            <a:xfrm>
              <a:off x="8221" y="2791"/>
              <a:ext cx="2205" cy="1304"/>
            </a:xfrm>
            <a:prstGeom prst="cube">
              <a:avLst>
                <a:gd name="adj" fmla="val 8892"/>
              </a:avLst>
            </a:prstGeom>
            <a:solidFill>
              <a:srgbClr val="D8E2ED">
                <a:alpha val="6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调研国内外数字医疗成功案例</a:t>
              </a:r>
              <a:r>
                <a:rPr lang="en-US" altLang="zh-CN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zh-CN" altLang="en-US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提炼关键经验做法</a:t>
              </a:r>
              <a:r>
                <a:rPr lang="en-US" altLang="zh-CN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,</a:t>
              </a:r>
              <a:r>
                <a:rPr lang="zh-CN" altLang="en-US" sz="11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提供实践参考</a:t>
              </a:r>
              <a:endPara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1" name="圆角矩形 46"/>
            <p:cNvSpPr/>
            <p:nvPr/>
          </p:nvSpPr>
          <p:spPr>
            <a:xfrm>
              <a:off x="1308" y="5634"/>
              <a:ext cx="2595" cy="499"/>
            </a:xfrm>
            <a:prstGeom prst="roundRect">
              <a:avLst>
                <a:gd name="adj" fmla="val 0"/>
              </a:avLst>
            </a:prstGeom>
            <a:solidFill>
              <a:srgbClr val="CDB8BD">
                <a:alpha val="50000"/>
              </a:srgbClr>
            </a:solidFill>
            <a:ln w="12700" cmpd="sng">
              <a:solidFill>
                <a:schemeClr val="bg2">
                  <a:lumMod val="50000"/>
                </a:schemeClr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汇聚共享数据资源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3" name="圆角矩形 46"/>
            <p:cNvSpPr/>
            <p:nvPr/>
          </p:nvSpPr>
          <p:spPr>
            <a:xfrm>
              <a:off x="1308" y="6241"/>
              <a:ext cx="2595" cy="499"/>
            </a:xfrm>
            <a:prstGeom prst="roundRect">
              <a:avLst>
                <a:gd name="adj" fmla="val 0"/>
              </a:avLst>
            </a:prstGeom>
            <a:solidFill>
              <a:srgbClr val="CDB8BD">
                <a:alpha val="50000"/>
              </a:srgbClr>
            </a:solidFill>
            <a:ln w="12700" cmpd="sng">
              <a:solidFill>
                <a:schemeClr val="bg2">
                  <a:lumMod val="50000"/>
                </a:schemeClr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提升科研设施水平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55" name="圆角矩形 46"/>
            <p:cNvSpPr/>
            <p:nvPr/>
          </p:nvSpPr>
          <p:spPr>
            <a:xfrm>
              <a:off x="1313" y="6800"/>
              <a:ext cx="2595" cy="49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优化资源配置</a:t>
              </a:r>
              <a:endPara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4" name="圆角矩形 46"/>
            <p:cNvSpPr/>
            <p:nvPr/>
          </p:nvSpPr>
          <p:spPr>
            <a:xfrm>
              <a:off x="4437" y="5653"/>
              <a:ext cx="2595" cy="499"/>
            </a:xfrm>
            <a:prstGeom prst="roundRect">
              <a:avLst>
                <a:gd name="adj" fmla="val 0"/>
              </a:avLst>
            </a:prstGeom>
            <a:solidFill>
              <a:srgbClr val="CDB8BD">
                <a:alpha val="50000"/>
              </a:srgbClr>
            </a:solidFill>
            <a:ln w="12700" cmpd="sng">
              <a:solidFill>
                <a:schemeClr val="bg2">
                  <a:lumMod val="50000"/>
                </a:schemeClr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催生新技术新方法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5" name="圆角矩形 46"/>
            <p:cNvSpPr/>
            <p:nvPr/>
          </p:nvSpPr>
          <p:spPr>
            <a:xfrm>
              <a:off x="4437" y="6260"/>
              <a:ext cx="2595" cy="499"/>
            </a:xfrm>
            <a:prstGeom prst="roundRect">
              <a:avLst>
                <a:gd name="adj" fmla="val 0"/>
              </a:avLst>
            </a:prstGeom>
            <a:solidFill>
              <a:srgbClr val="CDB8BD">
                <a:alpha val="50000"/>
              </a:srgbClr>
            </a:solidFill>
            <a:ln w="12700" cmpd="sng">
              <a:solidFill>
                <a:schemeClr val="bg2">
                  <a:lumMod val="50000"/>
                </a:schemeClr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提高研发效率质量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7" name="圆角矩形 46"/>
            <p:cNvSpPr/>
            <p:nvPr/>
          </p:nvSpPr>
          <p:spPr>
            <a:xfrm>
              <a:off x="4442" y="6819"/>
              <a:ext cx="2595" cy="49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赋能技术创新</a:t>
              </a:r>
              <a:endPara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79" name="圆角矩形 46"/>
            <p:cNvSpPr/>
            <p:nvPr/>
          </p:nvSpPr>
          <p:spPr>
            <a:xfrm>
              <a:off x="7609" y="5671"/>
              <a:ext cx="2595" cy="499"/>
            </a:xfrm>
            <a:prstGeom prst="roundRect">
              <a:avLst>
                <a:gd name="adj" fmla="val 0"/>
              </a:avLst>
            </a:prstGeom>
            <a:solidFill>
              <a:srgbClr val="CDB8BD">
                <a:alpha val="50000"/>
              </a:srgbClr>
            </a:solidFill>
            <a:ln w="12700" cmpd="sng">
              <a:solidFill>
                <a:schemeClr val="bg2">
                  <a:lumMod val="50000"/>
                </a:schemeClr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完善产业政策环境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0" name="圆角矩形 46"/>
            <p:cNvSpPr/>
            <p:nvPr/>
          </p:nvSpPr>
          <p:spPr>
            <a:xfrm>
              <a:off x="7609" y="6278"/>
              <a:ext cx="2595" cy="499"/>
            </a:xfrm>
            <a:prstGeom prst="roundRect">
              <a:avLst>
                <a:gd name="adj" fmla="val 0"/>
              </a:avLst>
            </a:prstGeom>
            <a:solidFill>
              <a:srgbClr val="CDB8BD">
                <a:alpha val="50000"/>
              </a:srgbClr>
            </a:solidFill>
            <a:ln w="12700" cmpd="sng">
              <a:solidFill>
                <a:schemeClr val="bg2">
                  <a:lumMod val="50000"/>
                </a:schemeClr>
              </a:solidFill>
              <a:prstDash val="sysDot"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促进医工跨界合作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82" name="圆角矩形 46"/>
            <p:cNvSpPr/>
            <p:nvPr/>
          </p:nvSpPr>
          <p:spPr>
            <a:xfrm>
              <a:off x="7562" y="6837"/>
              <a:ext cx="2595" cy="499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20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培育产业生态</a:t>
              </a:r>
              <a:endPara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84" name="直接箭头连接符 52"/>
            <p:cNvCxnSpPr>
              <a:stCxn id="20" idx="2"/>
              <a:endCxn id="76" idx="0"/>
            </p:cNvCxnSpPr>
            <p:nvPr/>
          </p:nvCxnSpPr>
          <p:spPr>
            <a:xfrm>
              <a:off x="5755" y="5119"/>
              <a:ext cx="0" cy="411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88" name="肘形连接符 87"/>
            <p:cNvCxnSpPr>
              <a:stCxn id="20" idx="2"/>
              <a:endCxn id="81" idx="0"/>
            </p:cNvCxnSpPr>
            <p:nvPr/>
          </p:nvCxnSpPr>
          <p:spPr>
            <a:xfrm rot="5400000" flipV="1">
              <a:off x="7113" y="3762"/>
              <a:ext cx="403" cy="3118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9" name="肘形连接符 88"/>
            <p:cNvCxnSpPr>
              <a:stCxn id="20" idx="2"/>
              <a:endCxn id="52" idx="0"/>
            </p:cNvCxnSpPr>
            <p:nvPr/>
          </p:nvCxnSpPr>
          <p:spPr>
            <a:xfrm rot="5400000">
              <a:off x="3974" y="3756"/>
              <a:ext cx="418" cy="3144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2" name="肘形连接符 91"/>
            <p:cNvCxnSpPr>
              <a:stCxn id="52" idx="2"/>
              <a:endCxn id="29" idx="1"/>
            </p:cNvCxnSpPr>
            <p:nvPr/>
          </p:nvCxnSpPr>
          <p:spPr>
            <a:xfrm rot="5400000" flipV="1">
              <a:off x="4037" y="5913"/>
              <a:ext cx="306" cy="3157"/>
            </a:xfrm>
            <a:prstGeom prst="bentConnector3">
              <a:avLst>
                <a:gd name="adj1" fmla="val 49837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4" name="直接箭头连接符 52"/>
            <p:cNvCxnSpPr>
              <a:stCxn id="76" idx="2"/>
              <a:endCxn id="29" idx="1"/>
            </p:cNvCxnSpPr>
            <p:nvPr/>
          </p:nvCxnSpPr>
          <p:spPr>
            <a:xfrm>
              <a:off x="5755" y="7331"/>
              <a:ext cx="13" cy="313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2">
              <a:schemeClr val="accent1"/>
            </a:lnRef>
            <a:fillRef idx="0">
              <a:srgbClr val="FFFFFF"/>
            </a:fillRef>
            <a:effectRef idx="0">
              <a:srgbClr val="FFFFFF"/>
            </a:effectRef>
            <a:fontRef idx="minor">
              <a:schemeClr val="tx1"/>
            </a:fontRef>
          </p:style>
        </p:cxnSp>
        <p:cxnSp>
          <p:nvCxnSpPr>
            <p:cNvPr id="95" name="肘形连接符 94"/>
            <p:cNvCxnSpPr>
              <a:stCxn id="82" idx="2"/>
              <a:endCxn id="29" idx="1"/>
            </p:cNvCxnSpPr>
            <p:nvPr/>
          </p:nvCxnSpPr>
          <p:spPr>
            <a:xfrm rot="5400000">
              <a:off x="7160" y="5944"/>
              <a:ext cx="308" cy="3092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8" name="圆角矩形 46"/>
            <p:cNvSpPr/>
            <p:nvPr/>
          </p:nvSpPr>
          <p:spPr>
            <a:xfrm>
              <a:off x="4211" y="11757"/>
              <a:ext cx="1417" cy="1134"/>
            </a:xfrm>
            <a:prstGeom prst="roundRect">
              <a:avLst>
                <a:gd name="adj" fmla="val 1850"/>
              </a:avLst>
            </a:prstGeom>
            <a:solidFill>
              <a:srgbClr val="96965B">
                <a:alpha val="2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构建回归模型，评估政策影响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99" name="圆角矩形 46"/>
            <p:cNvSpPr/>
            <p:nvPr/>
          </p:nvSpPr>
          <p:spPr>
            <a:xfrm>
              <a:off x="5815" y="11757"/>
              <a:ext cx="1417" cy="1134"/>
            </a:xfrm>
            <a:prstGeom prst="roundRect">
              <a:avLst>
                <a:gd name="adj" fmla="val 1850"/>
              </a:avLst>
            </a:prstGeom>
            <a:solidFill>
              <a:srgbClr val="96965B">
                <a:alpha val="2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进行稳健性检验，控制内生性和遗漏变量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0" name="圆角矩形 46"/>
            <p:cNvSpPr/>
            <p:nvPr/>
          </p:nvSpPr>
          <p:spPr>
            <a:xfrm>
              <a:off x="7419" y="11757"/>
              <a:ext cx="1417" cy="1134"/>
            </a:xfrm>
            <a:prstGeom prst="roundRect">
              <a:avLst>
                <a:gd name="adj" fmla="val 1850"/>
              </a:avLst>
            </a:prstGeom>
            <a:solidFill>
              <a:srgbClr val="96965B">
                <a:alpha val="2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按地区和时期分组，比较政策效果差异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101" name="圆角矩形 46"/>
            <p:cNvSpPr/>
            <p:nvPr/>
          </p:nvSpPr>
          <p:spPr>
            <a:xfrm>
              <a:off x="9023" y="11757"/>
              <a:ext cx="1417" cy="1134"/>
            </a:xfrm>
            <a:prstGeom prst="roundRect">
              <a:avLst>
                <a:gd name="adj" fmla="val 1850"/>
              </a:avLst>
            </a:prstGeom>
            <a:solidFill>
              <a:srgbClr val="96965B">
                <a:alpha val="2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检验数字医疗与其他科技政策的交互效应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sp>
          <p:nvSpPr>
            <p:cNvPr id="25" name="圆角矩形 24"/>
            <p:cNvSpPr/>
            <p:nvPr/>
          </p:nvSpPr>
          <p:spPr>
            <a:xfrm>
              <a:off x="8239" y="14425"/>
              <a:ext cx="1984" cy="874"/>
            </a:xfrm>
            <a:prstGeom prst="roundRect">
              <a:avLst>
                <a:gd name="adj" fmla="val 1850"/>
              </a:avLst>
            </a:prstGeom>
            <a:solidFill>
              <a:srgbClr val="E9E2DA">
                <a:alpha val="90000"/>
              </a:srgbClr>
            </a:solidFill>
            <a:ln>
              <a:solidFill>
                <a:schemeClr val="tx1">
                  <a:lumMod val="75000"/>
                  <a:lumOff val="25000"/>
                </a:schemeClr>
              </a:solidFill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2">
                      <a:lumMod val="20000"/>
                      <a:lumOff val="80000"/>
                      <a:alpha val="65000"/>
                    </a:schemeClr>
                  </a:solidFill>
                </a14:hiddenFill>
              </a:ext>
            </a:ex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p>
              <a:pPr algn="ctr"/>
              <a:r>
                <a:rPr lang="zh-CN" altLang="en-US" sz="1050" kern="100">
                  <a:solidFill>
                    <a:srgbClr val="000000"/>
                  </a:solidFill>
                  <a:latin typeface="微软雅黑" panose="020B0503020204020204" charset="-122"/>
                  <a:ea typeface="微软雅黑" panose="020B0503020204020204" charset="-122"/>
                  <a:cs typeface="Times New Roman" panose="02020603050405020304"/>
                  <a:sym typeface="Times New Roman" panose="02020603050405020304"/>
                </a:rPr>
                <a:t>完善政策评估与动态调整，建立创新治理体系和制度</a:t>
              </a:r>
              <a:endPara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endParaRPr>
            </a:p>
          </p:txBody>
        </p:sp>
        <p:cxnSp>
          <p:nvCxnSpPr>
            <p:cNvPr id="26" name="肘形连接符 25"/>
            <p:cNvCxnSpPr>
              <a:stCxn id="45" idx="2"/>
              <a:endCxn id="49" idx="0"/>
            </p:cNvCxnSpPr>
            <p:nvPr/>
          </p:nvCxnSpPr>
          <p:spPr>
            <a:xfrm rot="5400000" flipV="1">
              <a:off x="6074" y="13597"/>
              <a:ext cx="500" cy="1148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肘形连接符 26"/>
            <p:cNvCxnSpPr>
              <a:stCxn id="45" idx="2"/>
              <a:endCxn id="25" idx="0"/>
            </p:cNvCxnSpPr>
            <p:nvPr/>
          </p:nvCxnSpPr>
          <p:spPr>
            <a:xfrm rot="5400000" flipV="1">
              <a:off x="7238" y="12432"/>
              <a:ext cx="504" cy="3481"/>
            </a:xfrm>
            <a:prstGeom prst="bentConnector3">
              <a:avLst>
                <a:gd name="adj1" fmla="val 49901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肘形连接符 27"/>
            <p:cNvCxnSpPr>
              <a:stCxn id="45" idx="2"/>
              <a:endCxn id="48" idx="0"/>
            </p:cNvCxnSpPr>
            <p:nvPr/>
          </p:nvCxnSpPr>
          <p:spPr>
            <a:xfrm rot="5400000">
              <a:off x="4908" y="13579"/>
              <a:ext cx="500" cy="1185"/>
            </a:xfrm>
            <a:prstGeom prst="bentConnector3">
              <a:avLst>
                <a:gd name="adj1" fmla="val 49900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肘形连接符 29"/>
            <p:cNvCxnSpPr>
              <a:stCxn id="45" idx="2"/>
              <a:endCxn id="47" idx="0"/>
            </p:cNvCxnSpPr>
            <p:nvPr/>
          </p:nvCxnSpPr>
          <p:spPr>
            <a:xfrm rot="5400000">
              <a:off x="3741" y="12412"/>
              <a:ext cx="500" cy="3518"/>
            </a:xfrm>
            <a:prstGeom prst="bentConnector3">
              <a:avLst>
                <a:gd name="adj1" fmla="val 50000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肘形连接符 30"/>
            <p:cNvCxnSpPr>
              <a:stCxn id="35" idx="2"/>
              <a:endCxn id="41" idx="0"/>
            </p:cNvCxnSpPr>
            <p:nvPr/>
          </p:nvCxnSpPr>
          <p:spPr>
            <a:xfrm rot="5400000">
              <a:off x="1895" y="11111"/>
              <a:ext cx="463" cy="829"/>
            </a:xfrm>
            <a:prstGeom prst="bentConnector3">
              <a:avLst>
                <a:gd name="adj1" fmla="val 50108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肘形连接符 31"/>
            <p:cNvCxnSpPr>
              <a:stCxn id="35" idx="2"/>
              <a:endCxn id="42" idx="0"/>
            </p:cNvCxnSpPr>
            <p:nvPr/>
          </p:nvCxnSpPr>
          <p:spPr>
            <a:xfrm rot="5400000" flipV="1">
              <a:off x="2697" y="11138"/>
              <a:ext cx="463" cy="775"/>
            </a:xfrm>
            <a:prstGeom prst="bentConnector3">
              <a:avLst>
                <a:gd name="adj1" fmla="val 50108"/>
              </a:avLst>
            </a:prstGeom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肘形连接符 37"/>
            <p:cNvCxnSpPr>
              <a:stCxn id="37" idx="2"/>
              <a:endCxn id="99" idx="0"/>
            </p:cNvCxnSpPr>
            <p:nvPr/>
          </p:nvCxnSpPr>
          <p:spPr>
            <a:xfrm rot="5400000" flipV="1">
              <a:off x="5919" y="11152"/>
              <a:ext cx="474" cy="736"/>
            </a:xfrm>
            <a:prstGeom prst="bentConnector3">
              <a:avLst>
                <a:gd name="adj1" fmla="val 50000"/>
              </a:avLst>
            </a:prstGeom>
            <a:solidFill>
              <a:srgbClr val="96965B">
                <a:alpha val="10000"/>
              </a:srgbClr>
            </a:solidFill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肘形连接符 38"/>
            <p:cNvCxnSpPr>
              <a:stCxn id="37" idx="2"/>
              <a:endCxn id="98" idx="0"/>
            </p:cNvCxnSpPr>
            <p:nvPr/>
          </p:nvCxnSpPr>
          <p:spPr>
            <a:xfrm rot="5400000">
              <a:off x="5117" y="11086"/>
              <a:ext cx="474" cy="868"/>
            </a:xfrm>
            <a:prstGeom prst="bentConnector3">
              <a:avLst>
                <a:gd name="adj1" fmla="val 50000"/>
              </a:avLst>
            </a:prstGeom>
            <a:solidFill>
              <a:srgbClr val="96965B">
                <a:alpha val="10000"/>
              </a:srgbClr>
            </a:solidFill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肘形连接符 42"/>
            <p:cNvCxnSpPr>
              <a:stCxn id="40" idx="2"/>
              <a:endCxn id="101" idx="0"/>
            </p:cNvCxnSpPr>
            <p:nvPr/>
          </p:nvCxnSpPr>
          <p:spPr>
            <a:xfrm rot="5400000" flipV="1">
              <a:off x="9134" y="11159"/>
              <a:ext cx="419" cy="778"/>
            </a:xfrm>
            <a:prstGeom prst="bentConnector3">
              <a:avLst>
                <a:gd name="adj1" fmla="val 50000"/>
              </a:avLst>
            </a:prstGeom>
            <a:solidFill>
              <a:srgbClr val="96965B">
                <a:alpha val="10000"/>
              </a:srgbClr>
            </a:solidFill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肘形连接符 43"/>
            <p:cNvCxnSpPr>
              <a:stCxn id="40" idx="2"/>
              <a:endCxn id="100" idx="0"/>
            </p:cNvCxnSpPr>
            <p:nvPr/>
          </p:nvCxnSpPr>
          <p:spPr>
            <a:xfrm rot="5400000">
              <a:off x="8332" y="11135"/>
              <a:ext cx="419" cy="826"/>
            </a:xfrm>
            <a:prstGeom prst="bentConnector3">
              <a:avLst>
                <a:gd name="adj1" fmla="val 50000"/>
              </a:avLst>
            </a:prstGeom>
            <a:solidFill>
              <a:srgbClr val="96965B">
                <a:alpha val="10000"/>
              </a:srgbClr>
            </a:solidFill>
            <a:ln w="9525">
              <a:solidFill>
                <a:schemeClr val="tx1"/>
              </a:solidFill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" name="圆角矩形 46"/>
          <p:cNvSpPr/>
          <p:nvPr/>
        </p:nvSpPr>
        <p:spPr>
          <a:xfrm>
            <a:off x="715010" y="3515995"/>
            <a:ext cx="1885950" cy="114363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34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6" name="圆角矩形 46"/>
          <p:cNvSpPr/>
          <p:nvPr/>
        </p:nvSpPr>
        <p:spPr>
          <a:xfrm>
            <a:off x="2711450" y="3511550"/>
            <a:ext cx="1885950" cy="114363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34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1" name="圆角矩形 46"/>
          <p:cNvSpPr/>
          <p:nvPr/>
        </p:nvSpPr>
        <p:spPr>
          <a:xfrm>
            <a:off x="4691380" y="3506470"/>
            <a:ext cx="1885950" cy="1143635"/>
          </a:xfrm>
          <a:prstGeom prst="roundRect">
            <a:avLst>
              <a:gd name="adj" fmla="val 0"/>
            </a:avLst>
          </a:prstGeom>
          <a:solidFill>
            <a:schemeClr val="bg1">
              <a:lumMod val="95000"/>
              <a:alpha val="34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4" name="圆角矩形 63"/>
          <p:cNvSpPr/>
          <p:nvPr/>
        </p:nvSpPr>
        <p:spPr>
          <a:xfrm>
            <a:off x="576580" y="2818765"/>
            <a:ext cx="6130925" cy="2736215"/>
          </a:xfrm>
          <a:prstGeom prst="roundRect">
            <a:avLst>
              <a:gd name="adj" fmla="val 798"/>
            </a:avLst>
          </a:prstGeom>
          <a:noFill/>
          <a:ln w="12700" cmpd="sng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3" name="圆角矩形 72"/>
          <p:cNvSpPr/>
          <p:nvPr/>
        </p:nvSpPr>
        <p:spPr>
          <a:xfrm>
            <a:off x="567690" y="8381365"/>
            <a:ext cx="6130925" cy="1426210"/>
          </a:xfrm>
          <a:prstGeom prst="roundRect">
            <a:avLst>
              <a:gd name="adj" fmla="val 3259"/>
            </a:avLst>
          </a:prstGeom>
          <a:noFill/>
          <a:ln w="12700" cmpd="sng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2" name="圆角矩形 71"/>
          <p:cNvSpPr/>
          <p:nvPr/>
        </p:nvSpPr>
        <p:spPr>
          <a:xfrm>
            <a:off x="579755" y="6771640"/>
            <a:ext cx="6130925" cy="1492250"/>
          </a:xfrm>
          <a:prstGeom prst="roundRect">
            <a:avLst>
              <a:gd name="adj" fmla="val 3259"/>
            </a:avLst>
          </a:prstGeom>
          <a:noFill/>
          <a:ln w="12700" cmpd="sng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0" name="圆角矩形 69"/>
          <p:cNvSpPr/>
          <p:nvPr/>
        </p:nvSpPr>
        <p:spPr>
          <a:xfrm>
            <a:off x="578485" y="5638800"/>
            <a:ext cx="6130925" cy="1032510"/>
          </a:xfrm>
          <a:prstGeom prst="roundRect">
            <a:avLst>
              <a:gd name="adj" fmla="val 3259"/>
            </a:avLst>
          </a:prstGeom>
          <a:noFill/>
          <a:ln w="12700" cmpd="sng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1" name="圆角矩形 60"/>
          <p:cNvSpPr/>
          <p:nvPr/>
        </p:nvSpPr>
        <p:spPr>
          <a:xfrm>
            <a:off x="579755" y="1672590"/>
            <a:ext cx="6130925" cy="1035685"/>
          </a:xfrm>
          <a:prstGeom prst="roundRect">
            <a:avLst>
              <a:gd name="adj" fmla="val 3259"/>
            </a:avLst>
          </a:prstGeom>
          <a:noFill/>
          <a:ln w="12700" cmpd="sng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54" name="圆角矩形 53"/>
          <p:cNvSpPr/>
          <p:nvPr/>
        </p:nvSpPr>
        <p:spPr>
          <a:xfrm>
            <a:off x="578485" y="801370"/>
            <a:ext cx="6130925" cy="749300"/>
          </a:xfrm>
          <a:prstGeom prst="roundRect">
            <a:avLst>
              <a:gd name="adj" fmla="val 3259"/>
            </a:avLst>
          </a:prstGeom>
          <a:noFill/>
          <a:ln w="12700" cmpd="sng">
            <a:solidFill>
              <a:schemeClr val="tx1">
                <a:lumMod val="65000"/>
                <a:lumOff val="3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同侧圆角矩形 6"/>
          <p:cNvSpPr/>
          <p:nvPr/>
        </p:nvSpPr>
        <p:spPr>
          <a:xfrm>
            <a:off x="139065" y="205105"/>
            <a:ext cx="6571615" cy="459105"/>
          </a:xfrm>
          <a:prstGeom prst="round2SameRect">
            <a:avLst>
              <a:gd name="adj1" fmla="val 41493"/>
              <a:gd name="adj2" fmla="val 0"/>
            </a:avLst>
          </a:prstGeom>
          <a:solidFill>
            <a:schemeClr val="bg2"/>
          </a:solidFill>
          <a:ln>
            <a:solidFill>
              <a:schemeClr val="bg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>
              <a:lnSpc>
                <a:spcPct val="110000"/>
              </a:lnSpc>
            </a:pPr>
            <a:r>
              <a:rPr lang="zh-CN" altLang="en-US" b="1" kern="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数字医疗政策赋能生信医学创新</a:t>
            </a:r>
            <a:r>
              <a:rPr lang="en-US" altLang="zh-CN" b="1" kern="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:</a:t>
            </a:r>
            <a:r>
              <a:rPr lang="zh-CN" altLang="en-US" b="1" kern="1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Times New Roman" panose="02020603050405020304"/>
              </a:rPr>
              <a:t>机制、案例与路径</a:t>
            </a:r>
            <a:endParaRPr lang="zh-CN" altLang="en-US" b="1" kern="100">
              <a:solidFill>
                <a:schemeClr val="tx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Times New Roman" panose="02020603050405020304"/>
            </a:endParaRPr>
          </a:p>
        </p:txBody>
      </p:sp>
      <p:sp>
        <p:nvSpPr>
          <p:cNvPr id="46" name="圆角矩形 46"/>
          <p:cNvSpPr/>
          <p:nvPr/>
        </p:nvSpPr>
        <p:spPr>
          <a:xfrm>
            <a:off x="138430" y="779145"/>
            <a:ext cx="399415" cy="784225"/>
          </a:xfrm>
          <a:prstGeom prst="rightArrowCallou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研究内容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" name="圆角矩形 46"/>
          <p:cNvSpPr/>
          <p:nvPr/>
        </p:nvSpPr>
        <p:spPr>
          <a:xfrm>
            <a:off x="138430" y="1718310"/>
            <a:ext cx="399415" cy="988060"/>
          </a:xfrm>
          <a:prstGeom prst="rightArrowCallou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应用现状调研</a:t>
            </a:r>
            <a:endParaRPr lang="zh-CN" altLang="en-US" sz="1050" kern="1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" name="圆角矩形 46"/>
          <p:cNvSpPr/>
          <p:nvPr/>
        </p:nvSpPr>
        <p:spPr>
          <a:xfrm>
            <a:off x="138430" y="3639185"/>
            <a:ext cx="399415" cy="1035050"/>
          </a:xfrm>
          <a:prstGeom prst="rightArrowCallou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理论机制构建</a:t>
            </a:r>
            <a:endParaRPr lang="zh-CN" altLang="en-US" sz="1050" kern="1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" name="圆角矩形 46"/>
          <p:cNvSpPr/>
          <p:nvPr/>
        </p:nvSpPr>
        <p:spPr>
          <a:xfrm>
            <a:off x="128905" y="5666105"/>
            <a:ext cx="408940" cy="1032510"/>
          </a:xfrm>
          <a:prstGeom prst="rightArrowCallou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典型案例分析</a:t>
            </a:r>
            <a:endParaRPr lang="zh-CN" altLang="en-US" sz="1050" kern="1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6" name="圆角矩形 46"/>
          <p:cNvSpPr/>
          <p:nvPr/>
        </p:nvSpPr>
        <p:spPr>
          <a:xfrm>
            <a:off x="138430" y="7093585"/>
            <a:ext cx="399415" cy="854075"/>
          </a:xfrm>
          <a:prstGeom prst="rightArrowCallou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实证评估</a:t>
            </a:r>
            <a:endParaRPr lang="zh-CN" altLang="en-US" sz="1050" kern="1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" name="圆角矩形 46"/>
          <p:cNvSpPr/>
          <p:nvPr/>
        </p:nvSpPr>
        <p:spPr>
          <a:xfrm>
            <a:off x="138430" y="8612505"/>
            <a:ext cx="399415" cy="932815"/>
          </a:xfrm>
          <a:prstGeom prst="rightArrowCallout">
            <a:avLst/>
          </a:prstGeom>
          <a:noFill/>
          <a:ln>
            <a:solidFill>
              <a:schemeClr val="bg2">
                <a:lumMod val="50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chemeClr val="tx1">
                    <a:lumMod val="95000"/>
                    <a:lumOff val="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政策建议</a:t>
            </a:r>
            <a:endParaRPr lang="zh-CN" altLang="en-US" sz="1050" kern="100">
              <a:solidFill>
                <a:schemeClr val="tx1">
                  <a:lumMod val="95000"/>
                  <a:lumOff val="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" name="圆角矩形 46"/>
          <p:cNvSpPr/>
          <p:nvPr/>
        </p:nvSpPr>
        <p:spPr>
          <a:xfrm>
            <a:off x="731520" y="941705"/>
            <a:ext cx="887095" cy="467995"/>
          </a:xfrm>
          <a:prstGeom prst="roundRect">
            <a:avLst/>
          </a:prstGeom>
          <a:solidFill>
            <a:schemeClr val="bg2">
              <a:alpha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研究背景</a:t>
            </a:r>
            <a:endParaRPr lang="zh-CN" altLang="en-US" sz="1200" b="1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" name="圆角矩形 46"/>
          <p:cNvSpPr/>
          <p:nvPr/>
        </p:nvSpPr>
        <p:spPr>
          <a:xfrm>
            <a:off x="1721485" y="941705"/>
            <a:ext cx="887095" cy="467995"/>
          </a:xfrm>
          <a:prstGeom prst="roundRect">
            <a:avLst/>
          </a:prstGeom>
          <a:solidFill>
            <a:schemeClr val="bg2">
              <a:alpha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应用现状调研</a:t>
            </a:r>
            <a:endParaRPr lang="zh-CN" altLang="en-US" sz="1200" b="1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1" name="圆角矩形 46"/>
          <p:cNvSpPr/>
          <p:nvPr/>
        </p:nvSpPr>
        <p:spPr>
          <a:xfrm>
            <a:off x="2711450" y="941705"/>
            <a:ext cx="887095" cy="467995"/>
          </a:xfrm>
          <a:prstGeom prst="roundRect">
            <a:avLst/>
          </a:prstGeom>
          <a:solidFill>
            <a:schemeClr val="bg2">
              <a:alpha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理论机制</a:t>
            </a:r>
            <a:r>
              <a: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构建</a:t>
            </a:r>
            <a:endParaRPr lang="zh-CN" altLang="en-US" sz="1200" b="1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2" name="圆角矩形 46"/>
          <p:cNvSpPr/>
          <p:nvPr/>
        </p:nvSpPr>
        <p:spPr>
          <a:xfrm>
            <a:off x="3701415" y="941705"/>
            <a:ext cx="887095" cy="467995"/>
          </a:xfrm>
          <a:prstGeom prst="roundRect">
            <a:avLst/>
          </a:prstGeom>
          <a:solidFill>
            <a:schemeClr val="bg2">
              <a:alpha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典型</a:t>
            </a:r>
            <a:r>
              <a: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案例分析</a:t>
            </a:r>
            <a:endParaRPr lang="zh-CN" altLang="en-US" sz="1200" b="1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3" name="圆角矩形 46"/>
          <p:cNvSpPr/>
          <p:nvPr/>
        </p:nvSpPr>
        <p:spPr>
          <a:xfrm>
            <a:off x="4691380" y="941705"/>
            <a:ext cx="887095" cy="467995"/>
          </a:xfrm>
          <a:prstGeom prst="roundRect">
            <a:avLst/>
          </a:prstGeom>
          <a:solidFill>
            <a:schemeClr val="bg2">
              <a:alpha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实证</a:t>
            </a:r>
            <a:r>
              <a: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评估</a:t>
            </a:r>
            <a:endParaRPr lang="zh-CN" altLang="en-US" sz="1200" b="1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4" name="圆角矩形 46"/>
          <p:cNvSpPr/>
          <p:nvPr/>
        </p:nvSpPr>
        <p:spPr>
          <a:xfrm>
            <a:off x="5681345" y="941705"/>
            <a:ext cx="887095" cy="467995"/>
          </a:xfrm>
          <a:prstGeom prst="roundRect">
            <a:avLst/>
          </a:prstGeom>
          <a:solidFill>
            <a:schemeClr val="bg2">
              <a:alpha val="75000"/>
            </a:schemeClr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b="1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政策建议</a:t>
            </a:r>
            <a:endParaRPr lang="zh-CN" altLang="en-US" sz="1200" b="1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6" name="圆角矩形 46"/>
          <p:cNvSpPr/>
          <p:nvPr/>
        </p:nvSpPr>
        <p:spPr>
          <a:xfrm>
            <a:off x="731520" y="1772285"/>
            <a:ext cx="1400175" cy="828040"/>
          </a:xfrm>
          <a:prstGeom prst="cube">
            <a:avLst>
              <a:gd name="adj" fmla="val 88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综述数字医疗政策内涵、目标、措施</a:t>
            </a:r>
            <a:r>
              <a:rPr lang="en-US" altLang="zh-CN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聚焦支持生信医学研究的相关政策</a:t>
            </a:r>
            <a:endParaRPr lang="zh-CN" altLang="en-US" sz="11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7" name="圆角矩形 46"/>
          <p:cNvSpPr/>
          <p:nvPr/>
        </p:nvSpPr>
        <p:spPr>
          <a:xfrm>
            <a:off x="2227580" y="1772285"/>
            <a:ext cx="1400810" cy="828040"/>
          </a:xfrm>
          <a:prstGeom prst="cube">
            <a:avLst>
              <a:gd name="adj" fmla="val 88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回顾数字技术在基因组学、精准医疗等生信医学前沿领域应用进展及影响</a:t>
            </a:r>
            <a:endParaRPr lang="zh-CN" altLang="en-US" sz="11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8" name="圆角矩形 46"/>
          <p:cNvSpPr/>
          <p:nvPr/>
        </p:nvSpPr>
        <p:spPr>
          <a:xfrm>
            <a:off x="3724275" y="1772285"/>
            <a:ext cx="1400175" cy="828040"/>
          </a:xfrm>
          <a:prstGeom prst="cube">
            <a:avLst>
              <a:gd name="adj" fmla="val 88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梳理数字技术推动科技创新的作用机理</a:t>
            </a:r>
            <a:r>
              <a:rPr lang="en-US" altLang="zh-CN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为构建理论分析框架奠定基础</a:t>
            </a:r>
            <a:endParaRPr lang="zh-CN" altLang="en-US" sz="11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0" name="圆角矩形 46"/>
          <p:cNvSpPr/>
          <p:nvPr/>
        </p:nvSpPr>
        <p:spPr>
          <a:xfrm>
            <a:off x="735965" y="2926715"/>
            <a:ext cx="5836285" cy="32385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数字医疗对生信医学研究的支撑作用主要体现在资源、技术和</a:t>
            </a:r>
            <a:r>
              <a: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产业生态</a:t>
            </a:r>
            <a:endParaRPr lang="zh-CN" altLang="en-US" sz="12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9" name="圆角矩形 46"/>
          <p:cNvSpPr/>
          <p:nvPr/>
        </p:nvSpPr>
        <p:spPr>
          <a:xfrm>
            <a:off x="833755" y="4853940"/>
            <a:ext cx="5657850" cy="624205"/>
          </a:xfrm>
          <a:prstGeom prst="can">
            <a:avLst>
              <a:gd name="adj" fmla="val 22685"/>
            </a:avLst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3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数字医疗通过优化创新要素供给、提升创新链效能、营造创新生态</a:t>
            </a:r>
            <a:r>
              <a:rPr lang="en-US" altLang="zh-CN" sz="13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zh-CN" altLang="en-US" sz="13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为生信医学研究注入新动能</a:t>
            </a:r>
            <a:endParaRPr lang="zh-CN" altLang="en-US" sz="13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3" name="圆角矩形 46"/>
          <p:cNvSpPr/>
          <p:nvPr/>
        </p:nvSpPr>
        <p:spPr>
          <a:xfrm>
            <a:off x="711200" y="6198870"/>
            <a:ext cx="2879725" cy="360045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中国启动脑科学重大项目</a:t>
            </a:r>
            <a:r>
              <a:rPr lang="en-US" altLang="zh-CN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运用类脑计算等促进生命科学研究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4" name="圆角矩形 46"/>
          <p:cNvSpPr/>
          <p:nvPr/>
        </p:nvSpPr>
        <p:spPr>
          <a:xfrm>
            <a:off x="3717290" y="6198870"/>
            <a:ext cx="2879725" cy="360045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阿里健康搭建医疗</a:t>
            </a:r>
            <a:r>
              <a:rPr lang="en-US" altLang="zh-CN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AI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开放平台</a:t>
            </a:r>
            <a:r>
              <a:rPr lang="en-US" altLang="zh-CN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促进</a:t>
            </a:r>
            <a:r>
              <a:rPr lang="en-US" altLang="zh-CN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AI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在新药研发等领域应用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5" name="圆角矩形 46"/>
          <p:cNvSpPr/>
          <p:nvPr/>
        </p:nvSpPr>
        <p:spPr>
          <a:xfrm>
            <a:off x="744855" y="6873875"/>
            <a:ext cx="1736725" cy="29781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描述统计及相关分析</a:t>
            </a:r>
            <a:endParaRPr lang="zh-CN" altLang="en-US" sz="12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7" name="圆角矩形 46"/>
          <p:cNvSpPr/>
          <p:nvPr/>
        </p:nvSpPr>
        <p:spPr>
          <a:xfrm>
            <a:off x="2898775" y="6856095"/>
            <a:ext cx="1553210" cy="30861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计量回归模型分析</a:t>
            </a:r>
            <a:endParaRPr lang="zh-CN" altLang="en-US" sz="12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0" name="圆角矩形 46"/>
          <p:cNvSpPr/>
          <p:nvPr/>
        </p:nvSpPr>
        <p:spPr>
          <a:xfrm>
            <a:off x="4832350" y="6856095"/>
            <a:ext cx="1659255" cy="343535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分组对比及交互分析</a:t>
            </a:r>
            <a:endParaRPr lang="zh-CN" altLang="en-US" sz="12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1" name="圆角矩形 46"/>
          <p:cNvSpPr/>
          <p:nvPr/>
        </p:nvSpPr>
        <p:spPr>
          <a:xfrm>
            <a:off x="636905" y="7465695"/>
            <a:ext cx="899795" cy="720090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梳理数字医疗政策前后研究投入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和成果变化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2" name="圆角矩形 46"/>
          <p:cNvSpPr/>
          <p:nvPr/>
        </p:nvSpPr>
        <p:spPr>
          <a:xfrm>
            <a:off x="1655445" y="7465695"/>
            <a:ext cx="899795" cy="720090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考察数字医疗发展与生信医学创新的相关性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5" name="圆角矩形 46"/>
          <p:cNvSpPr/>
          <p:nvPr/>
        </p:nvSpPr>
        <p:spPr>
          <a:xfrm>
            <a:off x="787400" y="8515985"/>
            <a:ext cx="5727700" cy="323850"/>
          </a:xfrm>
          <a:prstGeom prst="roundRect">
            <a:avLst>
              <a:gd name="adj" fmla="val 50000"/>
            </a:avLst>
          </a:prstGeom>
          <a:solidFill>
            <a:schemeClr val="bg2"/>
          </a:solidFill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完善顶层设计，优化资源配置，打造数字医疗创新生态，为生信医学注入新动能</a:t>
            </a:r>
            <a:endParaRPr lang="zh-CN" altLang="en-US" sz="12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7" name="圆角矩形 46"/>
          <p:cNvSpPr/>
          <p:nvPr/>
        </p:nvSpPr>
        <p:spPr>
          <a:xfrm>
            <a:off x="787400" y="9157335"/>
            <a:ext cx="1259840" cy="554355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en-US" altLang="zh-CN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 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制定数字医疗规划，与生信医学等领域融合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8" name="圆角矩形 47"/>
          <p:cNvSpPr/>
          <p:nvPr/>
        </p:nvSpPr>
        <p:spPr>
          <a:xfrm>
            <a:off x="2268855" y="9157335"/>
            <a:ext cx="1259840" cy="554355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聚焦数据、平台等资源，强化普惠政策和精准项目布局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49" name="圆角矩形 48"/>
          <p:cNvSpPr/>
          <p:nvPr/>
        </p:nvSpPr>
        <p:spPr>
          <a:xfrm>
            <a:off x="3750310" y="9157335"/>
            <a:ext cx="1259840" cy="554990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促进跨界协同</a:t>
            </a:r>
            <a:r>
              <a:rPr lang="en-US" altLang="zh-CN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打通科技成果转化应用全链条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9" name="圆角矩形 46"/>
          <p:cNvSpPr/>
          <p:nvPr/>
        </p:nvSpPr>
        <p:spPr>
          <a:xfrm>
            <a:off x="711200" y="5762625"/>
            <a:ext cx="2879725" cy="360045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英国发布</a:t>
            </a:r>
            <a:r>
              <a:rPr lang="en-US" altLang="zh-CN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"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人工智能医疗战略</a:t>
            </a:r>
            <a:r>
              <a:rPr lang="en-US" altLang="zh-CN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",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推动数字技术融入生物医学研究和临床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2" name="圆角矩形 46"/>
          <p:cNvSpPr/>
          <p:nvPr/>
        </p:nvSpPr>
        <p:spPr>
          <a:xfrm>
            <a:off x="3717290" y="5762625"/>
            <a:ext cx="2879725" cy="360045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65000"/>
                <a:lumOff val="3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美国实施精准医学计划</a:t>
            </a:r>
            <a:r>
              <a:rPr lang="en-US" altLang="zh-CN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利用组学大数据开拓生物医学研究新范式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36" name="圆角矩形 46"/>
          <p:cNvSpPr/>
          <p:nvPr/>
        </p:nvSpPr>
        <p:spPr>
          <a:xfrm>
            <a:off x="5220335" y="1772285"/>
            <a:ext cx="1400175" cy="828040"/>
          </a:xfrm>
          <a:prstGeom prst="cube">
            <a:avLst>
              <a:gd name="adj" fmla="val 8892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调研国内外数字医疗成功案例</a:t>
            </a:r>
            <a:r>
              <a:rPr lang="en-US" altLang="zh-CN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提炼关键经验做法</a:t>
            </a:r>
            <a:r>
              <a:rPr lang="en-US" altLang="zh-CN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,</a:t>
            </a:r>
            <a:r>
              <a:rPr lang="zh-CN" altLang="en-US" sz="11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提供实践参考</a:t>
            </a:r>
            <a:endParaRPr lang="zh-CN" altLang="en-US" sz="11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1" name="圆角矩形 46"/>
          <p:cNvSpPr/>
          <p:nvPr/>
        </p:nvSpPr>
        <p:spPr>
          <a:xfrm>
            <a:off x="830580" y="3577590"/>
            <a:ext cx="1647825" cy="3168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汇聚共享数据资源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3" name="圆角矩形 46"/>
          <p:cNvSpPr/>
          <p:nvPr/>
        </p:nvSpPr>
        <p:spPr>
          <a:xfrm>
            <a:off x="830580" y="3963035"/>
            <a:ext cx="1647825" cy="3168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提升科研设施水平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5" name="圆角矩形 46"/>
          <p:cNvSpPr/>
          <p:nvPr/>
        </p:nvSpPr>
        <p:spPr>
          <a:xfrm>
            <a:off x="833755" y="4318000"/>
            <a:ext cx="1647825" cy="3168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优化资源配置</a:t>
            </a:r>
            <a:endParaRPr lang="zh-CN" altLang="en-US" sz="12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4" name="圆角矩形 46"/>
          <p:cNvSpPr/>
          <p:nvPr/>
        </p:nvSpPr>
        <p:spPr>
          <a:xfrm>
            <a:off x="2817495" y="3589655"/>
            <a:ext cx="1647825" cy="3168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催生新技术新方法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5" name="圆角矩形 46"/>
          <p:cNvSpPr/>
          <p:nvPr/>
        </p:nvSpPr>
        <p:spPr>
          <a:xfrm>
            <a:off x="2817495" y="3975100"/>
            <a:ext cx="1647825" cy="3168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提高研发效率质量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7" name="圆角矩形 46"/>
          <p:cNvSpPr/>
          <p:nvPr/>
        </p:nvSpPr>
        <p:spPr>
          <a:xfrm>
            <a:off x="2820670" y="4330065"/>
            <a:ext cx="1647825" cy="3168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赋能技术创新</a:t>
            </a:r>
            <a:endParaRPr lang="zh-CN" altLang="en-US" sz="12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79" name="圆角矩形 46"/>
          <p:cNvSpPr/>
          <p:nvPr/>
        </p:nvSpPr>
        <p:spPr>
          <a:xfrm>
            <a:off x="4831715" y="3601085"/>
            <a:ext cx="1647825" cy="3168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完善产业政策环境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0" name="圆角矩形 46"/>
          <p:cNvSpPr/>
          <p:nvPr/>
        </p:nvSpPr>
        <p:spPr>
          <a:xfrm>
            <a:off x="4831715" y="3986530"/>
            <a:ext cx="1647825" cy="316865"/>
          </a:xfrm>
          <a:prstGeom prst="roundRect">
            <a:avLst>
              <a:gd name="adj" fmla="val 0"/>
            </a:avLst>
          </a:prstGeom>
          <a:solidFill>
            <a:schemeClr val="bg1"/>
          </a:solidFill>
          <a:ln w="12700" cmpd="sng">
            <a:solidFill>
              <a:schemeClr val="bg2">
                <a:lumMod val="50000"/>
              </a:schemeClr>
            </a:solidFill>
            <a:prstDash val="sysDot"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促进医工跨界合作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82" name="圆角矩形 46"/>
          <p:cNvSpPr/>
          <p:nvPr/>
        </p:nvSpPr>
        <p:spPr>
          <a:xfrm>
            <a:off x="4801870" y="4341495"/>
            <a:ext cx="1647825" cy="316865"/>
          </a:xfrm>
          <a:prstGeom prst="roundRect">
            <a:avLst>
              <a:gd name="adj" fmla="val 0"/>
            </a:avLst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20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培育产业生态</a:t>
            </a:r>
            <a:endParaRPr lang="zh-CN" altLang="en-US" sz="120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84" name="直接箭头连接符 52"/>
          <p:cNvCxnSpPr>
            <a:stCxn id="20" idx="2"/>
            <a:endCxn id="76" idx="0"/>
          </p:cNvCxnSpPr>
          <p:nvPr/>
        </p:nvCxnSpPr>
        <p:spPr>
          <a:xfrm>
            <a:off x="3654425" y="3250565"/>
            <a:ext cx="0" cy="260985"/>
          </a:xfrm>
          <a:prstGeom prst="straightConnector1">
            <a:avLst/>
          </a:pr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88" name="肘形连接符 87"/>
          <p:cNvCxnSpPr>
            <a:stCxn id="20" idx="2"/>
            <a:endCxn id="81" idx="0"/>
          </p:cNvCxnSpPr>
          <p:nvPr/>
        </p:nvCxnSpPr>
        <p:spPr>
          <a:xfrm rot="5400000" flipV="1">
            <a:off x="4516755" y="2388870"/>
            <a:ext cx="255905" cy="197993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肘形连接符 88"/>
          <p:cNvCxnSpPr>
            <a:stCxn id="20" idx="2"/>
            <a:endCxn id="52" idx="0"/>
          </p:cNvCxnSpPr>
          <p:nvPr/>
        </p:nvCxnSpPr>
        <p:spPr>
          <a:xfrm rot="5400000">
            <a:off x="2523490" y="2385060"/>
            <a:ext cx="265430" cy="199644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肘形连接符 91"/>
          <p:cNvCxnSpPr>
            <a:stCxn id="52" idx="2"/>
            <a:endCxn id="29" idx="1"/>
          </p:cNvCxnSpPr>
          <p:nvPr/>
        </p:nvCxnSpPr>
        <p:spPr>
          <a:xfrm rot="5400000" flipV="1">
            <a:off x="2563495" y="3754755"/>
            <a:ext cx="194310" cy="2004695"/>
          </a:xfrm>
          <a:prstGeom prst="bentConnector3">
            <a:avLst>
              <a:gd name="adj1" fmla="val 49837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4" name="直接箭头连接符 52"/>
          <p:cNvCxnSpPr>
            <a:stCxn id="76" idx="2"/>
            <a:endCxn id="29" idx="1"/>
          </p:cNvCxnSpPr>
          <p:nvPr/>
        </p:nvCxnSpPr>
        <p:spPr>
          <a:xfrm>
            <a:off x="3654425" y="4655185"/>
            <a:ext cx="8255" cy="198755"/>
          </a:xfrm>
          <a:prstGeom prst="straightConnector1">
            <a:avLst/>
          </a:prstGeom>
          <a:noFill/>
          <a:ln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cxnSp>
        <p:nvCxnSpPr>
          <p:cNvPr id="95" name="肘形连接符 94"/>
          <p:cNvCxnSpPr>
            <a:stCxn id="82" idx="2"/>
            <a:endCxn id="29" idx="1"/>
          </p:cNvCxnSpPr>
          <p:nvPr/>
        </p:nvCxnSpPr>
        <p:spPr>
          <a:xfrm rot="5400000">
            <a:off x="4546600" y="3774440"/>
            <a:ext cx="195580" cy="196342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8" name="圆角矩形 46"/>
          <p:cNvSpPr/>
          <p:nvPr/>
        </p:nvSpPr>
        <p:spPr>
          <a:xfrm>
            <a:off x="2673985" y="7465695"/>
            <a:ext cx="899795" cy="720090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构建回归模型，评估政策影响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99" name="圆角矩形 46"/>
          <p:cNvSpPr/>
          <p:nvPr/>
        </p:nvSpPr>
        <p:spPr>
          <a:xfrm>
            <a:off x="3692525" y="7465695"/>
            <a:ext cx="899795" cy="720090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进行稳健性检验，控制内生性和遗漏变量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0" name="圆角矩形 46"/>
          <p:cNvSpPr/>
          <p:nvPr/>
        </p:nvSpPr>
        <p:spPr>
          <a:xfrm>
            <a:off x="4711065" y="7465695"/>
            <a:ext cx="899795" cy="720090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按地区和时期分组，比较政策效果差异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101" name="圆角矩形 46"/>
          <p:cNvSpPr/>
          <p:nvPr/>
        </p:nvSpPr>
        <p:spPr>
          <a:xfrm>
            <a:off x="5729605" y="7465695"/>
            <a:ext cx="899795" cy="720090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检验数字医疗与其他科技政策的交互效应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25" name="圆角矩形 24"/>
          <p:cNvSpPr/>
          <p:nvPr/>
        </p:nvSpPr>
        <p:spPr>
          <a:xfrm>
            <a:off x="5231765" y="9159875"/>
            <a:ext cx="1259840" cy="554990"/>
          </a:xfrm>
          <a:prstGeom prst="roundRect">
            <a:avLst>
              <a:gd name="adj" fmla="val 1850"/>
            </a:avLst>
          </a:prstGeom>
          <a:noFill/>
          <a:ln>
            <a:solidFill>
              <a:schemeClr val="tx1">
                <a:lumMod val="75000"/>
                <a:lumOff val="2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chemeClr val="accent2">
                    <a:lumMod val="20000"/>
                    <a:lumOff val="80000"/>
                    <a:alpha val="65000"/>
                  </a:schemeClr>
                </a:solidFill>
              </a14:hiddenFill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p>
            <a:pPr algn="ctr"/>
            <a:r>
              <a:rPr lang="zh-CN" altLang="en-US" sz="1050" kern="100">
                <a:solidFill>
                  <a:srgbClr val="000000"/>
                </a:solidFill>
                <a:latin typeface="微软雅黑" panose="020B0503020204020204" charset="-122"/>
                <a:ea typeface="微软雅黑" panose="020B0503020204020204" charset="-122"/>
                <a:cs typeface="Times New Roman" panose="02020603050405020304"/>
                <a:sym typeface="Times New Roman" panose="02020603050405020304"/>
              </a:rPr>
              <a:t>完善政策评估与动态调整，建立创新治理体系和制度</a:t>
            </a:r>
            <a:endParaRPr lang="zh-CN" altLang="en-US" sz="1050" kern="100">
              <a:solidFill>
                <a:srgbClr val="000000"/>
              </a:solidFill>
              <a:latin typeface="微软雅黑" panose="020B0503020204020204" charset="-122"/>
              <a:ea typeface="微软雅黑" panose="020B0503020204020204" charset="-122"/>
              <a:cs typeface="Times New Roman" panose="02020603050405020304"/>
              <a:sym typeface="Times New Roman" panose="02020603050405020304"/>
            </a:endParaRPr>
          </a:p>
        </p:txBody>
      </p:sp>
      <p:cxnSp>
        <p:nvCxnSpPr>
          <p:cNvPr id="26" name="肘形连接符 25"/>
          <p:cNvCxnSpPr>
            <a:stCxn id="45" idx="2"/>
            <a:endCxn id="49" idx="0"/>
          </p:cNvCxnSpPr>
          <p:nvPr/>
        </p:nvCxnSpPr>
        <p:spPr>
          <a:xfrm rot="5400000" flipV="1">
            <a:off x="3856990" y="8634095"/>
            <a:ext cx="317500" cy="72898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肘形连接符 26"/>
          <p:cNvCxnSpPr>
            <a:stCxn id="45" idx="2"/>
            <a:endCxn id="25" idx="0"/>
          </p:cNvCxnSpPr>
          <p:nvPr/>
        </p:nvCxnSpPr>
        <p:spPr>
          <a:xfrm rot="5400000" flipV="1">
            <a:off x="4596130" y="7894320"/>
            <a:ext cx="320040" cy="2210435"/>
          </a:xfrm>
          <a:prstGeom prst="bentConnector3">
            <a:avLst>
              <a:gd name="adj1" fmla="val 49901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肘形连接符 27"/>
          <p:cNvCxnSpPr>
            <a:stCxn id="45" idx="2"/>
            <a:endCxn id="48" idx="0"/>
          </p:cNvCxnSpPr>
          <p:nvPr/>
        </p:nvCxnSpPr>
        <p:spPr>
          <a:xfrm rot="5400000">
            <a:off x="3116580" y="8622665"/>
            <a:ext cx="317500" cy="752475"/>
          </a:xfrm>
          <a:prstGeom prst="bentConnector3">
            <a:avLst>
              <a:gd name="adj1" fmla="val 49900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肘形连接符 29"/>
          <p:cNvCxnSpPr>
            <a:stCxn id="45" idx="2"/>
            <a:endCxn id="47" idx="0"/>
          </p:cNvCxnSpPr>
          <p:nvPr/>
        </p:nvCxnSpPr>
        <p:spPr>
          <a:xfrm rot="5400000">
            <a:off x="2375535" y="7881620"/>
            <a:ext cx="317500" cy="223393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肘形连接符 30"/>
          <p:cNvCxnSpPr>
            <a:stCxn id="35" idx="2"/>
            <a:endCxn id="41" idx="0"/>
          </p:cNvCxnSpPr>
          <p:nvPr/>
        </p:nvCxnSpPr>
        <p:spPr>
          <a:xfrm rot="5400000">
            <a:off x="1203325" y="7055485"/>
            <a:ext cx="294005" cy="526415"/>
          </a:xfrm>
          <a:prstGeom prst="bentConnector3">
            <a:avLst>
              <a:gd name="adj1" fmla="val 50108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肘形连接符 31"/>
          <p:cNvCxnSpPr>
            <a:stCxn id="35" idx="2"/>
            <a:endCxn id="42" idx="0"/>
          </p:cNvCxnSpPr>
          <p:nvPr/>
        </p:nvCxnSpPr>
        <p:spPr>
          <a:xfrm rot="5400000" flipV="1">
            <a:off x="1712595" y="7072630"/>
            <a:ext cx="294005" cy="492125"/>
          </a:xfrm>
          <a:prstGeom prst="bentConnector3">
            <a:avLst>
              <a:gd name="adj1" fmla="val 50108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肘形连接符 37"/>
          <p:cNvCxnSpPr>
            <a:stCxn id="37" idx="2"/>
            <a:endCxn id="99" idx="0"/>
          </p:cNvCxnSpPr>
          <p:nvPr/>
        </p:nvCxnSpPr>
        <p:spPr>
          <a:xfrm rot="5400000" flipV="1">
            <a:off x="3758565" y="7081520"/>
            <a:ext cx="300990" cy="46736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肘形连接符 38"/>
          <p:cNvCxnSpPr>
            <a:stCxn id="37" idx="2"/>
            <a:endCxn id="98" idx="0"/>
          </p:cNvCxnSpPr>
          <p:nvPr/>
        </p:nvCxnSpPr>
        <p:spPr>
          <a:xfrm rot="5400000">
            <a:off x="3249295" y="7039610"/>
            <a:ext cx="300990" cy="551180"/>
          </a:xfrm>
          <a:prstGeom prst="bentConnector3">
            <a:avLst>
              <a:gd name="adj1" fmla="val 50000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肘形连接符 42"/>
          <p:cNvCxnSpPr>
            <a:stCxn id="40" idx="2"/>
            <a:endCxn id="101" idx="0"/>
          </p:cNvCxnSpPr>
          <p:nvPr/>
        </p:nvCxnSpPr>
        <p:spPr>
          <a:xfrm rot="5400000" flipV="1">
            <a:off x="5788025" y="7073900"/>
            <a:ext cx="266065" cy="517525"/>
          </a:xfrm>
          <a:prstGeom prst="bentConnector3">
            <a:avLst>
              <a:gd name="adj1" fmla="val 50119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肘形连接符 43"/>
          <p:cNvCxnSpPr>
            <a:stCxn id="40" idx="2"/>
            <a:endCxn id="100" idx="0"/>
          </p:cNvCxnSpPr>
          <p:nvPr/>
        </p:nvCxnSpPr>
        <p:spPr>
          <a:xfrm rot="5400000">
            <a:off x="5278755" y="7082155"/>
            <a:ext cx="266065" cy="501015"/>
          </a:xfrm>
          <a:prstGeom prst="bentConnector3">
            <a:avLst>
              <a:gd name="adj1" fmla="val 50119"/>
            </a:avLst>
          </a:prstGeom>
          <a:noFill/>
          <a:ln w="9525">
            <a:solidFill>
              <a:schemeClr val="tx1"/>
            </a:solidFill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ags/tag1.xml><?xml version="1.0" encoding="utf-8"?>
<p:tagLst xmlns:p="http://schemas.openxmlformats.org/presentationml/2006/main">
  <p:tag name="commondata" val="eyJoZGlkIjoiYTk0ZTkxNGRlODk2YTAzYmFiNzFhZDY1Y2YyY2Q1ZTY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Calibri">
      <a:maj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宋体"/>
        <a:ea typeface=""/>
        <a:cs typeface=""/>
        <a:font script="Jpan" typeface="游ゴシック Light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宋体"/>
        <a:ea typeface=""/>
        <a:cs typeface=""/>
        <a:font script="Jpan" typeface="游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1430</Words>
  <Application>WPS 演示</Application>
  <PresentationFormat>宽屏</PresentationFormat>
  <Paragraphs>184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4" baseType="lpstr">
      <vt:lpstr>Arial</vt:lpstr>
      <vt:lpstr>宋体</vt:lpstr>
      <vt:lpstr>Wingdings</vt:lpstr>
      <vt:lpstr>微软雅黑</vt:lpstr>
      <vt:lpstr>Times New Roman</vt:lpstr>
      <vt:lpstr>汉仪旗黑</vt:lpstr>
      <vt:lpstr>宋体</vt:lpstr>
      <vt:lpstr>Arial Unicode MS</vt:lpstr>
      <vt:lpstr>汉仪书宋二KW</vt:lpstr>
      <vt:lpstr>Calibri</vt:lpstr>
      <vt:lpstr>Helvetica Neue</vt:lpstr>
      <vt:lpstr>Office 主题​​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/>
  <cp:lastModifiedBy>jennica</cp:lastModifiedBy>
  <cp:revision>408</cp:revision>
  <dcterms:created xsi:type="dcterms:W3CDTF">2025-05-31T13:39:56Z</dcterms:created>
  <dcterms:modified xsi:type="dcterms:W3CDTF">2025-05-31T13:39:56Z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2052-5.5.1.7991</vt:lpwstr>
  </property>
  <property fmtid="{D5CDD505-2E9C-101B-9397-08002B2CF9AE}" pid="3" name="ICV">
    <vt:lpwstr>3BF49D7A1A4E90A2E6A2B067438926D6_43</vt:lpwstr>
  </property>
</Properties>
</file>