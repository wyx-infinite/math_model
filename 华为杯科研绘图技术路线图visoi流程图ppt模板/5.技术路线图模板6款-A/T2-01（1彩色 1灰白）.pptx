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6"/>
  </p:handoutMasterIdLst>
  <p:sldIdLst>
    <p:sldId id="256" r:id="rId3"/>
    <p:sldId id="257" r:id="rId5"/>
  </p:sldIdLst>
  <p:sldSz cx="7199630" cy="575945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E9E2"/>
    <a:srgbClr val="F1C9C1"/>
    <a:srgbClr val="F9F1EB"/>
    <a:srgbClr val="D5E8E4"/>
    <a:srgbClr val="529C95"/>
    <a:srgbClr val="F6F1DE"/>
    <a:srgbClr val="9E7BB5"/>
    <a:srgbClr val="B68ECE"/>
    <a:srgbClr val="F4F6FB"/>
    <a:srgbClr val="D6D6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1816"/>
        <p:guide pos="228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389262" cy="24739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221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8351776" y="0"/>
            <a:ext cx="6389262" cy="24739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221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4683398"/>
            <a:ext cx="6389262" cy="2473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221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8351776" y="4683398"/>
            <a:ext cx="6389262" cy="2473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21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388998" cy="24704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8352815" y="0"/>
            <a:ext cx="6388996" cy="24704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334013" y="616464"/>
            <a:ext cx="2080374" cy="16643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1476158" y="2373310"/>
            <a:ext cx="11796085" cy="194117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4683902"/>
            <a:ext cx="6388998" cy="24704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8352815" y="4683902"/>
            <a:ext cx="6388996" cy="24704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2545" y="217096"/>
            <a:ext cx="6210727" cy="1113486"/>
          </a:xfrm>
        </p:spPr>
        <p:txBody>
          <a:bodyPr anchor="ctr" anchorCtr="0">
            <a:normAutofit/>
          </a:bodyPr>
          <a:lstStyle>
            <a:lvl1pPr>
              <a:defRPr sz="3465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2545" y="1533543"/>
            <a:ext cx="6210727" cy="3655166"/>
          </a:xfrm>
        </p:spPr>
        <p:txBody>
          <a:bodyPr>
            <a:normAutofit/>
          </a:bodyPr>
          <a:lstStyle>
            <a:lvl1pPr>
              <a:defRPr sz="2205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9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575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415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415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95058" y="5339396"/>
            <a:ext cx="1620190" cy="306709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2385279" y="5339396"/>
            <a:ext cx="2430284" cy="30670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5085595" y="5339396"/>
            <a:ext cx="1620190" cy="306709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1307" y="394071"/>
            <a:ext cx="6088071" cy="3438451"/>
          </a:xfrm>
        </p:spPr>
        <p:txBody>
          <a:bodyPr anchor="b">
            <a:normAutofit/>
          </a:bodyPr>
          <a:lstStyle>
            <a:lvl1pPr>
              <a:defRPr sz="4725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1307" y="3872468"/>
            <a:ext cx="6088070" cy="543953"/>
          </a:xfrm>
        </p:spPr>
        <p:txBody>
          <a:bodyPr>
            <a:normAutofit/>
          </a:bodyPr>
          <a:lstStyle>
            <a:lvl1pPr marL="0" indent="0">
              <a:buNone/>
              <a:defRPr sz="189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60045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2pPr>
            <a:lvl3pPr marL="720090" indent="0">
              <a:buNone/>
              <a:defRPr sz="1415">
                <a:solidFill>
                  <a:schemeClr val="tx1">
                    <a:tint val="75000"/>
                  </a:schemeClr>
                </a:solidFill>
              </a:defRPr>
            </a:lvl3pPr>
            <a:lvl4pPr marL="108013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44018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180022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16027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52031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287972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95058" y="5339396"/>
            <a:ext cx="1620190" cy="306709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2385279" y="5339396"/>
            <a:ext cx="2430284" cy="30670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5085595" y="5339396"/>
            <a:ext cx="1620190" cy="306709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2545" y="217096"/>
            <a:ext cx="6210727" cy="1113486"/>
          </a:xfrm>
        </p:spPr>
        <p:txBody>
          <a:bodyPr>
            <a:normAutofit/>
          </a:bodyPr>
          <a:lstStyle>
            <a:lvl1pPr>
              <a:defRPr sz="3465" b="0" i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2545" y="1533543"/>
            <a:ext cx="3060358" cy="3655166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20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lnSpc>
                <a:spcPct val="90000"/>
              </a:lnSpc>
              <a:defRPr sz="189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lnSpc>
                <a:spcPct val="90000"/>
              </a:lnSpc>
              <a:defRPr sz="1575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lnSpc>
                <a:spcPct val="90000"/>
              </a:lnSpc>
              <a:defRPr sz="1415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lnSpc>
                <a:spcPct val="90000"/>
              </a:lnSpc>
              <a:defRPr sz="1415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532913" y="1533543"/>
            <a:ext cx="3060358" cy="3655166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20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lnSpc>
                <a:spcPct val="90000"/>
              </a:lnSpc>
              <a:defRPr sz="189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lnSpc>
                <a:spcPct val="90000"/>
              </a:lnSpc>
              <a:defRPr sz="1575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lnSpc>
                <a:spcPct val="90000"/>
              </a:lnSpc>
              <a:defRPr sz="1415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lnSpc>
                <a:spcPct val="90000"/>
              </a:lnSpc>
              <a:defRPr sz="1415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95058" y="5339396"/>
            <a:ext cx="1620190" cy="306709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2385279" y="5339396"/>
            <a:ext cx="2430284" cy="30670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5085595" y="5339396"/>
            <a:ext cx="1620190" cy="306709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996" y="306709"/>
            <a:ext cx="6210727" cy="1113486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996" y="1465784"/>
            <a:ext cx="3046294" cy="692094"/>
          </a:xfrm>
        </p:spPr>
        <p:txBody>
          <a:bodyPr anchor="b">
            <a:normAutofit/>
          </a:bodyPr>
          <a:lstStyle>
            <a:lvl1pPr marL="0" indent="0">
              <a:buNone/>
              <a:defRPr sz="2205" b="0"/>
            </a:lvl1pPr>
            <a:lvl2pPr marL="360045" indent="0">
              <a:buNone/>
              <a:defRPr sz="1575" b="1"/>
            </a:lvl2pPr>
            <a:lvl3pPr marL="720090" indent="0">
              <a:buNone/>
              <a:defRPr sz="1415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79725" indent="0">
              <a:buNone/>
              <a:defRPr sz="126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996" y="2197137"/>
            <a:ext cx="3046294" cy="300224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645427" y="1465784"/>
            <a:ext cx="3061296" cy="692094"/>
          </a:xfrm>
        </p:spPr>
        <p:txBody>
          <a:bodyPr anchor="b">
            <a:normAutofit/>
          </a:bodyPr>
          <a:lstStyle>
            <a:lvl1pPr marL="0" indent="0">
              <a:buNone/>
              <a:defRPr sz="2205" b="0"/>
            </a:lvl1pPr>
            <a:lvl2pPr marL="360045" indent="0">
              <a:buNone/>
              <a:defRPr sz="1575" b="1"/>
            </a:lvl2pPr>
            <a:lvl3pPr marL="720090" indent="0">
              <a:buNone/>
              <a:defRPr sz="1415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79725" indent="0">
              <a:buNone/>
              <a:defRPr sz="126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3645427" y="2197137"/>
            <a:ext cx="3061296" cy="300224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495058" y="5339396"/>
            <a:ext cx="1620190" cy="306709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2385279" y="5339396"/>
            <a:ext cx="2430284" cy="30670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5085595" y="5339396"/>
            <a:ext cx="1620190" cy="306709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058" y="2323651"/>
            <a:ext cx="6210727" cy="1113486"/>
          </a:xfrm>
        </p:spPr>
        <p:txBody>
          <a:bodyPr>
            <a:normAutofit/>
          </a:bodyPr>
          <a:lstStyle>
            <a:lvl1pPr algn="ctr">
              <a:defRPr sz="3465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95058" y="5339396"/>
            <a:ext cx="1620190" cy="306709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2385279" y="5339396"/>
            <a:ext cx="2430284" cy="30670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5085595" y="5339396"/>
            <a:ext cx="1620190" cy="306709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95058" y="5339396"/>
            <a:ext cx="1620190" cy="306709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2385279" y="5339396"/>
            <a:ext cx="2430284" cy="30670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5085595" y="5339396"/>
            <a:ext cx="1620190" cy="306709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81982" y="106681"/>
            <a:ext cx="2460052" cy="1344184"/>
          </a:xfrm>
        </p:spPr>
        <p:txBody>
          <a:bodyPr anchor="ctr" anchorCtr="0">
            <a:normAutofit/>
          </a:bodyPr>
          <a:lstStyle>
            <a:lvl1pPr>
              <a:defRPr sz="252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3061776" y="643745"/>
            <a:ext cx="3435860" cy="4279384"/>
          </a:xfrm>
        </p:spPr>
        <p:txBody>
          <a:bodyPr/>
          <a:lstStyle>
            <a:lvl1pPr marL="0" indent="0">
              <a:buNone/>
              <a:defRPr sz="2520"/>
            </a:lvl1pPr>
            <a:lvl2pPr marL="360045" indent="0">
              <a:buNone/>
              <a:defRPr sz="2205"/>
            </a:lvl2pPr>
            <a:lvl3pPr marL="720090" indent="0">
              <a:buNone/>
              <a:defRPr sz="1890"/>
            </a:lvl3pPr>
            <a:lvl4pPr marL="1080135" indent="0">
              <a:buNone/>
              <a:defRPr sz="1575"/>
            </a:lvl4pPr>
            <a:lvl5pPr marL="1440180" indent="0">
              <a:buNone/>
              <a:defRPr sz="1575"/>
            </a:lvl5pPr>
            <a:lvl6pPr marL="1800225" indent="0">
              <a:buNone/>
              <a:defRPr sz="1575"/>
            </a:lvl6pPr>
            <a:lvl7pPr marL="2160270" indent="0">
              <a:buNone/>
              <a:defRPr sz="1575"/>
            </a:lvl7pPr>
            <a:lvl8pPr marL="2520315" indent="0">
              <a:buNone/>
              <a:defRPr sz="1575"/>
            </a:lvl8pPr>
            <a:lvl9pPr marL="2879725" indent="0">
              <a:buNone/>
              <a:defRPr sz="1575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84982" y="1728236"/>
            <a:ext cx="2460052" cy="3201771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575"/>
            </a:lvl1pPr>
            <a:lvl2pPr marL="360045" indent="0">
              <a:buNone/>
              <a:defRPr sz="1100"/>
            </a:lvl2pPr>
            <a:lvl3pPr marL="720090" indent="0">
              <a:buNone/>
              <a:defRPr sz="945"/>
            </a:lvl3pPr>
            <a:lvl4pPr marL="1080135" indent="0">
              <a:buNone/>
              <a:defRPr sz="785"/>
            </a:lvl4pPr>
            <a:lvl5pPr marL="1440180" indent="0">
              <a:buNone/>
              <a:defRPr sz="785"/>
            </a:lvl5pPr>
            <a:lvl6pPr marL="1800225" indent="0">
              <a:buNone/>
              <a:defRPr sz="785"/>
            </a:lvl6pPr>
            <a:lvl7pPr marL="2160270" indent="0">
              <a:buNone/>
              <a:defRPr sz="785"/>
            </a:lvl7pPr>
            <a:lvl8pPr marL="2520315" indent="0">
              <a:buNone/>
              <a:defRPr sz="785"/>
            </a:lvl8pPr>
            <a:lvl9pPr marL="2879725" indent="0">
              <a:buNone/>
              <a:defRPr sz="785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95058" y="5339396"/>
            <a:ext cx="1620190" cy="306709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2385279" y="5339396"/>
            <a:ext cx="2430284" cy="306709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5085595" y="5339396"/>
            <a:ext cx="1620190" cy="306709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5802540" y="306709"/>
            <a:ext cx="903245" cy="4882001"/>
          </a:xfrm>
        </p:spPr>
        <p:txBody>
          <a:bodyPr vert="eaVert">
            <a:normAutofit/>
          </a:bodyPr>
          <a:lstStyle>
            <a:lvl1pPr>
              <a:defRPr sz="3465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95058" y="306709"/>
            <a:ext cx="5244683" cy="4882001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95058" y="5339396"/>
            <a:ext cx="1620190" cy="306709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2385279" y="5339396"/>
            <a:ext cx="2430284" cy="30670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5085595" y="5339396"/>
            <a:ext cx="1620190" cy="306709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95058" y="5339396"/>
            <a:ext cx="1620190" cy="306709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2385279" y="5339396"/>
            <a:ext cx="2430284" cy="30670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5085595" y="5339396"/>
            <a:ext cx="1620190" cy="306709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495058" y="463301"/>
            <a:ext cx="6210727" cy="466959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720090" rtl="0" eaLnBrk="1" latinLnBrk="0" hangingPunct="1">
        <a:lnSpc>
          <a:spcPct val="90000"/>
        </a:lnSpc>
        <a:spcBef>
          <a:spcPct val="0"/>
        </a:spcBef>
        <a:buNone/>
        <a:defRPr sz="3465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179705" indent="-179705" algn="l" defTabSz="720090" rtl="0" eaLnBrk="1" latinLnBrk="0" hangingPunct="1">
        <a:lnSpc>
          <a:spcPct val="90000"/>
        </a:lnSpc>
        <a:spcBef>
          <a:spcPct val="158000"/>
        </a:spcBef>
        <a:buFont typeface="Arial" panose="020B0604020202020204" pitchFamily="34" charset="0"/>
        <a:buChar char="•"/>
        <a:defRPr sz="2205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539750" indent="-179705" algn="l" defTabSz="720090" rtl="0" eaLnBrk="1" latinLnBrk="0" hangingPunct="1">
        <a:lnSpc>
          <a:spcPct val="90000"/>
        </a:lnSpc>
        <a:spcBef>
          <a:spcPct val="79000"/>
        </a:spcBef>
        <a:buFont typeface="Arial" panose="020B0604020202020204" pitchFamily="34" charset="0"/>
        <a:buChar char="•"/>
        <a:defRPr sz="189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899795" indent="-179705" algn="l" defTabSz="720090" rtl="0" eaLnBrk="1" latinLnBrk="0" hangingPunct="1">
        <a:lnSpc>
          <a:spcPct val="90000"/>
        </a:lnSpc>
        <a:spcBef>
          <a:spcPct val="79000"/>
        </a:spcBef>
        <a:buFont typeface="Arial" panose="020B0604020202020204" pitchFamily="34" charset="0"/>
        <a:buChar char="•"/>
        <a:defRPr sz="1575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259840" indent="-179705" algn="l" defTabSz="720090" rtl="0" eaLnBrk="1" latinLnBrk="0" hangingPunct="1">
        <a:lnSpc>
          <a:spcPct val="90000"/>
        </a:lnSpc>
        <a:spcBef>
          <a:spcPct val="79000"/>
        </a:spcBef>
        <a:buFont typeface="Arial" panose="020B0604020202020204" pitchFamily="34" charset="0"/>
        <a:buChar char="•"/>
        <a:defRPr sz="1415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619885" indent="-179705" algn="l" defTabSz="720090" rtl="0" eaLnBrk="1" latinLnBrk="0" hangingPunct="1">
        <a:lnSpc>
          <a:spcPct val="90000"/>
        </a:lnSpc>
        <a:spcBef>
          <a:spcPct val="79000"/>
        </a:spcBef>
        <a:buFont typeface="Arial" panose="020B0604020202020204" pitchFamily="34" charset="0"/>
        <a:buChar char="•"/>
        <a:defRPr sz="1415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979930" indent="-179705" algn="l" defTabSz="720090" rtl="0" eaLnBrk="1" latinLnBrk="0" hangingPunct="1">
        <a:lnSpc>
          <a:spcPct val="90000"/>
        </a:lnSpc>
        <a:spcBef>
          <a:spcPct val="79000"/>
        </a:spcBef>
        <a:buFont typeface="Arial" panose="020B0604020202020204" pitchFamily="34" charset="0"/>
        <a:buChar char="•"/>
        <a:defRPr sz="1415" kern="1200">
          <a:solidFill>
            <a:schemeClr val="tx1"/>
          </a:solidFill>
          <a:latin typeface="+mn-lt"/>
          <a:ea typeface="+mn-ea"/>
          <a:cs typeface="+mn-cs"/>
        </a:defRPr>
      </a:lvl6pPr>
      <a:lvl7pPr marL="2339975" indent="-179705" algn="l" defTabSz="720090" rtl="0" eaLnBrk="1" latinLnBrk="0" hangingPunct="1">
        <a:lnSpc>
          <a:spcPct val="90000"/>
        </a:lnSpc>
        <a:spcBef>
          <a:spcPct val="79000"/>
        </a:spcBef>
        <a:buFont typeface="Arial" panose="020B0604020202020204" pitchFamily="34" charset="0"/>
        <a:buChar char="•"/>
        <a:defRPr sz="1415" kern="1200">
          <a:solidFill>
            <a:schemeClr val="tx1"/>
          </a:solidFill>
          <a:latin typeface="+mn-lt"/>
          <a:ea typeface="+mn-ea"/>
          <a:cs typeface="+mn-cs"/>
        </a:defRPr>
      </a:lvl7pPr>
      <a:lvl8pPr marL="2700020" indent="-179705" algn="l" defTabSz="720090" rtl="0" eaLnBrk="1" latinLnBrk="0" hangingPunct="1">
        <a:lnSpc>
          <a:spcPct val="90000"/>
        </a:lnSpc>
        <a:spcBef>
          <a:spcPct val="79000"/>
        </a:spcBef>
        <a:buFont typeface="Arial" panose="020B0604020202020204" pitchFamily="34" charset="0"/>
        <a:buChar char="•"/>
        <a:defRPr sz="1415" kern="1200">
          <a:solidFill>
            <a:schemeClr val="tx1"/>
          </a:solidFill>
          <a:latin typeface="+mn-lt"/>
          <a:ea typeface="+mn-ea"/>
          <a:cs typeface="+mn-cs"/>
        </a:defRPr>
      </a:lvl8pPr>
      <a:lvl9pPr marL="3060065" indent="-179705" algn="l" defTabSz="720090" rtl="0" eaLnBrk="1" latinLnBrk="0" hangingPunct="1">
        <a:lnSpc>
          <a:spcPct val="90000"/>
        </a:lnSpc>
        <a:spcBef>
          <a:spcPct val="79000"/>
        </a:spcBef>
        <a:buFont typeface="Arial" panose="020B0604020202020204" pitchFamily="34" charset="0"/>
        <a:buChar char="•"/>
        <a:defRPr sz="14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720090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algn="l" defTabSz="720090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2pPr>
      <a:lvl3pPr marL="720090" algn="l" defTabSz="720090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3pPr>
      <a:lvl4pPr marL="1080135" algn="l" defTabSz="720090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4pPr>
      <a:lvl5pPr marL="1440180" algn="l" defTabSz="720090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5pPr>
      <a:lvl6pPr marL="1800225" algn="l" defTabSz="720090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6pPr>
      <a:lvl7pPr marL="2160270" algn="l" defTabSz="720090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7pPr>
      <a:lvl8pPr marL="2520315" algn="l" defTabSz="720090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8pPr>
      <a:lvl9pPr marL="2879725" algn="l" defTabSz="720090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圆角矩形 275"/>
          <p:cNvSpPr/>
          <p:nvPr/>
        </p:nvSpPr>
        <p:spPr>
          <a:xfrm>
            <a:off x="2826385" y="2740730"/>
            <a:ext cx="1750695" cy="1548765"/>
          </a:xfrm>
          <a:prstGeom prst="roundRect">
            <a:avLst>
              <a:gd name="adj" fmla="val 5986"/>
            </a:avLst>
          </a:prstGeom>
          <a:solidFill>
            <a:srgbClr val="EEF8F3">
              <a:alpha val="80000"/>
            </a:srgbClr>
          </a:solidFill>
          <a:ln w="3175" cmpd="sng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 b="1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77" name="矩形 276"/>
          <p:cNvSpPr/>
          <p:nvPr/>
        </p:nvSpPr>
        <p:spPr>
          <a:xfrm>
            <a:off x="3035300" y="3274060"/>
            <a:ext cx="1282700" cy="726440"/>
          </a:xfrm>
          <a:prstGeom prst="rect">
            <a:avLst/>
          </a:prstGeom>
          <a:gradFill>
            <a:gsLst>
              <a:gs pos="0">
                <a:schemeClr val="bg1"/>
              </a:gs>
              <a:gs pos="60000">
                <a:srgbClr val="CBEBDE">
                  <a:lumMod val="97000"/>
                </a:srgbClr>
              </a:gs>
              <a:gs pos="90000">
                <a:srgbClr val="B5E7DE"/>
              </a:gs>
            </a:gsLst>
            <a:lin ang="18900000" scaled="0"/>
          </a:gradFill>
          <a:ln>
            <a:gradFill>
              <a:gsLst>
                <a:gs pos="36000">
                  <a:srgbClr val="D6F1ED">
                    <a:alpha val="100000"/>
                  </a:srgbClr>
                </a:gs>
                <a:gs pos="0">
                  <a:schemeClr val="accent1">
                    <a:lumMod val="5000"/>
                    <a:lumOff val="95000"/>
                  </a:schemeClr>
                </a:gs>
                <a:gs pos="90000">
                  <a:srgbClr val="B5E7DC">
                    <a:lumMod val="62000"/>
                  </a:srgb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8" name="圆角矩形 277"/>
          <p:cNvSpPr/>
          <p:nvPr/>
        </p:nvSpPr>
        <p:spPr>
          <a:xfrm>
            <a:off x="487045" y="2284800"/>
            <a:ext cx="2192020" cy="2094230"/>
          </a:xfrm>
          <a:prstGeom prst="roundRect">
            <a:avLst>
              <a:gd name="adj" fmla="val 6642"/>
            </a:avLst>
          </a:prstGeom>
          <a:noFill/>
          <a:ln w="12700" cmpd="sng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 b="1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79" name="圆角矩形 278"/>
          <p:cNvSpPr/>
          <p:nvPr/>
        </p:nvSpPr>
        <p:spPr>
          <a:xfrm>
            <a:off x="2745740" y="113100"/>
            <a:ext cx="4264660" cy="2094230"/>
          </a:xfrm>
          <a:prstGeom prst="roundRect">
            <a:avLst>
              <a:gd name="adj" fmla="val 6642"/>
            </a:avLst>
          </a:prstGeom>
          <a:noFill/>
          <a:ln w="12700" cmpd="sng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 b="1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80" name="同侧圆角矩形 279"/>
          <p:cNvSpPr/>
          <p:nvPr/>
        </p:nvSpPr>
        <p:spPr>
          <a:xfrm>
            <a:off x="523240" y="193110"/>
            <a:ext cx="2096770" cy="312420"/>
          </a:xfrm>
          <a:prstGeom prst="round2SameRect">
            <a:avLst/>
          </a:prstGeom>
          <a:solidFill>
            <a:srgbClr val="C2C2DF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00" b="1">
                <a:solidFill>
                  <a:schemeClr val="tx1"/>
                </a:solidFill>
                <a:latin typeface="微软雅黑" charset="0"/>
                <a:ea typeface="微软雅黑" charset="0"/>
              </a:rPr>
              <a:t>数字技术评估与利益相关者需求分析</a:t>
            </a:r>
            <a:endParaRPr lang="zh-CN" altLang="en-US" sz="900" b="1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81" name="圆角矩形 280"/>
          <p:cNvSpPr/>
          <p:nvPr/>
        </p:nvSpPr>
        <p:spPr>
          <a:xfrm>
            <a:off x="523240" y="546170"/>
            <a:ext cx="2073910" cy="242570"/>
          </a:xfrm>
          <a:prstGeom prst="roundRect">
            <a:avLst/>
          </a:prstGeom>
          <a:solidFill>
            <a:schemeClr val="accent5">
              <a:lumMod val="60000"/>
              <a:lumOff val="40000"/>
              <a:alpha val="5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00" b="1">
                <a:solidFill>
                  <a:schemeClr val="tx1"/>
                </a:solidFill>
                <a:latin typeface="微软雅黑" charset="0"/>
                <a:ea typeface="微软雅黑" charset="0"/>
              </a:rPr>
              <a:t>数字技术与利益相关者映射</a:t>
            </a:r>
            <a:endParaRPr lang="zh-CN" altLang="en-US" sz="900" b="1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82" name="同侧圆角矩形 281"/>
          <p:cNvSpPr/>
          <p:nvPr/>
        </p:nvSpPr>
        <p:spPr>
          <a:xfrm>
            <a:off x="2792730" y="193110"/>
            <a:ext cx="4138295" cy="312420"/>
          </a:xfrm>
          <a:prstGeom prst="round2SameRect">
            <a:avLst/>
          </a:prstGeom>
          <a:solidFill>
            <a:srgbClr val="C2C2DF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/>
                </a:solidFill>
                <a:latin typeface="微软雅黑" charset="0"/>
                <a:ea typeface="微软雅黑" charset="0"/>
              </a:rPr>
              <a:t>基于数字技术的生态旅游可持续发展整合框架</a:t>
            </a:r>
            <a:endParaRPr lang="zh-CN" altLang="en-US" sz="1000" b="1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83" name="圆角矩形 282"/>
          <p:cNvSpPr/>
          <p:nvPr/>
        </p:nvSpPr>
        <p:spPr>
          <a:xfrm>
            <a:off x="526733" y="838200"/>
            <a:ext cx="631825" cy="237490"/>
          </a:xfrm>
          <a:prstGeom prst="roundRect">
            <a:avLst/>
          </a:prstGeom>
          <a:solidFill>
            <a:srgbClr val="C6D4EF">
              <a:alpha val="80000"/>
            </a:srgb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 b="1">
                <a:solidFill>
                  <a:schemeClr val="tx1"/>
                </a:solidFill>
                <a:latin typeface="微软雅黑" charset="0"/>
                <a:ea typeface="微软雅黑" charset="0"/>
              </a:rPr>
              <a:t>管理机构</a:t>
            </a:r>
            <a:endParaRPr lang="zh-CN" altLang="en-US" sz="800" b="1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84" name="圆角矩形 283"/>
          <p:cNvSpPr/>
          <p:nvPr/>
        </p:nvSpPr>
        <p:spPr>
          <a:xfrm>
            <a:off x="1194118" y="838200"/>
            <a:ext cx="739140" cy="236855"/>
          </a:xfrm>
          <a:prstGeom prst="roundRect">
            <a:avLst/>
          </a:prstGeom>
          <a:solidFill>
            <a:srgbClr val="C6D4EF">
              <a:alpha val="80000"/>
            </a:srgb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 b="1">
                <a:solidFill>
                  <a:schemeClr val="tx1"/>
                </a:solidFill>
                <a:latin typeface="微软雅黑" charset="0"/>
                <a:ea typeface="微软雅黑" charset="0"/>
              </a:rPr>
              <a:t>旅游经营者</a:t>
            </a:r>
            <a:endParaRPr lang="zh-CN" altLang="en-US" sz="800" b="1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85" name="圆角矩形 284"/>
          <p:cNvSpPr/>
          <p:nvPr/>
        </p:nvSpPr>
        <p:spPr>
          <a:xfrm>
            <a:off x="1965643" y="837565"/>
            <a:ext cx="631825" cy="243205"/>
          </a:xfrm>
          <a:prstGeom prst="roundRect">
            <a:avLst/>
          </a:prstGeom>
          <a:solidFill>
            <a:srgbClr val="C6D4EF">
              <a:alpha val="80000"/>
            </a:srgb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 b="1">
                <a:solidFill>
                  <a:schemeClr val="tx1"/>
                </a:solidFill>
                <a:latin typeface="微软雅黑" charset="0"/>
                <a:ea typeface="微软雅黑" charset="0"/>
              </a:rPr>
              <a:t>游客群体</a:t>
            </a:r>
            <a:endParaRPr lang="zh-CN" altLang="en-US" sz="800" b="1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86" name="圆角矩形 285"/>
          <p:cNvSpPr/>
          <p:nvPr/>
        </p:nvSpPr>
        <p:spPr>
          <a:xfrm>
            <a:off x="2805430" y="572840"/>
            <a:ext cx="1750695" cy="1548765"/>
          </a:xfrm>
          <a:prstGeom prst="roundRect">
            <a:avLst>
              <a:gd name="adj" fmla="val 6642"/>
            </a:avLst>
          </a:prstGeom>
          <a:solidFill>
            <a:srgbClr val="F4F6FB"/>
          </a:solidFill>
          <a:ln w="3175" cmpd="sng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 b="1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87" name="圆角矩形 286"/>
          <p:cNvSpPr/>
          <p:nvPr/>
        </p:nvSpPr>
        <p:spPr>
          <a:xfrm>
            <a:off x="4617085" y="572840"/>
            <a:ext cx="2313940" cy="1548765"/>
          </a:xfrm>
          <a:prstGeom prst="roundRect">
            <a:avLst>
              <a:gd name="adj" fmla="val 6642"/>
            </a:avLst>
          </a:prstGeom>
          <a:solidFill>
            <a:srgbClr val="E6EBF6">
              <a:alpha val="43000"/>
            </a:srgbClr>
          </a:solidFill>
          <a:ln w="3175" cmpd="sng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 b="1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88" name="圆角矩形 287"/>
          <p:cNvSpPr/>
          <p:nvPr/>
        </p:nvSpPr>
        <p:spPr>
          <a:xfrm>
            <a:off x="497840" y="1446530"/>
            <a:ext cx="689610" cy="695960"/>
          </a:xfrm>
          <a:prstGeom prst="roundRect">
            <a:avLst>
              <a:gd name="adj" fmla="val 10591"/>
            </a:avLst>
          </a:prstGeom>
          <a:solidFill>
            <a:srgbClr val="E2E8F4">
              <a:alpha val="50000"/>
            </a:srgb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130000"/>
              </a:lnSpc>
            </a:pPr>
            <a:endParaRPr lang="zh-CN" altLang="en-US" sz="700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89" name="圆角矩形 288"/>
          <p:cNvSpPr/>
          <p:nvPr/>
        </p:nvSpPr>
        <p:spPr>
          <a:xfrm>
            <a:off x="1212215" y="1446530"/>
            <a:ext cx="702945" cy="695325"/>
          </a:xfrm>
          <a:prstGeom prst="roundRect">
            <a:avLst>
              <a:gd name="adj" fmla="val 12328"/>
            </a:avLst>
          </a:prstGeom>
          <a:solidFill>
            <a:srgbClr val="E2E8F4">
              <a:alpha val="50000"/>
            </a:srgb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700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90" name="圆角矩形 289"/>
          <p:cNvSpPr/>
          <p:nvPr/>
        </p:nvSpPr>
        <p:spPr>
          <a:xfrm>
            <a:off x="1938655" y="1446530"/>
            <a:ext cx="685800" cy="695960"/>
          </a:xfrm>
          <a:prstGeom prst="roundRect">
            <a:avLst>
              <a:gd name="adj" fmla="val 12222"/>
            </a:avLst>
          </a:prstGeom>
          <a:solidFill>
            <a:srgbClr val="E2E8F4">
              <a:alpha val="50000"/>
            </a:srgb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700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91" name="同侧圆角矩形 290"/>
          <p:cNvSpPr/>
          <p:nvPr/>
        </p:nvSpPr>
        <p:spPr>
          <a:xfrm>
            <a:off x="535940" y="2366080"/>
            <a:ext cx="2096770" cy="312420"/>
          </a:xfrm>
          <a:prstGeom prst="round2SameRect">
            <a:avLst/>
          </a:prstGeom>
          <a:solidFill>
            <a:srgbClr val="AFD4CC">
              <a:alpha val="53000"/>
            </a:srgb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/>
                </a:solidFill>
                <a:latin typeface="微软雅黑" charset="0"/>
                <a:ea typeface="微软雅黑" charset="0"/>
              </a:rPr>
              <a:t>数字生态旅游系统模型</a:t>
            </a:r>
            <a:r>
              <a:rPr lang="zh-CN" altLang="en-US" sz="1000" b="1">
                <a:solidFill>
                  <a:schemeClr val="tx1"/>
                </a:solidFill>
                <a:latin typeface="微软雅黑" charset="0"/>
                <a:ea typeface="微软雅黑" charset="0"/>
              </a:rPr>
              <a:t>构建</a:t>
            </a:r>
            <a:endParaRPr lang="zh-CN" altLang="en-US" sz="1000" b="1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92" name="圆角矩形 291"/>
          <p:cNvSpPr/>
          <p:nvPr/>
        </p:nvSpPr>
        <p:spPr>
          <a:xfrm>
            <a:off x="535940" y="2747080"/>
            <a:ext cx="668020" cy="312420"/>
          </a:xfrm>
          <a:prstGeom prst="roundRect">
            <a:avLst/>
          </a:prstGeom>
          <a:solidFill>
            <a:srgbClr val="E0F0E6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solidFill>
                  <a:schemeClr val="tx1"/>
                </a:solidFill>
                <a:latin typeface="微软雅黑" charset="0"/>
                <a:ea typeface="微软雅黑" charset="0"/>
              </a:rPr>
              <a:t>监控</a:t>
            </a:r>
            <a:endParaRPr lang="zh-CN" altLang="en-US" sz="800">
              <a:solidFill>
                <a:schemeClr val="tx1"/>
              </a:solidFill>
              <a:latin typeface="微软雅黑" charset="0"/>
              <a:ea typeface="微软雅黑" charset="0"/>
            </a:endParaRPr>
          </a:p>
          <a:p>
            <a:pPr algn="ctr"/>
            <a:r>
              <a:rPr lang="zh-CN" altLang="en-US" sz="800">
                <a:solidFill>
                  <a:schemeClr val="tx1"/>
                </a:solidFill>
                <a:latin typeface="微软雅黑" charset="0"/>
                <a:ea typeface="微软雅黑" charset="0"/>
              </a:rPr>
              <a:t>子系统</a:t>
            </a:r>
            <a:endParaRPr lang="zh-CN" altLang="en-US" sz="800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93" name="圆角矩形 292"/>
          <p:cNvSpPr/>
          <p:nvPr/>
        </p:nvSpPr>
        <p:spPr>
          <a:xfrm>
            <a:off x="535940" y="3128080"/>
            <a:ext cx="668020" cy="312420"/>
          </a:xfrm>
          <a:prstGeom prst="roundRect">
            <a:avLst/>
          </a:prstGeom>
          <a:solidFill>
            <a:srgbClr val="E0F0E6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solidFill>
                  <a:schemeClr val="tx1"/>
                </a:solidFill>
                <a:latin typeface="微软雅黑" charset="0"/>
                <a:ea typeface="微软雅黑" charset="0"/>
              </a:rPr>
              <a:t>分析</a:t>
            </a:r>
            <a:endParaRPr lang="zh-CN" altLang="en-US" sz="800">
              <a:solidFill>
                <a:schemeClr val="tx1"/>
              </a:solidFill>
              <a:latin typeface="微软雅黑" charset="0"/>
              <a:ea typeface="微软雅黑" charset="0"/>
            </a:endParaRPr>
          </a:p>
          <a:p>
            <a:pPr algn="ctr"/>
            <a:r>
              <a:rPr lang="zh-CN" altLang="en-US" sz="800">
                <a:solidFill>
                  <a:schemeClr val="tx1"/>
                </a:solidFill>
                <a:latin typeface="微软雅黑" charset="0"/>
                <a:ea typeface="微软雅黑" charset="0"/>
              </a:rPr>
              <a:t>子系统</a:t>
            </a:r>
            <a:endParaRPr lang="zh-CN" altLang="en-US" sz="800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94" name="圆角矩形 293"/>
          <p:cNvSpPr/>
          <p:nvPr/>
        </p:nvSpPr>
        <p:spPr>
          <a:xfrm>
            <a:off x="535940" y="3509080"/>
            <a:ext cx="668020" cy="312420"/>
          </a:xfrm>
          <a:prstGeom prst="roundRect">
            <a:avLst/>
          </a:prstGeom>
          <a:solidFill>
            <a:srgbClr val="E0F0E6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solidFill>
                  <a:schemeClr val="tx1"/>
                </a:solidFill>
                <a:latin typeface="微软雅黑" charset="0"/>
                <a:ea typeface="微软雅黑" charset="0"/>
              </a:rPr>
              <a:t>应用</a:t>
            </a:r>
            <a:endParaRPr lang="zh-CN" altLang="en-US" sz="800">
              <a:solidFill>
                <a:schemeClr val="tx1"/>
              </a:solidFill>
              <a:latin typeface="微软雅黑" charset="0"/>
              <a:ea typeface="微软雅黑" charset="0"/>
            </a:endParaRPr>
          </a:p>
          <a:p>
            <a:pPr algn="ctr"/>
            <a:r>
              <a:rPr lang="zh-CN" altLang="en-US" sz="800">
                <a:solidFill>
                  <a:schemeClr val="tx1"/>
                </a:solidFill>
                <a:latin typeface="微软雅黑" charset="0"/>
                <a:ea typeface="微软雅黑" charset="0"/>
              </a:rPr>
              <a:t>子系统</a:t>
            </a:r>
            <a:endParaRPr lang="zh-CN" altLang="en-US" sz="800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95" name="圆角矩形 294"/>
          <p:cNvSpPr/>
          <p:nvPr/>
        </p:nvSpPr>
        <p:spPr>
          <a:xfrm>
            <a:off x="535940" y="3890080"/>
            <a:ext cx="668020" cy="312420"/>
          </a:xfrm>
          <a:prstGeom prst="roundRect">
            <a:avLst/>
          </a:prstGeom>
          <a:solidFill>
            <a:srgbClr val="E0F0E6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solidFill>
                  <a:schemeClr val="tx1"/>
                </a:solidFill>
                <a:latin typeface="微软雅黑" charset="0"/>
                <a:ea typeface="微软雅黑" charset="0"/>
              </a:rPr>
              <a:t>管理</a:t>
            </a:r>
            <a:endParaRPr lang="zh-CN" altLang="en-US" sz="800">
              <a:solidFill>
                <a:schemeClr val="tx1"/>
              </a:solidFill>
              <a:latin typeface="微软雅黑" charset="0"/>
              <a:ea typeface="微软雅黑" charset="0"/>
            </a:endParaRPr>
          </a:p>
          <a:p>
            <a:pPr algn="ctr"/>
            <a:r>
              <a:rPr lang="zh-CN" altLang="en-US" sz="800">
                <a:solidFill>
                  <a:schemeClr val="tx1"/>
                </a:solidFill>
                <a:latin typeface="微软雅黑" charset="0"/>
                <a:ea typeface="微软雅黑" charset="0"/>
              </a:rPr>
              <a:t>子系统</a:t>
            </a:r>
            <a:endParaRPr lang="zh-CN" altLang="en-US" sz="800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96" name="圆角矩形 295"/>
          <p:cNvSpPr/>
          <p:nvPr/>
        </p:nvSpPr>
        <p:spPr>
          <a:xfrm>
            <a:off x="1247140" y="2755335"/>
            <a:ext cx="668020" cy="312420"/>
          </a:xfrm>
          <a:prstGeom prst="roundRect">
            <a:avLst/>
          </a:prstGeom>
          <a:solidFill>
            <a:srgbClr val="E6F9FF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solidFill>
                  <a:schemeClr val="tx1"/>
                </a:solidFill>
                <a:latin typeface="微软雅黑" charset="0"/>
                <a:ea typeface="微软雅黑" charset="0"/>
              </a:rPr>
              <a:t>传感网络</a:t>
            </a:r>
            <a:r>
              <a:rPr lang="en-US" altLang="zh-CN" sz="800">
                <a:solidFill>
                  <a:schemeClr val="tx1"/>
                </a:solidFill>
                <a:latin typeface="微软雅黑" charset="0"/>
                <a:ea typeface="微软雅黑" charset="0"/>
              </a:rPr>
              <a:t>/</a:t>
            </a:r>
            <a:r>
              <a:rPr lang="zh-CN" altLang="en-US" sz="800">
                <a:solidFill>
                  <a:schemeClr val="tx1"/>
                </a:solidFill>
                <a:latin typeface="微软雅黑" charset="0"/>
                <a:ea typeface="微软雅黑" charset="0"/>
              </a:rPr>
              <a:t>遥感</a:t>
            </a:r>
            <a:endParaRPr lang="zh-CN" altLang="en-US" sz="800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97" name="圆角矩形 296"/>
          <p:cNvSpPr/>
          <p:nvPr/>
        </p:nvSpPr>
        <p:spPr>
          <a:xfrm>
            <a:off x="1247140" y="3136335"/>
            <a:ext cx="668020" cy="312420"/>
          </a:xfrm>
          <a:prstGeom prst="roundRect">
            <a:avLst/>
          </a:prstGeom>
          <a:solidFill>
            <a:srgbClr val="E6F9FF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800">
                <a:solidFill>
                  <a:schemeClr val="tx1"/>
                </a:solidFill>
                <a:latin typeface="微软雅黑" charset="0"/>
                <a:ea typeface="微软雅黑" charset="0"/>
              </a:rPr>
              <a:t>AI/</a:t>
            </a:r>
            <a:r>
              <a:rPr lang="zh-CN" altLang="en-US" sz="800">
                <a:solidFill>
                  <a:schemeClr val="tx1"/>
                </a:solidFill>
                <a:latin typeface="微软雅黑" charset="0"/>
                <a:ea typeface="微软雅黑" charset="0"/>
              </a:rPr>
              <a:t>大数据</a:t>
            </a:r>
            <a:r>
              <a:rPr lang="zh-CN" altLang="en-US" sz="800">
                <a:solidFill>
                  <a:schemeClr val="tx1"/>
                </a:solidFill>
                <a:latin typeface="微软雅黑" charset="0"/>
                <a:ea typeface="微软雅黑" charset="0"/>
              </a:rPr>
              <a:t>分析</a:t>
            </a:r>
            <a:endParaRPr lang="zh-CN" altLang="en-US" sz="800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98" name="圆角矩形 297"/>
          <p:cNvSpPr/>
          <p:nvPr/>
        </p:nvSpPr>
        <p:spPr>
          <a:xfrm>
            <a:off x="1247140" y="3517335"/>
            <a:ext cx="668020" cy="312420"/>
          </a:xfrm>
          <a:prstGeom prst="roundRect">
            <a:avLst/>
          </a:prstGeom>
          <a:solidFill>
            <a:srgbClr val="E6F9FF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800">
                <a:solidFill>
                  <a:schemeClr val="tx1"/>
                </a:solidFill>
                <a:latin typeface="微软雅黑" charset="0"/>
                <a:ea typeface="微软雅黑" charset="0"/>
              </a:rPr>
              <a:t>AR/VR/</a:t>
            </a:r>
            <a:r>
              <a:rPr lang="zh-CN" altLang="en-US" sz="800">
                <a:solidFill>
                  <a:schemeClr val="tx1"/>
                </a:solidFill>
                <a:latin typeface="微软雅黑" charset="0"/>
                <a:ea typeface="微软雅黑" charset="0"/>
              </a:rPr>
              <a:t>智能</a:t>
            </a:r>
            <a:r>
              <a:rPr lang="zh-CN" altLang="en-US" sz="800">
                <a:solidFill>
                  <a:schemeClr val="tx1"/>
                </a:solidFill>
                <a:latin typeface="微软雅黑" charset="0"/>
                <a:ea typeface="微软雅黑" charset="0"/>
              </a:rPr>
              <a:t>应用</a:t>
            </a:r>
            <a:endParaRPr lang="zh-CN" altLang="en-US" sz="800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99" name="圆角矩形 298"/>
          <p:cNvSpPr/>
          <p:nvPr/>
        </p:nvSpPr>
        <p:spPr>
          <a:xfrm>
            <a:off x="1247140" y="3898335"/>
            <a:ext cx="668020" cy="312420"/>
          </a:xfrm>
          <a:prstGeom prst="roundRect">
            <a:avLst/>
          </a:prstGeom>
          <a:solidFill>
            <a:srgbClr val="E6F9FF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solidFill>
                  <a:schemeClr val="tx1"/>
                </a:solidFill>
                <a:latin typeface="微软雅黑" charset="0"/>
                <a:ea typeface="微软雅黑" charset="0"/>
              </a:rPr>
              <a:t>决策支持</a:t>
            </a:r>
            <a:r>
              <a:rPr lang="en-US" altLang="zh-CN" sz="800">
                <a:solidFill>
                  <a:schemeClr val="tx1"/>
                </a:solidFill>
                <a:latin typeface="微软雅黑" charset="0"/>
                <a:ea typeface="微软雅黑" charset="0"/>
              </a:rPr>
              <a:t>/</a:t>
            </a:r>
            <a:r>
              <a:rPr lang="zh-CN" altLang="en-US" sz="800">
                <a:solidFill>
                  <a:schemeClr val="tx1"/>
                </a:solidFill>
                <a:latin typeface="微软雅黑" charset="0"/>
                <a:ea typeface="微软雅黑" charset="0"/>
              </a:rPr>
              <a:t>区块链</a:t>
            </a:r>
            <a:endParaRPr lang="zh-CN" altLang="en-US" sz="800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00" name="圆角矩形 299"/>
          <p:cNvSpPr/>
          <p:nvPr/>
        </p:nvSpPr>
        <p:spPr>
          <a:xfrm>
            <a:off x="1962785" y="2750890"/>
            <a:ext cx="680085" cy="1454785"/>
          </a:xfrm>
          <a:prstGeom prst="roundRect">
            <a:avLst>
              <a:gd name="adj" fmla="val 10084"/>
            </a:avLst>
          </a:prstGeom>
          <a:solidFill>
            <a:srgbClr val="E0F0E6"/>
          </a:solidFill>
          <a:ln>
            <a:solidFill>
              <a:schemeClr val="tx1">
                <a:lumMod val="65000"/>
                <a:lumOff val="35000"/>
                <a:alpha val="88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800" b="1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01" name="同侧圆角矩形 300"/>
          <p:cNvSpPr/>
          <p:nvPr/>
        </p:nvSpPr>
        <p:spPr>
          <a:xfrm>
            <a:off x="2813685" y="2366080"/>
            <a:ext cx="4138295" cy="312420"/>
          </a:xfrm>
          <a:prstGeom prst="round2SameRect">
            <a:avLst/>
          </a:prstGeom>
          <a:solidFill>
            <a:srgbClr val="AFD4CC">
              <a:alpha val="50000"/>
            </a:srgb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/>
                </a:solidFill>
                <a:latin typeface="微软雅黑" charset="0"/>
                <a:ea typeface="微软雅黑" charset="0"/>
              </a:rPr>
              <a:t>数字技术对生态旅游可持续发展的影响分析</a:t>
            </a:r>
            <a:endParaRPr lang="zh-CN" altLang="en-US" sz="1000" b="1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02" name="圆角矩形 301"/>
          <p:cNvSpPr/>
          <p:nvPr/>
        </p:nvSpPr>
        <p:spPr>
          <a:xfrm>
            <a:off x="4629150" y="2740730"/>
            <a:ext cx="2313940" cy="1548765"/>
          </a:xfrm>
          <a:prstGeom prst="roundRect">
            <a:avLst>
              <a:gd name="adj" fmla="val 7298"/>
            </a:avLst>
          </a:prstGeom>
          <a:solidFill>
            <a:srgbClr val="F1F9F5"/>
          </a:solidFill>
          <a:ln w="3175" cmpd="sng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 b="1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03" name="同侧圆角矩形 302"/>
          <p:cNvSpPr/>
          <p:nvPr/>
        </p:nvSpPr>
        <p:spPr>
          <a:xfrm>
            <a:off x="546100" y="4585405"/>
            <a:ext cx="2096770" cy="312420"/>
          </a:xfrm>
          <a:prstGeom prst="round2SameRect">
            <a:avLst/>
          </a:prstGeom>
          <a:solidFill>
            <a:srgbClr val="F1C9C1">
              <a:alpha val="61000"/>
            </a:srgb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/>
                </a:solidFill>
                <a:latin typeface="微软雅黑" charset="0"/>
                <a:ea typeface="微软雅黑" charset="0"/>
              </a:rPr>
              <a:t>案例研究与实践应用</a:t>
            </a:r>
            <a:endParaRPr lang="zh-CN" altLang="en-US" sz="1000" b="1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04" name="同侧圆角矩形 303"/>
          <p:cNvSpPr/>
          <p:nvPr/>
        </p:nvSpPr>
        <p:spPr>
          <a:xfrm>
            <a:off x="2832735" y="4585405"/>
            <a:ext cx="4091305" cy="312420"/>
          </a:xfrm>
          <a:prstGeom prst="round2SameRect">
            <a:avLst/>
          </a:prstGeom>
          <a:solidFill>
            <a:srgbClr val="F1C9C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/>
                </a:solidFill>
                <a:latin typeface="微软雅黑" charset="0"/>
                <a:ea typeface="微软雅黑" charset="0"/>
              </a:rPr>
              <a:t>数字生态旅游整合实施指南与政策建议</a:t>
            </a:r>
            <a:endParaRPr lang="zh-CN" altLang="en-US" sz="1000" b="1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05" name="五边形 304"/>
          <p:cNvSpPr/>
          <p:nvPr/>
        </p:nvSpPr>
        <p:spPr>
          <a:xfrm>
            <a:off x="532130" y="4946015"/>
            <a:ext cx="729615" cy="340360"/>
          </a:xfrm>
          <a:prstGeom prst="homePlate">
            <a:avLst/>
          </a:prstGeom>
          <a:solidFill>
            <a:srgbClr val="F2E9E2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110000"/>
              </a:lnSpc>
            </a:pPr>
            <a:r>
              <a:rPr lang="zh-CN" altLang="en-US" sz="700">
                <a:solidFill>
                  <a:schemeClr val="tx1"/>
                </a:solidFill>
                <a:latin typeface="微软雅黑" charset="0"/>
                <a:ea typeface="微软雅黑" charset="0"/>
              </a:rPr>
              <a:t>国家公园物联网监测</a:t>
            </a:r>
            <a:endParaRPr lang="zh-CN" altLang="en-US" sz="700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06" name="燕尾形 305"/>
          <p:cNvSpPr/>
          <p:nvPr/>
        </p:nvSpPr>
        <p:spPr>
          <a:xfrm>
            <a:off x="1152525" y="4946015"/>
            <a:ext cx="846455" cy="340360"/>
          </a:xfrm>
          <a:prstGeom prst="chevron">
            <a:avLst/>
          </a:prstGeom>
          <a:solidFill>
            <a:srgbClr val="F2E9E2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700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07" name="任意多边形 306"/>
          <p:cNvSpPr/>
          <p:nvPr/>
        </p:nvSpPr>
        <p:spPr>
          <a:xfrm>
            <a:off x="1888490" y="4940300"/>
            <a:ext cx="756000" cy="346075"/>
          </a:xfrm>
          <a:custGeom>
            <a:avLst/>
            <a:gdLst>
              <a:gd name="connsiteX0" fmla="*/ 0 w 1173"/>
              <a:gd name="connsiteY0" fmla="*/ 9 h 545"/>
              <a:gd name="connsiteX1" fmla="*/ 1173 w 1173"/>
              <a:gd name="connsiteY1" fmla="*/ 0 h 545"/>
              <a:gd name="connsiteX2" fmla="*/ 1172 w 1173"/>
              <a:gd name="connsiteY2" fmla="*/ 270 h 545"/>
              <a:gd name="connsiteX3" fmla="*/ 1173 w 1173"/>
              <a:gd name="connsiteY3" fmla="*/ 540 h 545"/>
              <a:gd name="connsiteX4" fmla="*/ 0 w 1173"/>
              <a:gd name="connsiteY4" fmla="*/ 545 h 545"/>
              <a:gd name="connsiteX5" fmla="*/ 268 w 1173"/>
              <a:gd name="connsiteY5" fmla="*/ 277 h 545"/>
              <a:gd name="connsiteX6" fmla="*/ 0 w 1173"/>
              <a:gd name="connsiteY6" fmla="*/ 9 h 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73" h="545">
                <a:moveTo>
                  <a:pt x="0" y="9"/>
                </a:moveTo>
                <a:lnTo>
                  <a:pt x="1173" y="0"/>
                </a:lnTo>
                <a:lnTo>
                  <a:pt x="1172" y="270"/>
                </a:lnTo>
                <a:lnTo>
                  <a:pt x="1173" y="540"/>
                </a:lnTo>
                <a:lnTo>
                  <a:pt x="0" y="545"/>
                </a:lnTo>
                <a:lnTo>
                  <a:pt x="268" y="277"/>
                </a:lnTo>
                <a:lnTo>
                  <a:pt x="0" y="9"/>
                </a:lnTo>
                <a:close/>
              </a:path>
            </a:pathLst>
          </a:custGeom>
          <a:solidFill>
            <a:srgbClr val="F2E9E2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>
              <a:lnSpc>
                <a:spcPct val="110000"/>
              </a:lnSpc>
            </a:pPr>
            <a:r>
              <a:rPr lang="en-US" altLang="zh-CN" sz="700">
                <a:solidFill>
                  <a:schemeClr val="tx1"/>
                </a:solidFill>
                <a:latin typeface="微软雅黑" charset="0"/>
                <a:ea typeface="微软雅黑" charset="0"/>
              </a:rPr>
              <a:t>    </a:t>
            </a:r>
            <a:r>
              <a:rPr lang="zh-CN" altLang="en-US" sz="700">
                <a:solidFill>
                  <a:schemeClr val="tx1"/>
                </a:solidFill>
                <a:latin typeface="微软雅黑" charset="0"/>
                <a:ea typeface="微软雅黑" charset="0"/>
              </a:rPr>
              <a:t>生态保护区</a:t>
            </a:r>
            <a:endParaRPr lang="zh-CN" altLang="en-US" sz="700">
              <a:solidFill>
                <a:schemeClr val="tx1"/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10000"/>
              </a:lnSpc>
            </a:pPr>
            <a:r>
              <a:rPr lang="en-US" altLang="zh-CN" sz="700">
                <a:solidFill>
                  <a:schemeClr val="tx1"/>
                </a:solidFill>
                <a:latin typeface="微软雅黑" charset="0"/>
                <a:ea typeface="微软雅黑" charset="0"/>
              </a:rPr>
              <a:t>    </a:t>
            </a:r>
            <a:r>
              <a:rPr lang="zh-CN" altLang="en-US" sz="700">
                <a:solidFill>
                  <a:schemeClr val="tx1"/>
                </a:solidFill>
                <a:latin typeface="微软雅黑" charset="0"/>
                <a:ea typeface="微软雅黑" charset="0"/>
              </a:rPr>
              <a:t>区块链溯源</a:t>
            </a:r>
            <a:endParaRPr lang="zh-CN" altLang="en-US" sz="700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08" name="圆角矩形 307"/>
          <p:cNvSpPr/>
          <p:nvPr/>
        </p:nvSpPr>
        <p:spPr>
          <a:xfrm>
            <a:off x="2826385" y="4940935"/>
            <a:ext cx="1290955" cy="264160"/>
          </a:xfrm>
          <a:prstGeom prst="roundRect">
            <a:avLst/>
          </a:prstGeom>
          <a:solidFill>
            <a:srgbClr val="F6F1DE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 b="1">
                <a:solidFill>
                  <a:schemeClr val="tx1"/>
                </a:solidFill>
                <a:latin typeface="微软雅黑" charset="0"/>
                <a:ea typeface="微软雅黑" charset="0"/>
              </a:rPr>
              <a:t>数字生态旅游实施框架</a:t>
            </a:r>
            <a:endParaRPr lang="zh-CN" altLang="en-US" sz="800" b="1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09" name="圆角矩形 308"/>
          <p:cNvSpPr/>
          <p:nvPr/>
        </p:nvSpPr>
        <p:spPr>
          <a:xfrm>
            <a:off x="4167823" y="4940935"/>
            <a:ext cx="1379855" cy="264160"/>
          </a:xfrm>
          <a:prstGeom prst="roundRect">
            <a:avLst/>
          </a:prstGeom>
          <a:solidFill>
            <a:srgbClr val="F6F1DE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 b="1">
                <a:solidFill>
                  <a:schemeClr val="tx1"/>
                </a:solidFill>
                <a:latin typeface="微软雅黑" charset="0"/>
                <a:ea typeface="微软雅黑" charset="0"/>
              </a:rPr>
              <a:t>实施</a:t>
            </a:r>
            <a:r>
              <a:rPr lang="zh-CN" altLang="en-US" sz="800" b="1">
                <a:solidFill>
                  <a:schemeClr val="tx1"/>
                </a:solidFill>
                <a:latin typeface="微软雅黑" charset="0"/>
                <a:ea typeface="微软雅黑" charset="0"/>
              </a:rPr>
              <a:t>阶段</a:t>
            </a:r>
            <a:endParaRPr lang="zh-CN" altLang="en-US" sz="800" b="1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10" name="圆角矩形 309"/>
          <p:cNvSpPr/>
          <p:nvPr/>
        </p:nvSpPr>
        <p:spPr>
          <a:xfrm>
            <a:off x="5598160" y="4940300"/>
            <a:ext cx="1342390" cy="264795"/>
          </a:xfrm>
          <a:prstGeom prst="roundRect">
            <a:avLst/>
          </a:prstGeom>
          <a:solidFill>
            <a:srgbClr val="F6F1DE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 b="1">
                <a:solidFill>
                  <a:schemeClr val="tx1"/>
                </a:solidFill>
                <a:latin typeface="微软雅黑" charset="0"/>
                <a:ea typeface="微软雅黑" charset="0"/>
              </a:rPr>
              <a:t>经济-生态双赢发展</a:t>
            </a:r>
            <a:endParaRPr lang="zh-CN" altLang="en-US" sz="800" b="1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11" name="文本框 310"/>
          <p:cNvSpPr txBox="1"/>
          <p:nvPr/>
        </p:nvSpPr>
        <p:spPr>
          <a:xfrm>
            <a:off x="2847340" y="594360"/>
            <a:ext cx="1647190" cy="3860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20000"/>
              </a:lnSpc>
            </a:pPr>
            <a:r>
              <a:rPr lang="zh-CN" altLang="en-US" sz="800" b="1">
                <a:latin typeface="微软雅黑" charset="0"/>
                <a:ea typeface="微软雅黑" charset="0"/>
              </a:rPr>
              <a:t>数字赋能的生态旅游可持续维度</a:t>
            </a:r>
            <a:endParaRPr lang="zh-CN" altLang="en-US" sz="800" b="1">
              <a:latin typeface="微软雅黑" charset="0"/>
              <a:ea typeface="微软雅黑" charset="0"/>
            </a:endParaRPr>
          </a:p>
          <a:p>
            <a:pPr algn="ctr">
              <a:lnSpc>
                <a:spcPct val="120000"/>
              </a:lnSpc>
            </a:pPr>
            <a:r>
              <a:rPr lang="zh-CN" altLang="en-US" sz="800">
                <a:latin typeface="微软雅黑" charset="0"/>
                <a:ea typeface="微软雅黑" charset="0"/>
              </a:rPr>
              <a:t>可持续性平衡机制</a:t>
            </a:r>
            <a:endParaRPr lang="zh-CN" altLang="en-US" sz="800">
              <a:latin typeface="微软雅黑" charset="0"/>
              <a:ea typeface="微软雅黑" charset="0"/>
            </a:endParaRPr>
          </a:p>
        </p:txBody>
      </p:sp>
      <p:sp>
        <p:nvSpPr>
          <p:cNvPr id="312" name="文本框 311"/>
          <p:cNvSpPr txBox="1"/>
          <p:nvPr/>
        </p:nvSpPr>
        <p:spPr>
          <a:xfrm>
            <a:off x="4905375" y="616585"/>
            <a:ext cx="176085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800" b="1">
                <a:latin typeface="微软雅黑" charset="0"/>
                <a:ea typeface="微软雅黑" charset="0"/>
              </a:rPr>
              <a:t>数字技术影响</a:t>
            </a:r>
            <a:r>
              <a:rPr lang="zh-CN" altLang="en-US" sz="800" b="1">
                <a:latin typeface="微软雅黑" charset="0"/>
                <a:ea typeface="微软雅黑" charset="0"/>
              </a:rPr>
              <a:t>矩阵</a:t>
            </a:r>
            <a:endParaRPr lang="zh-CN" altLang="en-US" sz="800" b="1">
              <a:latin typeface="微软雅黑" charset="0"/>
              <a:ea typeface="微软雅黑" charset="0"/>
            </a:endParaRPr>
          </a:p>
        </p:txBody>
      </p:sp>
      <p:sp>
        <p:nvSpPr>
          <p:cNvPr id="313" name="文本框 312"/>
          <p:cNvSpPr txBox="1"/>
          <p:nvPr/>
        </p:nvSpPr>
        <p:spPr>
          <a:xfrm>
            <a:off x="2937510" y="2769870"/>
            <a:ext cx="153416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800" b="1">
                <a:latin typeface="微软雅黑" charset="0"/>
                <a:ea typeface="微软雅黑" charset="0"/>
              </a:rPr>
              <a:t>生态影响评估</a:t>
            </a:r>
            <a:r>
              <a:rPr lang="zh-CN" altLang="en-US" sz="800" b="1">
                <a:latin typeface="微软雅黑" charset="0"/>
                <a:ea typeface="微软雅黑" charset="0"/>
              </a:rPr>
              <a:t>模型</a:t>
            </a:r>
            <a:endParaRPr lang="zh-CN" altLang="en-US" sz="800" b="1">
              <a:latin typeface="微软雅黑" charset="0"/>
              <a:ea typeface="微软雅黑" charset="0"/>
            </a:endParaRPr>
          </a:p>
          <a:p>
            <a:pPr algn="ctr"/>
            <a:r>
              <a:rPr lang="zh-CN" altLang="en-US" sz="800">
                <a:latin typeface="微软雅黑" charset="0"/>
                <a:ea typeface="微软雅黑" charset="0"/>
              </a:rPr>
              <a:t>基于数字监测</a:t>
            </a:r>
            <a:r>
              <a:rPr lang="zh-CN" altLang="en-US" sz="800">
                <a:latin typeface="微软雅黑" charset="0"/>
                <a:ea typeface="微软雅黑" charset="0"/>
              </a:rPr>
              <a:t>数据</a:t>
            </a:r>
            <a:endParaRPr lang="zh-CN" altLang="en-US" sz="800">
              <a:latin typeface="微软雅黑" charset="0"/>
              <a:ea typeface="微软雅黑" charset="0"/>
            </a:endParaRPr>
          </a:p>
        </p:txBody>
      </p:sp>
      <p:sp>
        <p:nvSpPr>
          <p:cNvPr id="314" name="五边形 313"/>
          <p:cNvSpPr/>
          <p:nvPr/>
        </p:nvSpPr>
        <p:spPr>
          <a:xfrm>
            <a:off x="192405" y="193040"/>
            <a:ext cx="240665" cy="1928495"/>
          </a:xfrm>
          <a:prstGeom prst="homePlate">
            <a:avLst/>
          </a:prstGeom>
          <a:solidFill>
            <a:srgbClr val="F4F1EA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00" b="1">
                <a:solidFill>
                  <a:schemeClr val="tx1"/>
                </a:solidFill>
                <a:latin typeface="微软雅黑" charset="0"/>
                <a:ea typeface="微软雅黑" charset="0"/>
              </a:rPr>
              <a:t>技术</a:t>
            </a:r>
            <a:endParaRPr lang="zh-CN" altLang="en-US" sz="900" b="1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15" name="五边形 314"/>
          <p:cNvSpPr/>
          <p:nvPr/>
        </p:nvSpPr>
        <p:spPr>
          <a:xfrm>
            <a:off x="191135" y="4507230"/>
            <a:ext cx="245110" cy="1102995"/>
          </a:xfrm>
          <a:prstGeom prst="homePlate">
            <a:avLst/>
          </a:prstGeom>
          <a:solidFill>
            <a:srgbClr val="F4F1EA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00" b="1">
                <a:solidFill>
                  <a:schemeClr val="tx1"/>
                </a:solidFill>
                <a:latin typeface="微软雅黑" charset="0"/>
                <a:ea typeface="微软雅黑" charset="0"/>
              </a:rPr>
              <a:t>应用</a:t>
            </a:r>
            <a:endParaRPr lang="zh-CN" altLang="en-US" sz="900" b="1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graphicFrame>
        <p:nvGraphicFramePr>
          <p:cNvPr id="316" name="表格 315"/>
          <p:cNvGraphicFramePr/>
          <p:nvPr>
            <p:custDataLst>
              <p:tags r:id="rId1"/>
            </p:custDataLst>
          </p:nvPr>
        </p:nvGraphicFramePr>
        <p:xfrm>
          <a:off x="4677410" y="840810"/>
          <a:ext cx="2192020" cy="1186815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740410"/>
                <a:gridCol w="768350"/>
                <a:gridCol w="683260"/>
              </a:tblGrid>
              <a:tr h="1974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600">
                          <a:latin typeface="微软雅黑" charset="0"/>
                          <a:ea typeface="微软雅黑" charset="0"/>
                        </a:rPr>
                        <a:t>技术类型</a:t>
                      </a:r>
                      <a:endParaRPr lang="zh-CN" altLang="en-US" sz="600">
                        <a:latin typeface="微软雅黑" charset="0"/>
                        <a:ea typeface="微软雅黑" charset="0"/>
                      </a:endParaRPr>
                    </a:p>
                  </a:txBody>
                  <a:tcPr>
                    <a:solidFill>
                      <a:srgbClr val="67598B">
                        <a:alpha val="7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600">
                          <a:latin typeface="微软雅黑" charset="0"/>
                          <a:ea typeface="微软雅黑" charset="0"/>
                        </a:rPr>
                        <a:t>生态影响</a:t>
                      </a:r>
                      <a:endParaRPr lang="zh-CN" altLang="en-US" sz="600">
                        <a:latin typeface="微软雅黑" charset="0"/>
                        <a:ea typeface="微软雅黑" charset="0"/>
                      </a:endParaRPr>
                    </a:p>
                  </a:txBody>
                  <a:tcPr>
                    <a:solidFill>
                      <a:srgbClr val="67598B">
                        <a:alpha val="7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600">
                          <a:latin typeface="微软雅黑" charset="0"/>
                          <a:ea typeface="微软雅黑" charset="0"/>
                        </a:rPr>
                        <a:t>经济影响</a:t>
                      </a:r>
                      <a:endParaRPr lang="zh-CN" altLang="en-US" sz="600">
                        <a:latin typeface="微软雅黑" charset="0"/>
                        <a:ea typeface="微软雅黑" charset="0"/>
                      </a:endParaRPr>
                    </a:p>
                  </a:txBody>
                  <a:tcPr>
                    <a:solidFill>
                      <a:srgbClr val="67598B">
                        <a:alpha val="75000"/>
                      </a:srgbClr>
                    </a:solidFill>
                  </a:tcPr>
                </a:tc>
              </a:tr>
              <a:tr h="329565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>
                        <a:latin typeface="微软雅黑" charset="0"/>
                        <a:ea typeface="微软雅黑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600">
                          <a:latin typeface="微软雅黑" charset="0"/>
                          <a:ea typeface="微软雅黑" charset="0"/>
                        </a:rPr>
                        <a:t>智能监测系统</a:t>
                      </a:r>
                      <a:endParaRPr lang="zh-CN" altLang="en-US" sz="600">
                        <a:latin typeface="微软雅黑" charset="0"/>
                        <a:ea typeface="微软雅黑" charset="0"/>
                      </a:endParaRPr>
                    </a:p>
                  </a:txBody>
                  <a:tcPr>
                    <a:solidFill>
                      <a:schemeClr val="accent5">
                        <a:tint val="40000"/>
                        <a:alpha val="73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600">
                          <a:latin typeface="微软雅黑" charset="0"/>
                          <a:ea typeface="微软雅黑" charset="0"/>
                        </a:rPr>
                        <a:t>承载力评估</a:t>
                      </a:r>
                      <a:endParaRPr lang="zh-CN" altLang="en-US" sz="600">
                        <a:latin typeface="微软雅黑" charset="0"/>
                        <a:ea typeface="微软雅黑" charset="0"/>
                      </a:endParaRPr>
                    </a:p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600">
                          <a:solidFill>
                            <a:srgbClr val="6E59C2"/>
                          </a:solidFill>
                          <a:latin typeface="微软雅黑" charset="0"/>
                          <a:ea typeface="微软雅黑" charset="0"/>
                        </a:rPr>
                        <a:t>减少生态压力</a:t>
                      </a:r>
                      <a:endParaRPr lang="zh-CN" altLang="en-US" sz="600">
                        <a:solidFill>
                          <a:srgbClr val="6E59C2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>
                    <a:solidFill>
                      <a:schemeClr val="accent5">
                        <a:tint val="40000"/>
                        <a:alpha val="73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600">
                          <a:latin typeface="微软雅黑" charset="0"/>
                          <a:ea typeface="微软雅黑" charset="0"/>
                        </a:rPr>
                        <a:t>精准管理</a:t>
                      </a:r>
                      <a:endParaRPr lang="zh-CN" altLang="en-US" sz="600">
                        <a:latin typeface="微软雅黑" charset="0"/>
                        <a:ea typeface="微软雅黑" charset="0"/>
                      </a:endParaRPr>
                    </a:p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600">
                          <a:solidFill>
                            <a:srgbClr val="6E59C2"/>
                          </a:solidFill>
                          <a:latin typeface="微软雅黑" charset="0"/>
                          <a:ea typeface="微软雅黑" charset="0"/>
                        </a:rPr>
                        <a:t>优化资配置</a:t>
                      </a:r>
                      <a:endParaRPr lang="zh-CN" altLang="en-US" sz="600">
                        <a:solidFill>
                          <a:srgbClr val="6E59C2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>
                    <a:solidFill>
                      <a:schemeClr val="accent5">
                        <a:tint val="40000"/>
                        <a:alpha val="73000"/>
                      </a:schemeClr>
                    </a:solidFill>
                  </a:tcPr>
                </a:tc>
              </a:tr>
              <a:tr h="30988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>
                        <a:latin typeface="微软雅黑" charset="0"/>
                        <a:ea typeface="微软雅黑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600">
                          <a:latin typeface="微软雅黑" charset="0"/>
                          <a:ea typeface="微软雅黑" charset="0"/>
                        </a:rPr>
                        <a:t>大数据分析平台</a:t>
                      </a:r>
                      <a:endParaRPr lang="zh-CN" altLang="en-US" sz="60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600">
                          <a:latin typeface="微软雅黑" charset="0"/>
                          <a:ea typeface="微软雅黑" charset="0"/>
                        </a:rPr>
                        <a:t>行为预测</a:t>
                      </a:r>
                      <a:endParaRPr lang="zh-CN" altLang="en-US" sz="600">
                        <a:latin typeface="微软雅黑" charset="0"/>
                        <a:ea typeface="微软雅黑" charset="0"/>
                      </a:endParaRPr>
                    </a:p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600">
                          <a:solidFill>
                            <a:srgbClr val="6E59C2"/>
                          </a:solidFill>
                          <a:latin typeface="微软雅黑" charset="0"/>
                          <a:ea typeface="微软雅黑" charset="0"/>
                        </a:rPr>
                        <a:t>环境动态管理</a:t>
                      </a:r>
                      <a:endParaRPr lang="zh-CN" altLang="en-US" sz="600">
                        <a:solidFill>
                          <a:srgbClr val="6E59C2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600">
                          <a:latin typeface="微软雅黑" charset="0"/>
                          <a:ea typeface="微软雅黑" charset="0"/>
                        </a:rPr>
                        <a:t>数据驱动决策</a:t>
                      </a:r>
                      <a:endParaRPr lang="zh-CN" altLang="en-US" sz="600">
                        <a:latin typeface="微软雅黑" charset="0"/>
                        <a:ea typeface="微软雅黑" charset="0"/>
                      </a:endParaRPr>
                    </a:p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600">
                          <a:solidFill>
                            <a:srgbClr val="6E59C2"/>
                          </a:solidFill>
                          <a:latin typeface="微软雅黑" charset="0"/>
                          <a:ea typeface="微软雅黑" charset="0"/>
                        </a:rPr>
                        <a:t>精准营销增收</a:t>
                      </a:r>
                      <a:endParaRPr lang="zh-CN" altLang="en-US" sz="600">
                        <a:solidFill>
                          <a:srgbClr val="6E59C2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</a:tr>
              <a:tr h="349885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>
                        <a:latin typeface="微软雅黑" charset="0"/>
                        <a:ea typeface="微软雅黑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600">
                          <a:latin typeface="微软雅黑" charset="0"/>
                          <a:ea typeface="微软雅黑" charset="0"/>
                        </a:rPr>
                        <a:t>沉浸式体验技术</a:t>
                      </a:r>
                      <a:endParaRPr lang="zh-CN" altLang="en-US" sz="600">
                        <a:latin typeface="微软雅黑" charset="0"/>
                        <a:ea typeface="微软雅黑" charset="0"/>
                      </a:endParaRPr>
                    </a:p>
                  </a:txBody>
                  <a:tcPr>
                    <a:solidFill>
                      <a:schemeClr val="accent5">
                        <a:tint val="40000"/>
                        <a:alpha val="73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600">
                          <a:latin typeface="微软雅黑" charset="0"/>
                          <a:ea typeface="微软雅黑" charset="0"/>
                        </a:rPr>
                        <a:t>虚拟访问</a:t>
                      </a:r>
                      <a:endParaRPr lang="zh-CN" altLang="en-US" sz="600">
                        <a:latin typeface="微软雅黑" charset="0"/>
                        <a:ea typeface="微软雅黑" charset="0"/>
                      </a:endParaRPr>
                    </a:p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600">
                          <a:solidFill>
                            <a:srgbClr val="6E59C2"/>
                          </a:solidFill>
                          <a:latin typeface="微软雅黑" charset="0"/>
                          <a:ea typeface="微软雅黑" charset="0"/>
                        </a:rPr>
                        <a:t>减轻实地压力</a:t>
                      </a:r>
                      <a:endParaRPr lang="zh-CN" altLang="en-US" sz="600">
                        <a:solidFill>
                          <a:srgbClr val="6E59C2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>
                    <a:solidFill>
                      <a:schemeClr val="accent5">
                        <a:tint val="40000"/>
                        <a:alpha val="73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600">
                          <a:latin typeface="微软雅黑" charset="0"/>
                          <a:ea typeface="微软雅黑" charset="0"/>
                        </a:rPr>
                        <a:t>数字产品创新</a:t>
                      </a:r>
                      <a:endParaRPr lang="zh-CN" altLang="en-US" sz="600">
                        <a:latin typeface="微软雅黑" charset="0"/>
                        <a:ea typeface="微软雅黑" charset="0"/>
                      </a:endParaRPr>
                    </a:p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600">
                          <a:solidFill>
                            <a:srgbClr val="6E59C2"/>
                          </a:solidFill>
                          <a:latin typeface="微软雅黑" charset="0"/>
                          <a:ea typeface="微软雅黑" charset="0"/>
                        </a:rPr>
                        <a:t>拓展收入渠道</a:t>
                      </a:r>
                      <a:endParaRPr lang="zh-CN" altLang="en-US" sz="600">
                        <a:solidFill>
                          <a:srgbClr val="6E59C2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>
                    <a:solidFill>
                      <a:schemeClr val="accent5">
                        <a:tint val="40000"/>
                        <a:alpha val="73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17" name="圆角矩形 316"/>
          <p:cNvSpPr/>
          <p:nvPr/>
        </p:nvSpPr>
        <p:spPr>
          <a:xfrm>
            <a:off x="2826385" y="5332095"/>
            <a:ext cx="1290955" cy="219710"/>
          </a:xfrm>
          <a:prstGeom prst="roundRect">
            <a:avLst/>
          </a:prstGeom>
          <a:solidFill>
            <a:srgbClr val="EDD2BF">
              <a:alpha val="31000"/>
            </a:srgb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solidFill>
                  <a:schemeClr val="tx1"/>
                </a:solidFill>
                <a:latin typeface="微软雅黑" charset="0"/>
                <a:ea typeface="微软雅黑" charset="0"/>
              </a:rPr>
              <a:t>数字基础设施支持政策</a:t>
            </a:r>
            <a:endParaRPr lang="zh-CN" altLang="en-US" sz="800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18" name="圆角矩形 317"/>
          <p:cNvSpPr/>
          <p:nvPr/>
        </p:nvSpPr>
        <p:spPr>
          <a:xfrm>
            <a:off x="4166870" y="5331778"/>
            <a:ext cx="1381760" cy="219710"/>
          </a:xfrm>
          <a:prstGeom prst="roundRect">
            <a:avLst/>
          </a:prstGeom>
          <a:solidFill>
            <a:srgbClr val="EDD2BF">
              <a:alpha val="31000"/>
            </a:srgb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solidFill>
                  <a:schemeClr val="tx1"/>
                </a:solidFill>
                <a:latin typeface="微软雅黑" charset="0"/>
                <a:ea typeface="微软雅黑" charset="0"/>
              </a:rPr>
              <a:t>数字技能培训与能力建设</a:t>
            </a:r>
            <a:endParaRPr lang="zh-CN" altLang="en-US" sz="800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19" name="圆角矩形 318"/>
          <p:cNvSpPr/>
          <p:nvPr/>
        </p:nvSpPr>
        <p:spPr>
          <a:xfrm>
            <a:off x="5598160" y="5331460"/>
            <a:ext cx="1342390" cy="220345"/>
          </a:xfrm>
          <a:prstGeom prst="roundRect">
            <a:avLst/>
          </a:prstGeom>
          <a:solidFill>
            <a:srgbClr val="EDD2BF">
              <a:alpha val="31000"/>
            </a:srgb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solidFill>
                  <a:schemeClr val="tx1"/>
                </a:solidFill>
                <a:latin typeface="微软雅黑" charset="0"/>
                <a:ea typeface="微软雅黑" charset="0"/>
              </a:rPr>
              <a:t>数字生态旅游标准体系</a:t>
            </a:r>
            <a:endParaRPr lang="zh-CN" altLang="en-US" sz="800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graphicFrame>
        <p:nvGraphicFramePr>
          <p:cNvPr id="320" name="表格 319"/>
          <p:cNvGraphicFramePr/>
          <p:nvPr>
            <p:custDataLst>
              <p:tags r:id="rId2"/>
            </p:custDataLst>
          </p:nvPr>
        </p:nvGraphicFramePr>
        <p:xfrm>
          <a:off x="4663440" y="2993460"/>
          <a:ext cx="2251075" cy="11887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721995"/>
                <a:gridCol w="356235"/>
                <a:gridCol w="407035"/>
                <a:gridCol w="401955"/>
                <a:gridCol w="363855"/>
              </a:tblGrid>
              <a:tr h="2743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600">
                          <a:latin typeface="微软雅黑" charset="0"/>
                          <a:ea typeface="微软雅黑" charset="0"/>
                        </a:rPr>
                        <a:t>数字技术</a:t>
                      </a:r>
                      <a:endParaRPr lang="zh-CN" altLang="en-US" sz="600">
                        <a:latin typeface="微软雅黑" charset="0"/>
                        <a:ea typeface="微软雅黑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600">
                          <a:latin typeface="微软雅黑" charset="0"/>
                          <a:ea typeface="微软雅黑" charset="0"/>
                        </a:rPr>
                        <a:t>应用</a:t>
                      </a:r>
                      <a:endParaRPr lang="zh-CN" altLang="en-US" sz="600">
                        <a:latin typeface="微软雅黑" charset="0"/>
                        <a:ea typeface="微软雅黑" charset="0"/>
                      </a:endParaRPr>
                    </a:p>
                  </a:txBody>
                  <a:tcPr>
                    <a:solidFill>
                      <a:srgbClr val="3C9087">
                        <a:alpha val="88000"/>
                      </a:srgb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600">
                          <a:latin typeface="微软雅黑" charset="0"/>
                          <a:ea typeface="微软雅黑" charset="0"/>
                        </a:rPr>
                        <a:t>效率提升</a:t>
                      </a:r>
                      <a:endParaRPr lang="zh-CN" altLang="en-US" sz="600">
                        <a:latin typeface="微软雅黑" charset="0"/>
                        <a:ea typeface="微软雅黑" charset="0"/>
                      </a:endParaRPr>
                    </a:p>
                  </a:txBody>
                  <a:tcPr>
                    <a:solidFill>
                      <a:srgbClr val="3C9087">
                        <a:alpha val="88000"/>
                      </a:srgb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600">
                          <a:latin typeface="微软雅黑" charset="0"/>
                          <a:ea typeface="微软雅黑" charset="0"/>
                        </a:rPr>
                        <a:t>收入增加</a:t>
                      </a:r>
                      <a:endParaRPr lang="zh-CN" altLang="en-US" sz="600">
                        <a:latin typeface="微软雅黑" charset="0"/>
                        <a:ea typeface="微软雅黑" charset="0"/>
                      </a:endParaRPr>
                    </a:p>
                  </a:txBody>
                  <a:tcPr>
                    <a:solidFill>
                      <a:srgbClr val="3C9087">
                        <a:alpha val="88000"/>
                      </a:srgb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600">
                          <a:latin typeface="微软雅黑" charset="0"/>
                          <a:ea typeface="微软雅黑" charset="0"/>
                        </a:rPr>
                        <a:t>游客体验</a:t>
                      </a:r>
                      <a:endParaRPr lang="zh-CN" altLang="en-US" sz="600">
                        <a:latin typeface="微软雅黑" charset="0"/>
                        <a:ea typeface="微软雅黑" charset="0"/>
                      </a:endParaRPr>
                    </a:p>
                  </a:txBody>
                  <a:tcPr>
                    <a:solidFill>
                      <a:srgbClr val="3C9087">
                        <a:alpha val="88000"/>
                      </a:srgb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600">
                          <a:latin typeface="微软雅黑" charset="0"/>
                          <a:ea typeface="微软雅黑" charset="0"/>
                        </a:rPr>
                        <a:t>社区参与</a:t>
                      </a:r>
                      <a:endParaRPr lang="zh-CN" altLang="en-US" sz="600">
                        <a:latin typeface="微软雅黑" charset="0"/>
                        <a:ea typeface="微软雅黑" charset="0"/>
                      </a:endParaRPr>
                    </a:p>
                  </a:txBody>
                  <a:tcPr>
                    <a:solidFill>
                      <a:srgbClr val="3C9087">
                        <a:alpha val="88000"/>
                      </a:srgbClr>
                    </a:solidFill>
                  </a:tcPr>
                </a:tc>
              </a:tr>
              <a:tr h="1828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600">
                          <a:latin typeface="微软雅黑" charset="0"/>
                          <a:ea typeface="微软雅黑" charset="0"/>
                        </a:rPr>
                        <a:t>智能游客管理</a:t>
                      </a:r>
                      <a:endParaRPr lang="zh-CN" altLang="en-US" sz="600">
                        <a:latin typeface="微软雅黑" charset="0"/>
                        <a:ea typeface="微软雅黑" charset="0"/>
                      </a:endParaRPr>
                    </a:p>
                  </a:txBody>
                  <a:tcPr>
                    <a:solidFill>
                      <a:srgbClr val="D7E9E5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600">
                        <a:latin typeface="微软雅黑" charset="0"/>
                        <a:ea typeface="微软雅黑" charset="0"/>
                      </a:endParaRPr>
                    </a:p>
                  </a:txBody>
                  <a:tcPr>
                    <a:solidFill>
                      <a:srgbClr val="D7E9E5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600">
                        <a:latin typeface="微软雅黑" charset="0"/>
                        <a:ea typeface="微软雅黑" charset="0"/>
                      </a:endParaRPr>
                    </a:p>
                  </a:txBody>
                  <a:tcPr>
                    <a:solidFill>
                      <a:srgbClr val="D7E9E5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600">
                        <a:latin typeface="微软雅黑" charset="0"/>
                        <a:ea typeface="微软雅黑" charset="0"/>
                      </a:endParaRPr>
                    </a:p>
                  </a:txBody>
                  <a:tcPr>
                    <a:solidFill>
                      <a:srgbClr val="D7E9E5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600">
                        <a:latin typeface="微软雅黑" charset="0"/>
                        <a:ea typeface="微软雅黑" charset="0"/>
                      </a:endParaRPr>
                    </a:p>
                  </a:txBody>
                  <a:tcPr>
                    <a:solidFill>
                      <a:srgbClr val="D7E9E5"/>
                    </a:solidFill>
                  </a:tcPr>
                </a:tc>
              </a:tr>
              <a:tr h="1828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600">
                          <a:latin typeface="微软雅黑" charset="0"/>
                          <a:ea typeface="微软雅黑" charset="0"/>
                        </a:rPr>
                        <a:t>数据驱动营销</a:t>
                      </a:r>
                      <a:endParaRPr lang="zh-CN" altLang="en-US" sz="60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60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60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60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60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</a:tr>
              <a:tr h="1574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6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AR/VR</a:t>
                      </a:r>
                      <a:r>
                        <a:rPr lang="zh-CN" altLang="en-US" sz="6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体验</a:t>
                      </a:r>
                      <a:endParaRPr lang="zh-CN" altLang="en-US" sz="6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>
                    <a:solidFill>
                      <a:srgbClr val="D7E9E5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600">
                        <a:latin typeface="微软雅黑" charset="0"/>
                        <a:ea typeface="微软雅黑" charset="0"/>
                      </a:endParaRPr>
                    </a:p>
                  </a:txBody>
                  <a:tcPr>
                    <a:solidFill>
                      <a:srgbClr val="D7E9E5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600">
                        <a:latin typeface="微软雅黑" charset="0"/>
                        <a:ea typeface="微软雅黑" charset="0"/>
                      </a:endParaRPr>
                    </a:p>
                  </a:txBody>
                  <a:tcPr>
                    <a:solidFill>
                      <a:srgbClr val="D7E9E5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600">
                        <a:latin typeface="微软雅黑" charset="0"/>
                        <a:ea typeface="微软雅黑" charset="0"/>
                      </a:endParaRPr>
                    </a:p>
                  </a:txBody>
                  <a:tcPr>
                    <a:solidFill>
                      <a:srgbClr val="D7E9E5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600">
                        <a:latin typeface="微软雅黑" charset="0"/>
                        <a:ea typeface="微软雅黑" charset="0"/>
                      </a:endParaRPr>
                    </a:p>
                  </a:txBody>
                  <a:tcPr>
                    <a:solidFill>
                      <a:srgbClr val="D7E9E5"/>
                    </a:solidFill>
                  </a:tcPr>
                </a:tc>
              </a:tr>
              <a:tr h="1828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600">
                          <a:latin typeface="微软雅黑" charset="0"/>
                          <a:ea typeface="微软雅黑" charset="0"/>
                        </a:rPr>
                        <a:t>区块链溯源</a:t>
                      </a:r>
                      <a:endParaRPr lang="zh-CN" altLang="en-US" sz="60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60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60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60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60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</a:tr>
              <a:tr h="1828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600">
                          <a:latin typeface="微软雅黑" charset="0"/>
                          <a:ea typeface="微软雅黑" charset="0"/>
                        </a:rPr>
                        <a:t>智能调度系统</a:t>
                      </a:r>
                      <a:endParaRPr lang="zh-CN" altLang="en-US" sz="600">
                        <a:latin typeface="微软雅黑" charset="0"/>
                        <a:ea typeface="微软雅黑" charset="0"/>
                      </a:endParaRPr>
                    </a:p>
                  </a:txBody>
                  <a:tcPr>
                    <a:solidFill>
                      <a:srgbClr val="D7E9E5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600">
                        <a:latin typeface="微软雅黑" charset="0"/>
                        <a:ea typeface="微软雅黑" charset="0"/>
                      </a:endParaRPr>
                    </a:p>
                  </a:txBody>
                  <a:tcPr>
                    <a:solidFill>
                      <a:srgbClr val="D7E9E5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600">
                        <a:latin typeface="微软雅黑" charset="0"/>
                        <a:ea typeface="微软雅黑" charset="0"/>
                      </a:endParaRPr>
                    </a:p>
                  </a:txBody>
                  <a:tcPr>
                    <a:solidFill>
                      <a:srgbClr val="D7E9E5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600">
                        <a:latin typeface="微软雅黑" charset="0"/>
                        <a:ea typeface="微软雅黑" charset="0"/>
                      </a:endParaRPr>
                    </a:p>
                  </a:txBody>
                  <a:tcPr>
                    <a:solidFill>
                      <a:srgbClr val="D7E9E5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600">
                        <a:latin typeface="微软雅黑" charset="0"/>
                        <a:ea typeface="微软雅黑" charset="0"/>
                      </a:endParaRPr>
                    </a:p>
                  </a:txBody>
                  <a:tcPr>
                    <a:solidFill>
                      <a:srgbClr val="D7E9E5"/>
                    </a:solidFill>
                  </a:tcPr>
                </a:tc>
              </a:tr>
            </a:tbl>
          </a:graphicData>
        </a:graphic>
      </p:graphicFrame>
      <p:sp>
        <p:nvSpPr>
          <p:cNvPr id="321" name="圆角矩形 320"/>
          <p:cNvSpPr/>
          <p:nvPr/>
        </p:nvSpPr>
        <p:spPr>
          <a:xfrm>
            <a:off x="531495" y="1121410"/>
            <a:ext cx="631825" cy="203200"/>
          </a:xfrm>
          <a:prstGeom prst="roundRect">
            <a:avLst/>
          </a:prstGeom>
          <a:solidFill>
            <a:srgbClr val="D6D6EA">
              <a:alpha val="50000"/>
            </a:srgb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solidFill>
                  <a:schemeClr val="tx1"/>
                </a:solidFill>
                <a:latin typeface="微软雅黑" charset="0"/>
                <a:ea typeface="微软雅黑" charset="0"/>
              </a:rPr>
              <a:t>监测技术</a:t>
            </a:r>
            <a:endParaRPr lang="zh-CN" altLang="en-US" sz="800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22" name="圆角矩形 321"/>
          <p:cNvSpPr/>
          <p:nvPr/>
        </p:nvSpPr>
        <p:spPr>
          <a:xfrm>
            <a:off x="1203960" y="1121410"/>
            <a:ext cx="728980" cy="203835"/>
          </a:xfrm>
          <a:prstGeom prst="roundRect">
            <a:avLst/>
          </a:prstGeom>
          <a:solidFill>
            <a:srgbClr val="D6D6EA">
              <a:alpha val="50000"/>
            </a:srgb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solidFill>
                  <a:schemeClr val="tx1"/>
                </a:solidFill>
                <a:latin typeface="微软雅黑" charset="0"/>
                <a:ea typeface="微软雅黑" charset="0"/>
              </a:rPr>
              <a:t>数据平台</a:t>
            </a:r>
            <a:endParaRPr lang="zh-CN" altLang="en-US" sz="800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23" name="圆角矩形 322"/>
          <p:cNvSpPr/>
          <p:nvPr/>
        </p:nvSpPr>
        <p:spPr>
          <a:xfrm>
            <a:off x="1965325" y="1121410"/>
            <a:ext cx="632460" cy="203200"/>
          </a:xfrm>
          <a:prstGeom prst="roundRect">
            <a:avLst/>
          </a:prstGeom>
          <a:solidFill>
            <a:srgbClr val="D6D6EA">
              <a:alpha val="50000"/>
            </a:srgb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solidFill>
                  <a:schemeClr val="tx1"/>
                </a:solidFill>
                <a:latin typeface="微软雅黑" charset="0"/>
                <a:ea typeface="微软雅黑" charset="0"/>
              </a:rPr>
              <a:t>智能应用</a:t>
            </a:r>
            <a:endParaRPr lang="zh-CN" altLang="en-US" sz="800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24" name="文本框 323"/>
          <p:cNvSpPr txBox="1"/>
          <p:nvPr/>
        </p:nvSpPr>
        <p:spPr>
          <a:xfrm>
            <a:off x="1888490" y="2809240"/>
            <a:ext cx="81407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800">
                <a:latin typeface="微软雅黑" charset="0"/>
                <a:ea typeface="微软雅黑" charset="0"/>
              </a:rPr>
              <a:t>需求</a:t>
            </a:r>
            <a:r>
              <a:rPr lang="zh-CN" altLang="en-US" sz="800">
                <a:latin typeface="微软雅黑" charset="0"/>
                <a:ea typeface="微软雅黑" charset="0"/>
              </a:rPr>
              <a:t>分析</a:t>
            </a:r>
            <a:endParaRPr lang="zh-CN" altLang="en-US" sz="800">
              <a:latin typeface="微软雅黑" charset="0"/>
              <a:ea typeface="微软雅黑" charset="0"/>
            </a:endParaRPr>
          </a:p>
        </p:txBody>
      </p:sp>
      <p:sp>
        <p:nvSpPr>
          <p:cNvPr id="325" name="文本框 324"/>
          <p:cNvSpPr txBox="1"/>
          <p:nvPr/>
        </p:nvSpPr>
        <p:spPr>
          <a:xfrm>
            <a:off x="1888490" y="3181350"/>
            <a:ext cx="81407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800">
                <a:latin typeface="微软雅黑" charset="0"/>
                <a:ea typeface="微软雅黑" charset="0"/>
              </a:rPr>
              <a:t>架构</a:t>
            </a:r>
            <a:r>
              <a:rPr lang="zh-CN" altLang="en-US" sz="800">
                <a:latin typeface="微软雅黑" charset="0"/>
                <a:ea typeface="微软雅黑" charset="0"/>
              </a:rPr>
              <a:t>设计</a:t>
            </a:r>
            <a:endParaRPr lang="zh-CN" altLang="en-US" sz="800">
              <a:latin typeface="微软雅黑" charset="0"/>
              <a:ea typeface="微软雅黑" charset="0"/>
            </a:endParaRPr>
          </a:p>
        </p:txBody>
      </p:sp>
      <p:sp>
        <p:nvSpPr>
          <p:cNvPr id="326" name="文本框 325"/>
          <p:cNvSpPr txBox="1"/>
          <p:nvPr/>
        </p:nvSpPr>
        <p:spPr>
          <a:xfrm>
            <a:off x="1888490" y="3553460"/>
            <a:ext cx="81407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800">
                <a:latin typeface="微软雅黑" charset="0"/>
                <a:ea typeface="微软雅黑" charset="0"/>
              </a:rPr>
              <a:t>系统</a:t>
            </a:r>
            <a:r>
              <a:rPr lang="zh-CN" altLang="en-US" sz="800">
                <a:latin typeface="微软雅黑" charset="0"/>
                <a:ea typeface="微软雅黑" charset="0"/>
              </a:rPr>
              <a:t>整合</a:t>
            </a:r>
            <a:endParaRPr lang="zh-CN" altLang="en-US" sz="800">
              <a:latin typeface="微软雅黑" charset="0"/>
              <a:ea typeface="微软雅黑" charset="0"/>
            </a:endParaRPr>
          </a:p>
        </p:txBody>
      </p:sp>
      <p:sp>
        <p:nvSpPr>
          <p:cNvPr id="327" name="文本框 326"/>
          <p:cNvSpPr txBox="1"/>
          <p:nvPr/>
        </p:nvSpPr>
        <p:spPr>
          <a:xfrm>
            <a:off x="1888490" y="3925570"/>
            <a:ext cx="81407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800">
                <a:latin typeface="微软雅黑" charset="0"/>
                <a:ea typeface="微软雅黑" charset="0"/>
              </a:rPr>
              <a:t>验证</a:t>
            </a:r>
            <a:r>
              <a:rPr lang="zh-CN" altLang="en-US" sz="800">
                <a:latin typeface="微软雅黑" charset="0"/>
                <a:ea typeface="微软雅黑" charset="0"/>
              </a:rPr>
              <a:t>优化</a:t>
            </a:r>
            <a:endParaRPr lang="zh-CN" altLang="en-US" sz="800">
              <a:latin typeface="微软雅黑" charset="0"/>
              <a:ea typeface="微软雅黑" charset="0"/>
            </a:endParaRPr>
          </a:p>
        </p:txBody>
      </p:sp>
      <p:sp>
        <p:nvSpPr>
          <p:cNvPr id="328" name="圆角矩形 327"/>
          <p:cNvSpPr/>
          <p:nvPr/>
        </p:nvSpPr>
        <p:spPr>
          <a:xfrm>
            <a:off x="535940" y="5334635"/>
            <a:ext cx="2096770" cy="213995"/>
          </a:xfrm>
          <a:prstGeom prst="roundRect">
            <a:avLst/>
          </a:prstGeom>
          <a:solidFill>
            <a:srgbClr val="F9F1EB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solidFill>
                  <a:schemeClr val="tx1"/>
                </a:solidFill>
                <a:latin typeface="微软雅黑" charset="0"/>
                <a:ea typeface="微软雅黑" charset="0"/>
              </a:rPr>
              <a:t>成功案例导向的实施路径与最佳实践总结</a:t>
            </a:r>
            <a:endParaRPr lang="zh-CN" altLang="en-US" sz="800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29" name="圆角矩形 328"/>
          <p:cNvSpPr/>
          <p:nvPr/>
        </p:nvSpPr>
        <p:spPr>
          <a:xfrm>
            <a:off x="2745740" y="4495235"/>
            <a:ext cx="4264660" cy="1116000"/>
          </a:xfrm>
          <a:prstGeom prst="roundRect">
            <a:avLst>
              <a:gd name="adj" fmla="val 6642"/>
            </a:avLst>
          </a:prstGeom>
          <a:noFill/>
          <a:ln w="12700" cmpd="sng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 b="1">
              <a:solidFill>
                <a:schemeClr val="tx1"/>
              </a:solidFill>
              <a:latin typeface="微软雅黑" charset="0"/>
              <a:ea typeface="微软雅黑" charset="0"/>
              <a:sym typeface="+mn-ea"/>
            </a:endParaRPr>
          </a:p>
        </p:txBody>
      </p:sp>
      <p:sp>
        <p:nvSpPr>
          <p:cNvPr id="330" name="圆角矩形 329"/>
          <p:cNvSpPr/>
          <p:nvPr/>
        </p:nvSpPr>
        <p:spPr>
          <a:xfrm>
            <a:off x="2750820" y="2284800"/>
            <a:ext cx="4264660" cy="2094230"/>
          </a:xfrm>
          <a:prstGeom prst="roundRect">
            <a:avLst>
              <a:gd name="adj" fmla="val 6642"/>
            </a:avLst>
          </a:prstGeom>
          <a:noFill/>
          <a:ln w="12700" cmpd="sng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 b="1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31" name="圆角矩形 330"/>
          <p:cNvSpPr/>
          <p:nvPr/>
        </p:nvSpPr>
        <p:spPr>
          <a:xfrm>
            <a:off x="474345" y="113100"/>
            <a:ext cx="2192020" cy="2094230"/>
          </a:xfrm>
          <a:prstGeom prst="roundRect">
            <a:avLst>
              <a:gd name="adj" fmla="val 6642"/>
            </a:avLst>
          </a:prstGeom>
          <a:noFill/>
          <a:ln w="12700" cmpd="sng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 b="1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32" name="圆角矩形 331"/>
          <p:cNvSpPr/>
          <p:nvPr/>
        </p:nvSpPr>
        <p:spPr>
          <a:xfrm>
            <a:off x="499745" y="4507865"/>
            <a:ext cx="2192020" cy="1103630"/>
          </a:xfrm>
          <a:prstGeom prst="roundRect">
            <a:avLst>
              <a:gd name="adj" fmla="val 6642"/>
            </a:avLst>
          </a:prstGeom>
          <a:noFill/>
          <a:ln w="12700" cmpd="sng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 b="1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33" name="右箭头 332"/>
          <p:cNvSpPr/>
          <p:nvPr/>
        </p:nvSpPr>
        <p:spPr>
          <a:xfrm>
            <a:off x="2632075" y="1121480"/>
            <a:ext cx="144000" cy="165100"/>
          </a:xfrm>
          <a:prstGeom prst="rightArrow">
            <a:avLst/>
          </a:prstGeom>
          <a:gradFill>
            <a:gsLst>
              <a:gs pos="3000">
                <a:schemeClr val="bg1"/>
              </a:gs>
              <a:gs pos="67000">
                <a:srgbClr val="B68ECE"/>
              </a:gs>
              <a:gs pos="100000">
                <a:srgbClr val="9E7BB5"/>
              </a:gs>
            </a:gsLst>
            <a:lin ang="0" scaled="0"/>
          </a:gradFill>
          <a:ln>
            <a:solidFill>
              <a:srgbClr val="9E7B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5" name="右箭头 334"/>
          <p:cNvSpPr/>
          <p:nvPr/>
        </p:nvSpPr>
        <p:spPr>
          <a:xfrm>
            <a:off x="2656205" y="4960055"/>
            <a:ext cx="144000" cy="165100"/>
          </a:xfrm>
          <a:prstGeom prst="rightArrow">
            <a:avLst/>
          </a:prstGeom>
          <a:gradFill>
            <a:gsLst>
              <a:gs pos="0">
                <a:schemeClr val="bg1"/>
              </a:gs>
              <a:gs pos="67000">
                <a:srgbClr val="D88095"/>
              </a:gs>
              <a:gs pos="100000">
                <a:srgbClr val="D77E95"/>
              </a:gs>
            </a:gsLst>
            <a:lin ang="0" scaled="0"/>
          </a:gradFill>
          <a:ln>
            <a:solidFill>
              <a:srgbClr val="CC7C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36" name="直接箭头连接符 335"/>
          <p:cNvCxnSpPr>
            <a:stCxn id="321" idx="2"/>
            <a:endCxn id="288" idx="0"/>
          </p:cNvCxnSpPr>
          <p:nvPr/>
        </p:nvCxnSpPr>
        <p:spPr>
          <a:xfrm flipH="1">
            <a:off x="842645" y="1324680"/>
            <a:ext cx="5080" cy="12192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直接箭头连接符 336"/>
          <p:cNvCxnSpPr/>
          <p:nvPr/>
        </p:nvCxnSpPr>
        <p:spPr>
          <a:xfrm>
            <a:off x="1546860" y="1324610"/>
            <a:ext cx="0" cy="123825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直接箭头连接符 337"/>
          <p:cNvCxnSpPr>
            <a:stCxn id="323" idx="2"/>
          </p:cNvCxnSpPr>
          <p:nvPr/>
        </p:nvCxnSpPr>
        <p:spPr>
          <a:xfrm>
            <a:off x="2281555" y="1324610"/>
            <a:ext cx="0" cy="111125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9" name="组合 338"/>
          <p:cNvGrpSpPr/>
          <p:nvPr/>
        </p:nvGrpSpPr>
        <p:grpSpPr>
          <a:xfrm>
            <a:off x="2282190" y="3023235"/>
            <a:ext cx="0" cy="902335"/>
            <a:chOff x="3275" y="4761"/>
            <a:chExt cx="0" cy="1421"/>
          </a:xfrm>
        </p:grpSpPr>
        <p:cxnSp>
          <p:nvCxnSpPr>
            <p:cNvPr id="340" name="直接箭头连接符 339"/>
            <p:cNvCxnSpPr>
              <a:stCxn id="324" idx="2"/>
              <a:endCxn id="325" idx="0"/>
            </p:cNvCxnSpPr>
            <p:nvPr/>
          </p:nvCxnSpPr>
          <p:spPr>
            <a:xfrm>
              <a:off x="3275" y="4761"/>
              <a:ext cx="0" cy="249"/>
            </a:xfrm>
            <a:prstGeom prst="straightConnector1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1" name="直接箭头连接符 340"/>
            <p:cNvCxnSpPr>
              <a:stCxn id="325" idx="2"/>
              <a:endCxn id="326" idx="0"/>
            </p:cNvCxnSpPr>
            <p:nvPr/>
          </p:nvCxnSpPr>
          <p:spPr>
            <a:xfrm>
              <a:off x="3275" y="5347"/>
              <a:ext cx="0" cy="249"/>
            </a:xfrm>
            <a:prstGeom prst="straightConnector1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直接箭头连接符 341"/>
            <p:cNvCxnSpPr>
              <a:stCxn id="326" idx="2"/>
              <a:endCxn id="327" idx="0"/>
            </p:cNvCxnSpPr>
            <p:nvPr/>
          </p:nvCxnSpPr>
          <p:spPr>
            <a:xfrm>
              <a:off x="3275" y="5933"/>
              <a:ext cx="0" cy="249"/>
            </a:xfrm>
            <a:prstGeom prst="straightConnector1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3" name="五边形 342"/>
          <p:cNvSpPr/>
          <p:nvPr/>
        </p:nvSpPr>
        <p:spPr>
          <a:xfrm>
            <a:off x="191135" y="2363470"/>
            <a:ext cx="245110" cy="1850390"/>
          </a:xfrm>
          <a:prstGeom prst="homePlate">
            <a:avLst/>
          </a:prstGeom>
          <a:solidFill>
            <a:srgbClr val="F4F1EA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00" b="1">
                <a:solidFill>
                  <a:schemeClr val="tx1"/>
                </a:solidFill>
                <a:latin typeface="微软雅黑" charset="0"/>
                <a:ea typeface="微软雅黑" charset="0"/>
              </a:rPr>
              <a:t>方法</a:t>
            </a:r>
            <a:endParaRPr lang="zh-CN" altLang="en-US" sz="900" b="1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44" name="对角圆角矩形 343"/>
          <p:cNvSpPr/>
          <p:nvPr/>
        </p:nvSpPr>
        <p:spPr>
          <a:xfrm>
            <a:off x="2792730" y="193110"/>
            <a:ext cx="330200" cy="312420"/>
          </a:xfrm>
          <a:prstGeom prst="round2DiagRect">
            <a:avLst/>
          </a:prstGeom>
          <a:gradFill>
            <a:gsLst>
              <a:gs pos="0">
                <a:schemeClr val="bg1"/>
              </a:gs>
              <a:gs pos="71000">
                <a:srgbClr val="D6D6EA"/>
              </a:gs>
              <a:gs pos="83000">
                <a:srgbClr val="D6D6EA"/>
              </a:gs>
              <a:gs pos="100000">
                <a:srgbClr val="ECEEFB"/>
              </a:gs>
            </a:gsLst>
            <a:lin ang="5400000" scaled="0"/>
          </a:gradFill>
          <a:ln w="158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rgbClr val="7030A0"/>
                </a:solidFill>
                <a:latin typeface="微软雅黑" charset="0"/>
                <a:ea typeface="微软雅黑" charset="0"/>
              </a:rPr>
              <a:t>一</a:t>
            </a:r>
            <a:endParaRPr lang="zh-CN" altLang="en-US" sz="1000" b="1">
              <a:solidFill>
                <a:srgbClr val="7030A0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45" name="对角圆角矩形 344"/>
          <p:cNvSpPr/>
          <p:nvPr/>
        </p:nvSpPr>
        <p:spPr>
          <a:xfrm>
            <a:off x="2809875" y="2364175"/>
            <a:ext cx="330200" cy="312420"/>
          </a:xfrm>
          <a:prstGeom prst="round2DiagRect">
            <a:avLst/>
          </a:prstGeom>
          <a:gradFill>
            <a:gsLst>
              <a:gs pos="0">
                <a:schemeClr val="bg1"/>
              </a:gs>
              <a:gs pos="71000">
                <a:srgbClr val="AFD3CC"/>
              </a:gs>
              <a:gs pos="83000">
                <a:srgbClr val="AFD4CC"/>
              </a:gs>
              <a:gs pos="100000">
                <a:srgbClr val="E0F0E6"/>
              </a:gs>
            </a:gsLst>
            <a:lin ang="5400000" scaled="0"/>
          </a:gra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rgbClr val="529C95"/>
                </a:solidFill>
                <a:latin typeface="微软雅黑" charset="0"/>
                <a:ea typeface="微软雅黑" charset="0"/>
              </a:rPr>
              <a:t>二</a:t>
            </a:r>
            <a:endParaRPr lang="zh-CN" altLang="en-US" sz="1000" b="1">
              <a:solidFill>
                <a:srgbClr val="529C95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46" name="对角圆角矩形 345"/>
          <p:cNvSpPr/>
          <p:nvPr/>
        </p:nvSpPr>
        <p:spPr>
          <a:xfrm>
            <a:off x="2826385" y="4585405"/>
            <a:ext cx="330200" cy="312420"/>
          </a:xfrm>
          <a:prstGeom prst="round2DiagRect">
            <a:avLst/>
          </a:prstGeom>
          <a:gradFill>
            <a:gsLst>
              <a:gs pos="0">
                <a:schemeClr val="bg1"/>
              </a:gs>
              <a:gs pos="71000">
                <a:srgbClr val="F1C9C1"/>
              </a:gs>
              <a:gs pos="83000">
                <a:srgbClr val="F1C9C1"/>
              </a:gs>
              <a:gs pos="100000">
                <a:srgbClr val="FEF3F1"/>
              </a:gs>
            </a:gsLst>
            <a:lin ang="5400000" scaled="0"/>
          </a:gra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rgbClr val="B00705"/>
                </a:solidFill>
                <a:latin typeface="微软雅黑" charset="0"/>
                <a:ea typeface="微软雅黑" charset="0"/>
              </a:rPr>
              <a:t>三</a:t>
            </a:r>
            <a:endParaRPr lang="zh-CN" altLang="en-US" sz="1000" b="1">
              <a:solidFill>
                <a:srgbClr val="B00705"/>
              </a:solidFill>
              <a:latin typeface="微软雅黑" charset="0"/>
              <a:ea typeface="微软雅黑" charset="0"/>
            </a:endParaRPr>
          </a:p>
        </p:txBody>
      </p:sp>
      <p:cxnSp>
        <p:nvCxnSpPr>
          <p:cNvPr id="347" name="直接连接符 346"/>
          <p:cNvCxnSpPr/>
          <p:nvPr/>
        </p:nvCxnSpPr>
        <p:spPr>
          <a:xfrm>
            <a:off x="3031490" y="3213170"/>
            <a:ext cx="0" cy="791210"/>
          </a:xfrm>
          <a:prstGeom prst="line">
            <a:avLst/>
          </a:prstGeom>
          <a:ln w="9525">
            <a:solidFill>
              <a:srgbClr val="3C9087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8" name="直接连接符 347"/>
          <p:cNvCxnSpPr/>
          <p:nvPr/>
        </p:nvCxnSpPr>
        <p:spPr>
          <a:xfrm flipH="1">
            <a:off x="3027680" y="4005650"/>
            <a:ext cx="1356360" cy="0"/>
          </a:xfrm>
          <a:prstGeom prst="line">
            <a:avLst/>
          </a:prstGeom>
          <a:ln w="9525">
            <a:solidFill>
              <a:srgbClr val="3C9087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9" name="文本框 348"/>
          <p:cNvSpPr txBox="1"/>
          <p:nvPr/>
        </p:nvSpPr>
        <p:spPr>
          <a:xfrm>
            <a:off x="2867025" y="3061335"/>
            <a:ext cx="657860" cy="1835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600">
                <a:latin typeface="微软雅黑" charset="0"/>
                <a:ea typeface="微软雅黑" charset="0"/>
              </a:rPr>
              <a:t>环境保护</a:t>
            </a:r>
            <a:r>
              <a:rPr lang="zh-CN" altLang="en-US" sz="600">
                <a:latin typeface="微软雅黑" charset="0"/>
                <a:ea typeface="微软雅黑" charset="0"/>
              </a:rPr>
              <a:t>效果</a:t>
            </a:r>
            <a:endParaRPr lang="zh-CN" altLang="en-US" sz="600">
              <a:latin typeface="微软雅黑" charset="0"/>
              <a:ea typeface="微软雅黑" charset="0"/>
            </a:endParaRPr>
          </a:p>
        </p:txBody>
      </p:sp>
      <p:sp>
        <p:nvSpPr>
          <p:cNvPr id="350" name="文本框 349"/>
          <p:cNvSpPr txBox="1"/>
          <p:nvPr/>
        </p:nvSpPr>
        <p:spPr>
          <a:xfrm>
            <a:off x="4020185" y="4010025"/>
            <a:ext cx="588010" cy="1835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600">
                <a:latin typeface="微软雅黑" charset="0"/>
                <a:ea typeface="微软雅黑" charset="0"/>
              </a:rPr>
              <a:t>数字化</a:t>
            </a:r>
            <a:r>
              <a:rPr lang="zh-CN" altLang="en-US" sz="600">
                <a:latin typeface="微软雅黑" charset="0"/>
                <a:ea typeface="微软雅黑" charset="0"/>
              </a:rPr>
              <a:t>程度</a:t>
            </a:r>
            <a:endParaRPr lang="zh-CN" altLang="en-US" sz="600">
              <a:latin typeface="微软雅黑" charset="0"/>
              <a:ea typeface="微软雅黑" charset="0"/>
            </a:endParaRPr>
          </a:p>
        </p:txBody>
      </p:sp>
      <p:sp>
        <p:nvSpPr>
          <p:cNvPr id="351" name="任意多边形 350"/>
          <p:cNvSpPr/>
          <p:nvPr/>
        </p:nvSpPr>
        <p:spPr>
          <a:xfrm>
            <a:off x="3030855" y="3332480"/>
            <a:ext cx="1283970" cy="348615"/>
          </a:xfrm>
          <a:custGeom>
            <a:avLst/>
            <a:gdLst>
              <a:gd name="connsiteX0" fmla="*/ 0 w 2022"/>
              <a:gd name="connsiteY0" fmla="*/ 549 h 549"/>
              <a:gd name="connsiteX1" fmla="*/ 894 w 2022"/>
              <a:gd name="connsiteY1" fmla="*/ 139 h 549"/>
              <a:gd name="connsiteX2" fmla="*/ 2022 w 2022"/>
              <a:gd name="connsiteY2" fmla="*/ 0 h 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22" h="549">
                <a:moveTo>
                  <a:pt x="0" y="549"/>
                </a:moveTo>
                <a:cubicBezTo>
                  <a:pt x="156" y="475"/>
                  <a:pt x="488" y="297"/>
                  <a:pt x="894" y="139"/>
                </a:cubicBezTo>
                <a:cubicBezTo>
                  <a:pt x="1301" y="-18"/>
                  <a:pt x="1735" y="88"/>
                  <a:pt x="2022" y="0"/>
                </a:cubicBezTo>
              </a:path>
            </a:pathLst>
          </a:cu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2" name="任意多边形 351"/>
          <p:cNvSpPr/>
          <p:nvPr/>
        </p:nvSpPr>
        <p:spPr>
          <a:xfrm>
            <a:off x="3034665" y="3478902"/>
            <a:ext cx="1286510" cy="360494"/>
          </a:xfrm>
          <a:custGeom>
            <a:avLst/>
            <a:gdLst>
              <a:gd name="connsiteX0" fmla="*/ 0 w 2026"/>
              <a:gd name="connsiteY0" fmla="*/ 568 h 567"/>
              <a:gd name="connsiteX1" fmla="*/ 1313 w 2026"/>
              <a:gd name="connsiteY1" fmla="*/ 53 h 567"/>
              <a:gd name="connsiteX2" fmla="*/ 2026 w 2026"/>
              <a:gd name="connsiteY2" fmla="*/ 15 h 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26" h="568">
                <a:moveTo>
                  <a:pt x="0" y="568"/>
                </a:moveTo>
                <a:cubicBezTo>
                  <a:pt x="219" y="482"/>
                  <a:pt x="969" y="154"/>
                  <a:pt x="1313" y="53"/>
                </a:cubicBezTo>
                <a:cubicBezTo>
                  <a:pt x="1657" y="-48"/>
                  <a:pt x="1901" y="30"/>
                  <a:pt x="2026" y="15"/>
                </a:cubicBezTo>
              </a:path>
            </a:pathLst>
          </a:custGeom>
          <a:noFill/>
          <a:ln>
            <a:solidFill>
              <a:srgbClr val="8A80A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3" name="任意多边形 352"/>
          <p:cNvSpPr/>
          <p:nvPr/>
        </p:nvSpPr>
        <p:spPr>
          <a:xfrm>
            <a:off x="3034030" y="3681800"/>
            <a:ext cx="1290320" cy="322580"/>
          </a:xfrm>
          <a:custGeom>
            <a:avLst/>
            <a:gdLst>
              <a:gd name="connsiteX0" fmla="*/ 0 w 2032"/>
              <a:gd name="connsiteY0" fmla="*/ 508 h 508"/>
              <a:gd name="connsiteX1" fmla="*/ 2032 w 2032"/>
              <a:gd name="connsiteY1" fmla="*/ 0 h 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32" h="508">
                <a:moveTo>
                  <a:pt x="0" y="508"/>
                </a:moveTo>
                <a:cubicBezTo>
                  <a:pt x="400" y="411"/>
                  <a:pt x="1032" y="106"/>
                  <a:pt x="2032" y="0"/>
                </a:cubicBezTo>
              </a:path>
            </a:pathLst>
          </a:custGeom>
          <a:noFill/>
          <a:ln>
            <a:solidFill>
              <a:srgbClr val="BF85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4" name="文本框 353"/>
          <p:cNvSpPr txBox="1"/>
          <p:nvPr/>
        </p:nvSpPr>
        <p:spPr>
          <a:xfrm>
            <a:off x="2910205" y="4115435"/>
            <a:ext cx="1600835" cy="1682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500">
                <a:latin typeface="微软雅黑" charset="0"/>
                <a:ea typeface="微软雅黑" charset="0"/>
              </a:rPr>
              <a:t>承载力优化</a:t>
            </a:r>
            <a:r>
              <a:rPr lang="en-US" altLang="zh-CN" sz="500">
                <a:latin typeface="微软雅黑" charset="0"/>
                <a:ea typeface="微软雅黑" charset="0"/>
              </a:rPr>
              <a:t>        </a:t>
            </a:r>
            <a:r>
              <a:rPr lang="zh-CN" altLang="en-US" sz="500">
                <a:latin typeface="微软雅黑" charset="0"/>
                <a:ea typeface="微软雅黑" charset="0"/>
              </a:rPr>
              <a:t>游客行为引导</a:t>
            </a:r>
            <a:r>
              <a:rPr lang="en-US" altLang="zh-CN" sz="500">
                <a:latin typeface="微软雅黑" charset="0"/>
                <a:ea typeface="微软雅黑" charset="0"/>
              </a:rPr>
              <a:t>        </a:t>
            </a:r>
            <a:r>
              <a:rPr lang="zh-CN" altLang="en-US" sz="500">
                <a:latin typeface="微软雅黑" charset="0"/>
                <a:ea typeface="微软雅黑" charset="0"/>
              </a:rPr>
              <a:t>资源</a:t>
            </a:r>
            <a:r>
              <a:rPr lang="zh-CN" altLang="en-US" sz="500">
                <a:latin typeface="微软雅黑" charset="0"/>
                <a:ea typeface="微软雅黑" charset="0"/>
              </a:rPr>
              <a:t>保护</a:t>
            </a:r>
            <a:endParaRPr lang="zh-CN" altLang="en-US" sz="500">
              <a:latin typeface="微软雅黑" charset="0"/>
              <a:ea typeface="微软雅黑" charset="0"/>
            </a:endParaRPr>
          </a:p>
        </p:txBody>
      </p:sp>
      <p:sp>
        <p:nvSpPr>
          <p:cNvPr id="355" name="椭圆 354"/>
          <p:cNvSpPr/>
          <p:nvPr/>
        </p:nvSpPr>
        <p:spPr>
          <a:xfrm>
            <a:off x="2950210" y="4178370"/>
            <a:ext cx="36000" cy="36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6" name="椭圆 355"/>
          <p:cNvSpPr/>
          <p:nvPr/>
        </p:nvSpPr>
        <p:spPr>
          <a:xfrm>
            <a:off x="3440430" y="4178370"/>
            <a:ext cx="36000" cy="36000"/>
          </a:xfrm>
          <a:prstGeom prst="ellipse">
            <a:avLst/>
          </a:prstGeom>
          <a:solidFill>
            <a:srgbClr val="5482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7" name="椭圆 356"/>
          <p:cNvSpPr/>
          <p:nvPr/>
        </p:nvSpPr>
        <p:spPr>
          <a:xfrm>
            <a:off x="3987165" y="4178370"/>
            <a:ext cx="36000" cy="36000"/>
          </a:xfrm>
          <a:prstGeom prst="ellipse">
            <a:avLst/>
          </a:prstGeom>
          <a:solidFill>
            <a:srgbClr val="C28C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8" name="文本框 357"/>
          <p:cNvSpPr txBox="1"/>
          <p:nvPr/>
        </p:nvSpPr>
        <p:spPr>
          <a:xfrm>
            <a:off x="3656330" y="3255010"/>
            <a:ext cx="631190" cy="1835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600">
                <a:solidFill>
                  <a:schemeClr val="tx1">
                    <a:lumMod val="65000"/>
                    <a:lumOff val="35000"/>
                  </a:schemeClr>
                </a:solidFill>
                <a:latin typeface="微软雅黑" charset="0"/>
                <a:ea typeface="微软雅黑" charset="0"/>
              </a:rPr>
              <a:t>数字优化</a:t>
            </a:r>
            <a:r>
              <a:rPr lang="zh-CN" altLang="en-US" sz="600">
                <a:solidFill>
                  <a:schemeClr val="tx1">
                    <a:lumMod val="65000"/>
                    <a:lumOff val="35000"/>
                  </a:schemeClr>
                </a:solidFill>
                <a:latin typeface="微软雅黑" charset="0"/>
                <a:ea typeface="微软雅黑" charset="0"/>
              </a:rPr>
              <a:t>点</a:t>
            </a:r>
            <a:endParaRPr lang="zh-CN" altLang="en-US" sz="600">
              <a:solidFill>
                <a:schemeClr val="tx1">
                  <a:lumMod val="65000"/>
                  <a:lumOff val="35000"/>
                </a:schemeClr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59" name="文本框 358"/>
          <p:cNvSpPr txBox="1"/>
          <p:nvPr/>
        </p:nvSpPr>
        <p:spPr>
          <a:xfrm>
            <a:off x="433070" y="1477010"/>
            <a:ext cx="814070" cy="6502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700">
                <a:latin typeface="微软雅黑" charset="0"/>
                <a:ea typeface="微软雅黑" charset="0"/>
                <a:sym typeface="+mn-ea"/>
              </a:rPr>
              <a:t>IoT传感器网络</a:t>
            </a:r>
            <a:endParaRPr lang="zh-CN" altLang="en-US" sz="700">
              <a:solidFill>
                <a:schemeClr val="tx1"/>
              </a:solidFill>
              <a:latin typeface="微软雅黑" charset="0"/>
              <a:ea typeface="微软雅黑" charset="0"/>
            </a:endParaRPr>
          </a:p>
          <a:p>
            <a:pPr algn="ctr">
              <a:lnSpc>
                <a:spcPct val="130000"/>
              </a:lnSpc>
            </a:pPr>
            <a:r>
              <a:rPr lang="zh-CN" altLang="en-US" sz="700">
                <a:latin typeface="微软雅黑" charset="0"/>
                <a:ea typeface="微软雅黑" charset="0"/>
                <a:sym typeface="+mn-ea"/>
              </a:rPr>
              <a:t>环境监测系统</a:t>
            </a:r>
            <a:endParaRPr lang="zh-CN" altLang="en-US" sz="700">
              <a:solidFill>
                <a:schemeClr val="tx1"/>
              </a:solidFill>
              <a:latin typeface="微软雅黑" charset="0"/>
              <a:ea typeface="微软雅黑" charset="0"/>
            </a:endParaRPr>
          </a:p>
          <a:p>
            <a:pPr algn="ctr">
              <a:lnSpc>
                <a:spcPct val="130000"/>
              </a:lnSpc>
            </a:pPr>
            <a:r>
              <a:rPr lang="zh-CN" altLang="en-US" sz="700">
                <a:latin typeface="微软雅黑" charset="0"/>
                <a:ea typeface="微软雅黑" charset="0"/>
                <a:sym typeface="+mn-ea"/>
              </a:rPr>
              <a:t>遥感与GIS技术</a:t>
            </a:r>
            <a:endParaRPr lang="zh-CN" altLang="en-US" sz="700">
              <a:solidFill>
                <a:schemeClr val="tx1"/>
              </a:solidFill>
              <a:latin typeface="微软雅黑" charset="0"/>
              <a:ea typeface="微软雅黑" charset="0"/>
            </a:endParaRPr>
          </a:p>
          <a:p>
            <a:pPr algn="ctr">
              <a:lnSpc>
                <a:spcPct val="130000"/>
              </a:lnSpc>
            </a:pPr>
            <a:r>
              <a:rPr lang="zh-CN" altLang="en-US" sz="700">
                <a:latin typeface="微软雅黑" charset="0"/>
                <a:ea typeface="微软雅黑" charset="0"/>
                <a:sym typeface="+mn-ea"/>
              </a:rPr>
              <a:t>生态实时监测</a:t>
            </a:r>
            <a:endParaRPr lang="zh-CN" altLang="en-US" sz="700">
              <a:latin typeface="微软雅黑" charset="0"/>
              <a:ea typeface="微软雅黑" charset="0"/>
            </a:endParaRPr>
          </a:p>
        </p:txBody>
      </p:sp>
      <p:sp>
        <p:nvSpPr>
          <p:cNvPr id="360" name="文本框 359"/>
          <p:cNvSpPr txBox="1"/>
          <p:nvPr/>
        </p:nvSpPr>
        <p:spPr>
          <a:xfrm>
            <a:off x="1153160" y="1480820"/>
            <a:ext cx="814070" cy="6064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20000"/>
              </a:lnSpc>
            </a:pPr>
            <a:r>
              <a:rPr lang="zh-CN" altLang="en-US" sz="700">
                <a:latin typeface="微软雅黑" charset="0"/>
                <a:ea typeface="微软雅黑" charset="0"/>
                <a:sym typeface="+mn-ea"/>
              </a:rPr>
              <a:t>云数据平台</a:t>
            </a:r>
            <a:endParaRPr lang="zh-CN" altLang="en-US" sz="700">
              <a:solidFill>
                <a:schemeClr val="tx1"/>
              </a:solidFill>
              <a:latin typeface="微软雅黑" charset="0"/>
              <a:ea typeface="微软雅黑" charset="0"/>
            </a:endParaRPr>
          </a:p>
          <a:p>
            <a:pPr algn="ctr">
              <a:lnSpc>
                <a:spcPct val="120000"/>
              </a:lnSpc>
            </a:pPr>
            <a:r>
              <a:rPr lang="zh-CN" altLang="en-US" sz="700">
                <a:latin typeface="微软雅黑" charset="0"/>
                <a:ea typeface="微软雅黑" charset="0"/>
                <a:sym typeface="+mn-ea"/>
              </a:rPr>
              <a:t>游客流量分析</a:t>
            </a:r>
            <a:endParaRPr lang="zh-CN" altLang="en-US" sz="700">
              <a:solidFill>
                <a:schemeClr val="tx1"/>
              </a:solidFill>
              <a:latin typeface="微软雅黑" charset="0"/>
              <a:ea typeface="微软雅黑" charset="0"/>
            </a:endParaRPr>
          </a:p>
          <a:p>
            <a:pPr algn="ctr">
              <a:lnSpc>
                <a:spcPct val="120000"/>
              </a:lnSpc>
            </a:pPr>
            <a:r>
              <a:rPr lang="zh-CN" altLang="en-US" sz="700">
                <a:latin typeface="微软雅黑" charset="0"/>
                <a:ea typeface="微软雅黑" charset="0"/>
                <a:sym typeface="+mn-ea"/>
              </a:rPr>
              <a:t>大数据决策支持</a:t>
            </a:r>
            <a:endParaRPr lang="zh-CN" altLang="en-US" sz="700">
              <a:solidFill>
                <a:schemeClr val="tx1"/>
              </a:solidFill>
              <a:latin typeface="微软雅黑" charset="0"/>
              <a:ea typeface="微软雅黑" charset="0"/>
            </a:endParaRPr>
          </a:p>
          <a:p>
            <a:pPr algn="ctr">
              <a:lnSpc>
                <a:spcPct val="120000"/>
              </a:lnSpc>
            </a:pPr>
            <a:r>
              <a:rPr lang="zh-CN" altLang="en-US" sz="700">
                <a:latin typeface="微软雅黑" charset="0"/>
                <a:ea typeface="微软雅黑" charset="0"/>
                <a:sym typeface="+mn-ea"/>
              </a:rPr>
              <a:t>区块链溯源系统</a:t>
            </a:r>
            <a:endParaRPr lang="zh-CN" altLang="en-US" sz="700">
              <a:latin typeface="微软雅黑" charset="0"/>
              <a:ea typeface="微软雅黑" charset="0"/>
            </a:endParaRPr>
          </a:p>
        </p:txBody>
      </p:sp>
      <p:sp>
        <p:nvSpPr>
          <p:cNvPr id="361" name="文本框 360"/>
          <p:cNvSpPr txBox="1"/>
          <p:nvPr/>
        </p:nvSpPr>
        <p:spPr>
          <a:xfrm>
            <a:off x="1877060" y="1480820"/>
            <a:ext cx="814070" cy="6064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20000"/>
              </a:lnSpc>
            </a:pPr>
            <a:r>
              <a:rPr lang="zh-CN" altLang="en-US" sz="700">
                <a:latin typeface="微软雅黑" charset="0"/>
                <a:ea typeface="微软雅黑" charset="0"/>
                <a:sym typeface="+mn-ea"/>
              </a:rPr>
              <a:t>AR/VR体验应用</a:t>
            </a:r>
            <a:endParaRPr lang="zh-CN" altLang="en-US" sz="700">
              <a:solidFill>
                <a:schemeClr val="tx1"/>
              </a:solidFill>
              <a:latin typeface="微软雅黑" charset="0"/>
              <a:ea typeface="微软雅黑" charset="0"/>
            </a:endParaRPr>
          </a:p>
          <a:p>
            <a:pPr algn="ctr">
              <a:lnSpc>
                <a:spcPct val="120000"/>
              </a:lnSpc>
            </a:pPr>
            <a:r>
              <a:rPr lang="zh-CN" altLang="en-US" sz="700">
                <a:latin typeface="微软雅黑" charset="0"/>
                <a:ea typeface="微软雅黑" charset="0"/>
                <a:sym typeface="+mn-ea"/>
              </a:rPr>
              <a:t>智能预约系统</a:t>
            </a:r>
            <a:endParaRPr lang="zh-CN" altLang="en-US" sz="700">
              <a:solidFill>
                <a:schemeClr val="tx1"/>
              </a:solidFill>
              <a:latin typeface="微软雅黑" charset="0"/>
              <a:ea typeface="微软雅黑" charset="0"/>
            </a:endParaRPr>
          </a:p>
          <a:p>
            <a:pPr algn="ctr">
              <a:lnSpc>
                <a:spcPct val="120000"/>
              </a:lnSpc>
            </a:pPr>
            <a:r>
              <a:rPr lang="zh-CN" altLang="en-US" sz="700">
                <a:latin typeface="微软雅黑" charset="0"/>
                <a:ea typeface="微软雅黑" charset="0"/>
                <a:sym typeface="+mn-ea"/>
              </a:rPr>
              <a:t>个性化路线规划</a:t>
            </a:r>
            <a:endParaRPr lang="zh-CN" altLang="en-US" sz="700">
              <a:solidFill>
                <a:schemeClr val="tx1"/>
              </a:solidFill>
              <a:latin typeface="微软雅黑" charset="0"/>
              <a:ea typeface="微软雅黑" charset="0"/>
            </a:endParaRPr>
          </a:p>
          <a:p>
            <a:pPr algn="ctr">
              <a:lnSpc>
                <a:spcPct val="120000"/>
              </a:lnSpc>
            </a:pPr>
            <a:r>
              <a:rPr lang="zh-CN" altLang="en-US" sz="700">
                <a:latin typeface="微软雅黑" charset="0"/>
                <a:ea typeface="微软雅黑" charset="0"/>
                <a:sym typeface="+mn-ea"/>
              </a:rPr>
              <a:t>生态教育应用</a:t>
            </a:r>
            <a:endParaRPr lang="zh-CN" altLang="en-US" sz="700">
              <a:latin typeface="微软雅黑" charset="0"/>
              <a:ea typeface="微软雅黑" charset="0"/>
            </a:endParaRPr>
          </a:p>
        </p:txBody>
      </p:sp>
      <p:grpSp>
        <p:nvGrpSpPr>
          <p:cNvPr id="362" name="组合 361"/>
          <p:cNvGrpSpPr/>
          <p:nvPr/>
        </p:nvGrpSpPr>
        <p:grpSpPr>
          <a:xfrm>
            <a:off x="2805430" y="933450"/>
            <a:ext cx="1747520" cy="1160145"/>
            <a:chOff x="4098" y="1470"/>
            <a:chExt cx="2752" cy="1827"/>
          </a:xfrm>
        </p:grpSpPr>
        <p:sp>
          <p:nvSpPr>
            <p:cNvPr id="363" name="文本框 362"/>
            <p:cNvSpPr txBox="1"/>
            <p:nvPr/>
          </p:nvSpPr>
          <p:spPr>
            <a:xfrm>
              <a:off x="4861" y="1470"/>
              <a:ext cx="1183" cy="3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700">
                  <a:latin typeface="微软雅黑" charset="0"/>
                  <a:ea typeface="微软雅黑" charset="0"/>
                </a:rPr>
                <a:t>生态保护</a:t>
              </a:r>
              <a:endParaRPr lang="zh-CN" altLang="en-US" sz="700">
                <a:latin typeface="微软雅黑" charset="0"/>
                <a:ea typeface="微软雅黑" charset="0"/>
              </a:endParaRPr>
            </a:p>
          </p:txBody>
        </p:sp>
        <p:sp>
          <p:nvSpPr>
            <p:cNvPr id="364" name="文本框 363"/>
            <p:cNvSpPr txBox="1"/>
            <p:nvPr/>
          </p:nvSpPr>
          <p:spPr>
            <a:xfrm>
              <a:off x="4098" y="2984"/>
              <a:ext cx="926" cy="3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700">
                  <a:latin typeface="微软雅黑" charset="0"/>
                  <a:ea typeface="微软雅黑" charset="0"/>
                </a:rPr>
                <a:t>经济</a:t>
              </a:r>
              <a:r>
                <a:rPr lang="zh-CN" altLang="en-US" sz="700">
                  <a:latin typeface="微软雅黑" charset="0"/>
                  <a:ea typeface="微软雅黑" charset="0"/>
                </a:rPr>
                <a:t>效益</a:t>
              </a:r>
              <a:endParaRPr lang="zh-CN" altLang="en-US" sz="700">
                <a:latin typeface="微软雅黑" charset="0"/>
                <a:ea typeface="微软雅黑" charset="0"/>
              </a:endParaRPr>
            </a:p>
          </p:txBody>
        </p:sp>
        <p:sp>
          <p:nvSpPr>
            <p:cNvPr id="365" name="文本框 364"/>
            <p:cNvSpPr txBox="1"/>
            <p:nvPr/>
          </p:nvSpPr>
          <p:spPr>
            <a:xfrm>
              <a:off x="5925" y="2984"/>
              <a:ext cx="925" cy="3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700">
                  <a:latin typeface="微软雅黑" charset="0"/>
                  <a:ea typeface="微软雅黑" charset="0"/>
                </a:rPr>
                <a:t>社会</a:t>
              </a:r>
              <a:r>
                <a:rPr lang="zh-CN" altLang="en-US" sz="700">
                  <a:latin typeface="微软雅黑" charset="0"/>
                  <a:ea typeface="微软雅黑" charset="0"/>
                </a:rPr>
                <a:t>包容</a:t>
              </a:r>
              <a:endParaRPr lang="zh-CN" altLang="en-US" sz="700">
                <a:latin typeface="微软雅黑" charset="0"/>
                <a:ea typeface="微软雅黑" charset="0"/>
              </a:endParaRPr>
            </a:p>
          </p:txBody>
        </p:sp>
        <p:grpSp>
          <p:nvGrpSpPr>
            <p:cNvPr id="366" name="组合 365"/>
            <p:cNvGrpSpPr/>
            <p:nvPr/>
          </p:nvGrpSpPr>
          <p:grpSpPr>
            <a:xfrm>
              <a:off x="4326" y="1761"/>
              <a:ext cx="2254" cy="1203"/>
              <a:chOff x="4326" y="1761"/>
              <a:chExt cx="2254" cy="1203"/>
            </a:xfrm>
          </p:grpSpPr>
          <p:sp>
            <p:nvSpPr>
              <p:cNvPr id="367" name="等腰三角形 366"/>
              <p:cNvSpPr/>
              <p:nvPr/>
            </p:nvSpPr>
            <p:spPr>
              <a:xfrm>
                <a:off x="4575" y="1820"/>
                <a:ext cx="1736" cy="1144"/>
              </a:xfrm>
              <a:prstGeom prst="triangle">
                <a:avLst/>
              </a:prstGeom>
              <a:gradFill>
                <a:gsLst>
                  <a:gs pos="0">
                    <a:schemeClr val="bg1"/>
                  </a:gs>
                  <a:gs pos="90000">
                    <a:srgbClr val="9E7BB5"/>
                  </a:gs>
                </a:gsLst>
                <a:lin ang="16200000" scaled="0"/>
              </a:gradFill>
              <a:ln>
                <a:gradFill>
                  <a:gsLst>
                    <a:gs pos="0">
                      <a:srgbClr val="9E7BB5"/>
                    </a:gs>
                    <a:gs pos="100000">
                      <a:srgbClr val="9E7BB5"/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68" name="椭圆 367"/>
              <p:cNvSpPr/>
              <p:nvPr/>
            </p:nvSpPr>
            <p:spPr>
              <a:xfrm>
                <a:off x="5278" y="2150"/>
                <a:ext cx="329" cy="729"/>
              </a:xfrm>
              <a:prstGeom prst="ellipse">
                <a:avLst/>
              </a:prstGeom>
              <a:solidFill>
                <a:schemeClr val="bg1">
                  <a:alpha val="58000"/>
                </a:schemeClr>
              </a:solidFill>
              <a:ln>
                <a:solidFill>
                  <a:srgbClr val="9E7BB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600">
                    <a:solidFill>
                      <a:schemeClr val="tx1"/>
                    </a:solidFill>
                    <a:latin typeface="微软雅黑" charset="0"/>
                    <a:ea typeface="微软雅黑" charset="0"/>
                  </a:rPr>
                  <a:t>数字</a:t>
                </a:r>
                <a:endParaRPr lang="zh-CN" altLang="en-US" sz="600">
                  <a:solidFill>
                    <a:schemeClr val="tx1"/>
                  </a:solidFill>
                  <a:latin typeface="微软雅黑" charset="0"/>
                  <a:ea typeface="微软雅黑" charset="0"/>
                </a:endParaRPr>
              </a:p>
              <a:p>
                <a:pPr algn="ctr"/>
                <a:r>
                  <a:rPr lang="zh-CN" altLang="en-US" sz="600">
                    <a:solidFill>
                      <a:schemeClr val="tx1"/>
                    </a:solidFill>
                    <a:latin typeface="微软雅黑" charset="0"/>
                    <a:ea typeface="微软雅黑" charset="0"/>
                  </a:rPr>
                  <a:t>整合</a:t>
                </a:r>
                <a:endParaRPr lang="zh-CN" altLang="en-US" sz="600">
                  <a:solidFill>
                    <a:schemeClr val="tx1"/>
                  </a:solidFill>
                  <a:latin typeface="微软雅黑" charset="0"/>
                  <a:ea typeface="微软雅黑" charset="0"/>
                </a:endParaRPr>
              </a:p>
            </p:txBody>
          </p:sp>
          <p:sp>
            <p:nvSpPr>
              <p:cNvPr id="369" name="椭圆 368"/>
              <p:cNvSpPr/>
              <p:nvPr/>
            </p:nvSpPr>
            <p:spPr>
              <a:xfrm>
                <a:off x="4326" y="2537"/>
                <a:ext cx="816" cy="227"/>
              </a:xfrm>
              <a:prstGeom prst="ellipse">
                <a:avLst/>
              </a:prstGeom>
              <a:solidFill>
                <a:srgbClr val="F6F1D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600">
                    <a:solidFill>
                      <a:schemeClr val="tx1"/>
                    </a:solidFill>
                    <a:latin typeface="微软雅黑" charset="0"/>
                    <a:ea typeface="微软雅黑" charset="0"/>
                  </a:rPr>
                  <a:t>分析</a:t>
                </a:r>
                <a:endParaRPr lang="zh-CN" altLang="en-US" sz="600">
                  <a:solidFill>
                    <a:schemeClr val="tx1"/>
                  </a:solidFill>
                  <a:latin typeface="微软雅黑" charset="0"/>
                  <a:ea typeface="微软雅黑" charset="0"/>
                </a:endParaRPr>
              </a:p>
            </p:txBody>
          </p:sp>
          <p:sp>
            <p:nvSpPr>
              <p:cNvPr id="370" name="椭圆 369"/>
              <p:cNvSpPr/>
              <p:nvPr/>
            </p:nvSpPr>
            <p:spPr>
              <a:xfrm>
                <a:off x="5054" y="1761"/>
                <a:ext cx="794" cy="227"/>
              </a:xfrm>
              <a:prstGeom prst="ellipse">
                <a:avLst/>
              </a:prstGeom>
              <a:solidFill>
                <a:srgbClr val="D6D6E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600">
                    <a:solidFill>
                      <a:schemeClr val="tx1"/>
                    </a:solidFill>
                    <a:latin typeface="微软雅黑" charset="0"/>
                    <a:ea typeface="微软雅黑" charset="0"/>
                    <a:sym typeface="+mn-ea"/>
                  </a:rPr>
                  <a:t>监测</a:t>
                </a:r>
                <a:endParaRPr lang="zh-CN" altLang="en-US" sz="600">
                  <a:solidFill>
                    <a:schemeClr val="tx1"/>
                  </a:solidFill>
                  <a:latin typeface="微软雅黑" charset="0"/>
                  <a:ea typeface="微软雅黑" charset="0"/>
                  <a:sym typeface="+mn-ea"/>
                </a:endParaRPr>
              </a:p>
            </p:txBody>
          </p:sp>
          <p:sp>
            <p:nvSpPr>
              <p:cNvPr id="371" name="椭圆 370"/>
              <p:cNvSpPr/>
              <p:nvPr/>
            </p:nvSpPr>
            <p:spPr>
              <a:xfrm>
                <a:off x="5786" y="2537"/>
                <a:ext cx="794" cy="227"/>
              </a:xfrm>
              <a:prstGeom prst="ellipse">
                <a:avLst/>
              </a:prstGeom>
              <a:solidFill>
                <a:srgbClr val="FFECD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600">
                    <a:solidFill>
                      <a:schemeClr val="tx1"/>
                    </a:solidFill>
                    <a:latin typeface="微软雅黑" charset="0"/>
                    <a:ea typeface="微软雅黑" charset="0"/>
                    <a:sym typeface="+mn-ea"/>
                  </a:rPr>
                  <a:t>管理</a:t>
                </a:r>
                <a:endParaRPr lang="zh-CN" altLang="en-US" sz="600">
                  <a:solidFill>
                    <a:schemeClr val="tx1"/>
                  </a:solidFill>
                  <a:latin typeface="微软雅黑" charset="0"/>
                  <a:ea typeface="微软雅黑" charset="0"/>
                  <a:sym typeface="+mn-ea"/>
                </a:endParaRPr>
              </a:p>
            </p:txBody>
          </p:sp>
        </p:grpSp>
      </p:grpSp>
      <p:sp>
        <p:nvSpPr>
          <p:cNvPr id="372" name="文本框 371"/>
          <p:cNvSpPr txBox="1"/>
          <p:nvPr/>
        </p:nvSpPr>
        <p:spPr>
          <a:xfrm>
            <a:off x="4947920" y="2776220"/>
            <a:ext cx="175133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800" b="1">
                <a:latin typeface="微软雅黑" charset="0"/>
                <a:ea typeface="微软雅黑" charset="0"/>
              </a:rPr>
              <a:t>经济社会</a:t>
            </a:r>
            <a:r>
              <a:rPr lang="zh-CN" altLang="en-US" sz="800" b="1">
                <a:latin typeface="微软雅黑" charset="0"/>
                <a:ea typeface="微软雅黑" charset="0"/>
              </a:rPr>
              <a:t>效益分析</a:t>
            </a:r>
            <a:endParaRPr lang="zh-CN" altLang="en-US" sz="800" b="1">
              <a:latin typeface="微软雅黑" charset="0"/>
              <a:ea typeface="微软雅黑" charset="0"/>
            </a:endParaRPr>
          </a:p>
        </p:txBody>
      </p:sp>
      <p:sp>
        <p:nvSpPr>
          <p:cNvPr id="373" name="椭圆 372"/>
          <p:cNvSpPr/>
          <p:nvPr/>
        </p:nvSpPr>
        <p:spPr>
          <a:xfrm>
            <a:off x="3916045" y="3403670"/>
            <a:ext cx="36000" cy="3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374" name="组合 373"/>
          <p:cNvGrpSpPr/>
          <p:nvPr/>
        </p:nvGrpSpPr>
        <p:grpSpPr>
          <a:xfrm>
            <a:off x="5486400" y="3309620"/>
            <a:ext cx="1318895" cy="836295"/>
            <a:chOff x="8320" y="5212"/>
            <a:chExt cx="2077" cy="1317"/>
          </a:xfrm>
        </p:grpSpPr>
        <p:grpSp>
          <p:nvGrpSpPr>
            <p:cNvPr id="375" name="组合 374"/>
            <p:cNvGrpSpPr/>
            <p:nvPr/>
          </p:nvGrpSpPr>
          <p:grpSpPr>
            <a:xfrm>
              <a:off x="8364" y="5212"/>
              <a:ext cx="135" cy="158"/>
              <a:chOff x="8364" y="5212"/>
              <a:chExt cx="135" cy="158"/>
            </a:xfrm>
          </p:grpSpPr>
          <p:cxnSp>
            <p:nvCxnSpPr>
              <p:cNvPr id="376" name="直接箭头连接符 375"/>
              <p:cNvCxnSpPr/>
              <p:nvPr/>
            </p:nvCxnSpPr>
            <p:spPr>
              <a:xfrm flipV="1">
                <a:off x="8364" y="5212"/>
                <a:ext cx="0" cy="159"/>
              </a:xfrm>
              <a:prstGeom prst="straightConnector1">
                <a:avLst/>
              </a:prstGeom>
              <a:ln w="6350" cap="rnd">
                <a:solidFill>
                  <a:srgbClr val="3C9087"/>
                </a:solidFill>
                <a:round/>
                <a:tailEnd type="arrow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7" name="直接箭头连接符 376"/>
              <p:cNvCxnSpPr/>
              <p:nvPr/>
            </p:nvCxnSpPr>
            <p:spPr>
              <a:xfrm flipV="1">
                <a:off x="8499" y="5212"/>
                <a:ext cx="0" cy="159"/>
              </a:xfrm>
              <a:prstGeom prst="straightConnector1">
                <a:avLst/>
              </a:prstGeom>
              <a:ln w="6350" cap="rnd">
                <a:solidFill>
                  <a:srgbClr val="3C9087"/>
                </a:solidFill>
                <a:round/>
                <a:tailEnd type="arrow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78" name="组合 377"/>
            <p:cNvGrpSpPr/>
            <p:nvPr/>
          </p:nvGrpSpPr>
          <p:grpSpPr>
            <a:xfrm>
              <a:off x="8951" y="5488"/>
              <a:ext cx="135" cy="158"/>
              <a:chOff x="8364" y="5212"/>
              <a:chExt cx="135" cy="158"/>
            </a:xfrm>
          </p:grpSpPr>
          <p:cxnSp>
            <p:nvCxnSpPr>
              <p:cNvPr id="379" name="直接箭头连接符 378"/>
              <p:cNvCxnSpPr/>
              <p:nvPr/>
            </p:nvCxnSpPr>
            <p:spPr>
              <a:xfrm flipV="1">
                <a:off x="8364" y="5212"/>
                <a:ext cx="0" cy="159"/>
              </a:xfrm>
              <a:prstGeom prst="straightConnector1">
                <a:avLst/>
              </a:prstGeom>
              <a:ln w="6350" cap="rnd">
                <a:solidFill>
                  <a:srgbClr val="3C9087"/>
                </a:solidFill>
                <a:round/>
                <a:tailEnd type="arrow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0" name="直接箭头连接符 379"/>
              <p:cNvCxnSpPr/>
              <p:nvPr/>
            </p:nvCxnSpPr>
            <p:spPr>
              <a:xfrm flipV="1">
                <a:off x="8499" y="5212"/>
                <a:ext cx="0" cy="159"/>
              </a:xfrm>
              <a:prstGeom prst="straightConnector1">
                <a:avLst/>
              </a:prstGeom>
              <a:ln w="6350" cap="rnd">
                <a:solidFill>
                  <a:srgbClr val="3C9087"/>
                </a:solidFill>
                <a:round/>
                <a:tailEnd type="arrow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81" name="组合 380"/>
            <p:cNvGrpSpPr/>
            <p:nvPr/>
          </p:nvGrpSpPr>
          <p:grpSpPr>
            <a:xfrm>
              <a:off x="9578" y="5220"/>
              <a:ext cx="135" cy="158"/>
              <a:chOff x="8364" y="5212"/>
              <a:chExt cx="135" cy="158"/>
            </a:xfrm>
          </p:grpSpPr>
          <p:cxnSp>
            <p:nvCxnSpPr>
              <p:cNvPr id="382" name="直接箭头连接符 381"/>
              <p:cNvCxnSpPr/>
              <p:nvPr/>
            </p:nvCxnSpPr>
            <p:spPr>
              <a:xfrm flipV="1">
                <a:off x="8364" y="5212"/>
                <a:ext cx="0" cy="159"/>
              </a:xfrm>
              <a:prstGeom prst="straightConnector1">
                <a:avLst/>
              </a:prstGeom>
              <a:ln w="6350" cap="rnd">
                <a:solidFill>
                  <a:srgbClr val="3C9087"/>
                </a:solidFill>
                <a:round/>
                <a:tailEnd type="arrow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3" name="直接箭头连接符 382"/>
              <p:cNvCxnSpPr/>
              <p:nvPr/>
            </p:nvCxnSpPr>
            <p:spPr>
              <a:xfrm flipV="1">
                <a:off x="8499" y="5212"/>
                <a:ext cx="0" cy="159"/>
              </a:xfrm>
              <a:prstGeom prst="straightConnector1">
                <a:avLst/>
              </a:prstGeom>
              <a:ln w="6350" cap="rnd">
                <a:solidFill>
                  <a:srgbClr val="3C9087"/>
                </a:solidFill>
                <a:round/>
                <a:tailEnd type="arrow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84" name="直接箭头连接符 383"/>
            <p:cNvCxnSpPr/>
            <p:nvPr/>
          </p:nvCxnSpPr>
          <p:spPr>
            <a:xfrm flipV="1">
              <a:off x="8429" y="5501"/>
              <a:ext cx="0" cy="159"/>
            </a:xfrm>
            <a:prstGeom prst="straightConnector1">
              <a:avLst/>
            </a:prstGeom>
            <a:ln w="6350" cap="rnd">
              <a:solidFill>
                <a:srgbClr val="3C9087"/>
              </a:solidFill>
              <a:round/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直接箭头连接符 384"/>
            <p:cNvCxnSpPr/>
            <p:nvPr/>
          </p:nvCxnSpPr>
          <p:spPr>
            <a:xfrm flipV="1">
              <a:off x="9019" y="5220"/>
              <a:ext cx="0" cy="159"/>
            </a:xfrm>
            <a:prstGeom prst="straightConnector1">
              <a:avLst/>
            </a:prstGeom>
            <a:ln w="6350" cap="rnd">
              <a:solidFill>
                <a:srgbClr val="3C9087"/>
              </a:solidFill>
              <a:round/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直接箭头连接符 385"/>
            <p:cNvCxnSpPr/>
            <p:nvPr/>
          </p:nvCxnSpPr>
          <p:spPr>
            <a:xfrm flipV="1">
              <a:off x="9050" y="5784"/>
              <a:ext cx="0" cy="159"/>
            </a:xfrm>
            <a:prstGeom prst="straightConnector1">
              <a:avLst/>
            </a:prstGeom>
            <a:ln w="6350" cap="rnd">
              <a:solidFill>
                <a:srgbClr val="3C9087"/>
              </a:solidFill>
              <a:round/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直接箭头连接符 386"/>
            <p:cNvCxnSpPr/>
            <p:nvPr/>
          </p:nvCxnSpPr>
          <p:spPr>
            <a:xfrm flipV="1">
              <a:off x="9635" y="5511"/>
              <a:ext cx="0" cy="159"/>
            </a:xfrm>
            <a:prstGeom prst="straightConnector1">
              <a:avLst/>
            </a:prstGeom>
            <a:ln w="6350" cap="rnd">
              <a:solidFill>
                <a:srgbClr val="3C9087"/>
              </a:solidFill>
              <a:round/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88" name="组合 387"/>
            <p:cNvGrpSpPr/>
            <p:nvPr/>
          </p:nvGrpSpPr>
          <p:grpSpPr>
            <a:xfrm>
              <a:off x="9518" y="5784"/>
              <a:ext cx="283" cy="163"/>
              <a:chOff x="9518" y="5784"/>
              <a:chExt cx="283" cy="163"/>
            </a:xfrm>
          </p:grpSpPr>
          <p:cxnSp>
            <p:nvCxnSpPr>
              <p:cNvPr id="389" name="直接箭头连接符 388"/>
              <p:cNvCxnSpPr/>
              <p:nvPr/>
            </p:nvCxnSpPr>
            <p:spPr>
              <a:xfrm flipV="1">
                <a:off x="9518" y="5784"/>
                <a:ext cx="0" cy="159"/>
              </a:xfrm>
              <a:prstGeom prst="straightConnector1">
                <a:avLst/>
              </a:prstGeom>
              <a:ln w="6350" cap="rnd">
                <a:solidFill>
                  <a:srgbClr val="3C9087"/>
                </a:solidFill>
                <a:round/>
                <a:tailEnd type="arrow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0" name="直接箭头连接符 389"/>
              <p:cNvCxnSpPr/>
              <p:nvPr/>
            </p:nvCxnSpPr>
            <p:spPr>
              <a:xfrm flipV="1">
                <a:off x="9653" y="5784"/>
                <a:ext cx="0" cy="159"/>
              </a:xfrm>
              <a:prstGeom prst="straightConnector1">
                <a:avLst/>
              </a:prstGeom>
              <a:ln w="6350" cap="rnd">
                <a:solidFill>
                  <a:srgbClr val="3C9087"/>
                </a:solidFill>
                <a:round/>
                <a:tailEnd type="arrow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1" name="直接箭头连接符 390"/>
              <p:cNvCxnSpPr/>
              <p:nvPr/>
            </p:nvCxnSpPr>
            <p:spPr>
              <a:xfrm flipV="1">
                <a:off x="9801" y="5789"/>
                <a:ext cx="0" cy="159"/>
              </a:xfrm>
              <a:prstGeom prst="straightConnector1">
                <a:avLst/>
              </a:prstGeom>
              <a:ln w="6350" cap="rnd">
                <a:solidFill>
                  <a:srgbClr val="3C9087"/>
                </a:solidFill>
                <a:round/>
                <a:tailEnd type="arrow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92" name="组合 391"/>
            <p:cNvGrpSpPr/>
            <p:nvPr/>
          </p:nvGrpSpPr>
          <p:grpSpPr>
            <a:xfrm>
              <a:off x="8320" y="6366"/>
              <a:ext cx="283" cy="163"/>
              <a:chOff x="9518" y="5784"/>
              <a:chExt cx="283" cy="163"/>
            </a:xfrm>
          </p:grpSpPr>
          <p:cxnSp>
            <p:nvCxnSpPr>
              <p:cNvPr id="393" name="直接箭头连接符 392"/>
              <p:cNvCxnSpPr/>
              <p:nvPr/>
            </p:nvCxnSpPr>
            <p:spPr>
              <a:xfrm flipV="1">
                <a:off x="9518" y="5784"/>
                <a:ext cx="0" cy="159"/>
              </a:xfrm>
              <a:prstGeom prst="straightConnector1">
                <a:avLst/>
              </a:prstGeom>
              <a:ln w="6350" cap="rnd">
                <a:solidFill>
                  <a:srgbClr val="3C9087"/>
                </a:solidFill>
                <a:round/>
                <a:tailEnd type="arrow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4" name="直接箭头连接符 393"/>
              <p:cNvCxnSpPr/>
              <p:nvPr/>
            </p:nvCxnSpPr>
            <p:spPr>
              <a:xfrm flipV="1">
                <a:off x="9653" y="5784"/>
                <a:ext cx="0" cy="159"/>
              </a:xfrm>
              <a:prstGeom prst="straightConnector1">
                <a:avLst/>
              </a:prstGeom>
              <a:ln w="6350" cap="rnd">
                <a:solidFill>
                  <a:srgbClr val="3C9087"/>
                </a:solidFill>
                <a:round/>
                <a:tailEnd type="arrow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5" name="直接箭头连接符 394"/>
              <p:cNvCxnSpPr/>
              <p:nvPr/>
            </p:nvCxnSpPr>
            <p:spPr>
              <a:xfrm flipV="1">
                <a:off x="9801" y="5789"/>
                <a:ext cx="0" cy="159"/>
              </a:xfrm>
              <a:prstGeom prst="straightConnector1">
                <a:avLst/>
              </a:prstGeom>
              <a:ln w="6350" cap="rnd">
                <a:solidFill>
                  <a:srgbClr val="3C9087"/>
                </a:solidFill>
                <a:round/>
                <a:tailEnd type="arrow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96" name="直接箭头连接符 395"/>
            <p:cNvCxnSpPr/>
            <p:nvPr/>
          </p:nvCxnSpPr>
          <p:spPr>
            <a:xfrm flipV="1">
              <a:off x="8437" y="6069"/>
              <a:ext cx="0" cy="159"/>
            </a:xfrm>
            <a:prstGeom prst="straightConnector1">
              <a:avLst/>
            </a:prstGeom>
            <a:ln w="6350" cap="rnd">
              <a:solidFill>
                <a:srgbClr val="3C9087"/>
              </a:solidFill>
              <a:round/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直接箭头连接符 396"/>
            <p:cNvCxnSpPr/>
            <p:nvPr/>
          </p:nvCxnSpPr>
          <p:spPr>
            <a:xfrm flipV="1">
              <a:off x="9053" y="6077"/>
              <a:ext cx="0" cy="159"/>
            </a:xfrm>
            <a:prstGeom prst="straightConnector1">
              <a:avLst/>
            </a:prstGeom>
            <a:ln w="6350" cap="rnd">
              <a:solidFill>
                <a:srgbClr val="3C9087"/>
              </a:solidFill>
              <a:round/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8" name="直接箭头连接符 397"/>
            <p:cNvCxnSpPr/>
            <p:nvPr/>
          </p:nvCxnSpPr>
          <p:spPr>
            <a:xfrm flipV="1">
              <a:off x="9669" y="6069"/>
              <a:ext cx="0" cy="159"/>
            </a:xfrm>
            <a:prstGeom prst="straightConnector1">
              <a:avLst/>
            </a:prstGeom>
            <a:ln w="6350" cap="rnd">
              <a:solidFill>
                <a:srgbClr val="3C9087"/>
              </a:solidFill>
              <a:round/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直接箭头连接符 398"/>
            <p:cNvCxnSpPr/>
            <p:nvPr/>
          </p:nvCxnSpPr>
          <p:spPr>
            <a:xfrm flipV="1">
              <a:off x="9677" y="6349"/>
              <a:ext cx="0" cy="159"/>
            </a:xfrm>
            <a:prstGeom prst="straightConnector1">
              <a:avLst/>
            </a:prstGeom>
            <a:ln w="6350" cap="rnd">
              <a:solidFill>
                <a:srgbClr val="3C9087"/>
              </a:solidFill>
              <a:round/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直接箭头连接符 399"/>
            <p:cNvCxnSpPr/>
            <p:nvPr/>
          </p:nvCxnSpPr>
          <p:spPr>
            <a:xfrm flipV="1">
              <a:off x="10309" y="6357"/>
              <a:ext cx="0" cy="159"/>
            </a:xfrm>
            <a:prstGeom prst="straightConnector1">
              <a:avLst/>
            </a:prstGeom>
            <a:ln w="6350" cap="rnd">
              <a:solidFill>
                <a:srgbClr val="3C9087"/>
              </a:solidFill>
              <a:round/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01" name="组合 400"/>
            <p:cNvGrpSpPr/>
            <p:nvPr/>
          </p:nvGrpSpPr>
          <p:grpSpPr>
            <a:xfrm>
              <a:off x="8959" y="6360"/>
              <a:ext cx="135" cy="158"/>
              <a:chOff x="8364" y="5212"/>
              <a:chExt cx="135" cy="158"/>
            </a:xfrm>
          </p:grpSpPr>
          <p:cxnSp>
            <p:nvCxnSpPr>
              <p:cNvPr id="402" name="直接箭头连接符 401"/>
              <p:cNvCxnSpPr/>
              <p:nvPr/>
            </p:nvCxnSpPr>
            <p:spPr>
              <a:xfrm flipV="1">
                <a:off x="8364" y="5212"/>
                <a:ext cx="0" cy="159"/>
              </a:xfrm>
              <a:prstGeom prst="straightConnector1">
                <a:avLst/>
              </a:prstGeom>
              <a:ln w="6350" cap="rnd">
                <a:solidFill>
                  <a:srgbClr val="3C9087"/>
                </a:solidFill>
                <a:round/>
                <a:tailEnd type="arrow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3" name="直接箭头连接符 402"/>
              <p:cNvCxnSpPr/>
              <p:nvPr/>
            </p:nvCxnSpPr>
            <p:spPr>
              <a:xfrm flipV="1">
                <a:off x="8499" y="5212"/>
                <a:ext cx="0" cy="159"/>
              </a:xfrm>
              <a:prstGeom prst="straightConnector1">
                <a:avLst/>
              </a:prstGeom>
              <a:ln w="6350" cap="rnd">
                <a:solidFill>
                  <a:srgbClr val="3C9087"/>
                </a:solidFill>
                <a:round/>
                <a:tailEnd type="arrow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04" name="组合 403"/>
            <p:cNvGrpSpPr/>
            <p:nvPr/>
          </p:nvGrpSpPr>
          <p:grpSpPr>
            <a:xfrm>
              <a:off x="10231" y="6032"/>
              <a:ext cx="135" cy="158"/>
              <a:chOff x="8364" y="5212"/>
              <a:chExt cx="135" cy="158"/>
            </a:xfrm>
          </p:grpSpPr>
          <p:cxnSp>
            <p:nvCxnSpPr>
              <p:cNvPr id="405" name="直接箭头连接符 404"/>
              <p:cNvCxnSpPr/>
              <p:nvPr/>
            </p:nvCxnSpPr>
            <p:spPr>
              <a:xfrm flipV="1">
                <a:off x="8364" y="5212"/>
                <a:ext cx="0" cy="159"/>
              </a:xfrm>
              <a:prstGeom prst="straightConnector1">
                <a:avLst/>
              </a:prstGeom>
              <a:ln w="6350" cap="rnd">
                <a:solidFill>
                  <a:srgbClr val="3C9087"/>
                </a:solidFill>
                <a:round/>
                <a:tailEnd type="arrow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6" name="直接箭头连接符 405"/>
              <p:cNvCxnSpPr/>
              <p:nvPr/>
            </p:nvCxnSpPr>
            <p:spPr>
              <a:xfrm flipV="1">
                <a:off x="8499" y="5212"/>
                <a:ext cx="0" cy="159"/>
              </a:xfrm>
              <a:prstGeom prst="straightConnector1">
                <a:avLst/>
              </a:prstGeom>
              <a:ln w="6350" cap="rnd">
                <a:solidFill>
                  <a:srgbClr val="3C9087"/>
                </a:solidFill>
                <a:round/>
                <a:tailEnd type="arrow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07" name="直接箭头连接符 406"/>
            <p:cNvCxnSpPr/>
            <p:nvPr/>
          </p:nvCxnSpPr>
          <p:spPr>
            <a:xfrm flipV="1">
              <a:off x="10285" y="5789"/>
              <a:ext cx="0" cy="159"/>
            </a:xfrm>
            <a:prstGeom prst="straightConnector1">
              <a:avLst/>
            </a:prstGeom>
            <a:ln w="6350" cap="rnd">
              <a:solidFill>
                <a:srgbClr val="3C9087"/>
              </a:solidFill>
              <a:round/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" name="直接箭头连接符 407"/>
            <p:cNvCxnSpPr/>
            <p:nvPr/>
          </p:nvCxnSpPr>
          <p:spPr>
            <a:xfrm rot="5400000" flipV="1">
              <a:off x="10313" y="5509"/>
              <a:ext cx="0" cy="159"/>
            </a:xfrm>
            <a:prstGeom prst="straightConnector1">
              <a:avLst/>
            </a:prstGeom>
            <a:ln w="6350" cap="rnd">
              <a:solidFill>
                <a:srgbClr val="E59F00"/>
              </a:solidFill>
              <a:round/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直接箭头连接符 408"/>
            <p:cNvCxnSpPr/>
            <p:nvPr/>
          </p:nvCxnSpPr>
          <p:spPr>
            <a:xfrm rot="5400000" flipV="1">
              <a:off x="10317" y="5220"/>
              <a:ext cx="0" cy="159"/>
            </a:xfrm>
            <a:prstGeom prst="straightConnector1">
              <a:avLst/>
            </a:prstGeom>
            <a:ln w="6350" cap="rnd">
              <a:solidFill>
                <a:srgbClr val="E59F00"/>
              </a:solidFill>
              <a:round/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直接箭头连接符 409"/>
            <p:cNvCxnSpPr/>
            <p:nvPr/>
          </p:nvCxnSpPr>
          <p:spPr>
            <a:xfrm rot="5400000" flipV="1">
              <a:off x="8419" y="5783"/>
              <a:ext cx="0" cy="159"/>
            </a:xfrm>
            <a:prstGeom prst="straightConnector1">
              <a:avLst/>
            </a:prstGeom>
            <a:ln w="6350" cap="rnd">
              <a:solidFill>
                <a:srgbClr val="E59F00"/>
              </a:solidFill>
              <a:round/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1" name="文本框 410"/>
          <p:cNvSpPr txBox="1"/>
          <p:nvPr/>
        </p:nvSpPr>
        <p:spPr>
          <a:xfrm>
            <a:off x="1268095" y="4963160"/>
            <a:ext cx="631190" cy="3270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10000"/>
              </a:lnSpc>
            </a:pPr>
            <a:r>
              <a:rPr lang="zh-CN" altLang="en-US" sz="700">
                <a:latin typeface="微软雅黑" charset="0"/>
                <a:ea typeface="微软雅黑" charset="0"/>
                <a:sym typeface="+mn-ea"/>
              </a:rPr>
              <a:t>世界遗产地</a:t>
            </a:r>
            <a:endParaRPr lang="zh-CN" altLang="en-US" sz="700">
              <a:solidFill>
                <a:schemeClr val="tx1"/>
              </a:solidFill>
              <a:latin typeface="微软雅黑" charset="0"/>
              <a:ea typeface="微软雅黑" charset="0"/>
            </a:endParaRPr>
          </a:p>
          <a:p>
            <a:pPr algn="ctr">
              <a:lnSpc>
                <a:spcPct val="110000"/>
              </a:lnSpc>
            </a:pPr>
            <a:r>
              <a:rPr lang="zh-CN" altLang="en-US" sz="700">
                <a:latin typeface="微软雅黑" charset="0"/>
                <a:ea typeface="微软雅黑" charset="0"/>
                <a:sym typeface="+mn-ea"/>
              </a:rPr>
              <a:t>虚拟旅游</a:t>
            </a:r>
            <a:endParaRPr lang="zh-CN" altLang="en-US" sz="700"/>
          </a:p>
        </p:txBody>
      </p:sp>
      <p:sp>
        <p:nvSpPr>
          <p:cNvPr id="334" name="右箭头 333"/>
          <p:cNvSpPr/>
          <p:nvPr/>
        </p:nvSpPr>
        <p:spPr>
          <a:xfrm>
            <a:off x="2656205" y="3319850"/>
            <a:ext cx="144000" cy="165100"/>
          </a:xfrm>
          <a:prstGeom prst="rightArrow">
            <a:avLst/>
          </a:prstGeom>
          <a:gradFill>
            <a:gsLst>
              <a:gs pos="0">
                <a:schemeClr val="bg1"/>
              </a:gs>
              <a:gs pos="62000">
                <a:srgbClr val="529C95">
                  <a:alpha val="66000"/>
                </a:srgbClr>
              </a:gs>
              <a:gs pos="100000">
                <a:srgbClr val="529C95"/>
              </a:gs>
            </a:gsLst>
            <a:lin ang="0" scaled="0"/>
          </a:gradFill>
          <a:ln>
            <a:solidFill>
              <a:srgbClr val="529C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" name="直接箭头连接符 3"/>
          <p:cNvCxnSpPr>
            <a:stCxn id="308" idx="2"/>
            <a:endCxn id="317" idx="0"/>
          </p:cNvCxnSpPr>
          <p:nvPr/>
        </p:nvCxnSpPr>
        <p:spPr>
          <a:xfrm>
            <a:off x="3472180" y="5205095"/>
            <a:ext cx="0" cy="127000"/>
          </a:xfrm>
          <a:prstGeom prst="straightConnector1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箭头连接符 4"/>
          <p:cNvCxnSpPr>
            <a:stCxn id="309" idx="2"/>
            <a:endCxn id="318" idx="0"/>
          </p:cNvCxnSpPr>
          <p:nvPr/>
        </p:nvCxnSpPr>
        <p:spPr>
          <a:xfrm flipH="1">
            <a:off x="4857750" y="5205095"/>
            <a:ext cx="635" cy="127000"/>
          </a:xfrm>
          <a:prstGeom prst="straightConnector1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/>
          <p:cNvCxnSpPr>
            <a:stCxn id="310" idx="2"/>
            <a:endCxn id="319" idx="0"/>
          </p:cNvCxnSpPr>
          <p:nvPr/>
        </p:nvCxnSpPr>
        <p:spPr>
          <a:xfrm>
            <a:off x="6269355" y="5205095"/>
            <a:ext cx="0" cy="126365"/>
          </a:xfrm>
          <a:prstGeom prst="straightConnector1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圆角矩形 275"/>
          <p:cNvSpPr/>
          <p:nvPr/>
        </p:nvSpPr>
        <p:spPr>
          <a:xfrm>
            <a:off x="2826385" y="2740730"/>
            <a:ext cx="1750695" cy="1548765"/>
          </a:xfrm>
          <a:prstGeom prst="roundRect">
            <a:avLst>
              <a:gd name="adj" fmla="val 5986"/>
            </a:avLst>
          </a:prstGeom>
          <a:noFill/>
          <a:ln w="3175" cmpd="sng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 b="1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77" name="矩形 276"/>
          <p:cNvSpPr/>
          <p:nvPr/>
        </p:nvSpPr>
        <p:spPr>
          <a:xfrm>
            <a:off x="3035300" y="3274060"/>
            <a:ext cx="1282700" cy="726440"/>
          </a:xfrm>
          <a:prstGeom prst="rect">
            <a:avLst/>
          </a:prstGeom>
          <a:noFill/>
          <a:ln>
            <a:gradFill>
              <a:gsLst>
                <a:gs pos="36000">
                  <a:schemeClr val="bg1">
                    <a:lumMod val="75000"/>
                  </a:schemeClr>
                </a:gs>
                <a:gs pos="0">
                  <a:schemeClr val="accent1">
                    <a:lumMod val="5000"/>
                    <a:lumOff val="95000"/>
                  </a:schemeClr>
                </a:gs>
                <a:gs pos="90000">
                  <a:schemeClr val="bg1">
                    <a:lumMod val="5000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8" name="圆角矩形 277"/>
          <p:cNvSpPr/>
          <p:nvPr/>
        </p:nvSpPr>
        <p:spPr>
          <a:xfrm>
            <a:off x="487045" y="2284800"/>
            <a:ext cx="2192020" cy="2094230"/>
          </a:xfrm>
          <a:prstGeom prst="roundRect">
            <a:avLst>
              <a:gd name="adj" fmla="val 6642"/>
            </a:avLst>
          </a:prstGeom>
          <a:noFill/>
          <a:ln w="12700" cmpd="sng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 b="1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79" name="圆角矩形 278"/>
          <p:cNvSpPr/>
          <p:nvPr/>
        </p:nvSpPr>
        <p:spPr>
          <a:xfrm>
            <a:off x="2745740" y="113100"/>
            <a:ext cx="4264660" cy="2094230"/>
          </a:xfrm>
          <a:prstGeom prst="roundRect">
            <a:avLst>
              <a:gd name="adj" fmla="val 6642"/>
            </a:avLst>
          </a:prstGeom>
          <a:noFill/>
          <a:ln w="12700" cmpd="sng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 b="1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80" name="同侧圆角矩形 279"/>
          <p:cNvSpPr/>
          <p:nvPr/>
        </p:nvSpPr>
        <p:spPr>
          <a:xfrm>
            <a:off x="523240" y="193110"/>
            <a:ext cx="2096770" cy="312420"/>
          </a:xfrm>
          <a:prstGeom prst="round2SameRect">
            <a:avLst/>
          </a:prstGeom>
          <a:solidFill>
            <a:schemeClr val="bg2">
              <a:alpha val="7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00" b="1">
                <a:solidFill>
                  <a:schemeClr val="tx1"/>
                </a:solidFill>
                <a:latin typeface="微软雅黑" charset="0"/>
                <a:ea typeface="微软雅黑" charset="0"/>
              </a:rPr>
              <a:t>数字技术评估与利益相关者需求分析</a:t>
            </a:r>
            <a:endParaRPr lang="zh-CN" altLang="en-US" sz="900" b="1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81" name="圆角矩形 280"/>
          <p:cNvSpPr/>
          <p:nvPr/>
        </p:nvSpPr>
        <p:spPr>
          <a:xfrm>
            <a:off x="523240" y="546170"/>
            <a:ext cx="2073910" cy="242570"/>
          </a:xfrm>
          <a:prstGeom prst="round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00" b="1">
                <a:solidFill>
                  <a:schemeClr val="tx1"/>
                </a:solidFill>
                <a:latin typeface="微软雅黑" charset="0"/>
                <a:ea typeface="微软雅黑" charset="0"/>
              </a:rPr>
              <a:t>数字技术与利益相关者映射</a:t>
            </a:r>
            <a:endParaRPr lang="zh-CN" altLang="en-US" sz="900" b="1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82" name="同侧圆角矩形 281"/>
          <p:cNvSpPr/>
          <p:nvPr/>
        </p:nvSpPr>
        <p:spPr>
          <a:xfrm>
            <a:off x="2792730" y="193110"/>
            <a:ext cx="4138295" cy="312420"/>
          </a:xfrm>
          <a:prstGeom prst="round2SameRect">
            <a:avLst/>
          </a:prstGeom>
          <a:solidFill>
            <a:schemeClr val="bg2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/>
                </a:solidFill>
                <a:latin typeface="微软雅黑" charset="0"/>
                <a:ea typeface="微软雅黑" charset="0"/>
              </a:rPr>
              <a:t>基于数字技术的生态旅游可持续发展整合框架</a:t>
            </a:r>
            <a:endParaRPr lang="zh-CN" altLang="en-US" sz="1000" b="1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83" name="圆角矩形 282"/>
          <p:cNvSpPr/>
          <p:nvPr/>
        </p:nvSpPr>
        <p:spPr>
          <a:xfrm>
            <a:off x="526733" y="838200"/>
            <a:ext cx="631825" cy="237490"/>
          </a:xfrm>
          <a:prstGeom prst="round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 b="1">
                <a:solidFill>
                  <a:schemeClr val="tx1"/>
                </a:solidFill>
                <a:latin typeface="微软雅黑" charset="0"/>
                <a:ea typeface="微软雅黑" charset="0"/>
              </a:rPr>
              <a:t>管理机构</a:t>
            </a:r>
            <a:endParaRPr lang="zh-CN" altLang="en-US" sz="800" b="1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84" name="圆角矩形 283"/>
          <p:cNvSpPr/>
          <p:nvPr/>
        </p:nvSpPr>
        <p:spPr>
          <a:xfrm>
            <a:off x="1194118" y="838200"/>
            <a:ext cx="739140" cy="236855"/>
          </a:xfrm>
          <a:prstGeom prst="round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 b="1">
                <a:solidFill>
                  <a:schemeClr val="tx1"/>
                </a:solidFill>
                <a:latin typeface="微软雅黑" charset="0"/>
                <a:ea typeface="微软雅黑" charset="0"/>
              </a:rPr>
              <a:t>旅游经营者</a:t>
            </a:r>
            <a:endParaRPr lang="zh-CN" altLang="en-US" sz="800" b="1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85" name="圆角矩形 284"/>
          <p:cNvSpPr/>
          <p:nvPr/>
        </p:nvSpPr>
        <p:spPr>
          <a:xfrm>
            <a:off x="1965643" y="837565"/>
            <a:ext cx="631825" cy="243205"/>
          </a:xfrm>
          <a:prstGeom prst="round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 b="1">
                <a:solidFill>
                  <a:schemeClr val="tx1"/>
                </a:solidFill>
                <a:latin typeface="微软雅黑" charset="0"/>
                <a:ea typeface="微软雅黑" charset="0"/>
              </a:rPr>
              <a:t>游客群体</a:t>
            </a:r>
            <a:endParaRPr lang="zh-CN" altLang="en-US" sz="800" b="1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86" name="圆角矩形 285"/>
          <p:cNvSpPr/>
          <p:nvPr/>
        </p:nvSpPr>
        <p:spPr>
          <a:xfrm>
            <a:off x="2805430" y="572840"/>
            <a:ext cx="1750695" cy="1548765"/>
          </a:xfrm>
          <a:prstGeom prst="roundRect">
            <a:avLst>
              <a:gd name="adj" fmla="val 6642"/>
            </a:avLst>
          </a:prstGeom>
          <a:noFill/>
          <a:ln w="3175" cmpd="sng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 b="1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87" name="圆角矩形 286"/>
          <p:cNvSpPr/>
          <p:nvPr/>
        </p:nvSpPr>
        <p:spPr>
          <a:xfrm>
            <a:off x="4617085" y="572840"/>
            <a:ext cx="2313940" cy="1548765"/>
          </a:xfrm>
          <a:prstGeom prst="roundRect">
            <a:avLst>
              <a:gd name="adj" fmla="val 6642"/>
            </a:avLst>
          </a:prstGeom>
          <a:noFill/>
          <a:ln w="3175" cmpd="sng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 b="1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88" name="圆角矩形 287"/>
          <p:cNvSpPr/>
          <p:nvPr/>
        </p:nvSpPr>
        <p:spPr>
          <a:xfrm>
            <a:off x="497840" y="1446530"/>
            <a:ext cx="689610" cy="695960"/>
          </a:xfrm>
          <a:prstGeom prst="roundRect">
            <a:avLst>
              <a:gd name="adj" fmla="val 10591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130000"/>
              </a:lnSpc>
            </a:pPr>
            <a:endParaRPr lang="zh-CN" altLang="en-US" sz="700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89" name="圆角矩形 288"/>
          <p:cNvSpPr/>
          <p:nvPr/>
        </p:nvSpPr>
        <p:spPr>
          <a:xfrm>
            <a:off x="1212215" y="1446530"/>
            <a:ext cx="702945" cy="695325"/>
          </a:xfrm>
          <a:prstGeom prst="roundRect">
            <a:avLst>
              <a:gd name="adj" fmla="val 12328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700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90" name="圆角矩形 289"/>
          <p:cNvSpPr/>
          <p:nvPr/>
        </p:nvSpPr>
        <p:spPr>
          <a:xfrm>
            <a:off x="1938655" y="1446530"/>
            <a:ext cx="685800" cy="695960"/>
          </a:xfrm>
          <a:prstGeom prst="roundRect">
            <a:avLst>
              <a:gd name="adj" fmla="val 12222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700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91" name="同侧圆角矩形 290"/>
          <p:cNvSpPr/>
          <p:nvPr/>
        </p:nvSpPr>
        <p:spPr>
          <a:xfrm>
            <a:off x="535940" y="2366080"/>
            <a:ext cx="2096770" cy="312420"/>
          </a:xfrm>
          <a:prstGeom prst="round2SameRect">
            <a:avLst/>
          </a:prstGeom>
          <a:solidFill>
            <a:schemeClr val="bg2">
              <a:alpha val="53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/>
                </a:solidFill>
                <a:latin typeface="微软雅黑" charset="0"/>
                <a:ea typeface="微软雅黑" charset="0"/>
              </a:rPr>
              <a:t>数字生态旅游系统模型</a:t>
            </a:r>
            <a:r>
              <a:rPr lang="zh-CN" altLang="en-US" sz="1000" b="1">
                <a:solidFill>
                  <a:schemeClr val="tx1"/>
                </a:solidFill>
                <a:latin typeface="微软雅黑" charset="0"/>
                <a:ea typeface="微软雅黑" charset="0"/>
              </a:rPr>
              <a:t>构建</a:t>
            </a:r>
            <a:endParaRPr lang="zh-CN" altLang="en-US" sz="1000" b="1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92" name="圆角矩形 291"/>
          <p:cNvSpPr/>
          <p:nvPr/>
        </p:nvSpPr>
        <p:spPr>
          <a:xfrm>
            <a:off x="535940" y="2747080"/>
            <a:ext cx="668020" cy="312420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solidFill>
                  <a:schemeClr val="tx1"/>
                </a:solidFill>
                <a:latin typeface="微软雅黑" charset="0"/>
                <a:ea typeface="微软雅黑" charset="0"/>
              </a:rPr>
              <a:t>监控</a:t>
            </a:r>
            <a:endParaRPr lang="zh-CN" altLang="en-US" sz="800">
              <a:solidFill>
                <a:schemeClr val="tx1"/>
              </a:solidFill>
              <a:latin typeface="微软雅黑" charset="0"/>
              <a:ea typeface="微软雅黑" charset="0"/>
            </a:endParaRPr>
          </a:p>
          <a:p>
            <a:pPr algn="ctr"/>
            <a:r>
              <a:rPr lang="zh-CN" altLang="en-US" sz="800">
                <a:solidFill>
                  <a:schemeClr val="tx1"/>
                </a:solidFill>
                <a:latin typeface="微软雅黑" charset="0"/>
                <a:ea typeface="微软雅黑" charset="0"/>
              </a:rPr>
              <a:t>子系统</a:t>
            </a:r>
            <a:endParaRPr lang="zh-CN" altLang="en-US" sz="800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93" name="圆角矩形 292"/>
          <p:cNvSpPr/>
          <p:nvPr/>
        </p:nvSpPr>
        <p:spPr>
          <a:xfrm>
            <a:off x="535940" y="3128080"/>
            <a:ext cx="668020" cy="312420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solidFill>
                  <a:schemeClr val="tx1"/>
                </a:solidFill>
                <a:latin typeface="微软雅黑" charset="0"/>
                <a:ea typeface="微软雅黑" charset="0"/>
              </a:rPr>
              <a:t>分析</a:t>
            </a:r>
            <a:endParaRPr lang="zh-CN" altLang="en-US" sz="800">
              <a:solidFill>
                <a:schemeClr val="tx1"/>
              </a:solidFill>
              <a:latin typeface="微软雅黑" charset="0"/>
              <a:ea typeface="微软雅黑" charset="0"/>
            </a:endParaRPr>
          </a:p>
          <a:p>
            <a:pPr algn="ctr"/>
            <a:r>
              <a:rPr lang="zh-CN" altLang="en-US" sz="800">
                <a:solidFill>
                  <a:schemeClr val="tx1"/>
                </a:solidFill>
                <a:latin typeface="微软雅黑" charset="0"/>
                <a:ea typeface="微软雅黑" charset="0"/>
              </a:rPr>
              <a:t>子系统</a:t>
            </a:r>
            <a:endParaRPr lang="zh-CN" altLang="en-US" sz="800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94" name="圆角矩形 293"/>
          <p:cNvSpPr/>
          <p:nvPr/>
        </p:nvSpPr>
        <p:spPr>
          <a:xfrm>
            <a:off x="535940" y="3509080"/>
            <a:ext cx="668020" cy="312420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solidFill>
                  <a:schemeClr val="tx1"/>
                </a:solidFill>
                <a:latin typeface="微软雅黑" charset="0"/>
                <a:ea typeface="微软雅黑" charset="0"/>
              </a:rPr>
              <a:t>应用</a:t>
            </a:r>
            <a:endParaRPr lang="zh-CN" altLang="en-US" sz="800">
              <a:solidFill>
                <a:schemeClr val="tx1"/>
              </a:solidFill>
              <a:latin typeface="微软雅黑" charset="0"/>
              <a:ea typeface="微软雅黑" charset="0"/>
            </a:endParaRPr>
          </a:p>
          <a:p>
            <a:pPr algn="ctr"/>
            <a:r>
              <a:rPr lang="zh-CN" altLang="en-US" sz="800">
                <a:solidFill>
                  <a:schemeClr val="tx1"/>
                </a:solidFill>
                <a:latin typeface="微软雅黑" charset="0"/>
                <a:ea typeface="微软雅黑" charset="0"/>
              </a:rPr>
              <a:t>子系统</a:t>
            </a:r>
            <a:endParaRPr lang="zh-CN" altLang="en-US" sz="800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95" name="圆角矩形 294"/>
          <p:cNvSpPr/>
          <p:nvPr/>
        </p:nvSpPr>
        <p:spPr>
          <a:xfrm>
            <a:off x="535940" y="3890080"/>
            <a:ext cx="668020" cy="312420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solidFill>
                  <a:schemeClr val="tx1"/>
                </a:solidFill>
                <a:latin typeface="微软雅黑" charset="0"/>
                <a:ea typeface="微软雅黑" charset="0"/>
              </a:rPr>
              <a:t>管理</a:t>
            </a:r>
            <a:endParaRPr lang="zh-CN" altLang="en-US" sz="800">
              <a:solidFill>
                <a:schemeClr val="tx1"/>
              </a:solidFill>
              <a:latin typeface="微软雅黑" charset="0"/>
              <a:ea typeface="微软雅黑" charset="0"/>
            </a:endParaRPr>
          </a:p>
          <a:p>
            <a:pPr algn="ctr"/>
            <a:r>
              <a:rPr lang="zh-CN" altLang="en-US" sz="800">
                <a:solidFill>
                  <a:schemeClr val="tx1"/>
                </a:solidFill>
                <a:latin typeface="微软雅黑" charset="0"/>
                <a:ea typeface="微软雅黑" charset="0"/>
              </a:rPr>
              <a:t>子系统</a:t>
            </a:r>
            <a:endParaRPr lang="zh-CN" altLang="en-US" sz="800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96" name="圆角矩形 295"/>
          <p:cNvSpPr/>
          <p:nvPr/>
        </p:nvSpPr>
        <p:spPr>
          <a:xfrm>
            <a:off x="1247140" y="2755335"/>
            <a:ext cx="668020" cy="312420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solidFill>
                  <a:schemeClr val="tx1"/>
                </a:solidFill>
                <a:latin typeface="微软雅黑" charset="0"/>
                <a:ea typeface="微软雅黑" charset="0"/>
              </a:rPr>
              <a:t>传感网络</a:t>
            </a:r>
            <a:r>
              <a:rPr lang="en-US" altLang="zh-CN" sz="800">
                <a:solidFill>
                  <a:schemeClr val="tx1"/>
                </a:solidFill>
                <a:latin typeface="微软雅黑" charset="0"/>
                <a:ea typeface="微软雅黑" charset="0"/>
              </a:rPr>
              <a:t>/</a:t>
            </a:r>
            <a:r>
              <a:rPr lang="zh-CN" altLang="en-US" sz="800">
                <a:solidFill>
                  <a:schemeClr val="tx1"/>
                </a:solidFill>
                <a:latin typeface="微软雅黑" charset="0"/>
                <a:ea typeface="微软雅黑" charset="0"/>
              </a:rPr>
              <a:t>遥感</a:t>
            </a:r>
            <a:endParaRPr lang="zh-CN" altLang="en-US" sz="800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97" name="圆角矩形 296"/>
          <p:cNvSpPr/>
          <p:nvPr/>
        </p:nvSpPr>
        <p:spPr>
          <a:xfrm>
            <a:off x="1247140" y="3136335"/>
            <a:ext cx="668020" cy="312420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800">
                <a:solidFill>
                  <a:schemeClr val="tx1"/>
                </a:solidFill>
                <a:latin typeface="微软雅黑" charset="0"/>
                <a:ea typeface="微软雅黑" charset="0"/>
              </a:rPr>
              <a:t>AI/</a:t>
            </a:r>
            <a:r>
              <a:rPr lang="zh-CN" altLang="en-US" sz="800">
                <a:solidFill>
                  <a:schemeClr val="tx1"/>
                </a:solidFill>
                <a:latin typeface="微软雅黑" charset="0"/>
                <a:ea typeface="微软雅黑" charset="0"/>
              </a:rPr>
              <a:t>大数据</a:t>
            </a:r>
            <a:r>
              <a:rPr lang="zh-CN" altLang="en-US" sz="800">
                <a:solidFill>
                  <a:schemeClr val="tx1"/>
                </a:solidFill>
                <a:latin typeface="微软雅黑" charset="0"/>
                <a:ea typeface="微软雅黑" charset="0"/>
              </a:rPr>
              <a:t>分析</a:t>
            </a:r>
            <a:endParaRPr lang="zh-CN" altLang="en-US" sz="800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98" name="圆角矩形 297"/>
          <p:cNvSpPr/>
          <p:nvPr/>
        </p:nvSpPr>
        <p:spPr>
          <a:xfrm>
            <a:off x="1247140" y="3517335"/>
            <a:ext cx="668020" cy="312420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800">
                <a:solidFill>
                  <a:schemeClr val="tx1"/>
                </a:solidFill>
                <a:latin typeface="微软雅黑" charset="0"/>
                <a:ea typeface="微软雅黑" charset="0"/>
              </a:rPr>
              <a:t>AR/VR/</a:t>
            </a:r>
            <a:r>
              <a:rPr lang="zh-CN" altLang="en-US" sz="800">
                <a:solidFill>
                  <a:schemeClr val="tx1"/>
                </a:solidFill>
                <a:latin typeface="微软雅黑" charset="0"/>
                <a:ea typeface="微软雅黑" charset="0"/>
              </a:rPr>
              <a:t>智能</a:t>
            </a:r>
            <a:r>
              <a:rPr lang="zh-CN" altLang="en-US" sz="800">
                <a:solidFill>
                  <a:schemeClr val="tx1"/>
                </a:solidFill>
                <a:latin typeface="微软雅黑" charset="0"/>
                <a:ea typeface="微软雅黑" charset="0"/>
              </a:rPr>
              <a:t>应用</a:t>
            </a:r>
            <a:endParaRPr lang="zh-CN" altLang="en-US" sz="800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99" name="圆角矩形 298"/>
          <p:cNvSpPr/>
          <p:nvPr/>
        </p:nvSpPr>
        <p:spPr>
          <a:xfrm>
            <a:off x="1247140" y="3898335"/>
            <a:ext cx="668020" cy="312420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solidFill>
                  <a:schemeClr val="tx1"/>
                </a:solidFill>
                <a:latin typeface="微软雅黑" charset="0"/>
                <a:ea typeface="微软雅黑" charset="0"/>
              </a:rPr>
              <a:t>决策支持</a:t>
            </a:r>
            <a:r>
              <a:rPr lang="en-US" altLang="zh-CN" sz="800">
                <a:solidFill>
                  <a:schemeClr val="tx1"/>
                </a:solidFill>
                <a:latin typeface="微软雅黑" charset="0"/>
                <a:ea typeface="微软雅黑" charset="0"/>
              </a:rPr>
              <a:t>/</a:t>
            </a:r>
            <a:r>
              <a:rPr lang="zh-CN" altLang="en-US" sz="800">
                <a:solidFill>
                  <a:schemeClr val="tx1"/>
                </a:solidFill>
                <a:latin typeface="微软雅黑" charset="0"/>
                <a:ea typeface="微软雅黑" charset="0"/>
              </a:rPr>
              <a:t>区块链</a:t>
            </a:r>
            <a:endParaRPr lang="zh-CN" altLang="en-US" sz="800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00" name="圆角矩形 299"/>
          <p:cNvSpPr/>
          <p:nvPr/>
        </p:nvSpPr>
        <p:spPr>
          <a:xfrm>
            <a:off x="1962785" y="2750890"/>
            <a:ext cx="680085" cy="1454785"/>
          </a:xfrm>
          <a:prstGeom prst="roundRect">
            <a:avLst>
              <a:gd name="adj" fmla="val 10084"/>
            </a:avLst>
          </a:prstGeom>
          <a:noFill/>
          <a:ln>
            <a:solidFill>
              <a:schemeClr val="tx1">
                <a:lumMod val="65000"/>
                <a:lumOff val="35000"/>
                <a:alpha val="88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800" b="1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01" name="同侧圆角矩形 300"/>
          <p:cNvSpPr/>
          <p:nvPr/>
        </p:nvSpPr>
        <p:spPr>
          <a:xfrm>
            <a:off x="2813685" y="2366080"/>
            <a:ext cx="4138295" cy="312420"/>
          </a:xfrm>
          <a:prstGeom prst="round2SameRect">
            <a:avLst/>
          </a:prstGeom>
          <a:solidFill>
            <a:schemeClr val="bg2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/>
                </a:solidFill>
                <a:latin typeface="微软雅黑" charset="0"/>
                <a:ea typeface="微软雅黑" charset="0"/>
              </a:rPr>
              <a:t>数字技术对生态旅游可持续发展的影响分析</a:t>
            </a:r>
            <a:endParaRPr lang="zh-CN" altLang="en-US" sz="1000" b="1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02" name="圆角矩形 301"/>
          <p:cNvSpPr/>
          <p:nvPr/>
        </p:nvSpPr>
        <p:spPr>
          <a:xfrm>
            <a:off x="4629150" y="2740730"/>
            <a:ext cx="2313940" cy="1548765"/>
          </a:xfrm>
          <a:prstGeom prst="roundRect">
            <a:avLst>
              <a:gd name="adj" fmla="val 7298"/>
            </a:avLst>
          </a:prstGeom>
          <a:noFill/>
          <a:ln w="3175" cmpd="sng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 b="1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03" name="同侧圆角矩形 302"/>
          <p:cNvSpPr/>
          <p:nvPr/>
        </p:nvSpPr>
        <p:spPr>
          <a:xfrm>
            <a:off x="546100" y="4585405"/>
            <a:ext cx="2096770" cy="312420"/>
          </a:xfrm>
          <a:prstGeom prst="round2SameRect">
            <a:avLst/>
          </a:prstGeom>
          <a:solidFill>
            <a:schemeClr val="bg2">
              <a:alpha val="61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/>
                </a:solidFill>
                <a:latin typeface="微软雅黑" charset="0"/>
                <a:ea typeface="微软雅黑" charset="0"/>
              </a:rPr>
              <a:t>案例研究与实践应用</a:t>
            </a:r>
            <a:endParaRPr lang="zh-CN" altLang="en-US" sz="1000" b="1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04" name="同侧圆角矩形 303"/>
          <p:cNvSpPr/>
          <p:nvPr/>
        </p:nvSpPr>
        <p:spPr>
          <a:xfrm>
            <a:off x="2832735" y="4585405"/>
            <a:ext cx="4091305" cy="312420"/>
          </a:xfrm>
          <a:prstGeom prst="round2SameRect">
            <a:avLst/>
          </a:prstGeom>
          <a:solidFill>
            <a:schemeClr val="bg2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/>
                </a:solidFill>
                <a:latin typeface="微软雅黑" charset="0"/>
                <a:ea typeface="微软雅黑" charset="0"/>
              </a:rPr>
              <a:t>数字生态旅游整合实施指南与政策建议</a:t>
            </a:r>
            <a:endParaRPr lang="zh-CN" altLang="en-US" sz="1000" b="1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05" name="五边形 304"/>
          <p:cNvSpPr/>
          <p:nvPr/>
        </p:nvSpPr>
        <p:spPr>
          <a:xfrm>
            <a:off x="532130" y="4946015"/>
            <a:ext cx="729615" cy="340360"/>
          </a:xfrm>
          <a:prstGeom prst="homePlat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110000"/>
              </a:lnSpc>
            </a:pPr>
            <a:r>
              <a:rPr lang="zh-CN" altLang="en-US" sz="700">
                <a:solidFill>
                  <a:schemeClr val="tx1"/>
                </a:solidFill>
                <a:latin typeface="微软雅黑" charset="0"/>
                <a:ea typeface="微软雅黑" charset="0"/>
              </a:rPr>
              <a:t>国家公园物联网监测</a:t>
            </a:r>
            <a:endParaRPr lang="zh-CN" altLang="en-US" sz="700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06" name="燕尾形 305"/>
          <p:cNvSpPr/>
          <p:nvPr/>
        </p:nvSpPr>
        <p:spPr>
          <a:xfrm>
            <a:off x="1152525" y="4946015"/>
            <a:ext cx="846455" cy="340360"/>
          </a:xfrm>
          <a:prstGeom prst="chevron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700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07" name="任意多边形 306"/>
          <p:cNvSpPr/>
          <p:nvPr/>
        </p:nvSpPr>
        <p:spPr>
          <a:xfrm>
            <a:off x="1888490" y="4940300"/>
            <a:ext cx="756000" cy="346075"/>
          </a:xfrm>
          <a:custGeom>
            <a:avLst/>
            <a:gdLst>
              <a:gd name="connsiteX0" fmla="*/ 0 w 1173"/>
              <a:gd name="connsiteY0" fmla="*/ 9 h 545"/>
              <a:gd name="connsiteX1" fmla="*/ 1173 w 1173"/>
              <a:gd name="connsiteY1" fmla="*/ 0 h 545"/>
              <a:gd name="connsiteX2" fmla="*/ 1172 w 1173"/>
              <a:gd name="connsiteY2" fmla="*/ 270 h 545"/>
              <a:gd name="connsiteX3" fmla="*/ 1173 w 1173"/>
              <a:gd name="connsiteY3" fmla="*/ 540 h 545"/>
              <a:gd name="connsiteX4" fmla="*/ 0 w 1173"/>
              <a:gd name="connsiteY4" fmla="*/ 545 h 545"/>
              <a:gd name="connsiteX5" fmla="*/ 268 w 1173"/>
              <a:gd name="connsiteY5" fmla="*/ 277 h 545"/>
              <a:gd name="connsiteX6" fmla="*/ 0 w 1173"/>
              <a:gd name="connsiteY6" fmla="*/ 9 h 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73" h="545">
                <a:moveTo>
                  <a:pt x="0" y="9"/>
                </a:moveTo>
                <a:lnTo>
                  <a:pt x="1173" y="0"/>
                </a:lnTo>
                <a:lnTo>
                  <a:pt x="1172" y="270"/>
                </a:lnTo>
                <a:lnTo>
                  <a:pt x="1173" y="540"/>
                </a:lnTo>
                <a:lnTo>
                  <a:pt x="0" y="545"/>
                </a:lnTo>
                <a:lnTo>
                  <a:pt x="268" y="277"/>
                </a:lnTo>
                <a:lnTo>
                  <a:pt x="0" y="9"/>
                </a:lnTo>
                <a:close/>
              </a:path>
            </a:pathLst>
          </a:cu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>
              <a:lnSpc>
                <a:spcPct val="110000"/>
              </a:lnSpc>
            </a:pPr>
            <a:r>
              <a:rPr lang="en-US" altLang="zh-CN" sz="700">
                <a:solidFill>
                  <a:schemeClr val="tx1"/>
                </a:solidFill>
                <a:latin typeface="微软雅黑" charset="0"/>
                <a:ea typeface="微软雅黑" charset="0"/>
              </a:rPr>
              <a:t>    </a:t>
            </a:r>
            <a:r>
              <a:rPr lang="zh-CN" altLang="en-US" sz="700">
                <a:solidFill>
                  <a:schemeClr val="tx1"/>
                </a:solidFill>
                <a:latin typeface="微软雅黑" charset="0"/>
                <a:ea typeface="微软雅黑" charset="0"/>
              </a:rPr>
              <a:t>生态保护区</a:t>
            </a:r>
            <a:endParaRPr lang="zh-CN" altLang="en-US" sz="700">
              <a:solidFill>
                <a:schemeClr val="tx1"/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10000"/>
              </a:lnSpc>
            </a:pPr>
            <a:r>
              <a:rPr lang="en-US" altLang="zh-CN" sz="700">
                <a:solidFill>
                  <a:schemeClr val="tx1"/>
                </a:solidFill>
                <a:latin typeface="微软雅黑" charset="0"/>
                <a:ea typeface="微软雅黑" charset="0"/>
              </a:rPr>
              <a:t>    </a:t>
            </a:r>
            <a:r>
              <a:rPr lang="zh-CN" altLang="en-US" sz="700">
                <a:solidFill>
                  <a:schemeClr val="tx1"/>
                </a:solidFill>
                <a:latin typeface="微软雅黑" charset="0"/>
                <a:ea typeface="微软雅黑" charset="0"/>
              </a:rPr>
              <a:t>区块链溯源</a:t>
            </a:r>
            <a:endParaRPr lang="zh-CN" altLang="en-US" sz="700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08" name="圆角矩形 307"/>
          <p:cNvSpPr/>
          <p:nvPr/>
        </p:nvSpPr>
        <p:spPr>
          <a:xfrm>
            <a:off x="2826385" y="4940935"/>
            <a:ext cx="1290955" cy="264160"/>
          </a:xfrm>
          <a:prstGeom prst="round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 b="1">
                <a:solidFill>
                  <a:schemeClr val="tx1"/>
                </a:solidFill>
                <a:latin typeface="微软雅黑" charset="0"/>
                <a:ea typeface="微软雅黑" charset="0"/>
              </a:rPr>
              <a:t>数字生态旅游实施框架</a:t>
            </a:r>
            <a:endParaRPr lang="zh-CN" altLang="en-US" sz="800" b="1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09" name="圆角矩形 308"/>
          <p:cNvSpPr/>
          <p:nvPr/>
        </p:nvSpPr>
        <p:spPr>
          <a:xfrm>
            <a:off x="4167823" y="4940935"/>
            <a:ext cx="1379855" cy="264160"/>
          </a:xfrm>
          <a:prstGeom prst="round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 b="1">
                <a:solidFill>
                  <a:schemeClr val="tx1"/>
                </a:solidFill>
                <a:latin typeface="微软雅黑" charset="0"/>
                <a:ea typeface="微软雅黑" charset="0"/>
              </a:rPr>
              <a:t>实施</a:t>
            </a:r>
            <a:r>
              <a:rPr lang="zh-CN" altLang="en-US" sz="800" b="1">
                <a:solidFill>
                  <a:schemeClr val="tx1"/>
                </a:solidFill>
                <a:latin typeface="微软雅黑" charset="0"/>
                <a:ea typeface="微软雅黑" charset="0"/>
              </a:rPr>
              <a:t>阶段</a:t>
            </a:r>
            <a:endParaRPr lang="zh-CN" altLang="en-US" sz="800" b="1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10" name="圆角矩形 309"/>
          <p:cNvSpPr/>
          <p:nvPr/>
        </p:nvSpPr>
        <p:spPr>
          <a:xfrm>
            <a:off x="5598160" y="4940300"/>
            <a:ext cx="1342390" cy="264795"/>
          </a:xfrm>
          <a:prstGeom prst="round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 b="1">
                <a:solidFill>
                  <a:schemeClr val="tx1"/>
                </a:solidFill>
                <a:latin typeface="微软雅黑" charset="0"/>
                <a:ea typeface="微软雅黑" charset="0"/>
              </a:rPr>
              <a:t>经济-生态双赢发展</a:t>
            </a:r>
            <a:endParaRPr lang="zh-CN" altLang="en-US" sz="800" b="1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11" name="文本框 310"/>
          <p:cNvSpPr txBox="1"/>
          <p:nvPr/>
        </p:nvSpPr>
        <p:spPr>
          <a:xfrm>
            <a:off x="2847340" y="594360"/>
            <a:ext cx="1647190" cy="3860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20000"/>
              </a:lnSpc>
            </a:pPr>
            <a:r>
              <a:rPr lang="zh-CN" altLang="en-US" sz="800" b="1">
                <a:latin typeface="微软雅黑" charset="0"/>
                <a:ea typeface="微软雅黑" charset="0"/>
              </a:rPr>
              <a:t>数字赋能的生态旅游可持续维度</a:t>
            </a:r>
            <a:endParaRPr lang="zh-CN" altLang="en-US" sz="800" b="1">
              <a:latin typeface="微软雅黑" charset="0"/>
              <a:ea typeface="微软雅黑" charset="0"/>
            </a:endParaRPr>
          </a:p>
          <a:p>
            <a:pPr algn="ctr">
              <a:lnSpc>
                <a:spcPct val="120000"/>
              </a:lnSpc>
            </a:pPr>
            <a:r>
              <a:rPr lang="zh-CN" altLang="en-US" sz="800">
                <a:latin typeface="微软雅黑" charset="0"/>
                <a:ea typeface="微软雅黑" charset="0"/>
              </a:rPr>
              <a:t>可持续性平衡机制</a:t>
            </a:r>
            <a:endParaRPr lang="zh-CN" altLang="en-US" sz="800">
              <a:latin typeface="微软雅黑" charset="0"/>
              <a:ea typeface="微软雅黑" charset="0"/>
            </a:endParaRPr>
          </a:p>
        </p:txBody>
      </p:sp>
      <p:sp>
        <p:nvSpPr>
          <p:cNvPr id="312" name="文本框 311"/>
          <p:cNvSpPr txBox="1"/>
          <p:nvPr/>
        </p:nvSpPr>
        <p:spPr>
          <a:xfrm>
            <a:off x="4905375" y="616585"/>
            <a:ext cx="176085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800" b="1">
                <a:latin typeface="微软雅黑" charset="0"/>
                <a:ea typeface="微软雅黑" charset="0"/>
              </a:rPr>
              <a:t>数字技术影响</a:t>
            </a:r>
            <a:r>
              <a:rPr lang="zh-CN" altLang="en-US" sz="800" b="1">
                <a:latin typeface="微软雅黑" charset="0"/>
                <a:ea typeface="微软雅黑" charset="0"/>
              </a:rPr>
              <a:t>矩阵</a:t>
            </a:r>
            <a:endParaRPr lang="zh-CN" altLang="en-US" sz="800" b="1">
              <a:latin typeface="微软雅黑" charset="0"/>
              <a:ea typeface="微软雅黑" charset="0"/>
            </a:endParaRPr>
          </a:p>
        </p:txBody>
      </p:sp>
      <p:sp>
        <p:nvSpPr>
          <p:cNvPr id="313" name="文本框 312"/>
          <p:cNvSpPr txBox="1"/>
          <p:nvPr/>
        </p:nvSpPr>
        <p:spPr>
          <a:xfrm>
            <a:off x="2937510" y="2769870"/>
            <a:ext cx="153416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800" b="1">
                <a:latin typeface="微软雅黑" charset="0"/>
                <a:ea typeface="微软雅黑" charset="0"/>
              </a:rPr>
              <a:t>生态影响评估</a:t>
            </a:r>
            <a:r>
              <a:rPr lang="zh-CN" altLang="en-US" sz="800" b="1">
                <a:latin typeface="微软雅黑" charset="0"/>
                <a:ea typeface="微软雅黑" charset="0"/>
              </a:rPr>
              <a:t>模型</a:t>
            </a:r>
            <a:endParaRPr lang="zh-CN" altLang="en-US" sz="800" b="1">
              <a:latin typeface="微软雅黑" charset="0"/>
              <a:ea typeface="微软雅黑" charset="0"/>
            </a:endParaRPr>
          </a:p>
          <a:p>
            <a:pPr algn="ctr"/>
            <a:r>
              <a:rPr lang="zh-CN" altLang="en-US" sz="800">
                <a:latin typeface="微软雅黑" charset="0"/>
                <a:ea typeface="微软雅黑" charset="0"/>
              </a:rPr>
              <a:t>基于数字监测</a:t>
            </a:r>
            <a:r>
              <a:rPr lang="zh-CN" altLang="en-US" sz="800">
                <a:latin typeface="微软雅黑" charset="0"/>
                <a:ea typeface="微软雅黑" charset="0"/>
              </a:rPr>
              <a:t>数据</a:t>
            </a:r>
            <a:endParaRPr lang="zh-CN" altLang="en-US" sz="800">
              <a:latin typeface="微软雅黑" charset="0"/>
              <a:ea typeface="微软雅黑" charset="0"/>
            </a:endParaRPr>
          </a:p>
        </p:txBody>
      </p:sp>
      <p:sp>
        <p:nvSpPr>
          <p:cNvPr id="314" name="五边形 313"/>
          <p:cNvSpPr/>
          <p:nvPr/>
        </p:nvSpPr>
        <p:spPr>
          <a:xfrm>
            <a:off x="192405" y="193040"/>
            <a:ext cx="240665" cy="1928495"/>
          </a:xfrm>
          <a:prstGeom prst="homePlat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00" b="1">
                <a:solidFill>
                  <a:schemeClr val="tx1"/>
                </a:solidFill>
                <a:latin typeface="微软雅黑" charset="0"/>
                <a:ea typeface="微软雅黑" charset="0"/>
              </a:rPr>
              <a:t>技术</a:t>
            </a:r>
            <a:endParaRPr lang="zh-CN" altLang="en-US" sz="900" b="1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15" name="五边形 314"/>
          <p:cNvSpPr/>
          <p:nvPr/>
        </p:nvSpPr>
        <p:spPr>
          <a:xfrm>
            <a:off x="191135" y="4507230"/>
            <a:ext cx="245110" cy="1102995"/>
          </a:xfrm>
          <a:prstGeom prst="homePlat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00" b="1">
                <a:solidFill>
                  <a:schemeClr val="tx1"/>
                </a:solidFill>
                <a:latin typeface="微软雅黑" charset="0"/>
                <a:ea typeface="微软雅黑" charset="0"/>
              </a:rPr>
              <a:t>应用</a:t>
            </a:r>
            <a:endParaRPr lang="zh-CN" altLang="en-US" sz="900" b="1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graphicFrame>
        <p:nvGraphicFramePr>
          <p:cNvPr id="316" name="表格 315"/>
          <p:cNvGraphicFramePr/>
          <p:nvPr>
            <p:custDataLst>
              <p:tags r:id="rId1"/>
            </p:custDataLst>
          </p:nvPr>
        </p:nvGraphicFramePr>
        <p:xfrm>
          <a:off x="4677410" y="840810"/>
          <a:ext cx="2192020" cy="1186815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740410"/>
                <a:gridCol w="768350"/>
                <a:gridCol w="683260"/>
              </a:tblGrid>
              <a:tr h="1974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600">
                          <a:latin typeface="微软雅黑" charset="0"/>
                          <a:ea typeface="微软雅黑" charset="0"/>
                        </a:rPr>
                        <a:t>技术类型</a:t>
                      </a:r>
                      <a:endParaRPr lang="zh-CN" altLang="en-US" sz="600">
                        <a:latin typeface="微软雅黑" charset="0"/>
                        <a:ea typeface="微软雅黑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600">
                          <a:latin typeface="微软雅黑" charset="0"/>
                          <a:ea typeface="微软雅黑" charset="0"/>
                        </a:rPr>
                        <a:t>生态影响</a:t>
                      </a:r>
                      <a:endParaRPr lang="zh-CN" altLang="en-US" sz="600">
                        <a:latin typeface="微软雅黑" charset="0"/>
                        <a:ea typeface="微软雅黑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600">
                          <a:latin typeface="微软雅黑" charset="0"/>
                          <a:ea typeface="微软雅黑" charset="0"/>
                        </a:rPr>
                        <a:t>经济影响</a:t>
                      </a:r>
                      <a:endParaRPr lang="zh-CN" altLang="en-US" sz="600">
                        <a:latin typeface="微软雅黑" charset="0"/>
                        <a:ea typeface="微软雅黑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329565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>
                        <a:latin typeface="微软雅黑" charset="0"/>
                        <a:ea typeface="微软雅黑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600">
                          <a:latin typeface="微软雅黑" charset="0"/>
                          <a:ea typeface="微软雅黑" charset="0"/>
                        </a:rPr>
                        <a:t>智能监测系统</a:t>
                      </a:r>
                      <a:endParaRPr lang="zh-CN" altLang="en-US" sz="600">
                        <a:latin typeface="微软雅黑" charset="0"/>
                        <a:ea typeface="微软雅黑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60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</a:rPr>
                        <a:t>承载力评估</a:t>
                      </a:r>
                      <a:endParaRPr lang="zh-CN" altLang="en-US" sz="60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</a:endParaRPr>
                    </a:p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60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</a:rPr>
                        <a:t>减少生态压力</a:t>
                      </a:r>
                      <a:endParaRPr lang="zh-CN" altLang="en-US" sz="60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60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</a:rPr>
                        <a:t>精准管理</a:t>
                      </a:r>
                      <a:endParaRPr lang="zh-CN" altLang="en-US" sz="60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</a:endParaRPr>
                    </a:p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60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</a:rPr>
                        <a:t>优化资配置</a:t>
                      </a:r>
                      <a:endParaRPr lang="zh-CN" altLang="en-US" sz="60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0988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>
                        <a:latin typeface="微软雅黑" charset="0"/>
                        <a:ea typeface="微软雅黑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600">
                          <a:latin typeface="微软雅黑" charset="0"/>
                          <a:ea typeface="微软雅黑" charset="0"/>
                        </a:rPr>
                        <a:t>大数据分析平台</a:t>
                      </a:r>
                      <a:endParaRPr lang="zh-CN" altLang="en-US" sz="600">
                        <a:latin typeface="微软雅黑" charset="0"/>
                        <a:ea typeface="微软雅黑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60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</a:rPr>
                        <a:t>行为预测</a:t>
                      </a:r>
                      <a:endParaRPr lang="zh-CN" altLang="en-US" sz="60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</a:endParaRPr>
                    </a:p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60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</a:rPr>
                        <a:t>环境动态管理</a:t>
                      </a:r>
                      <a:endParaRPr lang="zh-CN" altLang="en-US" sz="60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60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</a:rPr>
                        <a:t>数据驱动决策</a:t>
                      </a:r>
                      <a:endParaRPr lang="zh-CN" altLang="en-US" sz="60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</a:endParaRPr>
                    </a:p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60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</a:rPr>
                        <a:t>精准营销增收</a:t>
                      </a:r>
                      <a:endParaRPr lang="zh-CN" altLang="en-US" sz="60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49885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>
                        <a:latin typeface="微软雅黑" charset="0"/>
                        <a:ea typeface="微软雅黑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600">
                          <a:latin typeface="微软雅黑" charset="0"/>
                          <a:ea typeface="微软雅黑" charset="0"/>
                        </a:rPr>
                        <a:t>沉浸式体验技术</a:t>
                      </a:r>
                      <a:endParaRPr lang="zh-CN" altLang="en-US" sz="600">
                        <a:latin typeface="微软雅黑" charset="0"/>
                        <a:ea typeface="微软雅黑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60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</a:rPr>
                        <a:t>虚拟访问</a:t>
                      </a:r>
                      <a:endParaRPr lang="zh-CN" altLang="en-US" sz="60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</a:endParaRPr>
                    </a:p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60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</a:rPr>
                        <a:t>减轻实地压力</a:t>
                      </a:r>
                      <a:endParaRPr lang="zh-CN" altLang="en-US" sz="60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60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</a:rPr>
                        <a:t>数字产品创新</a:t>
                      </a:r>
                      <a:endParaRPr lang="zh-CN" altLang="en-US" sz="60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</a:endParaRPr>
                    </a:p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60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</a:rPr>
                        <a:t>拓展收入渠道</a:t>
                      </a:r>
                      <a:endParaRPr lang="zh-CN" altLang="en-US" sz="60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17" name="圆角矩形 316"/>
          <p:cNvSpPr/>
          <p:nvPr/>
        </p:nvSpPr>
        <p:spPr>
          <a:xfrm>
            <a:off x="2826385" y="5332095"/>
            <a:ext cx="1290955" cy="219710"/>
          </a:xfrm>
          <a:prstGeom prst="round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solidFill>
                  <a:schemeClr val="tx1"/>
                </a:solidFill>
                <a:latin typeface="微软雅黑" charset="0"/>
                <a:ea typeface="微软雅黑" charset="0"/>
              </a:rPr>
              <a:t>数字基础设施支持政策</a:t>
            </a:r>
            <a:endParaRPr lang="zh-CN" altLang="en-US" sz="800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18" name="圆角矩形 317"/>
          <p:cNvSpPr/>
          <p:nvPr/>
        </p:nvSpPr>
        <p:spPr>
          <a:xfrm>
            <a:off x="4166870" y="5331778"/>
            <a:ext cx="1381760" cy="219710"/>
          </a:xfrm>
          <a:prstGeom prst="round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solidFill>
                  <a:schemeClr val="tx1"/>
                </a:solidFill>
                <a:latin typeface="微软雅黑" charset="0"/>
                <a:ea typeface="微软雅黑" charset="0"/>
              </a:rPr>
              <a:t>数字技能培训与能力建设</a:t>
            </a:r>
            <a:endParaRPr lang="zh-CN" altLang="en-US" sz="800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19" name="圆角矩形 318"/>
          <p:cNvSpPr/>
          <p:nvPr/>
        </p:nvSpPr>
        <p:spPr>
          <a:xfrm>
            <a:off x="5598160" y="5331460"/>
            <a:ext cx="1342390" cy="220345"/>
          </a:xfrm>
          <a:prstGeom prst="round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solidFill>
                  <a:schemeClr val="tx1"/>
                </a:solidFill>
                <a:latin typeface="微软雅黑" charset="0"/>
                <a:ea typeface="微软雅黑" charset="0"/>
              </a:rPr>
              <a:t>数字生态旅游标准体系</a:t>
            </a:r>
            <a:endParaRPr lang="zh-CN" altLang="en-US" sz="800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graphicFrame>
        <p:nvGraphicFramePr>
          <p:cNvPr id="320" name="表格 319"/>
          <p:cNvGraphicFramePr/>
          <p:nvPr>
            <p:custDataLst>
              <p:tags r:id="rId2"/>
            </p:custDataLst>
          </p:nvPr>
        </p:nvGraphicFramePr>
        <p:xfrm>
          <a:off x="4663440" y="2993460"/>
          <a:ext cx="2251075" cy="11887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721995"/>
                <a:gridCol w="356235"/>
                <a:gridCol w="407035"/>
                <a:gridCol w="401955"/>
                <a:gridCol w="363855"/>
              </a:tblGrid>
              <a:tr h="2743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600">
                          <a:latin typeface="微软雅黑" charset="0"/>
                          <a:ea typeface="微软雅黑" charset="0"/>
                        </a:rPr>
                        <a:t>数字技术</a:t>
                      </a:r>
                      <a:endParaRPr lang="zh-CN" altLang="en-US" sz="600">
                        <a:latin typeface="微软雅黑" charset="0"/>
                        <a:ea typeface="微软雅黑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600">
                          <a:latin typeface="微软雅黑" charset="0"/>
                          <a:ea typeface="微软雅黑" charset="0"/>
                        </a:rPr>
                        <a:t>应用</a:t>
                      </a:r>
                      <a:endParaRPr lang="zh-CN" altLang="en-US" sz="600">
                        <a:latin typeface="微软雅黑" charset="0"/>
                        <a:ea typeface="微软雅黑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600">
                          <a:latin typeface="微软雅黑" charset="0"/>
                          <a:ea typeface="微软雅黑" charset="0"/>
                        </a:rPr>
                        <a:t>效率提升</a:t>
                      </a:r>
                      <a:endParaRPr lang="zh-CN" altLang="en-US" sz="600">
                        <a:latin typeface="微软雅黑" charset="0"/>
                        <a:ea typeface="微软雅黑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600">
                          <a:latin typeface="微软雅黑" charset="0"/>
                          <a:ea typeface="微软雅黑" charset="0"/>
                        </a:rPr>
                        <a:t>收入增加</a:t>
                      </a:r>
                      <a:endParaRPr lang="zh-CN" altLang="en-US" sz="600">
                        <a:latin typeface="微软雅黑" charset="0"/>
                        <a:ea typeface="微软雅黑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600">
                          <a:latin typeface="微软雅黑" charset="0"/>
                          <a:ea typeface="微软雅黑" charset="0"/>
                        </a:rPr>
                        <a:t>游客体验</a:t>
                      </a:r>
                      <a:endParaRPr lang="zh-CN" altLang="en-US" sz="600">
                        <a:latin typeface="微软雅黑" charset="0"/>
                        <a:ea typeface="微软雅黑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600">
                          <a:latin typeface="微软雅黑" charset="0"/>
                          <a:ea typeface="微软雅黑" charset="0"/>
                        </a:rPr>
                        <a:t>社区参与</a:t>
                      </a:r>
                      <a:endParaRPr lang="zh-CN" altLang="en-US" sz="600">
                        <a:latin typeface="微软雅黑" charset="0"/>
                        <a:ea typeface="微软雅黑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1828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600">
                          <a:latin typeface="微软雅黑" charset="0"/>
                          <a:ea typeface="微软雅黑" charset="0"/>
                        </a:rPr>
                        <a:t>智能游客管理</a:t>
                      </a:r>
                      <a:endParaRPr lang="zh-CN" altLang="en-US" sz="600">
                        <a:latin typeface="微软雅黑" charset="0"/>
                        <a:ea typeface="微软雅黑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600">
                        <a:latin typeface="微软雅黑" charset="0"/>
                        <a:ea typeface="微软雅黑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600">
                        <a:latin typeface="微软雅黑" charset="0"/>
                        <a:ea typeface="微软雅黑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600">
                        <a:latin typeface="微软雅黑" charset="0"/>
                        <a:ea typeface="微软雅黑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600">
                        <a:latin typeface="微软雅黑" charset="0"/>
                        <a:ea typeface="微软雅黑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828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600">
                          <a:latin typeface="微软雅黑" charset="0"/>
                          <a:ea typeface="微软雅黑" charset="0"/>
                        </a:rPr>
                        <a:t>数据驱动营销</a:t>
                      </a:r>
                      <a:endParaRPr lang="zh-CN" altLang="en-US" sz="600">
                        <a:latin typeface="微软雅黑" charset="0"/>
                        <a:ea typeface="微软雅黑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600">
                        <a:latin typeface="微软雅黑" charset="0"/>
                        <a:ea typeface="微软雅黑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600">
                        <a:latin typeface="微软雅黑" charset="0"/>
                        <a:ea typeface="微软雅黑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600">
                        <a:latin typeface="微软雅黑" charset="0"/>
                        <a:ea typeface="微软雅黑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600">
                        <a:latin typeface="微软雅黑" charset="0"/>
                        <a:ea typeface="微软雅黑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574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6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AR/VR</a:t>
                      </a:r>
                      <a:r>
                        <a:rPr lang="zh-CN" altLang="en-US" sz="6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体验</a:t>
                      </a:r>
                      <a:endParaRPr lang="zh-CN" altLang="en-US" sz="6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600">
                        <a:latin typeface="微软雅黑" charset="0"/>
                        <a:ea typeface="微软雅黑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600">
                        <a:latin typeface="微软雅黑" charset="0"/>
                        <a:ea typeface="微软雅黑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600">
                        <a:latin typeface="微软雅黑" charset="0"/>
                        <a:ea typeface="微软雅黑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600">
                        <a:latin typeface="微软雅黑" charset="0"/>
                        <a:ea typeface="微软雅黑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828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600">
                          <a:latin typeface="微软雅黑" charset="0"/>
                          <a:ea typeface="微软雅黑" charset="0"/>
                        </a:rPr>
                        <a:t>区块链溯源</a:t>
                      </a:r>
                      <a:endParaRPr lang="zh-CN" altLang="en-US" sz="600">
                        <a:latin typeface="微软雅黑" charset="0"/>
                        <a:ea typeface="微软雅黑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600">
                        <a:latin typeface="微软雅黑" charset="0"/>
                        <a:ea typeface="微软雅黑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600">
                        <a:latin typeface="微软雅黑" charset="0"/>
                        <a:ea typeface="微软雅黑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600">
                        <a:latin typeface="微软雅黑" charset="0"/>
                        <a:ea typeface="微软雅黑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600">
                        <a:latin typeface="微软雅黑" charset="0"/>
                        <a:ea typeface="微软雅黑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828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600">
                          <a:latin typeface="微软雅黑" charset="0"/>
                          <a:ea typeface="微软雅黑" charset="0"/>
                        </a:rPr>
                        <a:t>智能调度系统</a:t>
                      </a:r>
                      <a:endParaRPr lang="zh-CN" altLang="en-US" sz="600">
                        <a:latin typeface="微软雅黑" charset="0"/>
                        <a:ea typeface="微软雅黑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600">
                        <a:latin typeface="微软雅黑" charset="0"/>
                        <a:ea typeface="微软雅黑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600">
                        <a:latin typeface="微软雅黑" charset="0"/>
                        <a:ea typeface="微软雅黑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600">
                        <a:latin typeface="微软雅黑" charset="0"/>
                        <a:ea typeface="微软雅黑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600">
                        <a:latin typeface="微软雅黑" charset="0"/>
                        <a:ea typeface="微软雅黑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21" name="圆角矩形 320"/>
          <p:cNvSpPr/>
          <p:nvPr/>
        </p:nvSpPr>
        <p:spPr>
          <a:xfrm>
            <a:off x="531495" y="1121410"/>
            <a:ext cx="631825" cy="203200"/>
          </a:xfrm>
          <a:prstGeom prst="round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solidFill>
                  <a:schemeClr val="tx1"/>
                </a:solidFill>
                <a:latin typeface="微软雅黑" charset="0"/>
                <a:ea typeface="微软雅黑" charset="0"/>
              </a:rPr>
              <a:t>监测技术</a:t>
            </a:r>
            <a:endParaRPr lang="zh-CN" altLang="en-US" sz="800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22" name="圆角矩形 321"/>
          <p:cNvSpPr/>
          <p:nvPr/>
        </p:nvSpPr>
        <p:spPr>
          <a:xfrm>
            <a:off x="1203960" y="1121410"/>
            <a:ext cx="728980" cy="203835"/>
          </a:xfrm>
          <a:prstGeom prst="round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solidFill>
                  <a:schemeClr val="tx1"/>
                </a:solidFill>
                <a:latin typeface="微软雅黑" charset="0"/>
                <a:ea typeface="微软雅黑" charset="0"/>
              </a:rPr>
              <a:t>数据平台</a:t>
            </a:r>
            <a:endParaRPr lang="zh-CN" altLang="en-US" sz="800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23" name="圆角矩形 322"/>
          <p:cNvSpPr/>
          <p:nvPr/>
        </p:nvSpPr>
        <p:spPr>
          <a:xfrm>
            <a:off x="1965325" y="1121410"/>
            <a:ext cx="632460" cy="203200"/>
          </a:xfrm>
          <a:prstGeom prst="round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solidFill>
                  <a:schemeClr val="tx1"/>
                </a:solidFill>
                <a:latin typeface="微软雅黑" charset="0"/>
                <a:ea typeface="微软雅黑" charset="0"/>
              </a:rPr>
              <a:t>智能应用</a:t>
            </a:r>
            <a:endParaRPr lang="zh-CN" altLang="en-US" sz="800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24" name="文本框 323"/>
          <p:cNvSpPr txBox="1"/>
          <p:nvPr/>
        </p:nvSpPr>
        <p:spPr>
          <a:xfrm>
            <a:off x="1888490" y="2809240"/>
            <a:ext cx="81407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800">
                <a:latin typeface="微软雅黑" charset="0"/>
                <a:ea typeface="微软雅黑" charset="0"/>
              </a:rPr>
              <a:t>需求</a:t>
            </a:r>
            <a:r>
              <a:rPr lang="zh-CN" altLang="en-US" sz="800">
                <a:latin typeface="微软雅黑" charset="0"/>
                <a:ea typeface="微软雅黑" charset="0"/>
              </a:rPr>
              <a:t>分析</a:t>
            </a:r>
            <a:endParaRPr lang="zh-CN" altLang="en-US" sz="800">
              <a:latin typeface="微软雅黑" charset="0"/>
              <a:ea typeface="微软雅黑" charset="0"/>
            </a:endParaRPr>
          </a:p>
        </p:txBody>
      </p:sp>
      <p:sp>
        <p:nvSpPr>
          <p:cNvPr id="325" name="文本框 324"/>
          <p:cNvSpPr txBox="1"/>
          <p:nvPr/>
        </p:nvSpPr>
        <p:spPr>
          <a:xfrm>
            <a:off x="1888490" y="3181350"/>
            <a:ext cx="81407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800">
                <a:latin typeface="微软雅黑" charset="0"/>
                <a:ea typeface="微软雅黑" charset="0"/>
              </a:rPr>
              <a:t>架构</a:t>
            </a:r>
            <a:r>
              <a:rPr lang="zh-CN" altLang="en-US" sz="800">
                <a:latin typeface="微软雅黑" charset="0"/>
                <a:ea typeface="微软雅黑" charset="0"/>
              </a:rPr>
              <a:t>设计</a:t>
            </a:r>
            <a:endParaRPr lang="zh-CN" altLang="en-US" sz="800">
              <a:latin typeface="微软雅黑" charset="0"/>
              <a:ea typeface="微软雅黑" charset="0"/>
            </a:endParaRPr>
          </a:p>
        </p:txBody>
      </p:sp>
      <p:sp>
        <p:nvSpPr>
          <p:cNvPr id="326" name="文本框 325"/>
          <p:cNvSpPr txBox="1"/>
          <p:nvPr/>
        </p:nvSpPr>
        <p:spPr>
          <a:xfrm>
            <a:off x="1888490" y="3553460"/>
            <a:ext cx="81407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800">
                <a:latin typeface="微软雅黑" charset="0"/>
                <a:ea typeface="微软雅黑" charset="0"/>
              </a:rPr>
              <a:t>系统</a:t>
            </a:r>
            <a:r>
              <a:rPr lang="zh-CN" altLang="en-US" sz="800">
                <a:latin typeface="微软雅黑" charset="0"/>
                <a:ea typeface="微软雅黑" charset="0"/>
              </a:rPr>
              <a:t>整合</a:t>
            </a:r>
            <a:endParaRPr lang="zh-CN" altLang="en-US" sz="800">
              <a:latin typeface="微软雅黑" charset="0"/>
              <a:ea typeface="微软雅黑" charset="0"/>
            </a:endParaRPr>
          </a:p>
        </p:txBody>
      </p:sp>
      <p:sp>
        <p:nvSpPr>
          <p:cNvPr id="327" name="文本框 326"/>
          <p:cNvSpPr txBox="1"/>
          <p:nvPr/>
        </p:nvSpPr>
        <p:spPr>
          <a:xfrm>
            <a:off x="1888490" y="3925570"/>
            <a:ext cx="81407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800">
                <a:latin typeface="微软雅黑" charset="0"/>
                <a:ea typeface="微软雅黑" charset="0"/>
              </a:rPr>
              <a:t>验证</a:t>
            </a:r>
            <a:r>
              <a:rPr lang="zh-CN" altLang="en-US" sz="800">
                <a:latin typeface="微软雅黑" charset="0"/>
                <a:ea typeface="微软雅黑" charset="0"/>
              </a:rPr>
              <a:t>优化</a:t>
            </a:r>
            <a:endParaRPr lang="zh-CN" altLang="en-US" sz="800">
              <a:latin typeface="微软雅黑" charset="0"/>
              <a:ea typeface="微软雅黑" charset="0"/>
            </a:endParaRPr>
          </a:p>
        </p:txBody>
      </p:sp>
      <p:sp>
        <p:nvSpPr>
          <p:cNvPr id="328" name="圆角矩形 327"/>
          <p:cNvSpPr/>
          <p:nvPr/>
        </p:nvSpPr>
        <p:spPr>
          <a:xfrm>
            <a:off x="535940" y="5334635"/>
            <a:ext cx="2096770" cy="213995"/>
          </a:xfrm>
          <a:prstGeom prst="round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solidFill>
                  <a:schemeClr val="tx1"/>
                </a:solidFill>
                <a:latin typeface="微软雅黑" charset="0"/>
                <a:ea typeface="微软雅黑" charset="0"/>
              </a:rPr>
              <a:t>成功案例导向的实施路径与最佳实践总结</a:t>
            </a:r>
            <a:endParaRPr lang="zh-CN" altLang="en-US" sz="800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29" name="圆角矩形 328"/>
          <p:cNvSpPr/>
          <p:nvPr/>
        </p:nvSpPr>
        <p:spPr>
          <a:xfrm>
            <a:off x="2745740" y="4495235"/>
            <a:ext cx="4264660" cy="1116000"/>
          </a:xfrm>
          <a:prstGeom prst="roundRect">
            <a:avLst>
              <a:gd name="adj" fmla="val 6642"/>
            </a:avLst>
          </a:prstGeom>
          <a:noFill/>
          <a:ln w="12700" cmpd="sng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 b="1">
              <a:solidFill>
                <a:schemeClr val="tx1"/>
              </a:solidFill>
              <a:latin typeface="微软雅黑" charset="0"/>
              <a:ea typeface="微软雅黑" charset="0"/>
              <a:sym typeface="+mn-ea"/>
            </a:endParaRPr>
          </a:p>
        </p:txBody>
      </p:sp>
      <p:sp>
        <p:nvSpPr>
          <p:cNvPr id="330" name="圆角矩形 329"/>
          <p:cNvSpPr/>
          <p:nvPr/>
        </p:nvSpPr>
        <p:spPr>
          <a:xfrm>
            <a:off x="2750820" y="2284800"/>
            <a:ext cx="4264660" cy="2094230"/>
          </a:xfrm>
          <a:prstGeom prst="roundRect">
            <a:avLst>
              <a:gd name="adj" fmla="val 6642"/>
            </a:avLst>
          </a:prstGeom>
          <a:noFill/>
          <a:ln w="12700" cmpd="sng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 b="1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31" name="圆角矩形 330"/>
          <p:cNvSpPr/>
          <p:nvPr/>
        </p:nvSpPr>
        <p:spPr>
          <a:xfrm>
            <a:off x="474345" y="113100"/>
            <a:ext cx="2192020" cy="2094230"/>
          </a:xfrm>
          <a:prstGeom prst="roundRect">
            <a:avLst>
              <a:gd name="adj" fmla="val 6642"/>
            </a:avLst>
          </a:prstGeom>
          <a:noFill/>
          <a:ln w="12700" cmpd="sng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 b="1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32" name="圆角矩形 331"/>
          <p:cNvSpPr/>
          <p:nvPr/>
        </p:nvSpPr>
        <p:spPr>
          <a:xfrm>
            <a:off x="499745" y="4507865"/>
            <a:ext cx="2192020" cy="1103630"/>
          </a:xfrm>
          <a:prstGeom prst="roundRect">
            <a:avLst>
              <a:gd name="adj" fmla="val 6642"/>
            </a:avLst>
          </a:prstGeom>
          <a:noFill/>
          <a:ln w="12700" cmpd="sng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 b="1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33" name="右箭头 332"/>
          <p:cNvSpPr/>
          <p:nvPr/>
        </p:nvSpPr>
        <p:spPr>
          <a:xfrm>
            <a:off x="2632710" y="1121480"/>
            <a:ext cx="144000" cy="165100"/>
          </a:xfrm>
          <a:prstGeom prst="rightArrow">
            <a:avLst/>
          </a:prstGeom>
          <a:gradFill>
            <a:gsLst>
              <a:gs pos="0">
                <a:schemeClr val="bg1"/>
              </a:gs>
              <a:gs pos="45000">
                <a:schemeClr val="bg1">
                  <a:lumMod val="95000"/>
                </a:schemeClr>
              </a:gs>
              <a:gs pos="100000">
                <a:schemeClr val="bg1">
                  <a:lumMod val="50000"/>
                </a:schemeClr>
              </a:gs>
            </a:gsLst>
            <a:lin ang="0" scaled="0"/>
          </a:gradFill>
          <a:ln w="158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5" name="右箭头 334"/>
          <p:cNvSpPr/>
          <p:nvPr/>
        </p:nvSpPr>
        <p:spPr>
          <a:xfrm>
            <a:off x="2656205" y="4960055"/>
            <a:ext cx="144000" cy="165100"/>
          </a:xfrm>
          <a:prstGeom prst="rightArrow">
            <a:avLst/>
          </a:prstGeom>
          <a:gradFill>
            <a:gsLst>
              <a:gs pos="0">
                <a:schemeClr val="bg1"/>
              </a:gs>
              <a:gs pos="45000">
                <a:schemeClr val="bg1">
                  <a:lumMod val="95000"/>
                </a:schemeClr>
              </a:gs>
              <a:gs pos="100000">
                <a:schemeClr val="bg1">
                  <a:lumMod val="50000"/>
                </a:schemeClr>
              </a:gs>
            </a:gsLst>
            <a:lin ang="0" scaled="0"/>
          </a:gradFill>
          <a:ln w="158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36" name="直接箭头连接符 335"/>
          <p:cNvCxnSpPr>
            <a:stCxn id="321" idx="2"/>
            <a:endCxn id="288" idx="0"/>
          </p:cNvCxnSpPr>
          <p:nvPr/>
        </p:nvCxnSpPr>
        <p:spPr>
          <a:xfrm flipH="1">
            <a:off x="842645" y="1324680"/>
            <a:ext cx="5080" cy="121920"/>
          </a:xfrm>
          <a:prstGeom prst="straightConnector1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直接箭头连接符 336"/>
          <p:cNvCxnSpPr/>
          <p:nvPr/>
        </p:nvCxnSpPr>
        <p:spPr>
          <a:xfrm>
            <a:off x="1546860" y="1324610"/>
            <a:ext cx="0" cy="123825"/>
          </a:xfrm>
          <a:prstGeom prst="straightConnector1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直接箭头连接符 337"/>
          <p:cNvCxnSpPr>
            <a:stCxn id="323" idx="2"/>
          </p:cNvCxnSpPr>
          <p:nvPr/>
        </p:nvCxnSpPr>
        <p:spPr>
          <a:xfrm>
            <a:off x="2281555" y="1324610"/>
            <a:ext cx="0" cy="111125"/>
          </a:xfrm>
          <a:prstGeom prst="straightConnector1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9" name="组合 338"/>
          <p:cNvGrpSpPr/>
          <p:nvPr/>
        </p:nvGrpSpPr>
        <p:grpSpPr>
          <a:xfrm>
            <a:off x="2282190" y="3023235"/>
            <a:ext cx="0" cy="902335"/>
            <a:chOff x="3275" y="4761"/>
            <a:chExt cx="0" cy="1421"/>
          </a:xfrm>
          <a:noFill/>
        </p:grpSpPr>
        <p:cxnSp>
          <p:nvCxnSpPr>
            <p:cNvPr id="340" name="直接箭头连接符 339"/>
            <p:cNvCxnSpPr>
              <a:stCxn id="324" idx="2"/>
              <a:endCxn id="325" idx="0"/>
            </p:cNvCxnSpPr>
            <p:nvPr/>
          </p:nvCxnSpPr>
          <p:spPr>
            <a:xfrm>
              <a:off x="3275" y="4761"/>
              <a:ext cx="0" cy="249"/>
            </a:xfrm>
            <a:prstGeom prst="straightConnector1">
              <a:avLst/>
            </a:prstGeom>
            <a:grpFill/>
            <a:ln w="3175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1" name="直接箭头连接符 340"/>
            <p:cNvCxnSpPr>
              <a:stCxn id="325" idx="2"/>
              <a:endCxn id="326" idx="0"/>
            </p:cNvCxnSpPr>
            <p:nvPr/>
          </p:nvCxnSpPr>
          <p:spPr>
            <a:xfrm>
              <a:off x="3275" y="5347"/>
              <a:ext cx="0" cy="249"/>
            </a:xfrm>
            <a:prstGeom prst="straightConnector1">
              <a:avLst/>
            </a:prstGeom>
            <a:grpFill/>
            <a:ln w="3175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直接箭头连接符 341"/>
            <p:cNvCxnSpPr>
              <a:stCxn id="326" idx="2"/>
              <a:endCxn id="327" idx="0"/>
            </p:cNvCxnSpPr>
            <p:nvPr/>
          </p:nvCxnSpPr>
          <p:spPr>
            <a:xfrm>
              <a:off x="3275" y="5933"/>
              <a:ext cx="0" cy="249"/>
            </a:xfrm>
            <a:prstGeom prst="straightConnector1">
              <a:avLst/>
            </a:prstGeom>
            <a:grpFill/>
            <a:ln w="3175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3" name="五边形 342"/>
          <p:cNvSpPr/>
          <p:nvPr/>
        </p:nvSpPr>
        <p:spPr>
          <a:xfrm>
            <a:off x="191135" y="2363470"/>
            <a:ext cx="245110" cy="1850390"/>
          </a:xfrm>
          <a:prstGeom prst="homePlat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00" b="1">
                <a:solidFill>
                  <a:schemeClr val="tx1"/>
                </a:solidFill>
                <a:latin typeface="微软雅黑" charset="0"/>
                <a:ea typeface="微软雅黑" charset="0"/>
              </a:rPr>
              <a:t>方法</a:t>
            </a:r>
            <a:endParaRPr lang="zh-CN" altLang="en-US" sz="900" b="1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44" name="对角圆角矩形 343"/>
          <p:cNvSpPr/>
          <p:nvPr/>
        </p:nvSpPr>
        <p:spPr>
          <a:xfrm>
            <a:off x="2792730" y="193110"/>
            <a:ext cx="330200" cy="312420"/>
          </a:xfrm>
          <a:prstGeom prst="round2DiagRect">
            <a:avLst/>
          </a:prstGeom>
          <a:noFill/>
          <a:ln w="158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/>
                </a:solidFill>
                <a:latin typeface="微软雅黑" charset="0"/>
                <a:ea typeface="微软雅黑" charset="0"/>
              </a:rPr>
              <a:t>一</a:t>
            </a:r>
            <a:endParaRPr lang="zh-CN" altLang="en-US" sz="1000" b="1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45" name="对角圆角矩形 344"/>
          <p:cNvSpPr/>
          <p:nvPr/>
        </p:nvSpPr>
        <p:spPr>
          <a:xfrm>
            <a:off x="2809875" y="2364175"/>
            <a:ext cx="330200" cy="312420"/>
          </a:xfrm>
          <a:prstGeom prst="round2Diag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/>
                </a:solidFill>
                <a:latin typeface="微软雅黑" charset="0"/>
                <a:ea typeface="微软雅黑" charset="0"/>
              </a:rPr>
              <a:t>二</a:t>
            </a:r>
            <a:endParaRPr lang="zh-CN" altLang="en-US" sz="1000" b="1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46" name="对角圆角矩形 345"/>
          <p:cNvSpPr/>
          <p:nvPr/>
        </p:nvSpPr>
        <p:spPr>
          <a:xfrm>
            <a:off x="2826385" y="4585405"/>
            <a:ext cx="330200" cy="312420"/>
          </a:xfrm>
          <a:prstGeom prst="round2Diag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/>
                </a:solidFill>
                <a:latin typeface="微软雅黑" charset="0"/>
                <a:ea typeface="微软雅黑" charset="0"/>
              </a:rPr>
              <a:t>三</a:t>
            </a:r>
            <a:endParaRPr lang="zh-CN" altLang="en-US" sz="1000" b="1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cxnSp>
        <p:nvCxnSpPr>
          <p:cNvPr id="347" name="直接连接符 346"/>
          <p:cNvCxnSpPr/>
          <p:nvPr/>
        </p:nvCxnSpPr>
        <p:spPr>
          <a:xfrm>
            <a:off x="3031490" y="3213170"/>
            <a:ext cx="0" cy="791210"/>
          </a:xfrm>
          <a:prstGeom prst="line">
            <a:avLst/>
          </a:prstGeom>
          <a:noFill/>
          <a:ln w="9525">
            <a:solidFill>
              <a:schemeClr val="tx1">
                <a:lumMod val="65000"/>
                <a:lumOff val="35000"/>
              </a:schemeClr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8" name="直接连接符 347"/>
          <p:cNvCxnSpPr/>
          <p:nvPr/>
        </p:nvCxnSpPr>
        <p:spPr>
          <a:xfrm flipH="1">
            <a:off x="3027680" y="4005650"/>
            <a:ext cx="1356360" cy="0"/>
          </a:xfrm>
          <a:prstGeom prst="line">
            <a:avLst/>
          </a:prstGeom>
          <a:noFill/>
          <a:ln w="9525">
            <a:solidFill>
              <a:schemeClr val="tx1">
                <a:lumMod val="65000"/>
                <a:lumOff val="3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9" name="文本框 348"/>
          <p:cNvSpPr txBox="1"/>
          <p:nvPr/>
        </p:nvSpPr>
        <p:spPr>
          <a:xfrm>
            <a:off x="2880360" y="3059430"/>
            <a:ext cx="657860" cy="1835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600">
                <a:latin typeface="微软雅黑" charset="0"/>
                <a:ea typeface="微软雅黑" charset="0"/>
              </a:rPr>
              <a:t>环境保护</a:t>
            </a:r>
            <a:r>
              <a:rPr lang="zh-CN" altLang="en-US" sz="600">
                <a:latin typeface="微软雅黑" charset="0"/>
                <a:ea typeface="微软雅黑" charset="0"/>
              </a:rPr>
              <a:t>效果</a:t>
            </a:r>
            <a:endParaRPr lang="zh-CN" altLang="en-US" sz="600">
              <a:latin typeface="微软雅黑" charset="0"/>
              <a:ea typeface="微软雅黑" charset="0"/>
            </a:endParaRPr>
          </a:p>
        </p:txBody>
      </p:sp>
      <p:sp>
        <p:nvSpPr>
          <p:cNvPr id="350" name="文本框 349"/>
          <p:cNvSpPr txBox="1"/>
          <p:nvPr/>
        </p:nvSpPr>
        <p:spPr>
          <a:xfrm>
            <a:off x="4020185" y="4010025"/>
            <a:ext cx="588010" cy="1835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600">
                <a:latin typeface="微软雅黑" charset="0"/>
                <a:ea typeface="微软雅黑" charset="0"/>
              </a:rPr>
              <a:t>数字化</a:t>
            </a:r>
            <a:r>
              <a:rPr lang="zh-CN" altLang="en-US" sz="600">
                <a:latin typeface="微软雅黑" charset="0"/>
                <a:ea typeface="微软雅黑" charset="0"/>
              </a:rPr>
              <a:t>程度</a:t>
            </a:r>
            <a:endParaRPr lang="zh-CN" altLang="en-US" sz="600">
              <a:latin typeface="微软雅黑" charset="0"/>
              <a:ea typeface="微软雅黑" charset="0"/>
            </a:endParaRPr>
          </a:p>
        </p:txBody>
      </p:sp>
      <p:sp>
        <p:nvSpPr>
          <p:cNvPr id="351" name="任意多边形 350"/>
          <p:cNvSpPr/>
          <p:nvPr/>
        </p:nvSpPr>
        <p:spPr>
          <a:xfrm>
            <a:off x="3030855" y="3332480"/>
            <a:ext cx="1283970" cy="348615"/>
          </a:xfrm>
          <a:custGeom>
            <a:avLst/>
            <a:gdLst>
              <a:gd name="connsiteX0" fmla="*/ 0 w 2022"/>
              <a:gd name="connsiteY0" fmla="*/ 549 h 549"/>
              <a:gd name="connsiteX1" fmla="*/ 894 w 2022"/>
              <a:gd name="connsiteY1" fmla="*/ 139 h 549"/>
              <a:gd name="connsiteX2" fmla="*/ 2022 w 2022"/>
              <a:gd name="connsiteY2" fmla="*/ 0 h 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22" h="549">
                <a:moveTo>
                  <a:pt x="0" y="549"/>
                </a:moveTo>
                <a:cubicBezTo>
                  <a:pt x="156" y="475"/>
                  <a:pt x="488" y="297"/>
                  <a:pt x="894" y="139"/>
                </a:cubicBezTo>
                <a:cubicBezTo>
                  <a:pt x="1301" y="-18"/>
                  <a:pt x="1735" y="88"/>
                  <a:pt x="2022" y="0"/>
                </a:cubicBezTo>
              </a:path>
            </a:pathLst>
          </a:cu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2" name="任意多边形 351"/>
          <p:cNvSpPr/>
          <p:nvPr/>
        </p:nvSpPr>
        <p:spPr>
          <a:xfrm>
            <a:off x="3034665" y="3478902"/>
            <a:ext cx="1286510" cy="360494"/>
          </a:xfrm>
          <a:custGeom>
            <a:avLst/>
            <a:gdLst>
              <a:gd name="connsiteX0" fmla="*/ 0 w 2026"/>
              <a:gd name="connsiteY0" fmla="*/ 568 h 567"/>
              <a:gd name="connsiteX1" fmla="*/ 1313 w 2026"/>
              <a:gd name="connsiteY1" fmla="*/ 53 h 567"/>
              <a:gd name="connsiteX2" fmla="*/ 2026 w 2026"/>
              <a:gd name="connsiteY2" fmla="*/ 15 h 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26" h="568">
                <a:moveTo>
                  <a:pt x="0" y="568"/>
                </a:moveTo>
                <a:cubicBezTo>
                  <a:pt x="219" y="482"/>
                  <a:pt x="969" y="154"/>
                  <a:pt x="1313" y="53"/>
                </a:cubicBezTo>
                <a:cubicBezTo>
                  <a:pt x="1657" y="-48"/>
                  <a:pt x="1901" y="30"/>
                  <a:pt x="2026" y="15"/>
                </a:cubicBezTo>
              </a:path>
            </a:pathLst>
          </a:cu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3" name="任意多边形 352"/>
          <p:cNvSpPr/>
          <p:nvPr/>
        </p:nvSpPr>
        <p:spPr>
          <a:xfrm>
            <a:off x="3034030" y="3681800"/>
            <a:ext cx="1290320" cy="322580"/>
          </a:xfrm>
          <a:custGeom>
            <a:avLst/>
            <a:gdLst>
              <a:gd name="connsiteX0" fmla="*/ 0 w 2032"/>
              <a:gd name="connsiteY0" fmla="*/ 508 h 508"/>
              <a:gd name="connsiteX1" fmla="*/ 2032 w 2032"/>
              <a:gd name="connsiteY1" fmla="*/ 0 h 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32" h="508">
                <a:moveTo>
                  <a:pt x="0" y="508"/>
                </a:moveTo>
                <a:cubicBezTo>
                  <a:pt x="400" y="411"/>
                  <a:pt x="1032" y="106"/>
                  <a:pt x="2032" y="0"/>
                </a:cubicBezTo>
              </a:path>
            </a:pathLst>
          </a:cu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4" name="文本框 353"/>
          <p:cNvSpPr txBox="1"/>
          <p:nvPr/>
        </p:nvSpPr>
        <p:spPr>
          <a:xfrm>
            <a:off x="2910205" y="4115435"/>
            <a:ext cx="1600835" cy="1682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500">
                <a:latin typeface="微软雅黑" charset="0"/>
                <a:ea typeface="微软雅黑" charset="0"/>
              </a:rPr>
              <a:t>承载力优化</a:t>
            </a:r>
            <a:r>
              <a:rPr lang="en-US" altLang="zh-CN" sz="500">
                <a:latin typeface="微软雅黑" charset="0"/>
                <a:ea typeface="微软雅黑" charset="0"/>
              </a:rPr>
              <a:t>        </a:t>
            </a:r>
            <a:r>
              <a:rPr lang="zh-CN" altLang="en-US" sz="500">
                <a:latin typeface="微软雅黑" charset="0"/>
                <a:ea typeface="微软雅黑" charset="0"/>
              </a:rPr>
              <a:t>游客行为引导</a:t>
            </a:r>
            <a:r>
              <a:rPr lang="en-US" altLang="zh-CN" sz="500">
                <a:latin typeface="微软雅黑" charset="0"/>
                <a:ea typeface="微软雅黑" charset="0"/>
              </a:rPr>
              <a:t>        </a:t>
            </a:r>
            <a:r>
              <a:rPr lang="zh-CN" altLang="en-US" sz="500">
                <a:latin typeface="微软雅黑" charset="0"/>
                <a:ea typeface="微软雅黑" charset="0"/>
              </a:rPr>
              <a:t>资源</a:t>
            </a:r>
            <a:r>
              <a:rPr lang="zh-CN" altLang="en-US" sz="500">
                <a:latin typeface="微软雅黑" charset="0"/>
                <a:ea typeface="微软雅黑" charset="0"/>
              </a:rPr>
              <a:t>保护</a:t>
            </a:r>
            <a:endParaRPr lang="zh-CN" altLang="en-US" sz="500">
              <a:latin typeface="微软雅黑" charset="0"/>
              <a:ea typeface="微软雅黑" charset="0"/>
            </a:endParaRPr>
          </a:p>
        </p:txBody>
      </p:sp>
      <p:sp>
        <p:nvSpPr>
          <p:cNvPr id="355" name="椭圆 354"/>
          <p:cNvSpPr/>
          <p:nvPr/>
        </p:nvSpPr>
        <p:spPr>
          <a:xfrm>
            <a:off x="2950210" y="4178370"/>
            <a:ext cx="36000" cy="3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6" name="椭圆 355"/>
          <p:cNvSpPr/>
          <p:nvPr/>
        </p:nvSpPr>
        <p:spPr>
          <a:xfrm>
            <a:off x="3440430" y="4178370"/>
            <a:ext cx="36000" cy="3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7" name="椭圆 356"/>
          <p:cNvSpPr/>
          <p:nvPr/>
        </p:nvSpPr>
        <p:spPr>
          <a:xfrm>
            <a:off x="3987165" y="4178370"/>
            <a:ext cx="36000" cy="3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8" name="文本框 357"/>
          <p:cNvSpPr txBox="1"/>
          <p:nvPr/>
        </p:nvSpPr>
        <p:spPr>
          <a:xfrm>
            <a:off x="3683635" y="3256280"/>
            <a:ext cx="631190" cy="1835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600">
                <a:solidFill>
                  <a:schemeClr val="tx1">
                    <a:lumMod val="65000"/>
                    <a:lumOff val="35000"/>
                  </a:schemeClr>
                </a:solidFill>
                <a:latin typeface="微软雅黑" charset="0"/>
                <a:ea typeface="微软雅黑" charset="0"/>
              </a:rPr>
              <a:t>数字优化</a:t>
            </a:r>
            <a:r>
              <a:rPr lang="zh-CN" altLang="en-US" sz="600">
                <a:solidFill>
                  <a:schemeClr val="tx1">
                    <a:lumMod val="65000"/>
                    <a:lumOff val="35000"/>
                  </a:schemeClr>
                </a:solidFill>
                <a:latin typeface="微软雅黑" charset="0"/>
                <a:ea typeface="微软雅黑" charset="0"/>
              </a:rPr>
              <a:t>点</a:t>
            </a:r>
            <a:endParaRPr lang="zh-CN" altLang="en-US" sz="600">
              <a:solidFill>
                <a:schemeClr val="tx1">
                  <a:lumMod val="65000"/>
                  <a:lumOff val="35000"/>
                </a:schemeClr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59" name="文本框 358"/>
          <p:cNvSpPr txBox="1"/>
          <p:nvPr/>
        </p:nvSpPr>
        <p:spPr>
          <a:xfrm>
            <a:off x="433070" y="1477010"/>
            <a:ext cx="814070" cy="6502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700">
                <a:latin typeface="微软雅黑" charset="0"/>
                <a:ea typeface="微软雅黑" charset="0"/>
                <a:sym typeface="+mn-ea"/>
              </a:rPr>
              <a:t>IoT传感器网络</a:t>
            </a:r>
            <a:endParaRPr lang="zh-CN" altLang="en-US" sz="700">
              <a:solidFill>
                <a:schemeClr val="tx1"/>
              </a:solidFill>
              <a:latin typeface="微软雅黑" charset="0"/>
              <a:ea typeface="微软雅黑" charset="0"/>
            </a:endParaRPr>
          </a:p>
          <a:p>
            <a:pPr algn="ctr">
              <a:lnSpc>
                <a:spcPct val="130000"/>
              </a:lnSpc>
            </a:pPr>
            <a:r>
              <a:rPr lang="zh-CN" altLang="en-US" sz="700">
                <a:latin typeface="微软雅黑" charset="0"/>
                <a:ea typeface="微软雅黑" charset="0"/>
                <a:sym typeface="+mn-ea"/>
              </a:rPr>
              <a:t>环境监测系统</a:t>
            </a:r>
            <a:endParaRPr lang="zh-CN" altLang="en-US" sz="700">
              <a:solidFill>
                <a:schemeClr val="tx1"/>
              </a:solidFill>
              <a:latin typeface="微软雅黑" charset="0"/>
              <a:ea typeface="微软雅黑" charset="0"/>
            </a:endParaRPr>
          </a:p>
          <a:p>
            <a:pPr algn="ctr">
              <a:lnSpc>
                <a:spcPct val="130000"/>
              </a:lnSpc>
            </a:pPr>
            <a:r>
              <a:rPr lang="zh-CN" altLang="en-US" sz="700">
                <a:latin typeface="微软雅黑" charset="0"/>
                <a:ea typeface="微软雅黑" charset="0"/>
                <a:sym typeface="+mn-ea"/>
              </a:rPr>
              <a:t>遥感与GIS技术</a:t>
            </a:r>
            <a:endParaRPr lang="zh-CN" altLang="en-US" sz="700">
              <a:solidFill>
                <a:schemeClr val="tx1"/>
              </a:solidFill>
              <a:latin typeface="微软雅黑" charset="0"/>
              <a:ea typeface="微软雅黑" charset="0"/>
            </a:endParaRPr>
          </a:p>
          <a:p>
            <a:pPr algn="ctr">
              <a:lnSpc>
                <a:spcPct val="130000"/>
              </a:lnSpc>
            </a:pPr>
            <a:r>
              <a:rPr lang="zh-CN" altLang="en-US" sz="700">
                <a:latin typeface="微软雅黑" charset="0"/>
                <a:ea typeface="微软雅黑" charset="0"/>
                <a:sym typeface="+mn-ea"/>
              </a:rPr>
              <a:t>生态实时监测</a:t>
            </a:r>
            <a:endParaRPr lang="zh-CN" altLang="en-US" sz="700">
              <a:latin typeface="微软雅黑" charset="0"/>
              <a:ea typeface="微软雅黑" charset="0"/>
            </a:endParaRPr>
          </a:p>
        </p:txBody>
      </p:sp>
      <p:sp>
        <p:nvSpPr>
          <p:cNvPr id="360" name="文本框 359"/>
          <p:cNvSpPr txBox="1"/>
          <p:nvPr/>
        </p:nvSpPr>
        <p:spPr>
          <a:xfrm>
            <a:off x="1153160" y="1480820"/>
            <a:ext cx="814070" cy="6064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20000"/>
              </a:lnSpc>
            </a:pPr>
            <a:r>
              <a:rPr lang="zh-CN" altLang="en-US" sz="700">
                <a:latin typeface="微软雅黑" charset="0"/>
                <a:ea typeface="微软雅黑" charset="0"/>
                <a:sym typeface="+mn-ea"/>
              </a:rPr>
              <a:t>云数据平台</a:t>
            </a:r>
            <a:endParaRPr lang="zh-CN" altLang="en-US" sz="700">
              <a:solidFill>
                <a:schemeClr val="tx1"/>
              </a:solidFill>
              <a:latin typeface="微软雅黑" charset="0"/>
              <a:ea typeface="微软雅黑" charset="0"/>
            </a:endParaRPr>
          </a:p>
          <a:p>
            <a:pPr algn="ctr">
              <a:lnSpc>
                <a:spcPct val="120000"/>
              </a:lnSpc>
            </a:pPr>
            <a:r>
              <a:rPr lang="zh-CN" altLang="en-US" sz="700">
                <a:latin typeface="微软雅黑" charset="0"/>
                <a:ea typeface="微软雅黑" charset="0"/>
                <a:sym typeface="+mn-ea"/>
              </a:rPr>
              <a:t>游客流量分析</a:t>
            </a:r>
            <a:endParaRPr lang="zh-CN" altLang="en-US" sz="700">
              <a:solidFill>
                <a:schemeClr val="tx1"/>
              </a:solidFill>
              <a:latin typeface="微软雅黑" charset="0"/>
              <a:ea typeface="微软雅黑" charset="0"/>
            </a:endParaRPr>
          </a:p>
          <a:p>
            <a:pPr algn="ctr">
              <a:lnSpc>
                <a:spcPct val="120000"/>
              </a:lnSpc>
            </a:pPr>
            <a:r>
              <a:rPr lang="zh-CN" altLang="en-US" sz="700">
                <a:latin typeface="微软雅黑" charset="0"/>
                <a:ea typeface="微软雅黑" charset="0"/>
                <a:sym typeface="+mn-ea"/>
              </a:rPr>
              <a:t>大数据决策支持</a:t>
            </a:r>
            <a:endParaRPr lang="zh-CN" altLang="en-US" sz="700">
              <a:solidFill>
                <a:schemeClr val="tx1"/>
              </a:solidFill>
              <a:latin typeface="微软雅黑" charset="0"/>
              <a:ea typeface="微软雅黑" charset="0"/>
            </a:endParaRPr>
          </a:p>
          <a:p>
            <a:pPr algn="ctr">
              <a:lnSpc>
                <a:spcPct val="120000"/>
              </a:lnSpc>
            </a:pPr>
            <a:r>
              <a:rPr lang="zh-CN" altLang="en-US" sz="700">
                <a:latin typeface="微软雅黑" charset="0"/>
                <a:ea typeface="微软雅黑" charset="0"/>
                <a:sym typeface="+mn-ea"/>
              </a:rPr>
              <a:t>区块链溯源系统</a:t>
            </a:r>
            <a:endParaRPr lang="zh-CN" altLang="en-US" sz="700">
              <a:latin typeface="微软雅黑" charset="0"/>
              <a:ea typeface="微软雅黑" charset="0"/>
            </a:endParaRPr>
          </a:p>
        </p:txBody>
      </p:sp>
      <p:sp>
        <p:nvSpPr>
          <p:cNvPr id="361" name="文本框 360"/>
          <p:cNvSpPr txBox="1"/>
          <p:nvPr/>
        </p:nvSpPr>
        <p:spPr>
          <a:xfrm>
            <a:off x="1877060" y="1480820"/>
            <a:ext cx="814070" cy="6064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20000"/>
              </a:lnSpc>
            </a:pPr>
            <a:r>
              <a:rPr lang="zh-CN" altLang="en-US" sz="700">
                <a:latin typeface="微软雅黑" charset="0"/>
                <a:ea typeface="微软雅黑" charset="0"/>
                <a:sym typeface="+mn-ea"/>
              </a:rPr>
              <a:t>AR/VR体验应用</a:t>
            </a:r>
            <a:endParaRPr lang="zh-CN" altLang="en-US" sz="700">
              <a:solidFill>
                <a:schemeClr val="tx1"/>
              </a:solidFill>
              <a:latin typeface="微软雅黑" charset="0"/>
              <a:ea typeface="微软雅黑" charset="0"/>
            </a:endParaRPr>
          </a:p>
          <a:p>
            <a:pPr algn="ctr">
              <a:lnSpc>
                <a:spcPct val="120000"/>
              </a:lnSpc>
            </a:pPr>
            <a:r>
              <a:rPr lang="zh-CN" altLang="en-US" sz="700">
                <a:latin typeface="微软雅黑" charset="0"/>
                <a:ea typeface="微软雅黑" charset="0"/>
                <a:sym typeface="+mn-ea"/>
              </a:rPr>
              <a:t>智能预约系统</a:t>
            </a:r>
            <a:endParaRPr lang="zh-CN" altLang="en-US" sz="700">
              <a:solidFill>
                <a:schemeClr val="tx1"/>
              </a:solidFill>
              <a:latin typeface="微软雅黑" charset="0"/>
              <a:ea typeface="微软雅黑" charset="0"/>
            </a:endParaRPr>
          </a:p>
          <a:p>
            <a:pPr algn="ctr">
              <a:lnSpc>
                <a:spcPct val="120000"/>
              </a:lnSpc>
            </a:pPr>
            <a:r>
              <a:rPr lang="zh-CN" altLang="en-US" sz="700">
                <a:latin typeface="微软雅黑" charset="0"/>
                <a:ea typeface="微软雅黑" charset="0"/>
                <a:sym typeface="+mn-ea"/>
              </a:rPr>
              <a:t>个性化路线规划</a:t>
            </a:r>
            <a:endParaRPr lang="zh-CN" altLang="en-US" sz="700">
              <a:solidFill>
                <a:schemeClr val="tx1"/>
              </a:solidFill>
              <a:latin typeface="微软雅黑" charset="0"/>
              <a:ea typeface="微软雅黑" charset="0"/>
            </a:endParaRPr>
          </a:p>
          <a:p>
            <a:pPr algn="ctr">
              <a:lnSpc>
                <a:spcPct val="120000"/>
              </a:lnSpc>
            </a:pPr>
            <a:r>
              <a:rPr lang="zh-CN" altLang="en-US" sz="700">
                <a:latin typeface="微软雅黑" charset="0"/>
                <a:ea typeface="微软雅黑" charset="0"/>
                <a:sym typeface="+mn-ea"/>
              </a:rPr>
              <a:t>生态教育应用</a:t>
            </a:r>
            <a:endParaRPr lang="zh-CN" altLang="en-US" sz="700">
              <a:latin typeface="微软雅黑" charset="0"/>
              <a:ea typeface="微软雅黑" charset="0"/>
            </a:endParaRPr>
          </a:p>
        </p:txBody>
      </p:sp>
      <p:grpSp>
        <p:nvGrpSpPr>
          <p:cNvPr id="362" name="组合 361"/>
          <p:cNvGrpSpPr/>
          <p:nvPr/>
        </p:nvGrpSpPr>
        <p:grpSpPr>
          <a:xfrm>
            <a:off x="2805430" y="933450"/>
            <a:ext cx="1747520" cy="1160145"/>
            <a:chOff x="4098" y="1470"/>
            <a:chExt cx="2752" cy="1827"/>
          </a:xfrm>
          <a:noFill/>
        </p:grpSpPr>
        <p:sp>
          <p:nvSpPr>
            <p:cNvPr id="363" name="文本框 362"/>
            <p:cNvSpPr txBox="1"/>
            <p:nvPr/>
          </p:nvSpPr>
          <p:spPr>
            <a:xfrm>
              <a:off x="4861" y="1470"/>
              <a:ext cx="1183" cy="313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p>
              <a:pPr algn="ctr"/>
              <a:r>
                <a:rPr lang="zh-CN" altLang="en-US" sz="700">
                  <a:latin typeface="微软雅黑" charset="0"/>
                  <a:ea typeface="微软雅黑" charset="0"/>
                </a:rPr>
                <a:t>生态保护</a:t>
              </a:r>
              <a:endParaRPr lang="zh-CN" altLang="en-US" sz="700">
                <a:latin typeface="微软雅黑" charset="0"/>
                <a:ea typeface="微软雅黑" charset="0"/>
              </a:endParaRPr>
            </a:p>
          </p:txBody>
        </p:sp>
        <p:sp>
          <p:nvSpPr>
            <p:cNvPr id="364" name="文本框 363"/>
            <p:cNvSpPr txBox="1"/>
            <p:nvPr/>
          </p:nvSpPr>
          <p:spPr>
            <a:xfrm>
              <a:off x="4098" y="2984"/>
              <a:ext cx="926" cy="313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p>
              <a:pPr algn="ctr"/>
              <a:r>
                <a:rPr lang="zh-CN" altLang="en-US" sz="700">
                  <a:latin typeface="微软雅黑" charset="0"/>
                  <a:ea typeface="微软雅黑" charset="0"/>
                </a:rPr>
                <a:t>经济</a:t>
              </a:r>
              <a:r>
                <a:rPr lang="zh-CN" altLang="en-US" sz="700">
                  <a:latin typeface="微软雅黑" charset="0"/>
                  <a:ea typeface="微软雅黑" charset="0"/>
                </a:rPr>
                <a:t>效益</a:t>
              </a:r>
              <a:endParaRPr lang="zh-CN" altLang="en-US" sz="700">
                <a:latin typeface="微软雅黑" charset="0"/>
                <a:ea typeface="微软雅黑" charset="0"/>
              </a:endParaRPr>
            </a:p>
          </p:txBody>
        </p:sp>
        <p:sp>
          <p:nvSpPr>
            <p:cNvPr id="365" name="文本框 364"/>
            <p:cNvSpPr txBox="1"/>
            <p:nvPr/>
          </p:nvSpPr>
          <p:spPr>
            <a:xfrm>
              <a:off x="5925" y="2984"/>
              <a:ext cx="925" cy="313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p>
              <a:pPr algn="ctr"/>
              <a:r>
                <a:rPr lang="zh-CN" altLang="en-US" sz="700">
                  <a:latin typeface="微软雅黑" charset="0"/>
                  <a:ea typeface="微软雅黑" charset="0"/>
                </a:rPr>
                <a:t>社会</a:t>
              </a:r>
              <a:r>
                <a:rPr lang="zh-CN" altLang="en-US" sz="700">
                  <a:latin typeface="微软雅黑" charset="0"/>
                  <a:ea typeface="微软雅黑" charset="0"/>
                </a:rPr>
                <a:t>包容</a:t>
              </a:r>
              <a:endParaRPr lang="zh-CN" altLang="en-US" sz="700">
                <a:latin typeface="微软雅黑" charset="0"/>
                <a:ea typeface="微软雅黑" charset="0"/>
              </a:endParaRPr>
            </a:p>
          </p:txBody>
        </p:sp>
        <p:grpSp>
          <p:nvGrpSpPr>
            <p:cNvPr id="366" name="组合 365"/>
            <p:cNvGrpSpPr/>
            <p:nvPr/>
          </p:nvGrpSpPr>
          <p:grpSpPr>
            <a:xfrm>
              <a:off x="4326" y="1761"/>
              <a:ext cx="2254" cy="1203"/>
              <a:chOff x="4326" y="1761"/>
              <a:chExt cx="2254" cy="1203"/>
            </a:xfrm>
            <a:grpFill/>
          </p:grpSpPr>
          <p:sp>
            <p:nvSpPr>
              <p:cNvPr id="367" name="等腰三角形 366"/>
              <p:cNvSpPr/>
              <p:nvPr/>
            </p:nvSpPr>
            <p:spPr>
              <a:xfrm>
                <a:off x="4575" y="1820"/>
                <a:ext cx="1736" cy="1144"/>
              </a:xfrm>
              <a:prstGeom prst="triangle">
                <a:avLst/>
              </a:prstGeom>
              <a:grpFill/>
              <a:ln>
                <a:gradFill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68" name="椭圆 367"/>
              <p:cNvSpPr/>
              <p:nvPr/>
            </p:nvSpPr>
            <p:spPr>
              <a:xfrm>
                <a:off x="5278" y="2150"/>
                <a:ext cx="329" cy="729"/>
              </a:xfrm>
              <a:prstGeom prst="ellipse">
                <a:avLst/>
              </a:prstGeom>
              <a:grpFill/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600">
                    <a:solidFill>
                      <a:schemeClr val="tx1"/>
                    </a:solidFill>
                    <a:latin typeface="微软雅黑" charset="0"/>
                    <a:ea typeface="微软雅黑" charset="0"/>
                  </a:rPr>
                  <a:t>数字</a:t>
                </a:r>
                <a:endParaRPr lang="zh-CN" altLang="en-US" sz="600">
                  <a:solidFill>
                    <a:schemeClr val="tx1"/>
                  </a:solidFill>
                  <a:latin typeface="微软雅黑" charset="0"/>
                  <a:ea typeface="微软雅黑" charset="0"/>
                </a:endParaRPr>
              </a:p>
              <a:p>
                <a:pPr algn="ctr"/>
                <a:r>
                  <a:rPr lang="zh-CN" altLang="en-US" sz="600">
                    <a:solidFill>
                      <a:schemeClr val="tx1"/>
                    </a:solidFill>
                    <a:latin typeface="微软雅黑" charset="0"/>
                    <a:ea typeface="微软雅黑" charset="0"/>
                  </a:rPr>
                  <a:t>整合</a:t>
                </a:r>
                <a:endParaRPr lang="zh-CN" altLang="en-US" sz="600">
                  <a:solidFill>
                    <a:schemeClr val="tx1"/>
                  </a:solidFill>
                  <a:latin typeface="微软雅黑" charset="0"/>
                  <a:ea typeface="微软雅黑" charset="0"/>
                </a:endParaRPr>
              </a:p>
            </p:txBody>
          </p:sp>
          <p:sp>
            <p:nvSpPr>
              <p:cNvPr id="369" name="椭圆 368"/>
              <p:cNvSpPr/>
              <p:nvPr/>
            </p:nvSpPr>
            <p:spPr>
              <a:xfrm>
                <a:off x="4326" y="2537"/>
                <a:ext cx="816" cy="227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600">
                    <a:solidFill>
                      <a:schemeClr val="tx1"/>
                    </a:solidFill>
                    <a:latin typeface="微软雅黑" charset="0"/>
                    <a:ea typeface="微软雅黑" charset="0"/>
                  </a:rPr>
                  <a:t>分析</a:t>
                </a:r>
                <a:endParaRPr lang="zh-CN" altLang="en-US" sz="600">
                  <a:solidFill>
                    <a:schemeClr val="tx1"/>
                  </a:solidFill>
                  <a:latin typeface="微软雅黑" charset="0"/>
                  <a:ea typeface="微软雅黑" charset="0"/>
                </a:endParaRPr>
              </a:p>
            </p:txBody>
          </p:sp>
          <p:sp>
            <p:nvSpPr>
              <p:cNvPr id="370" name="椭圆 369"/>
              <p:cNvSpPr/>
              <p:nvPr/>
            </p:nvSpPr>
            <p:spPr>
              <a:xfrm>
                <a:off x="5054" y="1761"/>
                <a:ext cx="794" cy="227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600">
                    <a:solidFill>
                      <a:schemeClr val="tx1"/>
                    </a:solidFill>
                    <a:latin typeface="微软雅黑" charset="0"/>
                    <a:ea typeface="微软雅黑" charset="0"/>
                    <a:sym typeface="+mn-ea"/>
                  </a:rPr>
                  <a:t>监测</a:t>
                </a:r>
                <a:endParaRPr lang="zh-CN" altLang="en-US" sz="600">
                  <a:solidFill>
                    <a:schemeClr val="tx1"/>
                  </a:solidFill>
                  <a:latin typeface="微软雅黑" charset="0"/>
                  <a:ea typeface="微软雅黑" charset="0"/>
                  <a:sym typeface="+mn-ea"/>
                </a:endParaRPr>
              </a:p>
            </p:txBody>
          </p:sp>
          <p:sp>
            <p:nvSpPr>
              <p:cNvPr id="371" name="椭圆 370"/>
              <p:cNvSpPr/>
              <p:nvPr/>
            </p:nvSpPr>
            <p:spPr>
              <a:xfrm>
                <a:off x="5786" y="2537"/>
                <a:ext cx="794" cy="227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600">
                    <a:solidFill>
                      <a:schemeClr val="tx1"/>
                    </a:solidFill>
                    <a:latin typeface="微软雅黑" charset="0"/>
                    <a:ea typeface="微软雅黑" charset="0"/>
                    <a:sym typeface="+mn-ea"/>
                  </a:rPr>
                  <a:t>管理</a:t>
                </a:r>
                <a:endParaRPr lang="zh-CN" altLang="en-US" sz="600">
                  <a:solidFill>
                    <a:schemeClr val="tx1"/>
                  </a:solidFill>
                  <a:latin typeface="微软雅黑" charset="0"/>
                  <a:ea typeface="微软雅黑" charset="0"/>
                  <a:sym typeface="+mn-ea"/>
                </a:endParaRPr>
              </a:p>
            </p:txBody>
          </p:sp>
        </p:grpSp>
      </p:grpSp>
      <p:sp>
        <p:nvSpPr>
          <p:cNvPr id="372" name="文本框 371"/>
          <p:cNvSpPr txBox="1"/>
          <p:nvPr/>
        </p:nvSpPr>
        <p:spPr>
          <a:xfrm>
            <a:off x="4947920" y="2776220"/>
            <a:ext cx="175133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800" b="1">
                <a:latin typeface="微软雅黑" charset="0"/>
                <a:ea typeface="微软雅黑" charset="0"/>
              </a:rPr>
              <a:t>经济社会</a:t>
            </a:r>
            <a:r>
              <a:rPr lang="zh-CN" altLang="en-US" sz="800" b="1">
                <a:latin typeface="微软雅黑" charset="0"/>
                <a:ea typeface="微软雅黑" charset="0"/>
              </a:rPr>
              <a:t>效益分析</a:t>
            </a:r>
            <a:endParaRPr lang="zh-CN" altLang="en-US" sz="800" b="1">
              <a:latin typeface="微软雅黑" charset="0"/>
              <a:ea typeface="微软雅黑" charset="0"/>
            </a:endParaRPr>
          </a:p>
        </p:txBody>
      </p:sp>
      <p:sp>
        <p:nvSpPr>
          <p:cNvPr id="373" name="椭圆 372"/>
          <p:cNvSpPr/>
          <p:nvPr/>
        </p:nvSpPr>
        <p:spPr>
          <a:xfrm>
            <a:off x="3916045" y="3403670"/>
            <a:ext cx="36000" cy="3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374" name="组合 373"/>
          <p:cNvGrpSpPr/>
          <p:nvPr/>
        </p:nvGrpSpPr>
        <p:grpSpPr>
          <a:xfrm>
            <a:off x="5479415" y="3303270"/>
            <a:ext cx="1318895" cy="836295"/>
            <a:chOff x="8320" y="5212"/>
            <a:chExt cx="2077" cy="1317"/>
          </a:xfrm>
          <a:noFill/>
        </p:grpSpPr>
        <p:grpSp>
          <p:nvGrpSpPr>
            <p:cNvPr id="375" name="组合 374"/>
            <p:cNvGrpSpPr/>
            <p:nvPr/>
          </p:nvGrpSpPr>
          <p:grpSpPr>
            <a:xfrm>
              <a:off x="8364" y="5212"/>
              <a:ext cx="135" cy="158"/>
              <a:chOff x="8364" y="5212"/>
              <a:chExt cx="135" cy="158"/>
            </a:xfrm>
            <a:grpFill/>
          </p:grpSpPr>
          <p:cxnSp>
            <p:nvCxnSpPr>
              <p:cNvPr id="376" name="直接箭头连接符 375"/>
              <p:cNvCxnSpPr/>
              <p:nvPr/>
            </p:nvCxnSpPr>
            <p:spPr>
              <a:xfrm flipV="1">
                <a:off x="8364" y="5212"/>
                <a:ext cx="0" cy="159"/>
              </a:xfrm>
              <a:prstGeom prst="straightConnector1">
                <a:avLst/>
              </a:prstGeom>
              <a:grpFill/>
              <a:ln w="6350" cap="rnd">
                <a:solidFill>
                  <a:schemeClr val="bg1">
                    <a:lumMod val="50000"/>
                  </a:schemeClr>
                </a:solidFill>
                <a:round/>
                <a:tailEnd type="arrow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7" name="直接箭头连接符 376"/>
              <p:cNvCxnSpPr/>
              <p:nvPr/>
            </p:nvCxnSpPr>
            <p:spPr>
              <a:xfrm flipV="1">
                <a:off x="8499" y="5212"/>
                <a:ext cx="0" cy="159"/>
              </a:xfrm>
              <a:prstGeom prst="straightConnector1">
                <a:avLst/>
              </a:prstGeom>
              <a:grpFill/>
              <a:ln w="6350" cap="rnd">
                <a:solidFill>
                  <a:schemeClr val="bg1">
                    <a:lumMod val="50000"/>
                  </a:schemeClr>
                </a:solidFill>
                <a:round/>
                <a:tailEnd type="arrow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78" name="组合 377"/>
            <p:cNvGrpSpPr/>
            <p:nvPr/>
          </p:nvGrpSpPr>
          <p:grpSpPr>
            <a:xfrm>
              <a:off x="8951" y="5488"/>
              <a:ext cx="135" cy="158"/>
              <a:chOff x="8364" y="5212"/>
              <a:chExt cx="135" cy="158"/>
            </a:xfrm>
            <a:grpFill/>
          </p:grpSpPr>
          <p:cxnSp>
            <p:nvCxnSpPr>
              <p:cNvPr id="379" name="直接箭头连接符 378"/>
              <p:cNvCxnSpPr/>
              <p:nvPr/>
            </p:nvCxnSpPr>
            <p:spPr>
              <a:xfrm flipV="1">
                <a:off x="8364" y="5212"/>
                <a:ext cx="0" cy="159"/>
              </a:xfrm>
              <a:prstGeom prst="straightConnector1">
                <a:avLst/>
              </a:prstGeom>
              <a:grpFill/>
              <a:ln w="6350" cap="rnd">
                <a:solidFill>
                  <a:schemeClr val="bg1">
                    <a:lumMod val="50000"/>
                  </a:schemeClr>
                </a:solidFill>
                <a:round/>
                <a:tailEnd type="arrow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0" name="直接箭头连接符 379"/>
              <p:cNvCxnSpPr/>
              <p:nvPr/>
            </p:nvCxnSpPr>
            <p:spPr>
              <a:xfrm flipV="1">
                <a:off x="8499" y="5212"/>
                <a:ext cx="0" cy="159"/>
              </a:xfrm>
              <a:prstGeom prst="straightConnector1">
                <a:avLst/>
              </a:prstGeom>
              <a:grpFill/>
              <a:ln w="6350" cap="rnd">
                <a:solidFill>
                  <a:schemeClr val="bg1">
                    <a:lumMod val="50000"/>
                  </a:schemeClr>
                </a:solidFill>
                <a:round/>
                <a:tailEnd type="arrow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81" name="组合 380"/>
            <p:cNvGrpSpPr/>
            <p:nvPr/>
          </p:nvGrpSpPr>
          <p:grpSpPr>
            <a:xfrm>
              <a:off x="9578" y="5220"/>
              <a:ext cx="135" cy="158"/>
              <a:chOff x="8364" y="5212"/>
              <a:chExt cx="135" cy="158"/>
            </a:xfrm>
            <a:grpFill/>
          </p:grpSpPr>
          <p:cxnSp>
            <p:nvCxnSpPr>
              <p:cNvPr id="382" name="直接箭头连接符 381"/>
              <p:cNvCxnSpPr/>
              <p:nvPr/>
            </p:nvCxnSpPr>
            <p:spPr>
              <a:xfrm flipV="1">
                <a:off x="8364" y="5212"/>
                <a:ext cx="0" cy="159"/>
              </a:xfrm>
              <a:prstGeom prst="straightConnector1">
                <a:avLst/>
              </a:prstGeom>
              <a:grpFill/>
              <a:ln w="6350" cap="rnd">
                <a:solidFill>
                  <a:schemeClr val="bg1">
                    <a:lumMod val="50000"/>
                  </a:schemeClr>
                </a:solidFill>
                <a:round/>
                <a:tailEnd type="arrow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3" name="直接箭头连接符 382"/>
              <p:cNvCxnSpPr/>
              <p:nvPr/>
            </p:nvCxnSpPr>
            <p:spPr>
              <a:xfrm flipV="1">
                <a:off x="8499" y="5212"/>
                <a:ext cx="0" cy="159"/>
              </a:xfrm>
              <a:prstGeom prst="straightConnector1">
                <a:avLst/>
              </a:prstGeom>
              <a:grpFill/>
              <a:ln w="6350" cap="rnd">
                <a:solidFill>
                  <a:schemeClr val="bg1">
                    <a:lumMod val="50000"/>
                  </a:schemeClr>
                </a:solidFill>
                <a:round/>
                <a:tailEnd type="arrow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84" name="直接箭头连接符 383"/>
            <p:cNvCxnSpPr/>
            <p:nvPr/>
          </p:nvCxnSpPr>
          <p:spPr>
            <a:xfrm flipV="1">
              <a:off x="8429" y="5501"/>
              <a:ext cx="0" cy="159"/>
            </a:xfrm>
            <a:prstGeom prst="straightConnector1">
              <a:avLst/>
            </a:prstGeom>
            <a:grpFill/>
            <a:ln w="6350" cap="rnd">
              <a:solidFill>
                <a:schemeClr val="bg1">
                  <a:lumMod val="50000"/>
                </a:schemeClr>
              </a:solidFill>
              <a:round/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直接箭头连接符 384"/>
            <p:cNvCxnSpPr/>
            <p:nvPr/>
          </p:nvCxnSpPr>
          <p:spPr>
            <a:xfrm flipV="1">
              <a:off x="9019" y="5220"/>
              <a:ext cx="0" cy="159"/>
            </a:xfrm>
            <a:prstGeom prst="straightConnector1">
              <a:avLst/>
            </a:prstGeom>
            <a:grpFill/>
            <a:ln w="6350" cap="rnd">
              <a:solidFill>
                <a:schemeClr val="bg1">
                  <a:lumMod val="50000"/>
                </a:schemeClr>
              </a:solidFill>
              <a:round/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直接箭头连接符 385"/>
            <p:cNvCxnSpPr/>
            <p:nvPr/>
          </p:nvCxnSpPr>
          <p:spPr>
            <a:xfrm flipV="1">
              <a:off x="9050" y="5784"/>
              <a:ext cx="0" cy="159"/>
            </a:xfrm>
            <a:prstGeom prst="straightConnector1">
              <a:avLst/>
            </a:prstGeom>
            <a:grpFill/>
            <a:ln w="6350" cap="rnd">
              <a:solidFill>
                <a:schemeClr val="bg1">
                  <a:lumMod val="50000"/>
                </a:schemeClr>
              </a:solidFill>
              <a:round/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直接箭头连接符 386"/>
            <p:cNvCxnSpPr/>
            <p:nvPr/>
          </p:nvCxnSpPr>
          <p:spPr>
            <a:xfrm flipV="1">
              <a:off x="9635" y="5511"/>
              <a:ext cx="0" cy="159"/>
            </a:xfrm>
            <a:prstGeom prst="straightConnector1">
              <a:avLst/>
            </a:prstGeom>
            <a:grpFill/>
            <a:ln w="6350" cap="rnd">
              <a:solidFill>
                <a:schemeClr val="bg1">
                  <a:lumMod val="50000"/>
                </a:schemeClr>
              </a:solidFill>
              <a:round/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88" name="组合 387"/>
            <p:cNvGrpSpPr/>
            <p:nvPr/>
          </p:nvGrpSpPr>
          <p:grpSpPr>
            <a:xfrm>
              <a:off x="9518" y="5784"/>
              <a:ext cx="283" cy="163"/>
              <a:chOff x="9518" y="5784"/>
              <a:chExt cx="283" cy="163"/>
            </a:xfrm>
            <a:grpFill/>
          </p:grpSpPr>
          <p:cxnSp>
            <p:nvCxnSpPr>
              <p:cNvPr id="389" name="直接箭头连接符 388"/>
              <p:cNvCxnSpPr/>
              <p:nvPr/>
            </p:nvCxnSpPr>
            <p:spPr>
              <a:xfrm flipV="1">
                <a:off x="9518" y="5784"/>
                <a:ext cx="0" cy="159"/>
              </a:xfrm>
              <a:prstGeom prst="straightConnector1">
                <a:avLst/>
              </a:prstGeom>
              <a:grpFill/>
              <a:ln w="6350" cap="rnd">
                <a:solidFill>
                  <a:schemeClr val="bg1">
                    <a:lumMod val="50000"/>
                  </a:schemeClr>
                </a:solidFill>
                <a:round/>
                <a:tailEnd type="arrow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0" name="直接箭头连接符 389"/>
              <p:cNvCxnSpPr/>
              <p:nvPr/>
            </p:nvCxnSpPr>
            <p:spPr>
              <a:xfrm flipV="1">
                <a:off x="9653" y="5784"/>
                <a:ext cx="0" cy="159"/>
              </a:xfrm>
              <a:prstGeom prst="straightConnector1">
                <a:avLst/>
              </a:prstGeom>
              <a:grpFill/>
              <a:ln w="6350" cap="rnd">
                <a:solidFill>
                  <a:schemeClr val="bg1">
                    <a:lumMod val="50000"/>
                  </a:schemeClr>
                </a:solidFill>
                <a:round/>
                <a:tailEnd type="arrow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1" name="直接箭头连接符 390"/>
              <p:cNvCxnSpPr/>
              <p:nvPr/>
            </p:nvCxnSpPr>
            <p:spPr>
              <a:xfrm flipV="1">
                <a:off x="9801" y="5789"/>
                <a:ext cx="0" cy="159"/>
              </a:xfrm>
              <a:prstGeom prst="straightConnector1">
                <a:avLst/>
              </a:prstGeom>
              <a:grpFill/>
              <a:ln w="6350" cap="rnd">
                <a:solidFill>
                  <a:schemeClr val="bg1">
                    <a:lumMod val="50000"/>
                  </a:schemeClr>
                </a:solidFill>
                <a:round/>
                <a:tailEnd type="arrow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92" name="组合 391"/>
            <p:cNvGrpSpPr/>
            <p:nvPr/>
          </p:nvGrpSpPr>
          <p:grpSpPr>
            <a:xfrm>
              <a:off x="8320" y="6366"/>
              <a:ext cx="283" cy="163"/>
              <a:chOff x="9518" y="5784"/>
              <a:chExt cx="283" cy="163"/>
            </a:xfrm>
            <a:grpFill/>
          </p:grpSpPr>
          <p:cxnSp>
            <p:nvCxnSpPr>
              <p:cNvPr id="393" name="直接箭头连接符 392"/>
              <p:cNvCxnSpPr/>
              <p:nvPr/>
            </p:nvCxnSpPr>
            <p:spPr>
              <a:xfrm flipV="1">
                <a:off x="9518" y="5784"/>
                <a:ext cx="0" cy="159"/>
              </a:xfrm>
              <a:prstGeom prst="straightConnector1">
                <a:avLst/>
              </a:prstGeom>
              <a:grpFill/>
              <a:ln w="6350" cap="rnd">
                <a:solidFill>
                  <a:schemeClr val="bg1">
                    <a:lumMod val="50000"/>
                  </a:schemeClr>
                </a:solidFill>
                <a:round/>
                <a:tailEnd type="arrow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4" name="直接箭头连接符 393"/>
              <p:cNvCxnSpPr/>
              <p:nvPr/>
            </p:nvCxnSpPr>
            <p:spPr>
              <a:xfrm flipV="1">
                <a:off x="9653" y="5784"/>
                <a:ext cx="0" cy="159"/>
              </a:xfrm>
              <a:prstGeom prst="straightConnector1">
                <a:avLst/>
              </a:prstGeom>
              <a:grpFill/>
              <a:ln w="6350" cap="rnd">
                <a:solidFill>
                  <a:schemeClr val="bg1">
                    <a:lumMod val="50000"/>
                  </a:schemeClr>
                </a:solidFill>
                <a:round/>
                <a:tailEnd type="arrow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5" name="直接箭头连接符 394"/>
              <p:cNvCxnSpPr/>
              <p:nvPr/>
            </p:nvCxnSpPr>
            <p:spPr>
              <a:xfrm flipV="1">
                <a:off x="9801" y="5789"/>
                <a:ext cx="0" cy="159"/>
              </a:xfrm>
              <a:prstGeom prst="straightConnector1">
                <a:avLst/>
              </a:prstGeom>
              <a:grpFill/>
              <a:ln w="6350" cap="rnd">
                <a:solidFill>
                  <a:schemeClr val="bg1">
                    <a:lumMod val="50000"/>
                  </a:schemeClr>
                </a:solidFill>
                <a:round/>
                <a:tailEnd type="arrow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96" name="直接箭头连接符 395"/>
            <p:cNvCxnSpPr/>
            <p:nvPr/>
          </p:nvCxnSpPr>
          <p:spPr>
            <a:xfrm flipV="1">
              <a:off x="8437" y="6069"/>
              <a:ext cx="0" cy="159"/>
            </a:xfrm>
            <a:prstGeom prst="straightConnector1">
              <a:avLst/>
            </a:prstGeom>
            <a:grpFill/>
            <a:ln w="6350" cap="rnd">
              <a:solidFill>
                <a:schemeClr val="bg1">
                  <a:lumMod val="50000"/>
                </a:schemeClr>
              </a:solidFill>
              <a:round/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直接箭头连接符 396"/>
            <p:cNvCxnSpPr/>
            <p:nvPr/>
          </p:nvCxnSpPr>
          <p:spPr>
            <a:xfrm flipV="1">
              <a:off x="9053" y="6077"/>
              <a:ext cx="0" cy="159"/>
            </a:xfrm>
            <a:prstGeom prst="straightConnector1">
              <a:avLst/>
            </a:prstGeom>
            <a:grpFill/>
            <a:ln w="6350" cap="rnd">
              <a:solidFill>
                <a:schemeClr val="bg1">
                  <a:lumMod val="50000"/>
                </a:schemeClr>
              </a:solidFill>
              <a:round/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8" name="直接箭头连接符 397"/>
            <p:cNvCxnSpPr/>
            <p:nvPr/>
          </p:nvCxnSpPr>
          <p:spPr>
            <a:xfrm flipV="1">
              <a:off x="9669" y="6069"/>
              <a:ext cx="0" cy="159"/>
            </a:xfrm>
            <a:prstGeom prst="straightConnector1">
              <a:avLst/>
            </a:prstGeom>
            <a:grpFill/>
            <a:ln w="6350" cap="rnd">
              <a:solidFill>
                <a:schemeClr val="bg1">
                  <a:lumMod val="50000"/>
                </a:schemeClr>
              </a:solidFill>
              <a:round/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直接箭头连接符 398"/>
            <p:cNvCxnSpPr/>
            <p:nvPr/>
          </p:nvCxnSpPr>
          <p:spPr>
            <a:xfrm flipV="1">
              <a:off x="9677" y="6349"/>
              <a:ext cx="0" cy="159"/>
            </a:xfrm>
            <a:prstGeom prst="straightConnector1">
              <a:avLst/>
            </a:prstGeom>
            <a:grpFill/>
            <a:ln w="6350" cap="rnd">
              <a:solidFill>
                <a:schemeClr val="bg1">
                  <a:lumMod val="50000"/>
                </a:schemeClr>
              </a:solidFill>
              <a:round/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直接箭头连接符 399"/>
            <p:cNvCxnSpPr/>
            <p:nvPr/>
          </p:nvCxnSpPr>
          <p:spPr>
            <a:xfrm flipV="1">
              <a:off x="10309" y="6357"/>
              <a:ext cx="0" cy="159"/>
            </a:xfrm>
            <a:prstGeom prst="straightConnector1">
              <a:avLst/>
            </a:prstGeom>
            <a:grpFill/>
            <a:ln w="6350" cap="rnd">
              <a:solidFill>
                <a:schemeClr val="bg1">
                  <a:lumMod val="50000"/>
                </a:schemeClr>
              </a:solidFill>
              <a:round/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01" name="组合 400"/>
            <p:cNvGrpSpPr/>
            <p:nvPr/>
          </p:nvGrpSpPr>
          <p:grpSpPr>
            <a:xfrm>
              <a:off x="8959" y="6360"/>
              <a:ext cx="135" cy="158"/>
              <a:chOff x="8364" y="5212"/>
              <a:chExt cx="135" cy="158"/>
            </a:xfrm>
            <a:grpFill/>
          </p:grpSpPr>
          <p:cxnSp>
            <p:nvCxnSpPr>
              <p:cNvPr id="402" name="直接箭头连接符 401"/>
              <p:cNvCxnSpPr/>
              <p:nvPr/>
            </p:nvCxnSpPr>
            <p:spPr>
              <a:xfrm flipV="1">
                <a:off x="8364" y="5212"/>
                <a:ext cx="0" cy="159"/>
              </a:xfrm>
              <a:prstGeom prst="straightConnector1">
                <a:avLst/>
              </a:prstGeom>
              <a:grpFill/>
              <a:ln w="6350" cap="rnd">
                <a:solidFill>
                  <a:schemeClr val="bg1">
                    <a:lumMod val="50000"/>
                  </a:schemeClr>
                </a:solidFill>
                <a:round/>
                <a:tailEnd type="arrow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3" name="直接箭头连接符 402"/>
              <p:cNvCxnSpPr/>
              <p:nvPr/>
            </p:nvCxnSpPr>
            <p:spPr>
              <a:xfrm flipV="1">
                <a:off x="8499" y="5212"/>
                <a:ext cx="0" cy="159"/>
              </a:xfrm>
              <a:prstGeom prst="straightConnector1">
                <a:avLst/>
              </a:prstGeom>
              <a:grpFill/>
              <a:ln w="6350" cap="rnd">
                <a:solidFill>
                  <a:schemeClr val="bg1">
                    <a:lumMod val="50000"/>
                  </a:schemeClr>
                </a:solidFill>
                <a:round/>
                <a:tailEnd type="arrow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04" name="组合 403"/>
            <p:cNvGrpSpPr/>
            <p:nvPr/>
          </p:nvGrpSpPr>
          <p:grpSpPr>
            <a:xfrm>
              <a:off x="10231" y="6032"/>
              <a:ext cx="135" cy="158"/>
              <a:chOff x="8364" y="5212"/>
              <a:chExt cx="135" cy="158"/>
            </a:xfrm>
            <a:grpFill/>
          </p:grpSpPr>
          <p:cxnSp>
            <p:nvCxnSpPr>
              <p:cNvPr id="405" name="直接箭头连接符 404"/>
              <p:cNvCxnSpPr/>
              <p:nvPr/>
            </p:nvCxnSpPr>
            <p:spPr>
              <a:xfrm flipV="1">
                <a:off x="8364" y="5212"/>
                <a:ext cx="0" cy="159"/>
              </a:xfrm>
              <a:prstGeom prst="straightConnector1">
                <a:avLst/>
              </a:prstGeom>
              <a:grpFill/>
              <a:ln w="6350" cap="rnd">
                <a:solidFill>
                  <a:schemeClr val="bg1">
                    <a:lumMod val="50000"/>
                  </a:schemeClr>
                </a:solidFill>
                <a:round/>
                <a:tailEnd type="arrow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6" name="直接箭头连接符 405"/>
              <p:cNvCxnSpPr/>
              <p:nvPr/>
            </p:nvCxnSpPr>
            <p:spPr>
              <a:xfrm flipV="1">
                <a:off x="8499" y="5212"/>
                <a:ext cx="0" cy="159"/>
              </a:xfrm>
              <a:prstGeom prst="straightConnector1">
                <a:avLst/>
              </a:prstGeom>
              <a:grpFill/>
              <a:ln w="6350" cap="rnd">
                <a:solidFill>
                  <a:schemeClr val="bg1">
                    <a:lumMod val="50000"/>
                  </a:schemeClr>
                </a:solidFill>
                <a:round/>
                <a:tailEnd type="arrow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07" name="直接箭头连接符 406"/>
            <p:cNvCxnSpPr/>
            <p:nvPr/>
          </p:nvCxnSpPr>
          <p:spPr>
            <a:xfrm flipV="1">
              <a:off x="10285" y="5789"/>
              <a:ext cx="0" cy="159"/>
            </a:xfrm>
            <a:prstGeom prst="straightConnector1">
              <a:avLst/>
            </a:prstGeom>
            <a:grpFill/>
            <a:ln w="6350" cap="rnd">
              <a:solidFill>
                <a:schemeClr val="bg1">
                  <a:lumMod val="50000"/>
                </a:schemeClr>
              </a:solidFill>
              <a:round/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" name="直接箭头连接符 407"/>
            <p:cNvCxnSpPr/>
            <p:nvPr/>
          </p:nvCxnSpPr>
          <p:spPr>
            <a:xfrm rot="5400000" flipV="1">
              <a:off x="10313" y="5509"/>
              <a:ext cx="0" cy="159"/>
            </a:xfrm>
            <a:prstGeom prst="straightConnector1">
              <a:avLst/>
            </a:prstGeom>
            <a:grpFill/>
            <a:ln w="6350" cap="rnd">
              <a:solidFill>
                <a:schemeClr val="bg1">
                  <a:lumMod val="50000"/>
                </a:schemeClr>
              </a:solidFill>
              <a:round/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直接箭头连接符 408"/>
            <p:cNvCxnSpPr/>
            <p:nvPr/>
          </p:nvCxnSpPr>
          <p:spPr>
            <a:xfrm rot="5400000" flipV="1">
              <a:off x="10317" y="5220"/>
              <a:ext cx="0" cy="159"/>
            </a:xfrm>
            <a:prstGeom prst="straightConnector1">
              <a:avLst/>
            </a:prstGeom>
            <a:grpFill/>
            <a:ln w="6350" cap="rnd">
              <a:solidFill>
                <a:schemeClr val="bg1">
                  <a:lumMod val="50000"/>
                </a:schemeClr>
              </a:solidFill>
              <a:round/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直接箭头连接符 409"/>
            <p:cNvCxnSpPr/>
            <p:nvPr/>
          </p:nvCxnSpPr>
          <p:spPr>
            <a:xfrm rot="5400000" flipV="1">
              <a:off x="8419" y="5783"/>
              <a:ext cx="0" cy="159"/>
            </a:xfrm>
            <a:prstGeom prst="straightConnector1">
              <a:avLst/>
            </a:prstGeom>
            <a:grpFill/>
            <a:ln w="6350" cap="rnd">
              <a:solidFill>
                <a:schemeClr val="bg1">
                  <a:lumMod val="50000"/>
                </a:schemeClr>
              </a:solidFill>
              <a:round/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1" name="文本框 410"/>
          <p:cNvSpPr txBox="1"/>
          <p:nvPr/>
        </p:nvSpPr>
        <p:spPr>
          <a:xfrm>
            <a:off x="1268095" y="4963160"/>
            <a:ext cx="631190" cy="3270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10000"/>
              </a:lnSpc>
            </a:pPr>
            <a:r>
              <a:rPr lang="zh-CN" altLang="en-US" sz="700">
                <a:latin typeface="微软雅黑" charset="0"/>
                <a:ea typeface="微软雅黑" charset="0"/>
                <a:sym typeface="+mn-ea"/>
              </a:rPr>
              <a:t>世界遗产地</a:t>
            </a:r>
            <a:endParaRPr lang="zh-CN" altLang="en-US" sz="700">
              <a:solidFill>
                <a:schemeClr val="tx1"/>
              </a:solidFill>
              <a:latin typeface="微软雅黑" charset="0"/>
              <a:ea typeface="微软雅黑" charset="0"/>
            </a:endParaRPr>
          </a:p>
          <a:p>
            <a:pPr algn="ctr">
              <a:lnSpc>
                <a:spcPct val="110000"/>
              </a:lnSpc>
            </a:pPr>
            <a:r>
              <a:rPr lang="zh-CN" altLang="en-US" sz="700">
                <a:latin typeface="微软雅黑" charset="0"/>
                <a:ea typeface="微软雅黑" charset="0"/>
                <a:sym typeface="+mn-ea"/>
              </a:rPr>
              <a:t>虚拟旅游</a:t>
            </a:r>
            <a:endParaRPr lang="zh-CN" altLang="en-US" sz="700"/>
          </a:p>
        </p:txBody>
      </p:sp>
      <p:sp>
        <p:nvSpPr>
          <p:cNvPr id="334" name="右箭头 333"/>
          <p:cNvSpPr/>
          <p:nvPr/>
        </p:nvSpPr>
        <p:spPr>
          <a:xfrm>
            <a:off x="2656205" y="3319850"/>
            <a:ext cx="144000" cy="165100"/>
          </a:xfrm>
          <a:prstGeom prst="rightArrow">
            <a:avLst/>
          </a:prstGeom>
          <a:gradFill>
            <a:gsLst>
              <a:gs pos="0">
                <a:schemeClr val="bg1"/>
              </a:gs>
              <a:gs pos="45000">
                <a:schemeClr val="bg1">
                  <a:lumMod val="95000"/>
                </a:schemeClr>
              </a:gs>
              <a:gs pos="100000">
                <a:schemeClr val="bg1">
                  <a:lumMod val="50000"/>
                </a:schemeClr>
              </a:gs>
            </a:gsLst>
            <a:lin ang="0" scaled="0"/>
          </a:gradFill>
          <a:ln w="158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" name="直接箭头连接符 3"/>
          <p:cNvCxnSpPr>
            <a:stCxn id="308" idx="2"/>
            <a:endCxn id="317" idx="0"/>
          </p:cNvCxnSpPr>
          <p:nvPr/>
        </p:nvCxnSpPr>
        <p:spPr>
          <a:xfrm>
            <a:off x="3472180" y="5205095"/>
            <a:ext cx="0" cy="127000"/>
          </a:xfrm>
          <a:prstGeom prst="straightConnector1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箭头连接符 4"/>
          <p:cNvCxnSpPr>
            <a:stCxn id="309" idx="2"/>
            <a:endCxn id="318" idx="0"/>
          </p:cNvCxnSpPr>
          <p:nvPr/>
        </p:nvCxnSpPr>
        <p:spPr>
          <a:xfrm flipH="1">
            <a:off x="4857750" y="5205095"/>
            <a:ext cx="635" cy="127000"/>
          </a:xfrm>
          <a:prstGeom prst="straightConnector1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/>
          <p:cNvCxnSpPr>
            <a:stCxn id="310" idx="2"/>
            <a:endCxn id="319" idx="0"/>
          </p:cNvCxnSpPr>
          <p:nvPr/>
        </p:nvCxnSpPr>
        <p:spPr>
          <a:xfrm>
            <a:off x="6269355" y="5205095"/>
            <a:ext cx="0" cy="126365"/>
          </a:xfrm>
          <a:prstGeom prst="straightConnector1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TABLE_BEAUTIFY" val="smartTable{1842e345-ba36-4342-a947-680093f50045}"/>
  <p:tag name="TABLE_ENDDRAG_ORIGIN_RECT" val="172*93"/>
  <p:tag name="TABLE_ENDDRAG_RECT" val="354*64*172*93"/>
</p:tagLst>
</file>

<file path=ppt/tags/tag2.xml><?xml version="1.0" encoding="utf-8"?>
<p:tagLst xmlns:p="http://schemas.openxmlformats.org/presentationml/2006/main">
  <p:tag name="KSO_WM_UNIT_TABLE_BEAUTIFY" val="smartTable{082f2e56-f768-4dca-9e7a-ccd6405051f0}"/>
  <p:tag name="TABLE_ENDDRAG_ORIGIN_RECT" val="177*94"/>
  <p:tag name="TABLE_ENDDRAG_RECT" val="354*228*177*94"/>
</p:tagLst>
</file>

<file path=ppt/tags/tag3.xml><?xml version="1.0" encoding="utf-8"?>
<p:tagLst xmlns:p="http://schemas.openxmlformats.org/presentationml/2006/main">
  <p:tag name="KSO_WM_UNIT_TABLE_BEAUTIFY" val="smartTable{1842e345-ba36-4342-a947-680093f50045}"/>
  <p:tag name="TABLE_ENDDRAG_ORIGIN_RECT" val="172*93"/>
  <p:tag name="TABLE_ENDDRAG_RECT" val="354*64*172*93"/>
</p:tagLst>
</file>

<file path=ppt/tags/tag4.xml><?xml version="1.0" encoding="utf-8"?>
<p:tagLst xmlns:p="http://schemas.openxmlformats.org/presentationml/2006/main">
  <p:tag name="KSO_WM_UNIT_TABLE_BEAUTIFY" val="smartTable{082f2e56-f768-4dca-9e7a-ccd6405051f0}"/>
  <p:tag name="TABLE_ENDDRAG_ORIGIN_RECT" val="177*94"/>
  <p:tag name="TABLE_ENDDRAG_RECT" val="354*228*177*94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1342</Words>
  <Application>WPS 演示</Application>
  <PresentationFormat>宽屏</PresentationFormat>
  <Paragraphs>374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4" baseType="lpstr">
      <vt:lpstr>Arial</vt:lpstr>
      <vt:lpstr>宋体</vt:lpstr>
      <vt:lpstr>Wingdings</vt:lpstr>
      <vt:lpstr>微软雅黑</vt:lpstr>
      <vt:lpstr>汉仪旗黑</vt:lpstr>
      <vt:lpstr>微软雅黑</vt:lpstr>
      <vt:lpstr>Calibri</vt:lpstr>
      <vt:lpstr>Helvetica Neue</vt:lpstr>
      <vt:lpstr>宋体</vt:lpstr>
      <vt:lpstr>Arial Unicode MS</vt:lpstr>
      <vt:lpstr>汉仪书宋二KW</vt:lpstr>
      <vt:lpstr>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jennica</cp:lastModifiedBy>
  <cp:revision>82</cp:revision>
  <dcterms:created xsi:type="dcterms:W3CDTF">2025-05-31T13:39:12Z</dcterms:created>
  <dcterms:modified xsi:type="dcterms:W3CDTF">2025-05-31T13:39:12Z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2052-5.5.1.7991</vt:lpwstr>
  </property>
  <property fmtid="{D5CDD505-2E9C-101B-9397-08002B2CF9AE}" pid="3" name="ICV">
    <vt:lpwstr>7C8A0466BCB700A810DACF670A8342C5_41</vt:lpwstr>
  </property>
</Properties>
</file>